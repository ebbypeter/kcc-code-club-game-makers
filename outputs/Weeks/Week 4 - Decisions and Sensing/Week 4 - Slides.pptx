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highest-value class in the course. At the end of today their project stops being an animation and becomes a game they can play. If you are ever going to have three volunteers in the room on one week, make it this one. Plan for the energy to go up and let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and lean on it today. Week 4 is the one they have been waiting for since week 1, so point at it and say so: today is the week you can actually catch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how, not just the what. Getting a child to explain their own fix out loud is worth more than the fix. Two or three demos, then move — today needs its floor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straight out that today is the big one. It is, and they will agree by half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to the one sentence and go straight to the blocks. This concept is much easier to see than to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actual shapes on the projector while you say this. Ten seconds, and it is genuinely useful Scratch literacy that pays off for the rest of the term — especially in week seven when they start nesting operators.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new colours today: light blue asks questions about the world, magenta makes noise. Note that the sensing blocks are pointy, matching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both live with a draggable sprite so you can shove it into the edge on camera. Scratch's real if/else has the else arm inside the same block; the second card here shows the two branches as a stack for readability, so say out loud that in Scratch the else sits in the lower mouth of the same orange block, and point at it on your screen. Then swap touching-edge for touching-Sprite2 and drag two sprites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Front-load this hard — the if that is not inside a loop is the bug that will consume half your floor time today. Build it wrong, run it, look confused, then find it with them. Ask: when does your computer check whether you have caught it? Answer: only when the if runs, which is once, at the moment you click the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steps aloud. Simple, immediate, and it makes if/else concrete in a way no explanation will. Make sure they build the else inside the orange block rather than as a separate say underneath — walk the room specifically checking for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will spend the whole fifteen minutes on this happily — it is the first thing in the course that behaves as though it has a mind of its own. Let them. The sprite-to-sprite bounce is the bit that transfers directly to catching after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This is the one class where you may be tempted to skip the break because the room is buzzing.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and mean it. Then blocks on the board, and let them struggle for a few minutes before you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struggle with the placement for a few minutes before helping. The two questions to ask, rather than fixing it yourself: when does your computer check whether you have caught it? And how many times does it check as the object falls? Answer to the second: once per trip through the repeat loop, so twenty times. Expect the room to fragment — some will have it in five minutes and some will still be placing the if at the twenty-minute mark. Get the fast ones helping their neighbours rather than racing into bonus challenges. Today of all weeks, nobody goes home without a working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fussy-catching one is subtle and worth explaining properly if anyone hits it: if the object moves eighteen pixels between checks, there are gaps where it is past the player without ever having touched it. Halving the step and doubling the repeats fixes it, and it is a lovely accidental introduction to the idea that computers only see the world at the moments they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plays their own for two minutes and tunes the speed, then swaps seats and plays their neighbour's for two. The room will be loud. That is the point — it is the first time their game has been played by another person, and several of them will fix something straight afterwards without being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common: touching? is pointed at the wrong sprite, because the dropdown defaults to the first sprite alphabetically. Check it early with anyone stuck. And no sound will play until a sound has been added to that sprite from the Sounds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and back up carefully this week; there is more to lose than there was. Then tell them explicitly: you made a game, it has no score yet, so it is a bit pointless — that is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bad object is next week's homework doing double duty — several of them will make something very funny, and it sets up the score lesson perfectly. Ask for it specifically at Show and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three is the honest promise from week two being kept, and it is worth pointing that out. Number four turns it into a grab game and is a genuine week-seven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once it keeps score, they will play it obsessively.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31990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1779588"/>
            <a:ext cx="7717790" cy="2590006"/>
          </a:xfrm>
          <a:prstGeom prst="rect">
            <a:avLst/>
          </a:prstGeom>
          <a:noFill/>
          <a:ln/>
        </p:spPr>
        <p:txBody>
          <a:bodyPr wrap="square" lIns="0" tIns="0" rIns="0" bIns="0" rtlCol="0" anchor="t">
            <a:normAutofit/>
          </a:bodyPr>
          <a:lstStyle/>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Class 4</a:t>
            </a:r>
            <a:endParaRPr lang="en-US" sz="6600" dirty="0"/>
          </a:p>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Decisions and Sensing</a:t>
            </a:r>
            <a:endParaRPr lang="en-US" sz="6600" dirty="0"/>
          </a:p>
        </p:txBody>
      </p:sp>
      <p:sp>
        <p:nvSpPr>
          <p:cNvPr id="5" name="Shape 2"/>
          <p:cNvSpPr/>
          <p:nvPr/>
        </p:nvSpPr>
        <p:spPr>
          <a:xfrm>
            <a:off x="812800" y="4572794"/>
            <a:ext cx="1397000" cy="50800"/>
          </a:xfrm>
          <a:prstGeom prst="roundRect">
            <a:avLst>
              <a:gd name="adj" fmla="val 50000"/>
            </a:avLst>
          </a:prstGeom>
          <a:solidFill>
            <a:srgbClr val="C9A227"/>
          </a:solidFill>
          <a:ln/>
        </p:spPr>
      </p:sp>
      <p:sp>
        <p:nvSpPr>
          <p:cNvPr id="6" name="Text 3"/>
          <p:cNvSpPr/>
          <p:nvPr/>
        </p:nvSpPr>
        <p:spPr>
          <a:xfrm>
            <a:off x="812800" y="4852194"/>
            <a:ext cx="771779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9A7E"/>
                </a:solidFill>
                <a:latin typeface="Nunito Sans" pitchFamily="34" charset="0"/>
                <a:ea typeface="Nunito Sans" pitchFamily="34" charset="-122"/>
                <a:cs typeface="Nunito Sans" pitchFamily="34" charset="-120"/>
              </a:rPr>
              <a:t>The computer can ask a yes-or-no question about the world, and do different things depending on the answer.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SKY CATCHER · WEEK 4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FFFCF4"/>
          </a:solidFill>
          <a:ln w="12700">
            <a:solidFill>
              <a:srgbClr val="E4D7BE"/>
            </a:solidFill>
            <a:prstDash val="solid"/>
          </a:ln>
        </p:spPr>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1 · DONE</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FFFCF4"/>
          </a:solidFill>
          <a:ln w="12700">
            <a:solidFill>
              <a:srgbClr val="E4D7BE"/>
            </a:solidFill>
            <a:prstDash val="solid"/>
          </a:ln>
        </p:spPr>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2 · DONE</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FFFCF4"/>
          </a:solidFill>
          <a:ln w="12700">
            <a:solidFill>
              <a:srgbClr val="E4D7BE"/>
            </a:solidFill>
            <a:prstDash val="solid"/>
          </a:ln>
        </p:spPr>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3 · DONE</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C9A227"/>
          </a:solidFill>
          <a:ln w="12700">
            <a:solidFill>
              <a:srgbClr val="A8861C"/>
            </a:solidFill>
            <a:prstDash val="solid"/>
          </a:ln>
        </p:spPr>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2F04"/>
                </a:solidFill>
                <a:latin typeface="Nunito Sans" pitchFamily="34" charset="0"/>
                <a:ea typeface="Nunito Sans" pitchFamily="34" charset="-122"/>
                <a:cs typeface="Nunito Sans" pitchFamily="34" charset="-120"/>
              </a:rPr>
              <a:t>WEEK 4 · TODAY</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2E1015"/>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F4E9D2"/>
          </a:solidFill>
          <a:ln w="12700">
            <a:solidFill>
              <a:srgbClr val="DFD0B4"/>
            </a:solidFill>
            <a:prstDash val="solid"/>
          </a:ln>
        </p:spPr>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5</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F4E9D2"/>
          </a:solidFill>
          <a:ln w="12700">
            <a:solidFill>
              <a:srgbClr val="DFD0B4"/>
            </a:solidFill>
            <a:prstDash val="solid"/>
          </a:ln>
        </p:spPr>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6</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F4E9D2"/>
          </a:solidFill>
          <a:ln w="12700">
            <a:solidFill>
              <a:srgbClr val="DFD0B4"/>
            </a:solidFill>
            <a:prstDash val="solid"/>
          </a:ln>
        </p:spPr>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7</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F4E9D2"/>
          </a:solidFill>
          <a:ln w="12700">
            <a:solidFill>
              <a:srgbClr val="DFD0B4"/>
            </a:solidFill>
            <a:prstDash val="solid"/>
          </a:ln>
        </p:spPr>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8</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SHOW &amp;AMP; TELL · FIRST TEN MINUTES</a:t>
            </a:r>
            <a:endParaRPr lang="en-US" sz="1300" dirty="0"/>
          </a:p>
        </p:txBody>
      </p:sp>
      <p:sp>
        <p:nvSpPr>
          <p:cNvPr id="3" name="Text 1"/>
          <p:cNvSpPr/>
          <p:nvPr/>
        </p:nvSpPr>
        <p:spPr>
          <a:xfrm>
            <a:off x="812800" y="2515691"/>
            <a:ext cx="9810750"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2E1015"/>
                </a:solidFill>
                <a:latin typeface="Fredoka" pitchFamily="34" charset="0"/>
                <a:ea typeface="Fredoka" pitchFamily="34" charset="-122"/>
                <a:cs typeface="Fredoka" pitchFamily="34" charset="-120"/>
              </a:rPr>
              <a:t>Who brought something?</a:t>
            </a:r>
            <a:endParaRPr lang="en-US" sz="4800" dirty="0"/>
          </a:p>
        </p:txBody>
      </p:sp>
      <p:sp>
        <p:nvSpPr>
          <p:cNvPr id="4" name="Shape 2"/>
          <p:cNvSpPr/>
          <p:nvPr/>
        </p:nvSpPr>
        <p:spPr>
          <a:xfrm>
            <a:off x="819150" y="4652070"/>
            <a:ext cx="10553700" cy="1183580"/>
          </a:xfrm>
          <a:prstGeom prst="roundRect">
            <a:avLst>
              <a:gd name="adj" fmla="val 11267"/>
            </a:avLst>
          </a:prstGeom>
          <a:solidFill>
            <a:srgbClr val="FFFCF4"/>
          </a:solidFill>
          <a:ln w="12700">
            <a:solidFill>
              <a:srgbClr val="E4D7BE"/>
            </a:solidFill>
            <a:prstDash val="solid"/>
          </a:ln>
        </p:spPr>
      </p:sp>
      <p:sp>
        <p:nvSpPr>
          <p:cNvPr id="5" name="Text 3"/>
          <p:cNvSpPr/>
          <p:nvPr/>
        </p:nvSpPr>
        <p:spPr>
          <a:xfrm>
            <a:off x="1054100" y="4887020"/>
            <a:ext cx="103863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C2332"/>
                </a:solidFill>
                <a:latin typeface="Fredoka" pitchFamily="34" charset="0"/>
                <a:ea typeface="Fredoka" pitchFamily="34" charset="-122"/>
                <a:cs typeface="Fredoka" pitchFamily="34" charset="-120"/>
              </a:rPr>
              <a:t>Did anyone get the random falling speed working? Show us HOW.</a:t>
            </a:r>
            <a:endParaRPr lang="en-US" sz="2200" dirty="0"/>
          </a:p>
        </p:txBody>
      </p:sp>
      <p:sp>
        <p:nvSpPr>
          <p:cNvPr id="6" name="Text 4"/>
          <p:cNvSpPr/>
          <p:nvPr/>
        </p:nvSpPr>
        <p:spPr>
          <a:xfrm>
            <a:off x="1054100" y="5298480"/>
            <a:ext cx="1038631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Come up, plug in, show us. Tell us one thing that went wrong and how you fixed it.</a:t>
            </a:r>
            <a:endParaRPr lang="en-US" sz="1700" dirty="0"/>
          </a:p>
        </p:txBody>
      </p:sp>
      <p:sp>
        <p:nvSpPr>
          <p:cNvPr id="7" name="Text 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16604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3843139"/>
            <a:ext cx="3373934" cy="1992511"/>
          </a:xfrm>
          <a:prstGeom prst="roundRect">
            <a:avLst>
              <a:gd name="adj" fmla="val 6693"/>
            </a:avLst>
          </a:prstGeom>
          <a:solidFill>
            <a:srgbClr val="FFFCF4"/>
          </a:solidFill>
          <a:ln w="12700">
            <a:solidFill>
              <a:srgbClr val="E4D7BE"/>
            </a:solidFill>
            <a:prstDash val="solid"/>
          </a:ln>
        </p:spPr>
      </p:sp>
      <p:sp>
        <p:nvSpPr>
          <p:cNvPr id="5" name="Text 3"/>
          <p:cNvSpPr/>
          <p:nvPr/>
        </p:nvSpPr>
        <p:spPr>
          <a:xfrm>
            <a:off x="1054100" y="40780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4031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if</a:t>
            </a:r>
            <a:endParaRPr lang="en-US" sz="2200" dirty="0"/>
          </a:p>
        </p:txBody>
      </p:sp>
      <p:sp>
        <p:nvSpPr>
          <p:cNvPr id="7" name="Text 5"/>
          <p:cNvSpPr/>
          <p:nvPr/>
        </p:nvSpPr>
        <p:spPr>
          <a:xfrm>
            <a:off x="1054100" y="4800600"/>
            <a:ext cx="299115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The computer asks a yes-or-no question, and only then does something.</a:t>
            </a:r>
            <a:endParaRPr lang="en-US" sz="1500" dirty="0"/>
          </a:p>
        </p:txBody>
      </p:sp>
      <p:sp>
        <p:nvSpPr>
          <p:cNvPr id="8" name="Shape 6"/>
          <p:cNvSpPr/>
          <p:nvPr/>
        </p:nvSpPr>
        <p:spPr>
          <a:xfrm>
            <a:off x="4408984" y="3843139"/>
            <a:ext cx="3374033" cy="1992511"/>
          </a:xfrm>
          <a:prstGeom prst="roundRect">
            <a:avLst>
              <a:gd name="adj" fmla="val 6693"/>
            </a:avLst>
          </a:prstGeom>
          <a:solidFill>
            <a:srgbClr val="FFFCF4"/>
          </a:solidFill>
          <a:ln w="12700">
            <a:solidFill>
              <a:srgbClr val="E4D7BE"/>
            </a:solidFill>
            <a:prstDash val="solid"/>
          </a:ln>
        </p:spPr>
      </p:sp>
      <p:sp>
        <p:nvSpPr>
          <p:cNvPr id="9" name="Text 7"/>
          <p:cNvSpPr/>
          <p:nvPr/>
        </p:nvSpPr>
        <p:spPr>
          <a:xfrm>
            <a:off x="4643934" y="4078089"/>
            <a:ext cx="299125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4643934" y="4403130"/>
            <a:ext cx="299125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touching?</a:t>
            </a:r>
            <a:endParaRPr lang="en-US" sz="2200" dirty="0"/>
          </a:p>
        </p:txBody>
      </p:sp>
      <p:sp>
        <p:nvSpPr>
          <p:cNvPr id="11" name="Text 9"/>
          <p:cNvSpPr/>
          <p:nvPr/>
        </p:nvSpPr>
        <p:spPr>
          <a:xfrm>
            <a:off x="4643934" y="4800600"/>
            <a:ext cx="299125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Is this sprite touching that one? Yes or no.</a:t>
            </a:r>
            <a:endParaRPr lang="en-US" sz="1500" dirty="0"/>
          </a:p>
        </p:txBody>
      </p:sp>
      <p:sp>
        <p:nvSpPr>
          <p:cNvPr id="12" name="Shape 10"/>
          <p:cNvSpPr/>
          <p:nvPr/>
        </p:nvSpPr>
        <p:spPr>
          <a:xfrm>
            <a:off x="7998916" y="3843139"/>
            <a:ext cx="3373934" cy="1992511"/>
          </a:xfrm>
          <a:prstGeom prst="roundRect">
            <a:avLst>
              <a:gd name="adj" fmla="val 6693"/>
            </a:avLst>
          </a:prstGeom>
          <a:solidFill>
            <a:srgbClr val="FFFCF4"/>
          </a:solidFill>
          <a:ln w="12700">
            <a:solidFill>
              <a:srgbClr val="E4D7BE"/>
            </a:solidFill>
            <a:prstDash val="solid"/>
          </a:ln>
        </p:spPr>
      </p:sp>
      <p:sp>
        <p:nvSpPr>
          <p:cNvPr id="13" name="Text 11"/>
          <p:cNvSpPr/>
          <p:nvPr/>
        </p:nvSpPr>
        <p:spPr>
          <a:xfrm>
            <a:off x="8233866" y="40780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8233866" y="44031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Catching</a:t>
            </a:r>
            <a:endParaRPr lang="en-US" sz="2200" dirty="0"/>
          </a:p>
        </p:txBody>
      </p:sp>
      <p:sp>
        <p:nvSpPr>
          <p:cNvPr id="15" name="Text 13"/>
          <p:cNvSpPr/>
          <p:nvPr/>
        </p:nvSpPr>
        <p:spPr>
          <a:xfrm>
            <a:off x="8233866" y="48006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Your game stops being an animation and becomes a game.</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1986161"/>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445841"/>
            <a:ext cx="9810750" cy="1902718"/>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The computer can ask a yes-or-no question, and do different things depending on the answer.</a:t>
            </a:r>
            <a:endParaRPr lang="en-US" sz="4400" dirty="0"/>
          </a:p>
        </p:txBody>
      </p:sp>
      <p:sp>
        <p:nvSpPr>
          <p:cNvPr id="4" name="Text 2"/>
          <p:cNvSpPr/>
          <p:nvPr/>
        </p:nvSpPr>
        <p:spPr>
          <a:xfrm>
            <a:off x="812800" y="4551759"/>
            <a:ext cx="850265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if this is true, then do that. Otherwise, do something else.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SCRATCH LITERACY</a:t>
            </a:r>
            <a:endParaRPr lang="en-US" sz="1300" dirty="0"/>
          </a:p>
        </p:txBody>
      </p:sp>
      <p:sp>
        <p:nvSpPr>
          <p:cNvPr id="3" name="Text 1"/>
          <p:cNvSpPr/>
          <p:nvPr/>
        </p:nvSpPr>
        <p:spPr>
          <a:xfrm>
            <a:off x="812800" y="22390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The shape tells you where it fits</a:t>
            </a:r>
            <a:endParaRPr lang="en-US" sz="4000" dirty="0"/>
          </a:p>
        </p:txBody>
      </p:sp>
      <p:sp>
        <p:nvSpPr>
          <p:cNvPr id="4" name="Shape 2"/>
          <p:cNvSpPr/>
          <p:nvPr/>
        </p:nvSpPr>
        <p:spPr>
          <a:xfrm>
            <a:off x="819150" y="3989090"/>
            <a:ext cx="3373934" cy="1846560"/>
          </a:xfrm>
          <a:prstGeom prst="roundRect">
            <a:avLst>
              <a:gd name="adj" fmla="val 7222"/>
            </a:avLst>
          </a:prstGeom>
          <a:solidFill>
            <a:srgbClr val="FFFCF4"/>
          </a:solidFill>
          <a:ln w="12700">
            <a:solidFill>
              <a:srgbClr val="E4D7BE"/>
            </a:solidFill>
            <a:prstDash val="solid"/>
          </a:ln>
        </p:spPr>
      </p:sp>
      <p:sp>
        <p:nvSpPr>
          <p:cNvPr id="5" name="Text 3"/>
          <p:cNvSpPr/>
          <p:nvPr/>
        </p:nvSpPr>
        <p:spPr>
          <a:xfrm>
            <a:off x="1054100" y="4224040"/>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Rounded blocks give a value</a:t>
            </a:r>
            <a:endParaRPr lang="en-US" sz="1900" dirty="0"/>
          </a:p>
        </p:txBody>
      </p:sp>
      <p:sp>
        <p:nvSpPr>
          <p:cNvPr id="6" name="Text 4"/>
          <p:cNvSpPr/>
          <p:nvPr/>
        </p:nvSpPr>
        <p:spPr>
          <a:xfrm>
            <a:off x="1054100"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pick random, x position, and later on, score. They slot into number holes.</a:t>
            </a:r>
            <a:endParaRPr lang="en-US" sz="1450" dirty="0"/>
          </a:p>
        </p:txBody>
      </p:sp>
      <p:sp>
        <p:nvSpPr>
          <p:cNvPr id="7" name="Shape 5"/>
          <p:cNvSpPr/>
          <p:nvPr/>
        </p:nvSpPr>
        <p:spPr>
          <a:xfrm>
            <a:off x="4408984" y="3989090"/>
            <a:ext cx="3374033" cy="1846560"/>
          </a:xfrm>
          <a:prstGeom prst="roundRect">
            <a:avLst>
              <a:gd name="adj" fmla="val 7222"/>
            </a:avLst>
          </a:prstGeom>
          <a:solidFill>
            <a:srgbClr val="FFFCF4"/>
          </a:solidFill>
          <a:ln w="12700">
            <a:solidFill>
              <a:srgbClr val="E4D7BE"/>
            </a:solidFill>
            <a:prstDash val="solid"/>
          </a:ln>
        </p:spPr>
      </p:sp>
      <p:sp>
        <p:nvSpPr>
          <p:cNvPr id="8" name="Text 6"/>
          <p:cNvSpPr/>
          <p:nvPr/>
        </p:nvSpPr>
        <p:spPr>
          <a:xfrm>
            <a:off x="4643934" y="4224040"/>
            <a:ext cx="2991257"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Pointy blocks ask a question</a:t>
            </a:r>
            <a:endParaRPr lang="en-US" sz="1900" dirty="0"/>
          </a:p>
        </p:txBody>
      </p:sp>
      <p:sp>
        <p:nvSpPr>
          <p:cNvPr id="9" name="Text 7"/>
          <p:cNvSpPr/>
          <p:nvPr/>
        </p:nvSpPr>
        <p:spPr>
          <a:xfrm>
            <a:off x="4643934" y="4855071"/>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touching? and key pressed? answer only yes or no.</a:t>
            </a:r>
            <a:endParaRPr lang="en-US" sz="1450" dirty="0"/>
          </a:p>
        </p:txBody>
      </p:sp>
      <p:sp>
        <p:nvSpPr>
          <p:cNvPr id="10" name="Shape 8"/>
          <p:cNvSpPr/>
          <p:nvPr/>
        </p:nvSpPr>
        <p:spPr>
          <a:xfrm>
            <a:off x="7998916" y="3989090"/>
            <a:ext cx="3373934" cy="1846560"/>
          </a:xfrm>
          <a:prstGeom prst="roundRect">
            <a:avLst>
              <a:gd name="adj" fmla="val 7222"/>
            </a:avLst>
          </a:prstGeom>
          <a:solidFill>
            <a:srgbClr val="FFFCF4"/>
          </a:solidFill>
          <a:ln w="12700">
            <a:solidFill>
              <a:srgbClr val="E4D7BE"/>
            </a:solidFill>
            <a:prstDash val="solid"/>
          </a:ln>
        </p:spPr>
      </p:sp>
      <p:sp>
        <p:nvSpPr>
          <p:cNvPr id="11" name="Text 9"/>
          <p:cNvSpPr/>
          <p:nvPr/>
        </p:nvSpPr>
        <p:spPr>
          <a:xfrm>
            <a:off x="8233866" y="4224040"/>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The if block has a pointy hole</a:t>
            </a:r>
            <a:endParaRPr lang="en-US" sz="1900" dirty="0"/>
          </a:p>
        </p:txBody>
      </p:sp>
      <p:sp>
        <p:nvSpPr>
          <p:cNvPr id="12" name="Text 10"/>
          <p:cNvSpPr/>
          <p:nvPr/>
        </p:nvSpPr>
        <p:spPr>
          <a:xfrm>
            <a:off x="8233866" y="4855071"/>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So only a pointy question block will drop into it. Shape is meaning.</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NEW BLOCKS TODAY</a:t>
            </a:r>
            <a:endParaRPr lang="en-US" sz="1300" dirty="0"/>
          </a:p>
        </p:txBody>
      </p:sp>
      <p:sp>
        <p:nvSpPr>
          <p:cNvPr id="3" name="Text 1"/>
          <p:cNvSpPr/>
          <p:nvPr/>
        </p:nvSpPr>
        <p:spPr>
          <a:xfrm>
            <a:off x="812800" y="2021384"/>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Say hello to these</a:t>
            </a:r>
            <a:endParaRPr lang="en-US" sz="4000" dirty="0"/>
          </a:p>
        </p:txBody>
      </p:sp>
      <p:sp>
        <p:nvSpPr>
          <p:cNvPr id="4" name="Shape 2"/>
          <p:cNvSpPr/>
          <p:nvPr/>
        </p:nvSpPr>
        <p:spPr>
          <a:xfrm>
            <a:off x="812800" y="3547566"/>
            <a:ext cx="851991" cy="358080"/>
          </a:xfrm>
          <a:prstGeom prst="roundRect">
            <a:avLst>
              <a:gd name="adj" fmla="val 42560"/>
            </a:avLst>
          </a:prstGeom>
          <a:solidFill>
            <a:srgbClr val="FFAB19"/>
          </a:solidFill>
          <a:ln/>
        </p:spPr>
      </p:sp>
      <p:sp>
        <p:nvSpPr>
          <p:cNvPr id="5" name="Text 3"/>
          <p:cNvSpPr/>
          <p:nvPr/>
        </p:nvSpPr>
        <p:spPr>
          <a:xfrm>
            <a:off x="952500" y="3611066"/>
            <a:ext cx="62339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206"/>
                </a:solidFill>
                <a:latin typeface="Nunito Sans" pitchFamily="34" charset="0"/>
                <a:ea typeface="Nunito Sans" pitchFamily="34" charset="-122"/>
                <a:cs typeface="Nunito Sans" pitchFamily="34" charset="-120"/>
              </a:rPr>
              <a:t>Control</a:t>
            </a:r>
            <a:endParaRPr lang="en-US" sz="1300" dirty="0"/>
          </a:p>
        </p:txBody>
      </p:sp>
      <p:sp>
        <p:nvSpPr>
          <p:cNvPr id="6" name="Shape 4"/>
          <p:cNvSpPr/>
          <p:nvPr/>
        </p:nvSpPr>
        <p:spPr>
          <a:xfrm>
            <a:off x="1753691" y="3547566"/>
            <a:ext cx="888702" cy="358080"/>
          </a:xfrm>
          <a:prstGeom prst="roundRect">
            <a:avLst>
              <a:gd name="adj" fmla="val 42560"/>
            </a:avLst>
          </a:prstGeom>
          <a:solidFill>
            <a:srgbClr val="2A7FA3"/>
          </a:solidFill>
          <a:ln/>
        </p:spPr>
      </p:sp>
      <p:sp>
        <p:nvSpPr>
          <p:cNvPr id="7" name="Text 5"/>
          <p:cNvSpPr/>
          <p:nvPr/>
        </p:nvSpPr>
        <p:spPr>
          <a:xfrm>
            <a:off x="1893391" y="3611066"/>
            <a:ext cx="66010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Sensing</a:t>
            </a:r>
            <a:endParaRPr lang="en-US" sz="1300" dirty="0"/>
          </a:p>
        </p:txBody>
      </p:sp>
      <p:sp>
        <p:nvSpPr>
          <p:cNvPr id="8" name="Shape 6"/>
          <p:cNvSpPr/>
          <p:nvPr/>
        </p:nvSpPr>
        <p:spPr>
          <a:xfrm>
            <a:off x="2731294" y="3547566"/>
            <a:ext cx="769938" cy="358080"/>
          </a:xfrm>
          <a:prstGeom prst="roundRect">
            <a:avLst>
              <a:gd name="adj" fmla="val 42560"/>
            </a:avLst>
          </a:prstGeom>
          <a:solidFill>
            <a:srgbClr val="A63FA6"/>
          </a:solidFill>
          <a:ln/>
        </p:spPr>
      </p:sp>
      <p:sp>
        <p:nvSpPr>
          <p:cNvPr id="9" name="Text 7"/>
          <p:cNvSpPr/>
          <p:nvPr/>
        </p:nvSpPr>
        <p:spPr>
          <a:xfrm>
            <a:off x="2870994" y="3611066"/>
            <a:ext cx="54133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Sound</a:t>
            </a:r>
            <a:endParaRPr lang="en-US" sz="1300" dirty="0"/>
          </a:p>
        </p:txBody>
      </p:sp>
      <p:sp>
        <p:nvSpPr>
          <p:cNvPr id="10" name="Shape 8"/>
          <p:cNvSpPr/>
          <p:nvPr/>
        </p:nvSpPr>
        <p:spPr>
          <a:xfrm>
            <a:off x="812800" y="4883150"/>
            <a:ext cx="1217613" cy="428625"/>
          </a:xfrm>
          <a:prstGeom prst="roundRect">
            <a:avLst>
              <a:gd name="adj" fmla="val 20741"/>
            </a:avLst>
          </a:prstGeom>
          <a:solidFill>
            <a:srgbClr val="FFAB19"/>
          </a:solidFill>
          <a:ln/>
        </p:spPr>
      </p:sp>
      <p:sp>
        <p:nvSpPr>
          <p:cNvPr id="11" name="Text 9"/>
          <p:cNvSpPr/>
          <p:nvPr/>
        </p:nvSpPr>
        <p:spPr>
          <a:xfrm>
            <a:off x="971550" y="4978400"/>
            <a:ext cx="95091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if &lt; &gt; then</a:t>
            </a:r>
            <a:endParaRPr lang="en-US" sz="1500" dirty="0"/>
          </a:p>
        </p:txBody>
      </p:sp>
      <p:sp>
        <p:nvSpPr>
          <p:cNvPr id="12" name="Shape 10"/>
          <p:cNvSpPr/>
          <p:nvPr/>
        </p:nvSpPr>
        <p:spPr>
          <a:xfrm>
            <a:off x="2132013" y="4883150"/>
            <a:ext cx="1821557" cy="428625"/>
          </a:xfrm>
          <a:prstGeom prst="roundRect">
            <a:avLst>
              <a:gd name="adj" fmla="val 20741"/>
            </a:avLst>
          </a:prstGeom>
          <a:solidFill>
            <a:srgbClr val="FFAB19"/>
          </a:solidFill>
          <a:ln/>
        </p:spPr>
      </p:sp>
      <p:sp>
        <p:nvSpPr>
          <p:cNvPr id="13" name="Text 11"/>
          <p:cNvSpPr/>
          <p:nvPr/>
        </p:nvSpPr>
        <p:spPr>
          <a:xfrm>
            <a:off x="2290763" y="4978400"/>
            <a:ext cx="1554857"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if &lt; &gt; then ... else</a:t>
            </a:r>
            <a:endParaRPr lang="en-US" sz="1500" dirty="0"/>
          </a:p>
        </p:txBody>
      </p:sp>
      <p:sp>
        <p:nvSpPr>
          <p:cNvPr id="14" name="Shape 12"/>
          <p:cNvSpPr/>
          <p:nvPr/>
        </p:nvSpPr>
        <p:spPr>
          <a:xfrm>
            <a:off x="4055170" y="4883150"/>
            <a:ext cx="1927225" cy="428625"/>
          </a:xfrm>
          <a:prstGeom prst="roundRect">
            <a:avLst>
              <a:gd name="adj" fmla="val 20741"/>
            </a:avLst>
          </a:prstGeom>
          <a:solidFill>
            <a:srgbClr val="2A7FA3"/>
          </a:solidFill>
          <a:ln/>
        </p:spPr>
      </p:sp>
      <p:sp>
        <p:nvSpPr>
          <p:cNvPr id="15" name="Text 13"/>
          <p:cNvSpPr/>
          <p:nvPr/>
        </p:nvSpPr>
        <p:spPr>
          <a:xfrm>
            <a:off x="4213920" y="4978400"/>
            <a:ext cx="166052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touching [Player]?</a:t>
            </a:r>
            <a:endParaRPr lang="en-US" sz="1500" dirty="0"/>
          </a:p>
        </p:txBody>
      </p:sp>
      <p:sp>
        <p:nvSpPr>
          <p:cNvPr id="16" name="Shape 14"/>
          <p:cNvSpPr/>
          <p:nvPr/>
        </p:nvSpPr>
        <p:spPr>
          <a:xfrm>
            <a:off x="6083995" y="4883150"/>
            <a:ext cx="1791990" cy="428625"/>
          </a:xfrm>
          <a:prstGeom prst="roundRect">
            <a:avLst>
              <a:gd name="adj" fmla="val 20741"/>
            </a:avLst>
          </a:prstGeom>
          <a:solidFill>
            <a:srgbClr val="2A7FA3"/>
          </a:solidFill>
          <a:ln/>
        </p:spPr>
      </p:sp>
      <p:sp>
        <p:nvSpPr>
          <p:cNvPr id="17" name="Text 15"/>
          <p:cNvSpPr/>
          <p:nvPr/>
        </p:nvSpPr>
        <p:spPr>
          <a:xfrm>
            <a:off x="6242745" y="4978400"/>
            <a:ext cx="152529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touching [edge]?</a:t>
            </a:r>
            <a:endParaRPr lang="en-US" sz="1500" dirty="0"/>
          </a:p>
        </p:txBody>
      </p:sp>
      <p:sp>
        <p:nvSpPr>
          <p:cNvPr id="18" name="Shape 16"/>
          <p:cNvSpPr/>
          <p:nvPr/>
        </p:nvSpPr>
        <p:spPr>
          <a:xfrm>
            <a:off x="7977584" y="4883150"/>
            <a:ext cx="2139851" cy="428625"/>
          </a:xfrm>
          <a:prstGeom prst="roundRect">
            <a:avLst>
              <a:gd name="adj" fmla="val 20741"/>
            </a:avLst>
          </a:prstGeom>
          <a:solidFill>
            <a:srgbClr val="2A7FA3"/>
          </a:solidFill>
          <a:ln/>
        </p:spPr>
      </p:sp>
      <p:sp>
        <p:nvSpPr>
          <p:cNvPr id="19" name="Text 17"/>
          <p:cNvSpPr/>
          <p:nvPr/>
        </p:nvSpPr>
        <p:spPr>
          <a:xfrm>
            <a:off x="8136334" y="4978400"/>
            <a:ext cx="187702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key [space] pressed?</a:t>
            </a:r>
            <a:endParaRPr lang="en-US" sz="1500" dirty="0"/>
          </a:p>
        </p:txBody>
      </p:sp>
      <p:sp>
        <p:nvSpPr>
          <p:cNvPr id="20" name="Shape 18"/>
          <p:cNvSpPr/>
          <p:nvPr/>
        </p:nvSpPr>
        <p:spPr>
          <a:xfrm>
            <a:off x="812800" y="5413375"/>
            <a:ext cx="1858169" cy="428625"/>
          </a:xfrm>
          <a:prstGeom prst="roundRect">
            <a:avLst>
              <a:gd name="adj" fmla="val 20741"/>
            </a:avLst>
          </a:prstGeom>
          <a:solidFill>
            <a:srgbClr val="A63FA6"/>
          </a:solidFill>
          <a:ln/>
        </p:spPr>
      </p:sp>
      <p:sp>
        <p:nvSpPr>
          <p:cNvPr id="21" name="Text 19"/>
          <p:cNvSpPr/>
          <p:nvPr/>
        </p:nvSpPr>
        <p:spPr>
          <a:xfrm>
            <a:off x="971550" y="5508625"/>
            <a:ext cx="159146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start sound [Pop]</a:t>
            </a:r>
            <a:endParaRPr lang="en-US" sz="1500" dirty="0"/>
          </a:p>
        </p:txBody>
      </p:sp>
      <p:sp>
        <p:nvSpPr>
          <p:cNvPr id="22" name="Shape 20"/>
          <p:cNvSpPr/>
          <p:nvPr/>
        </p:nvSpPr>
        <p:spPr>
          <a:xfrm>
            <a:off x="2772569" y="5413375"/>
            <a:ext cx="2759968" cy="428625"/>
          </a:xfrm>
          <a:prstGeom prst="roundRect">
            <a:avLst>
              <a:gd name="adj" fmla="val 20741"/>
            </a:avLst>
          </a:prstGeom>
          <a:solidFill>
            <a:srgbClr val="A63FA6"/>
          </a:solidFill>
          <a:ln/>
        </p:spPr>
      </p:sp>
      <p:sp>
        <p:nvSpPr>
          <p:cNvPr id="23" name="Text 21"/>
          <p:cNvSpPr/>
          <p:nvPr/>
        </p:nvSpPr>
        <p:spPr>
          <a:xfrm>
            <a:off x="2931319" y="5508625"/>
            <a:ext cx="2515742"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play sound [Pop] until done</a:t>
            </a:r>
            <a:endParaRPr lang="en-US" sz="1500" dirty="0"/>
          </a:p>
        </p:txBody>
      </p:sp>
      <p:sp>
        <p:nvSpPr>
          <p:cNvPr id="24" name="Text 22"/>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25"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ASKING A QUESTION</a:t>
            </a:r>
            <a:endParaRPr lang="en-US" sz="1300" dirty="0"/>
          </a:p>
        </p:txBody>
      </p:sp>
      <p:sp>
        <p:nvSpPr>
          <p:cNvPr id="3" name="Text 1"/>
          <p:cNvSpPr/>
          <p:nvPr/>
        </p:nvSpPr>
        <p:spPr>
          <a:xfrm>
            <a:off x="812800" y="160377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if, and if / else</a:t>
            </a:r>
            <a:endParaRPr lang="en-US" sz="3600" dirty="0"/>
          </a:p>
        </p:txBody>
      </p:sp>
      <p:sp>
        <p:nvSpPr>
          <p:cNvPr id="4" name="Shape 2"/>
          <p:cNvSpPr/>
          <p:nvPr/>
        </p:nvSpPr>
        <p:spPr>
          <a:xfrm>
            <a:off x="819150" y="2663627"/>
            <a:ext cx="5194300" cy="3172023"/>
          </a:xfrm>
          <a:prstGeom prst="roundRect">
            <a:avLst>
              <a:gd name="adj" fmla="val 4204"/>
            </a:avLst>
          </a:prstGeom>
          <a:solidFill>
            <a:srgbClr val="FFFCF4"/>
          </a:solidFill>
          <a:ln w="12700">
            <a:solidFill>
              <a:srgbClr val="E4D7BE"/>
            </a:solidFill>
            <a:prstDash val="solid"/>
          </a:ln>
        </p:spPr>
      </p:sp>
      <p:sp>
        <p:nvSpPr>
          <p:cNvPr id="5" name="Text 3"/>
          <p:cNvSpPr/>
          <p:nvPr/>
        </p:nvSpPr>
        <p:spPr>
          <a:xfrm>
            <a:off x="1003300" y="2847777"/>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if — do it only when true</a:t>
            </a:r>
            <a:endParaRPr lang="en-US" sz="1700" dirty="0"/>
          </a:p>
        </p:txBody>
      </p:sp>
      <p:sp>
        <p:nvSpPr>
          <p:cNvPr id="6" name="Shape 4"/>
          <p:cNvSpPr/>
          <p:nvPr/>
        </p:nvSpPr>
        <p:spPr>
          <a:xfrm>
            <a:off x="1003300" y="3172222"/>
            <a:ext cx="1938337" cy="342900"/>
          </a:xfrm>
          <a:prstGeom prst="roundRect">
            <a:avLst>
              <a:gd name="adj" fmla="val 38889"/>
            </a:avLst>
          </a:prstGeom>
          <a:solidFill>
            <a:srgbClr val="FFBF00"/>
          </a:solidFill>
          <a:ln/>
        </p:spPr>
      </p:sp>
      <p:sp>
        <p:nvSpPr>
          <p:cNvPr id="7" name="Text 5"/>
          <p:cNvSpPr/>
          <p:nvPr/>
        </p:nvSpPr>
        <p:spPr>
          <a:xfrm>
            <a:off x="1130300" y="3248422"/>
            <a:ext cx="173513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green flag clicked</a:t>
            </a:r>
            <a:endParaRPr lang="en-US" sz="1200" dirty="0"/>
          </a:p>
        </p:txBody>
      </p:sp>
      <p:sp>
        <p:nvSpPr>
          <p:cNvPr id="8" name="Shape 6"/>
          <p:cNvSpPr/>
          <p:nvPr/>
        </p:nvSpPr>
        <p:spPr>
          <a:xfrm>
            <a:off x="1003300" y="3553222"/>
            <a:ext cx="756345" cy="342900"/>
          </a:xfrm>
          <a:prstGeom prst="roundRect">
            <a:avLst>
              <a:gd name="adj" fmla="val 25926"/>
            </a:avLst>
          </a:prstGeom>
          <a:solidFill>
            <a:srgbClr val="FFAB19"/>
          </a:solidFill>
          <a:ln/>
        </p:spPr>
      </p:sp>
      <p:sp>
        <p:nvSpPr>
          <p:cNvPr id="9" name="Text 7"/>
          <p:cNvSpPr/>
          <p:nvPr/>
        </p:nvSpPr>
        <p:spPr>
          <a:xfrm>
            <a:off x="1130300" y="3629422"/>
            <a:ext cx="55314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forever</a:t>
            </a:r>
            <a:endParaRPr lang="en-US" sz="1200" dirty="0"/>
          </a:p>
        </p:txBody>
      </p:sp>
      <p:sp>
        <p:nvSpPr>
          <p:cNvPr id="10" name="Shape 8"/>
          <p:cNvSpPr/>
          <p:nvPr/>
        </p:nvSpPr>
        <p:spPr>
          <a:xfrm>
            <a:off x="1054100" y="3934222"/>
            <a:ext cx="0" cy="876300"/>
          </a:xfrm>
          <a:prstGeom prst="line">
            <a:avLst/>
          </a:prstGeom>
          <a:noFill/>
          <a:ln w="101600">
            <a:solidFill>
              <a:srgbClr val="FFAB19"/>
            </a:solidFill>
            <a:prstDash val="solid"/>
          </a:ln>
        </p:spPr>
      </p:sp>
      <p:sp>
        <p:nvSpPr>
          <p:cNvPr id="11" name="Shape 9"/>
          <p:cNvSpPr/>
          <p:nvPr/>
        </p:nvSpPr>
        <p:spPr>
          <a:xfrm>
            <a:off x="1270000" y="3934222"/>
            <a:ext cx="2112566" cy="342900"/>
          </a:xfrm>
          <a:prstGeom prst="roundRect">
            <a:avLst>
              <a:gd name="adj" fmla="val 25926"/>
            </a:avLst>
          </a:prstGeom>
          <a:solidFill>
            <a:srgbClr val="FFAB19"/>
          </a:solidFill>
          <a:ln/>
        </p:spPr>
      </p:sp>
      <p:sp>
        <p:nvSpPr>
          <p:cNvPr id="12" name="Text 10"/>
          <p:cNvSpPr/>
          <p:nvPr/>
        </p:nvSpPr>
        <p:spPr>
          <a:xfrm>
            <a:off x="1397000" y="4010422"/>
            <a:ext cx="191432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if &lt;touching [edge]?&gt; then</a:t>
            </a:r>
            <a:endParaRPr lang="en-US" sz="1200" dirty="0"/>
          </a:p>
        </p:txBody>
      </p:sp>
      <p:sp>
        <p:nvSpPr>
          <p:cNvPr id="13" name="Shape 11"/>
          <p:cNvSpPr/>
          <p:nvPr/>
        </p:nvSpPr>
        <p:spPr>
          <a:xfrm>
            <a:off x="1320800" y="4315222"/>
            <a:ext cx="0" cy="342900"/>
          </a:xfrm>
          <a:prstGeom prst="line">
            <a:avLst/>
          </a:prstGeom>
          <a:noFill/>
          <a:ln w="101600">
            <a:solidFill>
              <a:srgbClr val="FFAB19"/>
            </a:solidFill>
            <a:prstDash val="solid"/>
          </a:ln>
        </p:spPr>
      </p:sp>
      <p:sp>
        <p:nvSpPr>
          <p:cNvPr id="14" name="Shape 12"/>
          <p:cNvSpPr/>
          <p:nvPr/>
        </p:nvSpPr>
        <p:spPr>
          <a:xfrm>
            <a:off x="1536700" y="4315222"/>
            <a:ext cx="2032595" cy="342900"/>
          </a:xfrm>
          <a:prstGeom prst="roundRect">
            <a:avLst>
              <a:gd name="adj" fmla="val 25926"/>
            </a:avLst>
          </a:prstGeom>
          <a:solidFill>
            <a:srgbClr val="774DCB"/>
          </a:solidFill>
          <a:ln/>
        </p:spPr>
      </p:sp>
      <p:sp>
        <p:nvSpPr>
          <p:cNvPr id="15" name="Text 13"/>
          <p:cNvSpPr/>
          <p:nvPr/>
        </p:nvSpPr>
        <p:spPr>
          <a:xfrm>
            <a:off x="1663700" y="4391422"/>
            <a:ext cx="183195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say [Ouch!] for 1 seconds</a:t>
            </a:r>
            <a:endParaRPr lang="en-US" sz="1200" dirty="0"/>
          </a:p>
        </p:txBody>
      </p:sp>
      <p:sp>
        <p:nvSpPr>
          <p:cNvPr id="16" name="Shape 14"/>
          <p:cNvSpPr/>
          <p:nvPr/>
        </p:nvSpPr>
        <p:spPr>
          <a:xfrm>
            <a:off x="1270000" y="4696222"/>
            <a:ext cx="685800" cy="114300"/>
          </a:xfrm>
          <a:prstGeom prst="roundRect">
            <a:avLst>
              <a:gd name="adj" fmla="val 50000"/>
            </a:avLst>
          </a:prstGeom>
          <a:solidFill>
            <a:srgbClr val="FFAB19"/>
          </a:solidFill>
          <a:ln/>
        </p:spPr>
      </p:sp>
      <p:sp>
        <p:nvSpPr>
          <p:cNvPr id="17" name="Shape 15"/>
          <p:cNvSpPr/>
          <p:nvPr/>
        </p:nvSpPr>
        <p:spPr>
          <a:xfrm>
            <a:off x="1003300" y="4848622"/>
            <a:ext cx="685800" cy="114300"/>
          </a:xfrm>
          <a:prstGeom prst="roundRect">
            <a:avLst>
              <a:gd name="adj" fmla="val 50000"/>
            </a:avLst>
          </a:prstGeom>
          <a:solidFill>
            <a:srgbClr val="FFAB19"/>
          </a:solidFill>
          <a:ln/>
        </p:spPr>
      </p:sp>
      <p:sp>
        <p:nvSpPr>
          <p:cNvPr id="18" name="Text 16"/>
          <p:cNvSpPr/>
          <p:nvPr/>
        </p:nvSpPr>
        <p:spPr>
          <a:xfrm>
            <a:off x="1003300" y="5039122"/>
            <a:ext cx="4970780"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Drag the sprite into the edge and it complains.</a:t>
            </a:r>
            <a:endParaRPr lang="en-US" sz="1350" dirty="0"/>
          </a:p>
        </p:txBody>
      </p:sp>
      <p:sp>
        <p:nvSpPr>
          <p:cNvPr id="19" name="Shape 17"/>
          <p:cNvSpPr/>
          <p:nvPr/>
        </p:nvSpPr>
        <p:spPr>
          <a:xfrm>
            <a:off x="6178550" y="2663627"/>
            <a:ext cx="5194300" cy="3172023"/>
          </a:xfrm>
          <a:prstGeom prst="roundRect">
            <a:avLst>
              <a:gd name="adj" fmla="val 4204"/>
            </a:avLst>
          </a:prstGeom>
          <a:solidFill>
            <a:srgbClr val="FFFCF4"/>
          </a:solidFill>
          <a:ln w="12700">
            <a:solidFill>
              <a:srgbClr val="E4D7BE"/>
            </a:solidFill>
            <a:prstDash val="solid"/>
          </a:ln>
        </p:spPr>
      </p:sp>
      <p:sp>
        <p:nvSpPr>
          <p:cNvPr id="20" name="Text 18"/>
          <p:cNvSpPr/>
          <p:nvPr/>
        </p:nvSpPr>
        <p:spPr>
          <a:xfrm>
            <a:off x="6362700" y="2847777"/>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if / else — always do one or the other</a:t>
            </a:r>
            <a:endParaRPr lang="en-US" sz="1700" dirty="0"/>
          </a:p>
        </p:txBody>
      </p:sp>
      <p:sp>
        <p:nvSpPr>
          <p:cNvPr id="21" name="Shape 19"/>
          <p:cNvSpPr/>
          <p:nvPr/>
        </p:nvSpPr>
        <p:spPr>
          <a:xfrm>
            <a:off x="6362700" y="3172222"/>
            <a:ext cx="1938337" cy="342900"/>
          </a:xfrm>
          <a:prstGeom prst="roundRect">
            <a:avLst>
              <a:gd name="adj" fmla="val 38889"/>
            </a:avLst>
          </a:prstGeom>
          <a:solidFill>
            <a:srgbClr val="FFBF00"/>
          </a:solidFill>
          <a:ln/>
        </p:spPr>
      </p:sp>
      <p:sp>
        <p:nvSpPr>
          <p:cNvPr id="22" name="Text 20"/>
          <p:cNvSpPr/>
          <p:nvPr/>
        </p:nvSpPr>
        <p:spPr>
          <a:xfrm>
            <a:off x="6489700" y="3248422"/>
            <a:ext cx="173513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green flag clicked</a:t>
            </a:r>
            <a:endParaRPr lang="en-US" sz="1200" dirty="0"/>
          </a:p>
        </p:txBody>
      </p:sp>
      <p:sp>
        <p:nvSpPr>
          <p:cNvPr id="23" name="Shape 21"/>
          <p:cNvSpPr/>
          <p:nvPr/>
        </p:nvSpPr>
        <p:spPr>
          <a:xfrm>
            <a:off x="6362700" y="3553222"/>
            <a:ext cx="756345" cy="342900"/>
          </a:xfrm>
          <a:prstGeom prst="roundRect">
            <a:avLst>
              <a:gd name="adj" fmla="val 25926"/>
            </a:avLst>
          </a:prstGeom>
          <a:solidFill>
            <a:srgbClr val="FFAB19"/>
          </a:solidFill>
          <a:ln/>
        </p:spPr>
      </p:sp>
      <p:sp>
        <p:nvSpPr>
          <p:cNvPr id="24" name="Text 22"/>
          <p:cNvSpPr/>
          <p:nvPr/>
        </p:nvSpPr>
        <p:spPr>
          <a:xfrm>
            <a:off x="6489700" y="3629422"/>
            <a:ext cx="55314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forever</a:t>
            </a:r>
            <a:endParaRPr lang="en-US" sz="1200" dirty="0"/>
          </a:p>
        </p:txBody>
      </p:sp>
      <p:sp>
        <p:nvSpPr>
          <p:cNvPr id="25" name="Shape 23"/>
          <p:cNvSpPr/>
          <p:nvPr/>
        </p:nvSpPr>
        <p:spPr>
          <a:xfrm>
            <a:off x="6413500" y="3934222"/>
            <a:ext cx="0" cy="1257300"/>
          </a:xfrm>
          <a:prstGeom prst="line">
            <a:avLst/>
          </a:prstGeom>
          <a:noFill/>
          <a:ln w="101600">
            <a:solidFill>
              <a:srgbClr val="FFAB19"/>
            </a:solidFill>
            <a:prstDash val="solid"/>
          </a:ln>
        </p:spPr>
      </p:sp>
      <p:sp>
        <p:nvSpPr>
          <p:cNvPr id="26" name="Shape 24"/>
          <p:cNvSpPr/>
          <p:nvPr/>
        </p:nvSpPr>
        <p:spPr>
          <a:xfrm>
            <a:off x="6629400" y="3934222"/>
            <a:ext cx="2112566" cy="342900"/>
          </a:xfrm>
          <a:prstGeom prst="roundRect">
            <a:avLst>
              <a:gd name="adj" fmla="val 25926"/>
            </a:avLst>
          </a:prstGeom>
          <a:solidFill>
            <a:srgbClr val="FFAB19"/>
          </a:solidFill>
          <a:ln/>
        </p:spPr>
      </p:sp>
      <p:sp>
        <p:nvSpPr>
          <p:cNvPr id="27" name="Text 25"/>
          <p:cNvSpPr/>
          <p:nvPr/>
        </p:nvSpPr>
        <p:spPr>
          <a:xfrm>
            <a:off x="6756400" y="4010422"/>
            <a:ext cx="191432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if &lt;touching [edge]?&gt; then</a:t>
            </a:r>
            <a:endParaRPr lang="en-US" sz="1200" dirty="0"/>
          </a:p>
        </p:txBody>
      </p:sp>
      <p:sp>
        <p:nvSpPr>
          <p:cNvPr id="28" name="Shape 26"/>
          <p:cNvSpPr/>
          <p:nvPr/>
        </p:nvSpPr>
        <p:spPr>
          <a:xfrm>
            <a:off x="6680200" y="4315222"/>
            <a:ext cx="0" cy="342900"/>
          </a:xfrm>
          <a:prstGeom prst="line">
            <a:avLst/>
          </a:prstGeom>
          <a:noFill/>
          <a:ln w="101600">
            <a:solidFill>
              <a:srgbClr val="FFAB19"/>
            </a:solidFill>
            <a:prstDash val="solid"/>
          </a:ln>
        </p:spPr>
      </p:sp>
      <p:sp>
        <p:nvSpPr>
          <p:cNvPr id="29" name="Shape 27"/>
          <p:cNvSpPr/>
          <p:nvPr/>
        </p:nvSpPr>
        <p:spPr>
          <a:xfrm>
            <a:off x="6896100" y="4315222"/>
            <a:ext cx="1046559" cy="342900"/>
          </a:xfrm>
          <a:prstGeom prst="roundRect">
            <a:avLst>
              <a:gd name="adj" fmla="val 25926"/>
            </a:avLst>
          </a:prstGeom>
          <a:solidFill>
            <a:srgbClr val="774DCB"/>
          </a:solidFill>
          <a:ln/>
        </p:spPr>
      </p:sp>
      <p:sp>
        <p:nvSpPr>
          <p:cNvPr id="30" name="Text 28"/>
          <p:cNvSpPr/>
          <p:nvPr/>
        </p:nvSpPr>
        <p:spPr>
          <a:xfrm>
            <a:off x="7023100" y="4391422"/>
            <a:ext cx="843359"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say [Ouch!]</a:t>
            </a:r>
            <a:endParaRPr lang="en-US" sz="1200" dirty="0"/>
          </a:p>
        </p:txBody>
      </p:sp>
      <p:sp>
        <p:nvSpPr>
          <p:cNvPr id="31" name="Shape 29"/>
          <p:cNvSpPr/>
          <p:nvPr/>
        </p:nvSpPr>
        <p:spPr>
          <a:xfrm>
            <a:off x="6629400" y="4696222"/>
            <a:ext cx="685800" cy="114300"/>
          </a:xfrm>
          <a:prstGeom prst="roundRect">
            <a:avLst>
              <a:gd name="adj" fmla="val 50000"/>
            </a:avLst>
          </a:prstGeom>
          <a:solidFill>
            <a:srgbClr val="FFAB19"/>
          </a:solidFill>
          <a:ln/>
        </p:spPr>
      </p:sp>
      <p:sp>
        <p:nvSpPr>
          <p:cNvPr id="32" name="Shape 30"/>
          <p:cNvSpPr/>
          <p:nvPr/>
        </p:nvSpPr>
        <p:spPr>
          <a:xfrm>
            <a:off x="6629400" y="4848622"/>
            <a:ext cx="1158081" cy="342900"/>
          </a:xfrm>
          <a:prstGeom prst="roundRect">
            <a:avLst>
              <a:gd name="adj" fmla="val 25926"/>
            </a:avLst>
          </a:prstGeom>
          <a:solidFill>
            <a:srgbClr val="774DCB"/>
          </a:solidFill>
          <a:ln/>
        </p:spPr>
      </p:sp>
      <p:sp>
        <p:nvSpPr>
          <p:cNvPr id="33" name="Text 31"/>
          <p:cNvSpPr/>
          <p:nvPr/>
        </p:nvSpPr>
        <p:spPr>
          <a:xfrm>
            <a:off x="6756400" y="4924822"/>
            <a:ext cx="954881"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say [I'm fine]</a:t>
            </a:r>
            <a:endParaRPr lang="en-US" sz="1200" dirty="0"/>
          </a:p>
        </p:txBody>
      </p:sp>
      <p:sp>
        <p:nvSpPr>
          <p:cNvPr id="34" name="Shape 32"/>
          <p:cNvSpPr/>
          <p:nvPr/>
        </p:nvSpPr>
        <p:spPr>
          <a:xfrm>
            <a:off x="6362700" y="5229622"/>
            <a:ext cx="685800" cy="114300"/>
          </a:xfrm>
          <a:prstGeom prst="roundRect">
            <a:avLst>
              <a:gd name="adj" fmla="val 50000"/>
            </a:avLst>
          </a:prstGeom>
          <a:solidFill>
            <a:srgbClr val="FFAB19"/>
          </a:solidFill>
          <a:ln/>
        </p:spPr>
      </p:sp>
      <p:sp>
        <p:nvSpPr>
          <p:cNvPr id="35" name="Text 33"/>
          <p:cNvSpPr/>
          <p:nvPr/>
        </p:nvSpPr>
        <p:spPr>
          <a:xfrm>
            <a:off x="6362700" y="5420122"/>
            <a:ext cx="4970780"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Now it always says something. One, or the other.</a:t>
            </a:r>
            <a:endParaRPr lang="en-US" sz="1350" dirty="0"/>
          </a:p>
        </p:txBody>
      </p:sp>
      <p:sp>
        <p:nvSpPr>
          <p:cNvPr id="36" name="Text 3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3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C2332"/>
                </a:solidFill>
                <a:latin typeface="Nunito Sans" pitchFamily="34" charset="0"/>
                <a:ea typeface="Nunito Sans" pitchFamily="34" charset="-122"/>
                <a:cs typeface="Nunito Sans" pitchFamily="34" charset="-120"/>
              </a:rPr>
              <a:t>SPOT THE MISTAKE</a:t>
            </a:r>
            <a:endParaRPr lang="en-US" sz="1300" dirty="0"/>
          </a:p>
        </p:txBody>
      </p:sp>
      <p:sp>
        <p:nvSpPr>
          <p:cNvPr id="3" name="Text 1"/>
          <p:cNvSpPr/>
          <p:nvPr/>
        </p:nvSpPr>
        <p:spPr>
          <a:xfrm>
            <a:off x="812800" y="231269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It checks once and gives up forever</a:t>
            </a:r>
            <a:endParaRPr lang="en-US" sz="4000" dirty="0"/>
          </a:p>
        </p:txBody>
      </p:sp>
      <p:sp>
        <p:nvSpPr>
          <p:cNvPr id="4" name="Text 2"/>
          <p:cNvSpPr/>
          <p:nvPr/>
        </p:nvSpPr>
        <p:spPr>
          <a:xfrm>
            <a:off x="812800" y="4130080"/>
            <a:ext cx="4055110" cy="10160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E1015"/>
                </a:solidFill>
                <a:latin typeface="Nunito Sans" pitchFamily="34" charset="0"/>
                <a:ea typeface="Nunito Sans" pitchFamily="34" charset="-122"/>
                <a:cs typeface="Nunito Sans" pitchFamily="34" charset="-120"/>
              </a:rPr>
              <a:t>The catching works if I'm already touching when I click the flag. Otherwise never.</a:t>
            </a:r>
            <a:endParaRPr lang="en-US" sz="2000" dirty="0"/>
          </a:p>
        </p:txBody>
      </p:sp>
      <p:sp>
        <p:nvSpPr>
          <p:cNvPr id="5" name="Text 3"/>
          <p:cNvSpPr/>
          <p:nvPr/>
        </p:nvSpPr>
        <p:spPr>
          <a:xfrm>
            <a:off x="812800" y="5273080"/>
            <a:ext cx="40551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4A46"/>
                </a:solidFill>
                <a:latin typeface="Nunito Sans" pitchFamily="34" charset="0"/>
                <a:ea typeface="Nunito Sans" pitchFamily="34" charset="-122"/>
                <a:cs typeface="Nunito Sans" pitchFamily="34" charset="-120"/>
              </a:rPr>
              <a:t>There's a block missing around the outside. Which one?</a:t>
            </a:r>
            <a:endParaRPr lang="en-US" sz="1600" dirty="0"/>
          </a:p>
        </p:txBody>
      </p:sp>
      <p:sp>
        <p:nvSpPr>
          <p:cNvPr id="6" name="Shape 4"/>
          <p:cNvSpPr/>
          <p:nvPr/>
        </p:nvSpPr>
        <p:spPr>
          <a:xfrm>
            <a:off x="5054600" y="4130080"/>
            <a:ext cx="2422922" cy="428625"/>
          </a:xfrm>
          <a:prstGeom prst="roundRect">
            <a:avLst>
              <a:gd name="adj" fmla="val 40000"/>
            </a:avLst>
          </a:prstGeom>
          <a:solidFill>
            <a:srgbClr val="FFBF00"/>
          </a:solidFill>
          <a:ln/>
        </p:spPr>
      </p:sp>
      <p:sp>
        <p:nvSpPr>
          <p:cNvPr id="7" name="Text 5"/>
          <p:cNvSpPr/>
          <p:nvPr/>
        </p:nvSpPr>
        <p:spPr>
          <a:xfrm>
            <a:off x="5213350" y="4225330"/>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8" name="Shape 6"/>
          <p:cNvSpPr/>
          <p:nvPr/>
        </p:nvSpPr>
        <p:spPr>
          <a:xfrm>
            <a:off x="5054600" y="4596805"/>
            <a:ext cx="2775942" cy="428625"/>
          </a:xfrm>
          <a:prstGeom prst="roundRect">
            <a:avLst>
              <a:gd name="adj" fmla="val 20741"/>
            </a:avLst>
          </a:prstGeom>
          <a:solidFill>
            <a:srgbClr val="FFAB19"/>
          </a:solidFill>
          <a:ln/>
        </p:spPr>
      </p:sp>
      <p:sp>
        <p:nvSpPr>
          <p:cNvPr id="9" name="Text 7"/>
          <p:cNvSpPr/>
          <p:nvPr/>
        </p:nvSpPr>
        <p:spPr>
          <a:xfrm>
            <a:off x="5213350" y="4692055"/>
            <a:ext cx="253219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if &lt;touching [Player]?&gt; then</a:t>
            </a:r>
            <a:endParaRPr lang="en-US" sz="1500" dirty="0"/>
          </a:p>
        </p:txBody>
      </p:sp>
      <p:sp>
        <p:nvSpPr>
          <p:cNvPr id="10" name="Shape 8"/>
          <p:cNvSpPr/>
          <p:nvPr/>
        </p:nvSpPr>
        <p:spPr>
          <a:xfrm>
            <a:off x="5105400" y="5063530"/>
            <a:ext cx="0" cy="428625"/>
          </a:xfrm>
          <a:prstGeom prst="line">
            <a:avLst/>
          </a:prstGeom>
          <a:noFill/>
          <a:ln w="101600">
            <a:solidFill>
              <a:srgbClr val="FFAB19"/>
            </a:solidFill>
            <a:prstDash val="solid"/>
          </a:ln>
        </p:spPr>
      </p:sp>
      <p:sp>
        <p:nvSpPr>
          <p:cNvPr id="11" name="Shape 9"/>
          <p:cNvSpPr/>
          <p:nvPr/>
        </p:nvSpPr>
        <p:spPr>
          <a:xfrm>
            <a:off x="5365750" y="5063530"/>
            <a:ext cx="1858169" cy="428625"/>
          </a:xfrm>
          <a:prstGeom prst="roundRect">
            <a:avLst>
              <a:gd name="adj" fmla="val 20741"/>
            </a:avLst>
          </a:prstGeom>
          <a:solidFill>
            <a:srgbClr val="A63FA6"/>
          </a:solidFill>
          <a:ln/>
        </p:spPr>
      </p:sp>
      <p:sp>
        <p:nvSpPr>
          <p:cNvPr id="12" name="Text 10"/>
          <p:cNvSpPr/>
          <p:nvPr/>
        </p:nvSpPr>
        <p:spPr>
          <a:xfrm>
            <a:off x="5524500" y="5158780"/>
            <a:ext cx="159146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start sound [Pop]</a:t>
            </a:r>
            <a:endParaRPr lang="en-US" sz="1500" dirty="0"/>
          </a:p>
        </p:txBody>
      </p:sp>
      <p:sp>
        <p:nvSpPr>
          <p:cNvPr id="13" name="Shape 11"/>
          <p:cNvSpPr/>
          <p:nvPr/>
        </p:nvSpPr>
        <p:spPr>
          <a:xfrm>
            <a:off x="5054600" y="5530255"/>
            <a:ext cx="857250" cy="139700"/>
          </a:xfrm>
          <a:prstGeom prst="roundRect">
            <a:avLst>
              <a:gd name="adj" fmla="val 50000"/>
            </a:avLst>
          </a:prstGeom>
          <a:solidFill>
            <a:srgbClr val="FFAB19"/>
          </a:solidFill>
          <a:ln/>
        </p:spPr>
      </p:sp>
      <p:sp>
        <p:nvSpPr>
          <p:cNvPr id="14" name="Text 12"/>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15"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A · TWELVE MINUTES</a:t>
            </a:r>
            <a:endParaRPr lang="en-US" sz="1300" dirty="0"/>
          </a:p>
        </p:txBody>
      </p:sp>
      <p:sp>
        <p:nvSpPr>
          <p:cNvPr id="3" name="Text 1"/>
          <p:cNvSpPr/>
          <p:nvPr/>
        </p:nvSpPr>
        <p:spPr>
          <a:xfrm>
            <a:off x="812800" y="1870571"/>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Traffic Light</a:t>
            </a:r>
            <a:endParaRPr lang="en-US" sz="3600" dirty="0"/>
          </a:p>
        </p:txBody>
      </p:sp>
      <p:sp>
        <p:nvSpPr>
          <p:cNvPr id="4" name="Text 2"/>
          <p:cNvSpPr/>
          <p:nvPr/>
        </p:nvSpPr>
        <p:spPr>
          <a:xfrm>
            <a:off x="812800" y="3190875"/>
            <a:ext cx="3662680" cy="21409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One sprite you can drag, and a red sprite it might touch. Drag it in and out and watch what it says.</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In Scratch the </a:t>
            </a:r>
            <a:r>
              <a:rPr lang="en-US" sz="1700" b="1" dirty="0">
                <a:solidFill>
                  <a:srgbClr val="5C4A46"/>
                </a:solidFill>
                <a:latin typeface="Nunito Sans" pitchFamily="34" charset="0"/>
                <a:ea typeface="Nunito Sans" pitchFamily="34" charset="-122"/>
                <a:cs typeface="Nunito Sans" pitchFamily="34" charset="-120"/>
              </a:rPr>
              <a:t>else</a:t>
            </a:r>
            <a:r>
              <a:rPr lang="en-US" sz="1700" dirty="0">
                <a:solidFill>
                  <a:srgbClr val="5C4A46"/>
                </a:solidFill>
                <a:latin typeface="Nunito Sans" pitchFamily="34" charset="0"/>
                <a:ea typeface="Nunito Sans" pitchFamily="34" charset="-122"/>
                <a:cs typeface="Nunito Sans" pitchFamily="34" charset="-120"/>
              </a:rPr>
              <a:t> part sits in the lower mouth of the same orange block.</a:t>
            </a:r>
            <a:endParaRPr lang="en-US" sz="1700" dirty="0"/>
          </a:p>
        </p:txBody>
      </p:sp>
      <p:sp>
        <p:nvSpPr>
          <p:cNvPr id="5" name="Shape 3"/>
          <p:cNvSpPr/>
          <p:nvPr/>
        </p:nvSpPr>
        <p:spPr>
          <a:xfrm>
            <a:off x="4673600" y="3190875"/>
            <a:ext cx="2422922" cy="428625"/>
          </a:xfrm>
          <a:prstGeom prst="roundRect">
            <a:avLst>
              <a:gd name="adj" fmla="val 40000"/>
            </a:avLst>
          </a:prstGeom>
          <a:solidFill>
            <a:srgbClr val="FFBF00"/>
          </a:solidFill>
          <a:ln/>
        </p:spPr>
      </p:sp>
      <p:sp>
        <p:nvSpPr>
          <p:cNvPr id="6" name="Text 4"/>
          <p:cNvSpPr/>
          <p:nvPr/>
        </p:nvSpPr>
        <p:spPr>
          <a:xfrm>
            <a:off x="4832350" y="3286125"/>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7" name="Shape 5"/>
          <p:cNvSpPr/>
          <p:nvPr/>
        </p:nvSpPr>
        <p:spPr>
          <a:xfrm>
            <a:off x="4673600" y="3657600"/>
            <a:ext cx="945455" cy="428625"/>
          </a:xfrm>
          <a:prstGeom prst="roundRect">
            <a:avLst>
              <a:gd name="adj" fmla="val 20741"/>
            </a:avLst>
          </a:prstGeom>
          <a:solidFill>
            <a:srgbClr val="FFAB19"/>
          </a:solidFill>
          <a:ln/>
        </p:spPr>
      </p:sp>
      <p:sp>
        <p:nvSpPr>
          <p:cNvPr id="8" name="Text 6"/>
          <p:cNvSpPr/>
          <p:nvPr/>
        </p:nvSpPr>
        <p:spPr>
          <a:xfrm>
            <a:off x="4832350" y="3752850"/>
            <a:ext cx="67875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forever</a:t>
            </a:r>
            <a:endParaRPr lang="en-US" sz="1500" dirty="0"/>
          </a:p>
        </p:txBody>
      </p:sp>
      <p:sp>
        <p:nvSpPr>
          <p:cNvPr id="9" name="Shape 7"/>
          <p:cNvSpPr/>
          <p:nvPr/>
        </p:nvSpPr>
        <p:spPr>
          <a:xfrm>
            <a:off x="4724400" y="4124325"/>
            <a:ext cx="0" cy="1539875"/>
          </a:xfrm>
          <a:prstGeom prst="line">
            <a:avLst/>
          </a:prstGeom>
          <a:noFill/>
          <a:ln w="101600">
            <a:solidFill>
              <a:srgbClr val="FFAB19"/>
            </a:solidFill>
            <a:prstDash val="solid"/>
          </a:ln>
        </p:spPr>
      </p:sp>
      <p:sp>
        <p:nvSpPr>
          <p:cNvPr id="10" name="Shape 8"/>
          <p:cNvSpPr/>
          <p:nvPr/>
        </p:nvSpPr>
        <p:spPr>
          <a:xfrm>
            <a:off x="4984750" y="4124325"/>
            <a:ext cx="2554387" cy="428625"/>
          </a:xfrm>
          <a:prstGeom prst="roundRect">
            <a:avLst>
              <a:gd name="adj" fmla="val 20741"/>
            </a:avLst>
          </a:prstGeom>
          <a:solidFill>
            <a:srgbClr val="FFAB19"/>
          </a:solidFill>
          <a:ln/>
        </p:spPr>
      </p:sp>
      <p:sp>
        <p:nvSpPr>
          <p:cNvPr id="11" name="Text 9"/>
          <p:cNvSpPr/>
          <p:nvPr/>
        </p:nvSpPr>
        <p:spPr>
          <a:xfrm>
            <a:off x="5143500" y="4219575"/>
            <a:ext cx="230399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if &lt;touching [Red]?&gt; then</a:t>
            </a:r>
            <a:endParaRPr lang="en-US" sz="1500" dirty="0"/>
          </a:p>
        </p:txBody>
      </p:sp>
      <p:sp>
        <p:nvSpPr>
          <p:cNvPr id="12" name="Shape 10"/>
          <p:cNvSpPr/>
          <p:nvPr/>
        </p:nvSpPr>
        <p:spPr>
          <a:xfrm>
            <a:off x="5035550" y="4591050"/>
            <a:ext cx="0" cy="428625"/>
          </a:xfrm>
          <a:prstGeom prst="line">
            <a:avLst/>
          </a:prstGeom>
          <a:noFill/>
          <a:ln w="101600">
            <a:solidFill>
              <a:srgbClr val="FFAB19"/>
            </a:solidFill>
            <a:prstDash val="solid"/>
          </a:ln>
        </p:spPr>
      </p:sp>
      <p:sp>
        <p:nvSpPr>
          <p:cNvPr id="13" name="Shape 11"/>
          <p:cNvSpPr/>
          <p:nvPr/>
        </p:nvSpPr>
        <p:spPr>
          <a:xfrm>
            <a:off x="5295900" y="4591050"/>
            <a:ext cx="1351359" cy="428625"/>
          </a:xfrm>
          <a:prstGeom prst="roundRect">
            <a:avLst>
              <a:gd name="adj" fmla="val 20741"/>
            </a:avLst>
          </a:prstGeom>
          <a:solidFill>
            <a:srgbClr val="774DCB"/>
          </a:solidFill>
          <a:ln/>
        </p:spPr>
      </p:sp>
      <p:sp>
        <p:nvSpPr>
          <p:cNvPr id="14" name="Text 12"/>
          <p:cNvSpPr/>
          <p:nvPr/>
        </p:nvSpPr>
        <p:spPr>
          <a:xfrm>
            <a:off x="5454650" y="4686300"/>
            <a:ext cx="108465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say [STOP!]</a:t>
            </a:r>
            <a:endParaRPr lang="en-US" sz="1500" dirty="0"/>
          </a:p>
        </p:txBody>
      </p:sp>
      <p:sp>
        <p:nvSpPr>
          <p:cNvPr id="15" name="Shape 13"/>
          <p:cNvSpPr/>
          <p:nvPr/>
        </p:nvSpPr>
        <p:spPr>
          <a:xfrm>
            <a:off x="4984750" y="5057775"/>
            <a:ext cx="857250" cy="139700"/>
          </a:xfrm>
          <a:prstGeom prst="roundRect">
            <a:avLst>
              <a:gd name="adj" fmla="val 50000"/>
            </a:avLst>
          </a:prstGeom>
          <a:solidFill>
            <a:srgbClr val="FFAB19"/>
          </a:solidFill>
          <a:ln/>
        </p:spPr>
      </p:sp>
      <p:sp>
        <p:nvSpPr>
          <p:cNvPr id="16" name="Shape 14"/>
          <p:cNvSpPr/>
          <p:nvPr/>
        </p:nvSpPr>
        <p:spPr>
          <a:xfrm>
            <a:off x="4984750" y="5235575"/>
            <a:ext cx="1136650" cy="428625"/>
          </a:xfrm>
          <a:prstGeom prst="roundRect">
            <a:avLst>
              <a:gd name="adj" fmla="val 20741"/>
            </a:avLst>
          </a:prstGeom>
          <a:solidFill>
            <a:srgbClr val="774DCB"/>
          </a:solidFill>
          <a:ln/>
        </p:spPr>
      </p:sp>
      <p:sp>
        <p:nvSpPr>
          <p:cNvPr id="17" name="Text 15"/>
          <p:cNvSpPr/>
          <p:nvPr/>
        </p:nvSpPr>
        <p:spPr>
          <a:xfrm>
            <a:off x="5143500" y="5330825"/>
            <a:ext cx="86995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say [GO!]</a:t>
            </a:r>
            <a:endParaRPr lang="en-US" sz="1500" dirty="0"/>
          </a:p>
        </p:txBody>
      </p:sp>
      <p:sp>
        <p:nvSpPr>
          <p:cNvPr id="18" name="Shape 16"/>
          <p:cNvSpPr/>
          <p:nvPr/>
        </p:nvSpPr>
        <p:spPr>
          <a:xfrm>
            <a:off x="4673600" y="5702300"/>
            <a:ext cx="857250" cy="139700"/>
          </a:xfrm>
          <a:prstGeom prst="roundRect">
            <a:avLst>
              <a:gd name="adj" fmla="val 50000"/>
            </a:avLst>
          </a:prstGeom>
          <a:solidFill>
            <a:srgbClr val="FFAB19"/>
          </a:solidFill>
          <a:ln/>
        </p:spPr>
      </p:sp>
      <p:sp>
        <p:nvSpPr>
          <p:cNvPr id="19" name="Text 17"/>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20"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B · EIGHTEEN MINUTES</a:t>
            </a:r>
            <a:endParaRPr lang="en-US" sz="1300" dirty="0"/>
          </a:p>
        </p:txBody>
      </p:sp>
      <p:sp>
        <p:nvSpPr>
          <p:cNvPr id="3" name="Text 1"/>
          <p:cNvSpPr/>
          <p:nvPr/>
        </p:nvSpPr>
        <p:spPr>
          <a:xfrm>
            <a:off x="812800" y="163720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Bumper Sprite</a:t>
            </a:r>
            <a:endParaRPr lang="en-US" sz="3600" dirty="0"/>
          </a:p>
        </p:txBody>
      </p:sp>
      <p:sp>
        <p:nvSpPr>
          <p:cNvPr id="4" name="Text 2"/>
          <p:cNvSpPr/>
          <p:nvPr/>
        </p:nvSpPr>
        <p:spPr>
          <a:xfrm>
            <a:off x="812800" y="2724150"/>
            <a:ext cx="3662680" cy="183872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A sprite that wanders on its own and turns around when it hits the edge.</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add a second sprite and make them bounce off </a:t>
            </a:r>
            <a:r>
              <a:rPr lang="en-US" sz="1700" b="1" dirty="0">
                <a:solidFill>
                  <a:srgbClr val="5C4A46"/>
                </a:solidFill>
                <a:latin typeface="Nunito Sans" pitchFamily="34" charset="0"/>
                <a:ea typeface="Nunito Sans" pitchFamily="34" charset="-122"/>
                <a:cs typeface="Nunito Sans" pitchFamily="34" charset="-120"/>
              </a:rPr>
              <a:t>each other</a:t>
            </a:r>
            <a:r>
              <a:rPr lang="en-US" sz="1700" dirty="0">
                <a:solidFill>
                  <a:srgbClr val="5C4A46"/>
                </a:solidFill>
                <a:latin typeface="Nunito Sans" pitchFamily="34" charset="0"/>
                <a:ea typeface="Nunito Sans" pitchFamily="34" charset="-122"/>
                <a:cs typeface="Nunito Sans" pitchFamily="34" charset="-120"/>
              </a:rPr>
              <a:t> too.</a:t>
            </a:r>
            <a:endParaRPr lang="en-US" sz="1700" dirty="0"/>
          </a:p>
        </p:txBody>
      </p:sp>
      <p:sp>
        <p:nvSpPr>
          <p:cNvPr id="5" name="Shape 3"/>
          <p:cNvSpPr/>
          <p:nvPr/>
        </p:nvSpPr>
        <p:spPr>
          <a:xfrm>
            <a:off x="4673600" y="2724150"/>
            <a:ext cx="2422922" cy="428625"/>
          </a:xfrm>
          <a:prstGeom prst="roundRect">
            <a:avLst>
              <a:gd name="adj" fmla="val 40000"/>
            </a:avLst>
          </a:prstGeom>
          <a:solidFill>
            <a:srgbClr val="FFBF00"/>
          </a:solidFill>
          <a:ln/>
        </p:spPr>
      </p:sp>
      <p:sp>
        <p:nvSpPr>
          <p:cNvPr id="6" name="Text 4"/>
          <p:cNvSpPr/>
          <p:nvPr/>
        </p:nvSpPr>
        <p:spPr>
          <a:xfrm>
            <a:off x="4832350" y="2819400"/>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7" name="Shape 5"/>
          <p:cNvSpPr/>
          <p:nvPr/>
        </p:nvSpPr>
        <p:spPr>
          <a:xfrm>
            <a:off x="4673600" y="3190875"/>
            <a:ext cx="945455" cy="428625"/>
          </a:xfrm>
          <a:prstGeom prst="roundRect">
            <a:avLst>
              <a:gd name="adj" fmla="val 20741"/>
            </a:avLst>
          </a:prstGeom>
          <a:solidFill>
            <a:srgbClr val="FFAB19"/>
          </a:solidFill>
          <a:ln/>
        </p:spPr>
      </p:sp>
      <p:sp>
        <p:nvSpPr>
          <p:cNvPr id="8" name="Text 6"/>
          <p:cNvSpPr/>
          <p:nvPr/>
        </p:nvSpPr>
        <p:spPr>
          <a:xfrm>
            <a:off x="4832350" y="3286125"/>
            <a:ext cx="67875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forever</a:t>
            </a:r>
            <a:endParaRPr lang="en-US" sz="1500" dirty="0"/>
          </a:p>
        </p:txBody>
      </p:sp>
      <p:sp>
        <p:nvSpPr>
          <p:cNvPr id="9" name="Shape 7"/>
          <p:cNvSpPr/>
          <p:nvPr/>
        </p:nvSpPr>
        <p:spPr>
          <a:xfrm>
            <a:off x="4724400" y="3657600"/>
            <a:ext cx="0" cy="2006600"/>
          </a:xfrm>
          <a:prstGeom prst="line">
            <a:avLst/>
          </a:prstGeom>
          <a:noFill/>
          <a:ln w="101600">
            <a:solidFill>
              <a:srgbClr val="FFAB19"/>
            </a:solidFill>
            <a:prstDash val="solid"/>
          </a:ln>
        </p:spPr>
      </p:sp>
      <p:sp>
        <p:nvSpPr>
          <p:cNvPr id="10" name="Shape 8"/>
          <p:cNvSpPr/>
          <p:nvPr/>
        </p:nvSpPr>
        <p:spPr>
          <a:xfrm>
            <a:off x="4984750" y="3657600"/>
            <a:ext cx="1486098" cy="428625"/>
          </a:xfrm>
          <a:prstGeom prst="roundRect">
            <a:avLst>
              <a:gd name="adj" fmla="val 20741"/>
            </a:avLst>
          </a:prstGeom>
          <a:solidFill>
            <a:srgbClr val="3373CC"/>
          </a:solidFill>
          <a:ln/>
        </p:spPr>
      </p:sp>
      <p:sp>
        <p:nvSpPr>
          <p:cNvPr id="11" name="Text 9"/>
          <p:cNvSpPr/>
          <p:nvPr/>
        </p:nvSpPr>
        <p:spPr>
          <a:xfrm>
            <a:off x="5143500" y="3752850"/>
            <a:ext cx="121939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move 5 steps</a:t>
            </a:r>
            <a:endParaRPr lang="en-US" sz="1500" dirty="0"/>
          </a:p>
        </p:txBody>
      </p:sp>
      <p:sp>
        <p:nvSpPr>
          <p:cNvPr id="12" name="Shape 10"/>
          <p:cNvSpPr/>
          <p:nvPr/>
        </p:nvSpPr>
        <p:spPr>
          <a:xfrm>
            <a:off x="4984750" y="4124325"/>
            <a:ext cx="2640707" cy="428625"/>
          </a:xfrm>
          <a:prstGeom prst="roundRect">
            <a:avLst>
              <a:gd name="adj" fmla="val 20741"/>
            </a:avLst>
          </a:prstGeom>
          <a:solidFill>
            <a:srgbClr val="FFAB19"/>
          </a:solidFill>
          <a:ln/>
        </p:spPr>
      </p:sp>
      <p:sp>
        <p:nvSpPr>
          <p:cNvPr id="13" name="Text 11"/>
          <p:cNvSpPr/>
          <p:nvPr/>
        </p:nvSpPr>
        <p:spPr>
          <a:xfrm>
            <a:off x="5143500" y="4219575"/>
            <a:ext cx="239290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if &lt;touching [edge]?&gt; then</a:t>
            </a:r>
            <a:endParaRPr lang="en-US" sz="1500" dirty="0"/>
          </a:p>
        </p:txBody>
      </p:sp>
      <p:sp>
        <p:nvSpPr>
          <p:cNvPr id="14" name="Shape 12"/>
          <p:cNvSpPr/>
          <p:nvPr/>
        </p:nvSpPr>
        <p:spPr>
          <a:xfrm>
            <a:off x="5035550" y="4591050"/>
            <a:ext cx="0" cy="428625"/>
          </a:xfrm>
          <a:prstGeom prst="line">
            <a:avLst/>
          </a:prstGeom>
          <a:noFill/>
          <a:ln w="101600">
            <a:solidFill>
              <a:srgbClr val="FFAB19"/>
            </a:solidFill>
            <a:prstDash val="solid"/>
          </a:ln>
        </p:spPr>
      </p:sp>
      <p:sp>
        <p:nvSpPr>
          <p:cNvPr id="15" name="Shape 13"/>
          <p:cNvSpPr/>
          <p:nvPr/>
        </p:nvSpPr>
        <p:spPr>
          <a:xfrm>
            <a:off x="5295900" y="4591050"/>
            <a:ext cx="1838127" cy="428625"/>
          </a:xfrm>
          <a:prstGeom prst="roundRect">
            <a:avLst>
              <a:gd name="adj" fmla="val 20741"/>
            </a:avLst>
          </a:prstGeom>
          <a:solidFill>
            <a:srgbClr val="3373CC"/>
          </a:solidFill>
          <a:ln/>
        </p:spPr>
      </p:sp>
      <p:sp>
        <p:nvSpPr>
          <p:cNvPr id="16" name="Text 14"/>
          <p:cNvSpPr/>
          <p:nvPr/>
        </p:nvSpPr>
        <p:spPr>
          <a:xfrm>
            <a:off x="5454650" y="4686300"/>
            <a:ext cx="1571427"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turn 180 degrees</a:t>
            </a:r>
            <a:endParaRPr lang="en-US" sz="1500" dirty="0"/>
          </a:p>
        </p:txBody>
      </p:sp>
      <p:sp>
        <p:nvSpPr>
          <p:cNvPr id="17" name="Shape 15"/>
          <p:cNvSpPr/>
          <p:nvPr/>
        </p:nvSpPr>
        <p:spPr>
          <a:xfrm>
            <a:off x="4984750" y="5057775"/>
            <a:ext cx="857250" cy="139700"/>
          </a:xfrm>
          <a:prstGeom prst="roundRect">
            <a:avLst>
              <a:gd name="adj" fmla="val 50000"/>
            </a:avLst>
          </a:prstGeom>
          <a:solidFill>
            <a:srgbClr val="FFAB19"/>
          </a:solidFill>
          <a:ln/>
        </p:spPr>
      </p:sp>
      <p:sp>
        <p:nvSpPr>
          <p:cNvPr id="18" name="Shape 16"/>
          <p:cNvSpPr/>
          <p:nvPr/>
        </p:nvSpPr>
        <p:spPr>
          <a:xfrm>
            <a:off x="4984750" y="5235575"/>
            <a:ext cx="1909762" cy="428625"/>
          </a:xfrm>
          <a:prstGeom prst="roundRect">
            <a:avLst>
              <a:gd name="adj" fmla="val 20741"/>
            </a:avLst>
          </a:prstGeom>
          <a:solidFill>
            <a:srgbClr val="FFAB19"/>
          </a:solidFill>
          <a:ln/>
        </p:spPr>
      </p:sp>
      <p:sp>
        <p:nvSpPr>
          <p:cNvPr id="19" name="Text 17"/>
          <p:cNvSpPr/>
          <p:nvPr/>
        </p:nvSpPr>
        <p:spPr>
          <a:xfrm>
            <a:off x="5143500" y="5330825"/>
            <a:ext cx="164306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wait 0.01 seconds</a:t>
            </a:r>
            <a:endParaRPr lang="en-US" sz="1500" dirty="0"/>
          </a:p>
        </p:txBody>
      </p:sp>
      <p:sp>
        <p:nvSpPr>
          <p:cNvPr id="20" name="Shape 18"/>
          <p:cNvSpPr/>
          <p:nvPr/>
        </p:nvSpPr>
        <p:spPr>
          <a:xfrm>
            <a:off x="4673600" y="5702300"/>
            <a:ext cx="857250" cy="139700"/>
          </a:xfrm>
          <a:prstGeom prst="roundRect">
            <a:avLst>
              <a:gd name="adj" fmla="val 50000"/>
            </a:avLst>
          </a:prstGeom>
          <a:solidFill>
            <a:srgbClr val="FFAB19"/>
          </a:solidFill>
          <a:ln/>
        </p:spPr>
      </p:sp>
      <p:sp>
        <p:nvSpPr>
          <p:cNvPr id="21" name="Text 19"/>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22"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2758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E7C8"/>
                </a:solidFill>
                <a:latin typeface="Fredoka" pitchFamily="34" charset="0"/>
                <a:ea typeface="Fredoka" pitchFamily="34" charset="-122"/>
                <a:cs typeface="Fredoka" pitchFamily="34" charset="-120"/>
              </a:rPr>
              <a:t>Break</a:t>
            </a:r>
            <a:endParaRPr lang="en-US" sz="6000" dirty="0"/>
          </a:p>
        </p:txBody>
      </p:sp>
      <p:sp>
        <p:nvSpPr>
          <p:cNvPr id="3" name="Text 1"/>
          <p:cNvSpPr/>
          <p:nvPr/>
        </p:nvSpPr>
        <p:spPr>
          <a:xfrm>
            <a:off x="812800" y="3329980"/>
            <a:ext cx="78486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49A7E"/>
                </a:solidFill>
                <a:latin typeface="Nunito Sans" pitchFamily="34" charset="0"/>
                <a:ea typeface="Nunito Sans" pitchFamily="34" charset="-122"/>
                <a:cs typeface="Nunito Sans" pitchFamily="34" charset="-120"/>
              </a:rPr>
              <a:t>Ten minutes. Get up, stretch, drink some water.</a:t>
            </a:r>
            <a:endParaRPr lang="en-US" sz="2200" dirty="0"/>
          </a:p>
        </p:txBody>
      </p:sp>
      <p:sp>
        <p:nvSpPr>
          <p:cNvPr id="4" name="Shape 2"/>
          <p:cNvSpPr/>
          <p:nvPr/>
        </p:nvSpPr>
        <p:spPr>
          <a:xfrm>
            <a:off x="812800" y="3975100"/>
            <a:ext cx="1143000" cy="50800"/>
          </a:xfrm>
          <a:prstGeom prst="roundRect">
            <a:avLst>
              <a:gd name="adj" fmla="val 50000"/>
            </a:avLst>
          </a:prstGeom>
          <a:solidFill>
            <a:srgbClr val="C9A227"/>
          </a:solidFill>
          <a:ln/>
        </p:spPr>
      </p:sp>
      <p:sp>
        <p:nvSpPr>
          <p:cNvPr id="5" name="Text 3"/>
          <p:cNvSpPr/>
          <p:nvPr/>
        </p:nvSpPr>
        <p:spPr>
          <a:xfrm>
            <a:off x="812800" y="427990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After the break: your game becomes a game.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55657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TODAY'S GOAL</a:t>
            </a:r>
            <a:endParaRPr lang="en-US" sz="1300" dirty="0"/>
          </a:p>
        </p:txBody>
      </p:sp>
      <p:sp>
        <p:nvSpPr>
          <p:cNvPr id="3" name="Text 1"/>
          <p:cNvSpPr/>
          <p:nvPr/>
        </p:nvSpPr>
        <p:spPr>
          <a:xfrm>
            <a:off x="812800" y="3016250"/>
            <a:ext cx="9810750" cy="1310481"/>
          </a:xfrm>
          <a:prstGeom prst="rect">
            <a:avLst/>
          </a:prstGeom>
          <a:noFill/>
          <a:ln/>
        </p:spPr>
        <p:txBody>
          <a:bodyPr wrap="square" lIns="0" tIns="0" rIns="0" bIns="0" rtlCol="0" anchor="t">
            <a:normAutofit/>
          </a:bodyPr>
          <a:lstStyle/>
          <a:p>
            <a:pPr algn="l" indent="0" marL="0">
              <a:lnSpc>
                <a:spcPts val="5060"/>
              </a:lnSpc>
              <a:buNone/>
            </a:pPr>
            <a:r>
              <a:rPr lang="en-US" sz="4600" b="1" dirty="0">
                <a:solidFill>
                  <a:srgbClr val="FFF4E8"/>
                </a:solidFill>
                <a:latin typeface="Fredoka" pitchFamily="34" charset="0"/>
                <a:ea typeface="Fredoka" pitchFamily="34" charset="-122"/>
                <a:cs typeface="Fredoka" pitchFamily="34" charset="-120"/>
              </a:rPr>
              <a:t>By the end of today, you can catch things and the game will notice.</a:t>
            </a:r>
            <a:endParaRPr lang="en-US" sz="4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323"/>
          </a:xfrm>
          <a:prstGeom prst="rect">
            <a:avLst/>
          </a:prstGeom>
          <a:noFill/>
          <a:ln/>
        </p:spPr>
        <p:txBody>
          <a:bodyPr wrap="square" lIns="0" tIns="0" rIns="0" bIns="0" rtlCol="0" anchor="t">
            <a:normAutofit/>
          </a:bodyPr>
          <a:lstStyle/>
          <a:p>
            <a:pPr algn="l" indent="0" marL="0">
              <a:lnSpc>
                <a:spcPts val="1723"/>
              </a:lnSpc>
              <a:buNone/>
            </a:pPr>
            <a:r>
              <a:rPr lang="en-US" sz="1231" b="1" spc="150" kern="0" dirty="0">
                <a:solidFill>
                  <a:srgbClr val="8A6712"/>
                </a:solidFill>
                <a:latin typeface="Nunito Sans" pitchFamily="34" charset="0"/>
                <a:ea typeface="Nunito Sans" pitchFamily="34" charset="-122"/>
                <a:cs typeface="Nunito Sans" pitchFamily="34" charset="-120"/>
              </a:rPr>
              <a:t>PROJECT BUILD · TWENTY MINUTES</a:t>
            </a:r>
            <a:endParaRPr lang="en-US" sz="1231" dirty="0"/>
          </a:p>
        </p:txBody>
      </p:sp>
      <p:sp>
        <p:nvSpPr>
          <p:cNvPr id="3" name="Text 1"/>
          <p:cNvSpPr/>
          <p:nvPr/>
        </p:nvSpPr>
        <p:spPr>
          <a:xfrm>
            <a:off x="812800" y="1305123"/>
            <a:ext cx="10883392" cy="480616"/>
          </a:xfrm>
          <a:prstGeom prst="rect">
            <a:avLst/>
          </a:prstGeom>
          <a:noFill/>
          <a:ln/>
        </p:spPr>
        <p:txBody>
          <a:bodyPr wrap="square" lIns="0" tIns="0" rIns="0" bIns="0" rtlCol="0" anchor="t">
            <a:normAutofit/>
          </a:bodyPr>
          <a:lstStyle/>
          <a:p>
            <a:pPr algn="l" indent="0" marL="0">
              <a:lnSpc>
                <a:spcPts val="3621"/>
              </a:lnSpc>
              <a:buNone/>
            </a:pPr>
            <a:r>
              <a:rPr lang="en-US" sz="3353" b="1" dirty="0">
                <a:solidFill>
                  <a:srgbClr val="2E1015"/>
                </a:solidFill>
                <a:latin typeface="Fredoka" pitchFamily="34" charset="0"/>
                <a:ea typeface="Fredoka" pitchFamily="34" charset="-122"/>
                <a:cs typeface="Fredoka" pitchFamily="34" charset="-120"/>
              </a:rPr>
              <a:t>Catching</a:t>
            </a:r>
            <a:endParaRPr lang="en-US" sz="3353" dirty="0"/>
          </a:p>
        </p:txBody>
      </p:sp>
      <p:sp>
        <p:nvSpPr>
          <p:cNvPr id="4" name="Text 2"/>
          <p:cNvSpPr/>
          <p:nvPr/>
        </p:nvSpPr>
        <p:spPr>
          <a:xfrm>
            <a:off x="812800" y="2039739"/>
            <a:ext cx="3662680" cy="244316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 new part goes </a:t>
            </a:r>
            <a:r>
              <a:rPr lang="en-US" sz="1700" b="1" dirty="0">
                <a:solidFill>
                  <a:srgbClr val="5C4A46"/>
                </a:solidFill>
                <a:latin typeface="Nunito Sans" pitchFamily="34" charset="0"/>
                <a:ea typeface="Nunito Sans" pitchFamily="34" charset="-122"/>
                <a:cs typeface="Nunito Sans" pitchFamily="34" charset="-120"/>
              </a:rPr>
              <a:t>inside</a:t>
            </a:r>
            <a:r>
              <a:rPr lang="en-US" sz="1700" dirty="0">
                <a:solidFill>
                  <a:srgbClr val="5C4A46"/>
                </a:solidFill>
                <a:latin typeface="Nunito Sans" pitchFamily="34" charset="0"/>
                <a:ea typeface="Nunito Sans" pitchFamily="34" charset="-122"/>
                <a:cs typeface="Nunito Sans" pitchFamily="34" charset="-120"/>
              </a:rPr>
              <a:t> the falling loop — that's the bit most people get wrong.</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 </a:t>
            </a:r>
            <a:r>
              <a:rPr lang="en-US" sz="1700" b="1" dirty="0">
                <a:solidFill>
                  <a:srgbClr val="5C4A46"/>
                </a:solidFill>
                <a:latin typeface="Nunito Sans" pitchFamily="34" charset="0"/>
                <a:ea typeface="Nunito Sans" pitchFamily="34" charset="-122"/>
                <a:cs typeface="Nunito Sans" pitchFamily="34" charset="-120"/>
              </a:rPr>
              <a:t>go to</a:t>
            </a:r>
            <a:r>
              <a:rPr lang="en-US" sz="1700" dirty="0">
                <a:solidFill>
                  <a:srgbClr val="5C4A46"/>
                </a:solidFill>
                <a:latin typeface="Nunito Sans" pitchFamily="34" charset="0"/>
                <a:ea typeface="Nunito Sans" pitchFamily="34" charset="-122"/>
                <a:cs typeface="Nunito Sans" pitchFamily="34" charset="-120"/>
              </a:rPr>
              <a:t> inside the </a:t>
            </a:r>
            <a:r>
              <a:rPr lang="en-US" sz="1700" b="1" dirty="0">
                <a:solidFill>
                  <a:srgbClr val="5C4A46"/>
                </a:solidFill>
                <a:latin typeface="Nunito Sans" pitchFamily="34" charset="0"/>
                <a:ea typeface="Nunito Sans" pitchFamily="34" charset="-122"/>
                <a:cs typeface="Nunito Sans" pitchFamily="34" charset="-120"/>
              </a:rPr>
              <a:t>if</a:t>
            </a:r>
            <a:r>
              <a:rPr lang="en-US" sz="1700" dirty="0">
                <a:solidFill>
                  <a:srgbClr val="5C4A46"/>
                </a:solidFill>
                <a:latin typeface="Nunito Sans" pitchFamily="34" charset="0"/>
                <a:ea typeface="Nunito Sans" pitchFamily="34" charset="-122"/>
                <a:cs typeface="Nunito Sans" pitchFamily="34" charset="-120"/>
              </a:rPr>
              <a:t> is what makes the caught object jump straight back to the top instead of carrying on through your player.</a:t>
            </a:r>
            <a:endParaRPr lang="en-US" sz="1700" dirty="0"/>
          </a:p>
        </p:txBody>
      </p:sp>
      <p:sp>
        <p:nvSpPr>
          <p:cNvPr id="5" name="Shape 3"/>
          <p:cNvSpPr/>
          <p:nvPr/>
        </p:nvSpPr>
        <p:spPr>
          <a:xfrm>
            <a:off x="4673600" y="2039739"/>
            <a:ext cx="2104132" cy="371475"/>
          </a:xfrm>
          <a:prstGeom prst="roundRect">
            <a:avLst>
              <a:gd name="adj" fmla="val 39316"/>
            </a:avLst>
          </a:prstGeom>
          <a:solidFill>
            <a:srgbClr val="FFBF00"/>
          </a:solidFill>
          <a:ln/>
        </p:spPr>
      </p:sp>
      <p:sp>
        <p:nvSpPr>
          <p:cNvPr id="6" name="Text 4"/>
          <p:cNvSpPr/>
          <p:nvPr/>
        </p:nvSpPr>
        <p:spPr>
          <a:xfrm>
            <a:off x="4813300" y="2122289"/>
            <a:ext cx="187947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green flag clicked</a:t>
            </a:r>
            <a:endParaRPr lang="en-US" sz="1300" dirty="0"/>
          </a:p>
        </p:txBody>
      </p:sp>
      <p:sp>
        <p:nvSpPr>
          <p:cNvPr id="7" name="Shape 5"/>
          <p:cNvSpPr/>
          <p:nvPr/>
        </p:nvSpPr>
        <p:spPr>
          <a:xfrm>
            <a:off x="4673600" y="2449314"/>
            <a:ext cx="823615" cy="371475"/>
          </a:xfrm>
          <a:prstGeom prst="roundRect">
            <a:avLst>
              <a:gd name="adj" fmla="val 23932"/>
            </a:avLst>
          </a:prstGeom>
          <a:solidFill>
            <a:srgbClr val="FFAB19"/>
          </a:solidFill>
          <a:ln/>
        </p:spPr>
      </p:sp>
      <p:sp>
        <p:nvSpPr>
          <p:cNvPr id="8" name="Text 6"/>
          <p:cNvSpPr/>
          <p:nvPr/>
        </p:nvSpPr>
        <p:spPr>
          <a:xfrm>
            <a:off x="4813300" y="2531864"/>
            <a:ext cx="59501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forever</a:t>
            </a:r>
            <a:endParaRPr lang="en-US" sz="1300" dirty="0"/>
          </a:p>
        </p:txBody>
      </p:sp>
      <p:sp>
        <p:nvSpPr>
          <p:cNvPr id="9" name="Shape 7"/>
          <p:cNvSpPr/>
          <p:nvPr/>
        </p:nvSpPr>
        <p:spPr>
          <a:xfrm>
            <a:off x="4724400" y="2858889"/>
            <a:ext cx="0" cy="3146425"/>
          </a:xfrm>
          <a:prstGeom prst="line">
            <a:avLst/>
          </a:prstGeom>
          <a:noFill/>
          <a:ln w="101600">
            <a:solidFill>
              <a:srgbClr val="FFAB19"/>
            </a:solidFill>
            <a:prstDash val="solid"/>
          </a:ln>
        </p:spPr>
      </p:sp>
      <p:sp>
        <p:nvSpPr>
          <p:cNvPr id="10" name="Shape 8"/>
          <p:cNvSpPr/>
          <p:nvPr/>
        </p:nvSpPr>
        <p:spPr>
          <a:xfrm>
            <a:off x="4953000" y="2858889"/>
            <a:ext cx="3428405" cy="371475"/>
          </a:xfrm>
          <a:prstGeom prst="roundRect">
            <a:avLst>
              <a:gd name="adj" fmla="val 23932"/>
            </a:avLst>
          </a:prstGeom>
          <a:solidFill>
            <a:srgbClr val="3373CC"/>
          </a:solidFill>
          <a:ln/>
        </p:spPr>
      </p:sp>
      <p:sp>
        <p:nvSpPr>
          <p:cNvPr id="11" name="Text 9"/>
          <p:cNvSpPr/>
          <p:nvPr/>
        </p:nvSpPr>
        <p:spPr>
          <a:xfrm>
            <a:off x="5092700" y="2941439"/>
            <a:ext cx="324347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go to x: (pick random -220 to 220) y: 170</a:t>
            </a:r>
            <a:endParaRPr lang="en-US" sz="1300" dirty="0"/>
          </a:p>
        </p:txBody>
      </p:sp>
      <p:sp>
        <p:nvSpPr>
          <p:cNvPr id="12" name="Shape 10"/>
          <p:cNvSpPr/>
          <p:nvPr/>
        </p:nvSpPr>
        <p:spPr>
          <a:xfrm>
            <a:off x="4953000" y="3268464"/>
            <a:ext cx="1017290" cy="371475"/>
          </a:xfrm>
          <a:prstGeom prst="roundRect">
            <a:avLst>
              <a:gd name="adj" fmla="val 23932"/>
            </a:avLst>
          </a:prstGeom>
          <a:solidFill>
            <a:srgbClr val="FFAB19"/>
          </a:solidFill>
          <a:ln/>
        </p:spPr>
      </p:sp>
      <p:sp>
        <p:nvSpPr>
          <p:cNvPr id="13" name="Text 11"/>
          <p:cNvSpPr/>
          <p:nvPr/>
        </p:nvSpPr>
        <p:spPr>
          <a:xfrm>
            <a:off x="5092700" y="3351014"/>
            <a:ext cx="78869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repeat 20</a:t>
            </a:r>
            <a:endParaRPr lang="en-US" sz="1300" dirty="0"/>
          </a:p>
        </p:txBody>
      </p:sp>
      <p:sp>
        <p:nvSpPr>
          <p:cNvPr id="14" name="Shape 12"/>
          <p:cNvSpPr/>
          <p:nvPr/>
        </p:nvSpPr>
        <p:spPr>
          <a:xfrm>
            <a:off x="5003800" y="3678039"/>
            <a:ext cx="0" cy="2168525"/>
          </a:xfrm>
          <a:prstGeom prst="line">
            <a:avLst/>
          </a:prstGeom>
          <a:noFill/>
          <a:ln w="101600">
            <a:solidFill>
              <a:srgbClr val="FFAB19"/>
            </a:solidFill>
            <a:prstDash val="solid"/>
          </a:ln>
        </p:spPr>
      </p:sp>
      <p:sp>
        <p:nvSpPr>
          <p:cNvPr id="15" name="Shape 13"/>
          <p:cNvSpPr/>
          <p:nvPr/>
        </p:nvSpPr>
        <p:spPr>
          <a:xfrm>
            <a:off x="5232400" y="3678039"/>
            <a:ext cx="1504652" cy="371475"/>
          </a:xfrm>
          <a:prstGeom prst="roundRect">
            <a:avLst>
              <a:gd name="adj" fmla="val 23932"/>
            </a:avLst>
          </a:prstGeom>
          <a:solidFill>
            <a:srgbClr val="3373CC"/>
          </a:solidFill>
          <a:ln/>
        </p:spPr>
      </p:sp>
      <p:sp>
        <p:nvSpPr>
          <p:cNvPr id="16" name="Text 14"/>
          <p:cNvSpPr/>
          <p:nvPr/>
        </p:nvSpPr>
        <p:spPr>
          <a:xfrm>
            <a:off x="5372100" y="3760589"/>
            <a:ext cx="127605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change y by -18</a:t>
            </a:r>
            <a:endParaRPr lang="en-US" sz="1300" dirty="0"/>
          </a:p>
        </p:txBody>
      </p:sp>
      <p:sp>
        <p:nvSpPr>
          <p:cNvPr id="17" name="Shape 15"/>
          <p:cNvSpPr/>
          <p:nvPr/>
        </p:nvSpPr>
        <p:spPr>
          <a:xfrm>
            <a:off x="5232400" y="4087614"/>
            <a:ext cx="1659334" cy="371475"/>
          </a:xfrm>
          <a:prstGeom prst="roundRect">
            <a:avLst>
              <a:gd name="adj" fmla="val 23932"/>
            </a:avLst>
          </a:prstGeom>
          <a:solidFill>
            <a:srgbClr val="FFAB19"/>
          </a:solidFill>
          <a:ln/>
        </p:spPr>
      </p:sp>
      <p:sp>
        <p:nvSpPr>
          <p:cNvPr id="18" name="Text 16"/>
          <p:cNvSpPr/>
          <p:nvPr/>
        </p:nvSpPr>
        <p:spPr>
          <a:xfrm>
            <a:off x="5372100" y="4170164"/>
            <a:ext cx="143073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wait 0.02 seconds</a:t>
            </a:r>
            <a:endParaRPr lang="en-US" sz="1300" dirty="0"/>
          </a:p>
        </p:txBody>
      </p:sp>
      <p:sp>
        <p:nvSpPr>
          <p:cNvPr id="19" name="Shape 17"/>
          <p:cNvSpPr/>
          <p:nvPr/>
        </p:nvSpPr>
        <p:spPr>
          <a:xfrm>
            <a:off x="5232400" y="4497189"/>
            <a:ext cx="2410023" cy="371475"/>
          </a:xfrm>
          <a:prstGeom prst="roundRect">
            <a:avLst>
              <a:gd name="adj" fmla="val 23932"/>
            </a:avLst>
          </a:prstGeom>
          <a:solidFill>
            <a:srgbClr val="FFAB19"/>
          </a:solidFill>
          <a:ln/>
        </p:spPr>
      </p:sp>
      <p:sp>
        <p:nvSpPr>
          <p:cNvPr id="20" name="Text 18"/>
          <p:cNvSpPr/>
          <p:nvPr/>
        </p:nvSpPr>
        <p:spPr>
          <a:xfrm>
            <a:off x="5372100" y="4579739"/>
            <a:ext cx="219454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if &lt;touching [Player]?&gt; then</a:t>
            </a:r>
            <a:endParaRPr lang="en-US" sz="1300" dirty="0"/>
          </a:p>
        </p:txBody>
      </p:sp>
      <p:sp>
        <p:nvSpPr>
          <p:cNvPr id="21" name="Shape 19"/>
          <p:cNvSpPr/>
          <p:nvPr/>
        </p:nvSpPr>
        <p:spPr>
          <a:xfrm>
            <a:off x="5283200" y="4906764"/>
            <a:ext cx="0" cy="781050"/>
          </a:xfrm>
          <a:prstGeom prst="line">
            <a:avLst/>
          </a:prstGeom>
          <a:noFill/>
          <a:ln w="101600">
            <a:solidFill>
              <a:srgbClr val="FFAB19"/>
            </a:solidFill>
            <a:prstDash val="solid"/>
          </a:ln>
        </p:spPr>
      </p:sp>
      <p:sp>
        <p:nvSpPr>
          <p:cNvPr id="22" name="Shape 20"/>
          <p:cNvSpPr/>
          <p:nvPr/>
        </p:nvSpPr>
        <p:spPr>
          <a:xfrm>
            <a:off x="5511800" y="4906764"/>
            <a:ext cx="1614587" cy="371475"/>
          </a:xfrm>
          <a:prstGeom prst="roundRect">
            <a:avLst>
              <a:gd name="adj" fmla="val 23932"/>
            </a:avLst>
          </a:prstGeom>
          <a:solidFill>
            <a:srgbClr val="A63FA6"/>
          </a:solidFill>
          <a:ln/>
        </p:spPr>
      </p:sp>
      <p:sp>
        <p:nvSpPr>
          <p:cNvPr id="23" name="Text 21"/>
          <p:cNvSpPr/>
          <p:nvPr/>
        </p:nvSpPr>
        <p:spPr>
          <a:xfrm>
            <a:off x="5651500" y="4989314"/>
            <a:ext cx="1385987"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start sound [Pop]</a:t>
            </a:r>
            <a:endParaRPr lang="en-US" sz="1300" dirty="0"/>
          </a:p>
        </p:txBody>
      </p:sp>
      <p:sp>
        <p:nvSpPr>
          <p:cNvPr id="24" name="Shape 22"/>
          <p:cNvSpPr/>
          <p:nvPr/>
        </p:nvSpPr>
        <p:spPr>
          <a:xfrm>
            <a:off x="5511800" y="5316339"/>
            <a:ext cx="3428405" cy="371475"/>
          </a:xfrm>
          <a:prstGeom prst="roundRect">
            <a:avLst>
              <a:gd name="adj" fmla="val 23932"/>
            </a:avLst>
          </a:prstGeom>
          <a:solidFill>
            <a:srgbClr val="3373CC"/>
          </a:solidFill>
          <a:ln/>
        </p:spPr>
      </p:sp>
      <p:sp>
        <p:nvSpPr>
          <p:cNvPr id="25" name="Text 23"/>
          <p:cNvSpPr/>
          <p:nvPr/>
        </p:nvSpPr>
        <p:spPr>
          <a:xfrm>
            <a:off x="5651500" y="5398889"/>
            <a:ext cx="324347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go to x: (pick random -220 to 220) y: 170</a:t>
            </a:r>
            <a:endParaRPr lang="en-US" sz="1300" dirty="0"/>
          </a:p>
        </p:txBody>
      </p:sp>
      <p:sp>
        <p:nvSpPr>
          <p:cNvPr id="26" name="Shape 24"/>
          <p:cNvSpPr/>
          <p:nvPr/>
        </p:nvSpPr>
        <p:spPr>
          <a:xfrm>
            <a:off x="5232400" y="5725914"/>
            <a:ext cx="742950" cy="120650"/>
          </a:xfrm>
          <a:prstGeom prst="roundRect">
            <a:avLst>
              <a:gd name="adj" fmla="val 50000"/>
            </a:avLst>
          </a:prstGeom>
          <a:solidFill>
            <a:srgbClr val="FFAB19"/>
          </a:solidFill>
          <a:ln/>
        </p:spPr>
      </p:sp>
      <p:sp>
        <p:nvSpPr>
          <p:cNvPr id="27" name="Shape 25"/>
          <p:cNvSpPr/>
          <p:nvPr/>
        </p:nvSpPr>
        <p:spPr>
          <a:xfrm>
            <a:off x="4953000" y="5884664"/>
            <a:ext cx="742950" cy="120650"/>
          </a:xfrm>
          <a:prstGeom prst="roundRect">
            <a:avLst>
              <a:gd name="adj" fmla="val 50000"/>
            </a:avLst>
          </a:prstGeom>
          <a:solidFill>
            <a:srgbClr val="FFAB19"/>
          </a:solidFill>
          <a:ln/>
        </p:spPr>
      </p:sp>
      <p:sp>
        <p:nvSpPr>
          <p:cNvPr id="28" name="Shape 26"/>
          <p:cNvSpPr/>
          <p:nvPr/>
        </p:nvSpPr>
        <p:spPr>
          <a:xfrm>
            <a:off x="4673600" y="6043414"/>
            <a:ext cx="742950" cy="120650"/>
          </a:xfrm>
          <a:prstGeom prst="roundRect">
            <a:avLst>
              <a:gd name="adj" fmla="val 50000"/>
            </a:avLst>
          </a:prstGeom>
          <a:solidFill>
            <a:srgbClr val="FFAB19"/>
          </a:solidFill>
          <a:ln/>
        </p:spPr>
      </p:sp>
      <p:sp>
        <p:nvSpPr>
          <p:cNvPr id="29" name="Text 27"/>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30"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IF IT ISN'T WORKING</a:t>
            </a:r>
            <a:endParaRPr lang="en-US" sz="1300" dirty="0"/>
          </a:p>
        </p:txBody>
      </p:sp>
      <p:sp>
        <p:nvSpPr>
          <p:cNvPr id="3" name="Text 1"/>
          <p:cNvSpPr/>
          <p:nvPr/>
        </p:nvSpPr>
        <p:spPr>
          <a:xfrm>
            <a:off x="812800" y="22390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Ask yourself these two questions</a:t>
            </a:r>
            <a:endParaRPr lang="en-US" sz="4000" dirty="0"/>
          </a:p>
        </p:txBody>
      </p:sp>
      <p:sp>
        <p:nvSpPr>
          <p:cNvPr id="4" name="Shape 2"/>
          <p:cNvSpPr/>
          <p:nvPr/>
        </p:nvSpPr>
        <p:spPr>
          <a:xfrm>
            <a:off x="819150" y="3989090"/>
            <a:ext cx="3373934" cy="1846560"/>
          </a:xfrm>
          <a:prstGeom prst="roundRect">
            <a:avLst>
              <a:gd name="adj" fmla="val 7222"/>
            </a:avLst>
          </a:prstGeom>
          <a:solidFill>
            <a:srgbClr val="FFFCF4"/>
          </a:solidFill>
          <a:ln w="12700">
            <a:solidFill>
              <a:srgbClr val="E4D7BE"/>
            </a:solidFill>
            <a:prstDash val="solid"/>
          </a:ln>
        </p:spPr>
      </p:sp>
      <p:sp>
        <p:nvSpPr>
          <p:cNvPr id="5" name="Text 3"/>
          <p:cNvSpPr/>
          <p:nvPr/>
        </p:nvSpPr>
        <p:spPr>
          <a:xfrm>
            <a:off x="1054100" y="4224040"/>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When does the computer check?</a:t>
            </a:r>
            <a:endParaRPr lang="en-US" sz="1900" dirty="0"/>
          </a:p>
        </p:txBody>
      </p:sp>
      <p:sp>
        <p:nvSpPr>
          <p:cNvPr id="6" name="Text 4"/>
          <p:cNvSpPr/>
          <p:nvPr/>
        </p:nvSpPr>
        <p:spPr>
          <a:xfrm>
            <a:off x="1054100"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Only when the if block actually runs. If the if is outside the loop, that is once, ever.</a:t>
            </a:r>
            <a:endParaRPr lang="en-US" sz="1450" dirty="0"/>
          </a:p>
        </p:txBody>
      </p:sp>
      <p:sp>
        <p:nvSpPr>
          <p:cNvPr id="7" name="Shape 5"/>
          <p:cNvSpPr/>
          <p:nvPr/>
        </p:nvSpPr>
        <p:spPr>
          <a:xfrm>
            <a:off x="4408984" y="3989090"/>
            <a:ext cx="3374033" cy="1846560"/>
          </a:xfrm>
          <a:prstGeom prst="roundRect">
            <a:avLst>
              <a:gd name="adj" fmla="val 7222"/>
            </a:avLst>
          </a:prstGeom>
          <a:solidFill>
            <a:srgbClr val="FFFCF4"/>
          </a:solidFill>
          <a:ln w="12700">
            <a:solidFill>
              <a:srgbClr val="E4D7BE"/>
            </a:solidFill>
            <a:prstDash val="solid"/>
          </a:ln>
        </p:spPr>
      </p:sp>
      <p:sp>
        <p:nvSpPr>
          <p:cNvPr id="8" name="Text 6"/>
          <p:cNvSpPr/>
          <p:nvPr/>
        </p:nvSpPr>
        <p:spPr>
          <a:xfrm>
            <a:off x="4643934" y="4224040"/>
            <a:ext cx="2991257"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How many times does it check as it falls?</a:t>
            </a:r>
            <a:endParaRPr lang="en-US" sz="1900" dirty="0"/>
          </a:p>
        </p:txBody>
      </p:sp>
      <p:sp>
        <p:nvSpPr>
          <p:cNvPr id="9" name="Text 7"/>
          <p:cNvSpPr/>
          <p:nvPr/>
        </p:nvSpPr>
        <p:spPr>
          <a:xfrm>
            <a:off x="4643934" y="4855071"/>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Once per trip through the repeat. Twenty checks on the way down.</a:t>
            </a:r>
            <a:endParaRPr lang="en-US" sz="1450" dirty="0"/>
          </a:p>
        </p:txBody>
      </p:sp>
      <p:sp>
        <p:nvSpPr>
          <p:cNvPr id="10" name="Shape 8"/>
          <p:cNvSpPr/>
          <p:nvPr/>
        </p:nvSpPr>
        <p:spPr>
          <a:xfrm>
            <a:off x="7998916" y="3989090"/>
            <a:ext cx="3373934" cy="1846560"/>
          </a:xfrm>
          <a:prstGeom prst="roundRect">
            <a:avLst>
              <a:gd name="adj" fmla="val 7222"/>
            </a:avLst>
          </a:prstGeom>
          <a:solidFill>
            <a:srgbClr val="FFFCF4"/>
          </a:solidFill>
          <a:ln w="12700">
            <a:solidFill>
              <a:srgbClr val="E4D7BE"/>
            </a:solidFill>
            <a:prstDash val="solid"/>
          </a:ln>
        </p:spPr>
      </p:sp>
      <p:sp>
        <p:nvSpPr>
          <p:cNvPr id="11" name="Text 9"/>
          <p:cNvSpPr/>
          <p:nvPr/>
        </p:nvSpPr>
        <p:spPr>
          <a:xfrm>
            <a:off x="8233866" y="4224040"/>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Is it fussy to catch?</a:t>
            </a:r>
            <a:endParaRPr lang="en-US" sz="1900" dirty="0"/>
          </a:p>
        </p:txBody>
      </p:sp>
      <p:sp>
        <p:nvSpPr>
          <p:cNvPr id="12" name="Text 10"/>
          <p:cNvSpPr/>
          <p:nvPr/>
        </p:nvSpPr>
        <p:spPr>
          <a:xfrm>
            <a:off x="8233866" y="4577655"/>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Your falling step is too big — it jumps past the player between checks. Try change y by -9 and repeat 40.</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30128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PLAYTEST · FOUR MINUTES</a:t>
            </a:r>
            <a:endParaRPr lang="en-US" sz="1300" dirty="0"/>
          </a:p>
        </p:txBody>
      </p:sp>
      <p:sp>
        <p:nvSpPr>
          <p:cNvPr id="3" name="Text 1"/>
          <p:cNvSpPr/>
          <p:nvPr/>
        </p:nvSpPr>
        <p:spPr>
          <a:xfrm>
            <a:off x="812800" y="276096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FF4E8"/>
                </a:solidFill>
                <a:latin typeface="Fredoka" pitchFamily="34" charset="0"/>
                <a:ea typeface="Fredoka" pitchFamily="34" charset="-122"/>
                <a:cs typeface="Fredoka" pitchFamily="34" charset="-120"/>
              </a:rPr>
              <a:t>Play your game. Then move one seat and play your neighbour's.</a:t>
            </a:r>
            <a:endParaRPr lang="en-US" sz="4400" dirty="0"/>
          </a:p>
        </p:txBody>
      </p:sp>
      <p:sp>
        <p:nvSpPr>
          <p:cNvPr id="4" name="Text 2"/>
          <p:cNvSpPr/>
          <p:nvPr/>
        </p:nvSpPr>
        <p:spPr>
          <a:xfrm>
            <a:off x="812800" y="4218880"/>
            <a:ext cx="8502650" cy="363141"/>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F3C9CF"/>
                </a:solidFill>
                <a:latin typeface="Nunito Sans" pitchFamily="34" charset="0"/>
                <a:ea typeface="Nunito Sans" pitchFamily="34" charset="-122"/>
                <a:cs typeface="Nunito Sans" pitchFamily="34" charset="-120"/>
              </a:rPr>
              <a:t>Two minutes each. Tell them one thing you liked.</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DEBUGGING</a:t>
            </a:r>
            <a:endParaRPr lang="en-US" sz="1300" dirty="0"/>
          </a:p>
        </p:txBody>
      </p:sp>
      <p:sp>
        <p:nvSpPr>
          <p:cNvPr id="3" name="Text 1"/>
          <p:cNvSpPr/>
          <p:nvPr/>
        </p:nvSpPr>
        <p:spPr>
          <a:xfrm>
            <a:off x="812800" y="174754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Stuck? Check these first</a:t>
            </a:r>
            <a:endParaRPr lang="en-US" sz="4000" dirty="0"/>
          </a:p>
        </p:txBody>
      </p:sp>
      <p:sp>
        <p:nvSpPr>
          <p:cNvPr id="4" name="Shape 2"/>
          <p:cNvSpPr/>
          <p:nvPr/>
        </p:nvSpPr>
        <p:spPr>
          <a:xfrm>
            <a:off x="819150" y="3006130"/>
            <a:ext cx="5168900" cy="1319510"/>
          </a:xfrm>
          <a:prstGeom prst="roundRect">
            <a:avLst>
              <a:gd name="adj" fmla="val 10106"/>
            </a:avLst>
          </a:prstGeom>
          <a:solidFill>
            <a:srgbClr val="FFFCF4"/>
          </a:solidFill>
          <a:ln w="12700">
            <a:solidFill>
              <a:srgbClr val="E4D7BE"/>
            </a:solidFill>
            <a:prstDash val="solid"/>
          </a:ln>
        </p:spPr>
      </p:sp>
      <p:sp>
        <p:nvSpPr>
          <p:cNvPr id="5" name="Text 3"/>
          <p:cNvSpPr/>
          <p:nvPr/>
        </p:nvSpPr>
        <p:spPr>
          <a:xfrm>
            <a:off x="10541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"Catching never works at all"</a:t>
            </a:r>
            <a:endParaRPr lang="en-US" sz="1700" dirty="0"/>
          </a:p>
        </p:txBody>
      </p:sp>
      <p:sp>
        <p:nvSpPr>
          <p:cNvPr id="6" name="Text 4"/>
          <p:cNvSpPr/>
          <p:nvPr/>
        </p:nvSpPr>
        <p:spPr>
          <a:xfrm>
            <a:off x="10541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if is not inside the forever or the repeat. It has to be in the loop.</a:t>
            </a:r>
            <a:endParaRPr lang="en-US" sz="1500" dirty="0"/>
          </a:p>
        </p:txBody>
      </p:sp>
      <p:sp>
        <p:nvSpPr>
          <p:cNvPr id="7" name="Shape 5"/>
          <p:cNvSpPr/>
          <p:nvPr/>
        </p:nvSpPr>
        <p:spPr>
          <a:xfrm>
            <a:off x="6203950" y="3006130"/>
            <a:ext cx="5168900" cy="1319510"/>
          </a:xfrm>
          <a:prstGeom prst="roundRect">
            <a:avLst>
              <a:gd name="adj" fmla="val 10106"/>
            </a:avLst>
          </a:prstGeom>
          <a:solidFill>
            <a:srgbClr val="FFFCF4"/>
          </a:solidFill>
          <a:ln w="12700">
            <a:solidFill>
              <a:srgbClr val="E4D7BE"/>
            </a:solidFill>
            <a:prstDash val="solid"/>
          </a:ln>
        </p:spPr>
      </p:sp>
      <p:sp>
        <p:nvSpPr>
          <p:cNvPr id="8" name="Text 6"/>
          <p:cNvSpPr/>
          <p:nvPr/>
        </p:nvSpPr>
        <p:spPr>
          <a:xfrm>
            <a:off x="64389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 works once, then never again"</a:t>
            </a:r>
            <a:endParaRPr lang="en-US" sz="1700" dirty="0"/>
          </a:p>
        </p:txBody>
      </p:sp>
      <p:sp>
        <p:nvSpPr>
          <p:cNvPr id="9" name="Text 7"/>
          <p:cNvSpPr/>
          <p:nvPr/>
        </p:nvSpPr>
        <p:spPr>
          <a:xfrm>
            <a:off x="64389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if is in the outer forever but outside the falling repeat.</a:t>
            </a:r>
            <a:endParaRPr lang="en-US" sz="1500" dirty="0"/>
          </a:p>
        </p:txBody>
      </p:sp>
      <p:sp>
        <p:nvSpPr>
          <p:cNvPr id="10" name="Shape 8"/>
          <p:cNvSpPr/>
          <p:nvPr/>
        </p:nvSpPr>
        <p:spPr>
          <a:xfrm>
            <a:off x="819150" y="4516140"/>
            <a:ext cx="5168900" cy="1319510"/>
          </a:xfrm>
          <a:prstGeom prst="roundRect">
            <a:avLst>
              <a:gd name="adj" fmla="val 10106"/>
            </a:avLst>
          </a:prstGeom>
          <a:solidFill>
            <a:srgbClr val="FFFCF4"/>
          </a:solidFill>
          <a:ln w="12700">
            <a:solidFill>
              <a:srgbClr val="E4D7BE"/>
            </a:solidFill>
            <a:prstDash val="solid"/>
          </a:ln>
        </p:spPr>
      </p:sp>
      <p:sp>
        <p:nvSpPr>
          <p:cNvPr id="11" name="Text 9"/>
          <p:cNvSpPr/>
          <p:nvPr/>
        </p:nvSpPr>
        <p:spPr>
          <a:xfrm>
            <a:off x="10541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"The object falls straight through me"</a:t>
            </a:r>
            <a:endParaRPr lang="en-US" sz="1700" dirty="0"/>
          </a:p>
        </p:txBody>
      </p:sp>
      <p:sp>
        <p:nvSpPr>
          <p:cNvPr id="12" name="Text 10"/>
          <p:cNvSpPr/>
          <p:nvPr/>
        </p:nvSpPr>
        <p:spPr>
          <a:xfrm>
            <a:off x="10541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if fires, but there is no go to inside it, so the object keeps falling.</a:t>
            </a:r>
            <a:endParaRPr lang="en-US" sz="1500" dirty="0"/>
          </a:p>
        </p:txBody>
      </p:sp>
      <p:sp>
        <p:nvSpPr>
          <p:cNvPr id="13" name="Shape 11"/>
          <p:cNvSpPr/>
          <p:nvPr/>
        </p:nvSpPr>
        <p:spPr>
          <a:xfrm>
            <a:off x="6203950" y="4516140"/>
            <a:ext cx="5168900" cy="1319510"/>
          </a:xfrm>
          <a:prstGeom prst="roundRect">
            <a:avLst>
              <a:gd name="adj" fmla="val 10106"/>
            </a:avLst>
          </a:prstGeom>
          <a:solidFill>
            <a:srgbClr val="FFFCF4"/>
          </a:solidFill>
          <a:ln w="12700">
            <a:solidFill>
              <a:srgbClr val="E4D7BE"/>
            </a:solidFill>
            <a:prstDash val="solid"/>
          </a:ln>
        </p:spPr>
      </p:sp>
      <p:sp>
        <p:nvSpPr>
          <p:cNvPr id="14" name="Text 12"/>
          <p:cNvSpPr/>
          <p:nvPr/>
        </p:nvSpPr>
        <p:spPr>
          <a:xfrm>
            <a:off x="64389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"It's really fussy to catch"</a:t>
            </a:r>
            <a:endParaRPr lang="en-US" sz="1700" dirty="0"/>
          </a:p>
        </p:txBody>
      </p:sp>
      <p:sp>
        <p:nvSpPr>
          <p:cNvPr id="15" name="Text 13"/>
          <p:cNvSpPr/>
          <p:nvPr/>
        </p:nvSpPr>
        <p:spPr>
          <a:xfrm>
            <a:off x="64389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falling step is too big. Smaller change y, more repeats.</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47967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Save it. Check the name.</a:t>
            </a:r>
            <a:endParaRPr lang="en-US" sz="4000" dirty="0"/>
          </a:p>
        </p:txBody>
      </p:sp>
      <p:sp>
        <p:nvSpPr>
          <p:cNvPr id="4" name="Shape 2"/>
          <p:cNvSpPr/>
          <p:nvPr/>
        </p:nvSpPr>
        <p:spPr>
          <a:xfrm>
            <a:off x="819150" y="4470400"/>
            <a:ext cx="3373934" cy="1365250"/>
          </a:xfrm>
          <a:prstGeom prst="roundRect">
            <a:avLst>
              <a:gd name="adj" fmla="val 9767"/>
            </a:avLst>
          </a:prstGeom>
          <a:solidFill>
            <a:srgbClr val="FFFCF4"/>
          </a:solidFill>
          <a:ln w="12700">
            <a:solidFill>
              <a:srgbClr val="E4D7BE"/>
            </a:solidFill>
            <a:prstDash val="solid"/>
          </a:ln>
        </p:spPr>
      </p:sp>
      <p:sp>
        <p:nvSpPr>
          <p:cNvPr id="5" name="Text 3"/>
          <p:cNvSpPr/>
          <p:nvPr/>
        </p:nvSpPr>
        <p:spPr>
          <a:xfrm>
            <a:off x="1054100" y="4705350"/>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1 — Save now</a:t>
            </a:r>
            <a:endParaRPr lang="en-US" sz="2000" dirty="0"/>
          </a:p>
        </p:txBody>
      </p:sp>
      <p:sp>
        <p:nvSpPr>
          <p:cNvPr id="6" name="Text 4"/>
          <p:cNvSpPr/>
          <p:nvPr/>
        </p:nvSpPr>
        <p:spPr>
          <a:xfrm>
            <a:off x="1054100" y="5086350"/>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File → Save now. Watch for the message that says it saved.</a:t>
            </a:r>
            <a:endParaRPr lang="en-US" sz="1500" dirty="0"/>
          </a:p>
        </p:txBody>
      </p:sp>
      <p:sp>
        <p:nvSpPr>
          <p:cNvPr id="7" name="Shape 5"/>
          <p:cNvSpPr/>
          <p:nvPr/>
        </p:nvSpPr>
        <p:spPr>
          <a:xfrm>
            <a:off x="4408984" y="4470400"/>
            <a:ext cx="3374033" cy="1365250"/>
          </a:xfrm>
          <a:prstGeom prst="roundRect">
            <a:avLst>
              <a:gd name="adj" fmla="val 9767"/>
            </a:avLst>
          </a:prstGeom>
          <a:solidFill>
            <a:srgbClr val="FFFCF4"/>
          </a:solidFill>
          <a:ln w="12700">
            <a:solidFill>
              <a:srgbClr val="E4D7BE"/>
            </a:solidFill>
            <a:prstDash val="solid"/>
          </a:ln>
        </p:spPr>
      </p:sp>
      <p:sp>
        <p:nvSpPr>
          <p:cNvPr id="8" name="Text 6"/>
          <p:cNvSpPr/>
          <p:nvPr/>
        </p:nvSpPr>
        <p:spPr>
          <a:xfrm>
            <a:off x="4643934" y="4705350"/>
            <a:ext cx="29912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2 — Check the name</a:t>
            </a:r>
            <a:endParaRPr lang="en-US" sz="2000" dirty="0"/>
          </a:p>
        </p:txBody>
      </p:sp>
      <p:sp>
        <p:nvSpPr>
          <p:cNvPr id="9" name="Text 7"/>
          <p:cNvSpPr/>
          <p:nvPr/>
        </p:nvSpPr>
        <p:spPr>
          <a:xfrm>
            <a:off x="4643934" y="5086350"/>
            <a:ext cx="299125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name at the top should still say </a:t>
            </a:r>
            <a:r>
              <a:rPr lang="en-US" sz="1500" b="1" dirty="0">
                <a:solidFill>
                  <a:srgbClr val="5C4A46"/>
                </a:solidFill>
                <a:latin typeface="Nunito Sans" pitchFamily="34" charset="0"/>
                <a:ea typeface="Nunito Sans" pitchFamily="34" charset="-122"/>
                <a:cs typeface="Nunito Sans" pitchFamily="34" charset="-120"/>
              </a:rPr>
              <a:t>Sky Catcher — your name</a:t>
            </a:r>
            <a:r>
              <a:rPr lang="en-US" sz="1500" dirty="0">
                <a:solidFill>
                  <a:srgbClr val="5C4A46"/>
                </a:solidFill>
                <a:latin typeface="Nunito Sans" pitchFamily="34" charset="0"/>
                <a:ea typeface="Nunito Sans" pitchFamily="34" charset="-122"/>
                <a:cs typeface="Nunito Sans" pitchFamily="34" charset="-120"/>
              </a:rPr>
              <a:t>.</a:t>
            </a:r>
            <a:endParaRPr lang="en-US" sz="1500" dirty="0"/>
          </a:p>
        </p:txBody>
      </p:sp>
      <p:sp>
        <p:nvSpPr>
          <p:cNvPr id="10" name="Shape 8"/>
          <p:cNvSpPr/>
          <p:nvPr/>
        </p:nvSpPr>
        <p:spPr>
          <a:xfrm>
            <a:off x="7998916" y="4470400"/>
            <a:ext cx="3373934" cy="1365250"/>
          </a:xfrm>
          <a:prstGeom prst="roundRect">
            <a:avLst>
              <a:gd name="adj" fmla="val 9767"/>
            </a:avLst>
          </a:prstGeom>
          <a:solidFill>
            <a:srgbClr val="FFFCF4"/>
          </a:solidFill>
          <a:ln w="12700">
            <a:solidFill>
              <a:srgbClr val="E4D7BE"/>
            </a:solidFill>
            <a:prstDash val="solid"/>
          </a:ln>
        </p:spPr>
      </p:sp>
      <p:sp>
        <p:nvSpPr>
          <p:cNvPr id="11" name="Text 9"/>
          <p:cNvSpPr/>
          <p:nvPr/>
        </p:nvSpPr>
        <p:spPr>
          <a:xfrm>
            <a:off x="8233866" y="4705350"/>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3 — Play it once</a:t>
            </a:r>
            <a:endParaRPr lang="en-US" sz="2000" dirty="0"/>
          </a:p>
        </p:txBody>
      </p:sp>
      <p:sp>
        <p:nvSpPr>
          <p:cNvPr id="12" name="Text 10"/>
          <p:cNvSpPr/>
          <p:nvPr/>
        </p:nvSpPr>
        <p:spPr>
          <a:xfrm>
            <a:off x="8233866" y="5086350"/>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Catch five things. Make sure it still works after saving.</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HOMEWORK · NEVER MARKED, NEVER CHASED</a:t>
            </a:r>
            <a:endParaRPr lang="en-US" sz="1300" dirty="0"/>
          </a:p>
        </p:txBody>
      </p:sp>
      <p:sp>
        <p:nvSpPr>
          <p:cNvPr id="3" name="Text 1"/>
          <p:cNvSpPr/>
          <p:nvPr/>
        </p:nvSpPr>
        <p:spPr>
          <a:xfrm>
            <a:off x="812800" y="216445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things to try at home</a:t>
            </a:r>
            <a:endParaRPr lang="en-US" sz="4000" dirty="0"/>
          </a:p>
        </p:txBody>
      </p:sp>
      <p:sp>
        <p:nvSpPr>
          <p:cNvPr id="4" name="Shape 2"/>
          <p:cNvSpPr/>
          <p:nvPr/>
        </p:nvSpPr>
        <p:spPr>
          <a:xfrm>
            <a:off x="819150" y="3839865"/>
            <a:ext cx="5168900" cy="1995785"/>
          </a:xfrm>
          <a:prstGeom prst="roundRect">
            <a:avLst>
              <a:gd name="adj" fmla="val 6682"/>
            </a:avLst>
          </a:prstGeom>
          <a:solidFill>
            <a:srgbClr val="FFFCF4"/>
          </a:solidFill>
          <a:ln w="12700">
            <a:solidFill>
              <a:srgbClr val="E4D7BE"/>
            </a:solidFill>
            <a:prstDash val="solid"/>
          </a:ln>
        </p:spPr>
      </p:sp>
      <p:sp>
        <p:nvSpPr>
          <p:cNvPr id="5" name="Text 3"/>
          <p:cNvSpPr/>
          <p:nvPr/>
        </p:nvSpPr>
        <p:spPr>
          <a:xfrm>
            <a:off x="10541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1</a:t>
            </a:r>
            <a:endParaRPr lang="en-US" sz="1500" dirty="0"/>
          </a:p>
        </p:txBody>
      </p:sp>
      <p:sp>
        <p:nvSpPr>
          <p:cNvPr id="6" name="Text 4"/>
          <p:cNvSpPr/>
          <p:nvPr/>
        </p:nvSpPr>
        <p:spPr>
          <a:xfrm>
            <a:off x="10541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Catch feedback</a:t>
            </a:r>
            <a:endParaRPr lang="en-US" sz="2100" dirty="0"/>
          </a:p>
        </p:txBody>
      </p:sp>
      <p:sp>
        <p:nvSpPr>
          <p:cNvPr id="7" name="Text 5"/>
          <p:cNvSpPr/>
          <p:nvPr/>
        </p:nvSpPr>
        <p:spPr>
          <a:xfrm>
            <a:off x="1054100" y="4800600"/>
            <a:ext cx="483997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When you catch something, make it do something noticeable first — a different sound, a costume flash, a say, or a size change.</a:t>
            </a:r>
            <a:endParaRPr lang="en-US" sz="1500" dirty="0"/>
          </a:p>
        </p:txBody>
      </p:sp>
      <p:sp>
        <p:nvSpPr>
          <p:cNvPr id="8" name="Shape 6"/>
          <p:cNvSpPr/>
          <p:nvPr/>
        </p:nvSpPr>
        <p:spPr>
          <a:xfrm>
            <a:off x="6203950" y="3839865"/>
            <a:ext cx="5168900" cy="1995785"/>
          </a:xfrm>
          <a:prstGeom prst="roundRect">
            <a:avLst>
              <a:gd name="adj" fmla="val 6682"/>
            </a:avLst>
          </a:prstGeom>
          <a:solidFill>
            <a:srgbClr val="FFFCF4"/>
          </a:solidFill>
          <a:ln w="12700">
            <a:solidFill>
              <a:srgbClr val="E4D7BE"/>
            </a:solidFill>
            <a:prstDash val="solid"/>
          </a:ln>
        </p:spPr>
      </p:sp>
      <p:sp>
        <p:nvSpPr>
          <p:cNvPr id="9" name="Text 7"/>
          <p:cNvSpPr/>
          <p:nvPr/>
        </p:nvSpPr>
        <p:spPr>
          <a:xfrm>
            <a:off x="64389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64389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Something you shouldn't catch</a:t>
            </a:r>
            <a:endParaRPr lang="en-US" sz="2100" dirty="0"/>
          </a:p>
        </p:txBody>
      </p:sp>
      <p:sp>
        <p:nvSpPr>
          <p:cNvPr id="11" name="Text 9"/>
          <p:cNvSpPr/>
          <p:nvPr/>
        </p:nvSpPr>
        <p:spPr>
          <a:xfrm>
            <a:off x="6438900" y="4800600"/>
            <a:ext cx="483997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Add a bad falling object: a bomb, a coconut, a cat. For now it just says Ouch when it touches you. Next week it will cost you points.</a:t>
            </a:r>
            <a:endParaRPr lang="en-US" sz="1500" dirty="0"/>
          </a:p>
        </p:txBody>
      </p:sp>
      <p:sp>
        <p:nvSpPr>
          <p:cNvPr id="12" name="Text 10"/>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13"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59973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Make a sprite say something different depending on which half of the stage it is on.</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Make a sprite follow the mouse pointer, but only while the space key is held down.</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Use if to stop the player leaving the stage — the thing we couldn't do in week two.</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Combine two conditions with and: only catch if you're touching it AND the space key is pressed.</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4486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NEXT WEEK</a:t>
            </a:r>
            <a:endParaRPr lang="en-US" sz="1300" dirty="0"/>
          </a:p>
        </p:txBody>
      </p:sp>
      <p:sp>
        <p:nvSpPr>
          <p:cNvPr id="3" name="Text 1"/>
          <p:cNvSpPr/>
          <p:nvPr/>
        </p:nvSpPr>
        <p:spPr>
          <a:xfrm>
            <a:off x="812800" y="2933700"/>
            <a:ext cx="9483725"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Next week: it keeps score.</a:t>
            </a:r>
            <a:endParaRPr lang="en-US" sz="4400" dirty="0"/>
          </a:p>
        </p:txBody>
      </p:sp>
      <p:sp>
        <p:nvSpPr>
          <p:cNvPr id="4" name="Shape 2"/>
          <p:cNvSpPr/>
          <p:nvPr/>
        </p:nvSpPr>
        <p:spPr>
          <a:xfrm>
            <a:off x="812800" y="3802360"/>
            <a:ext cx="1143000" cy="50800"/>
          </a:xfrm>
          <a:prstGeom prst="roundRect">
            <a:avLst>
              <a:gd name="adj" fmla="val 50000"/>
            </a:avLst>
          </a:prstGeom>
          <a:solidFill>
            <a:srgbClr val="C9A227"/>
          </a:solidFill>
          <a:ln/>
        </p:spPr>
      </p:sp>
      <p:sp>
        <p:nvSpPr>
          <p:cNvPr id="5" name="Text 3"/>
          <p:cNvSpPr/>
          <p:nvPr/>
        </p:nvSpPr>
        <p:spPr>
          <a:xfrm>
            <a:off x="812800" y="410716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4 — Decisions and Sensing</dc:title>
  <dc:subject>PptxGenJS Presentation</dc:subject>
  <dc:creator>PptxGenJS</dc:creator>
  <cp:lastModifiedBy>PptxGenJS</cp:lastModifiedBy>
  <cp:revision>1</cp:revision>
  <dcterms:created xsi:type="dcterms:W3CDTF">2026-09-19T12:31:18Z</dcterms:created>
  <dcterms:modified xsi:type="dcterms:W3CDTF">2026-09-19T12:31:18Z</dcterms:modified>
</cp:coreProperties>
</file>