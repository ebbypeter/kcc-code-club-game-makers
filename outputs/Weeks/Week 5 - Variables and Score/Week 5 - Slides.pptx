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a cardboard box with SCORE written on it in marker, and a stack of number cards. Genuinely worth the two minutes it takes to make — the physical prop does more for this concept than any explanation you can give. Week 4 skeleton ready for anyone who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Halfway. Say that out loud — four boxes done, four to go, and the game already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bad-object homework specifically. Several of them will have made something very funny and it sets up today perfectly — the bad object is about to start costing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then get the box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actual box. Put a card with 5 on it inside. set score to 12 — take the 5 out, throw it away, put 12 in. change score by 1 — leave the 12, make it 13. Make them tell you the difference back before you build anything. This distinction is the whole class, and it is where today's bugs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card is the one they will ignore and then hit. Name it now so that when their score starts at forty-seven next game, they can find it themselves. Also insist on lowercase names with no spaces that say what they hold: score, not s, not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new colour, and one new shape: the little rounded (score) reporter, which goes anywhere a number goes. Drop it into a say block to prove it. Make a variable first, on the projector, so they see where the blocks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scripts. Make the variable in front of them so they see the Make a Variable button. Then drop the (score) reporter into a say block to show that a variable can be used anywhere a number can — that generalisation is what makes variables powerful rather than just a scoreboard.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today's inoculation and you must not skip it. Build it, run it, look genuinely horrified as the number explodes, then explain: this exact bug is coming for you in twenty minutes. When it arrives in their own game they will recognise it instead of despairing.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equals operator is a week early but it is intuitive enough to use without a formal lesson — they already have if from last week. Do not explain operators properly here; that is week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the two is the payoff and several of them will realise, unprompted, that they have just built something they could drop into their real project. Let that thought land — it is the moment variables stop being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Save everything first — today's project build is the one they will most want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it keeps score they will play it obsessively, and that is when the course really takes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inside the if matters: change score, THEN go to. Let them hit the runaway-score bug rather than warning them off it — it is a great bug because the explanation is so satisfying. Position the score display top-left; right-click it for the large readout if they want. Finish with a playtest and a high-score comparison; the competitive energy this releases is the best thing that happens all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rather than tell: how many times is your computer checking whether you are touching? And how long are you touching for? They can usually assemble the answer themselves from those two questions. If they put change score AFTER the go to, or left the go to out, the score runs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be loud. Comparing scores is the single strongest motivator you will get all term and it costs you four minutes. Make a note of the top score and open Show and Tell with it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volunteer: set versus change is the whole class. When a child is stuck, do not look at their code first — ask them, do you want to replace what is in the box, or add to it? Nine times out of ten they answer correctly and then fix their own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back up, brief the homework. Note who is falling behind — there are three weeks left and the showcase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hint they need: if score &gt; highscore then set highscore to score. Point out the trap on the handout as well as saying it — putting set highscore to 0 under the green flag is the obvious move and it is exactly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one and two are genuine head starts on weeks six and seven. Anyone who gets lives working today will sail through next week and can help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Game Over does a lot of work with this age group.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5</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Variables and Score</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A variable is a labelled box. You can put a number in it, look at what's inside, and change it while the program runs.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5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FFCF4"/>
          </a:solidFill>
          <a:ln w="12700">
            <a:solidFill>
              <a:srgbClr val="E4D7BE"/>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3 · DONE</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FFCF4"/>
          </a:solidFill>
          <a:ln w="12700">
            <a:solidFill>
              <a:srgbClr val="E4D7BE"/>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4 · DONE</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C9A227"/>
          </a:solidFill>
          <a:ln w="12700">
            <a:solidFill>
              <a:srgbClr val="A8861C"/>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5 · TODAY</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4E9D2"/>
          </a:solidFill>
          <a:ln w="12700">
            <a:solidFill>
              <a:srgbClr val="DFD0B4"/>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6</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Who made a bad thing to catch? Show us the funniest one.</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A box with a label</a:t>
            </a:r>
            <a:endParaRPr lang="en-US" sz="2200" dirty="0"/>
          </a:p>
        </p:txBody>
      </p:sp>
      <p:sp>
        <p:nvSpPr>
          <p:cNvPr id="7" name="Text 5"/>
          <p:cNvSpPr/>
          <p:nvPr/>
        </p:nvSpPr>
        <p:spPr>
          <a:xfrm>
            <a:off x="1054100"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That's all a variable is. It holds a number you can change.</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set and change</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Two ways to put something in the box. They are not the same.</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Your game keeps score</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Good catches add. Bad ones take away.</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45199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911673"/>
            <a:ext cx="9810750" cy="651173"/>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A variable is a box with a label on it.</a:t>
            </a:r>
            <a:endParaRPr lang="en-US" sz="4400" dirty="0"/>
          </a:p>
        </p:txBody>
      </p:sp>
      <p:sp>
        <p:nvSpPr>
          <p:cNvPr id="4" name="Text 2"/>
          <p:cNvSpPr/>
          <p:nvPr/>
        </p:nvSpPr>
        <p:spPr>
          <a:xfrm>
            <a:off x="812800" y="3766046"/>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set throws away what's inside and puts something new in. change adds to what's already there.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ONLY TWO THINGS YOU CAN DO TO A BOX</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set, and change</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set score to 0</a:t>
            </a:r>
            <a:endParaRPr lang="en-US" sz="1900" dirty="0"/>
          </a:p>
        </p:txBody>
      </p:sp>
      <p:sp>
        <p:nvSpPr>
          <p:cNvPr id="6" name="Text 4"/>
          <p:cNvSpPr/>
          <p:nvPr/>
        </p:nvSpPr>
        <p:spPr>
          <a:xfrm>
            <a:off x="1054100" y="4577655"/>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Empty the box. Put a zero in. Whatever was there is gone.</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change score by 1</a:t>
            </a:r>
            <a:endParaRPr lang="en-US" sz="1900" dirty="0"/>
          </a:p>
        </p:txBody>
      </p:sp>
      <p:sp>
        <p:nvSpPr>
          <p:cNvPr id="9" name="Text 7"/>
          <p:cNvSpPr/>
          <p:nvPr/>
        </p:nvSpPr>
        <p:spPr>
          <a:xfrm>
            <a:off x="4643934" y="4577655"/>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Leave what's in there. Add one to it.</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Every game starts by setting</a:t>
            </a:r>
            <a:endParaRPr lang="en-US" sz="1900" dirty="0"/>
          </a:p>
        </p:txBody>
      </p:sp>
      <p:sp>
        <p:nvSpPr>
          <p:cNvPr id="12" name="Text 10"/>
          <p:cNvSpPr/>
          <p:nvPr/>
        </p:nvSpPr>
        <p:spPr>
          <a:xfrm>
            <a:off x="8233866"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If you forget set score to 0, your score starts at whatever it finished on last time.</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188666"/>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881934"/>
            <a:ext cx="995660" cy="358080"/>
          </a:xfrm>
          <a:prstGeom prst="roundRect">
            <a:avLst>
              <a:gd name="adj" fmla="val 42560"/>
            </a:avLst>
          </a:prstGeom>
          <a:solidFill>
            <a:srgbClr val="FF8C1A"/>
          </a:solidFill>
          <a:ln/>
        </p:spPr>
      </p:sp>
      <p:sp>
        <p:nvSpPr>
          <p:cNvPr id="5" name="Text 3"/>
          <p:cNvSpPr/>
          <p:nvPr/>
        </p:nvSpPr>
        <p:spPr>
          <a:xfrm>
            <a:off x="952500" y="3945434"/>
            <a:ext cx="7670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Variables</a:t>
            </a:r>
            <a:endParaRPr lang="en-US" sz="1300" dirty="0"/>
          </a:p>
        </p:txBody>
      </p:sp>
      <p:sp>
        <p:nvSpPr>
          <p:cNvPr id="6" name="Shape 4"/>
          <p:cNvSpPr/>
          <p:nvPr/>
        </p:nvSpPr>
        <p:spPr>
          <a:xfrm>
            <a:off x="812800" y="5384800"/>
            <a:ext cx="1750516" cy="457200"/>
          </a:xfrm>
          <a:prstGeom prst="roundRect">
            <a:avLst>
              <a:gd name="adj" fmla="val 19444"/>
            </a:avLst>
          </a:prstGeom>
          <a:solidFill>
            <a:srgbClr val="FF8C1A"/>
          </a:solidFill>
          <a:ln/>
        </p:spPr>
      </p:sp>
      <p:sp>
        <p:nvSpPr>
          <p:cNvPr id="7" name="Text 5"/>
          <p:cNvSpPr/>
          <p:nvPr/>
        </p:nvSpPr>
        <p:spPr>
          <a:xfrm>
            <a:off x="984250" y="5486400"/>
            <a:ext cx="145841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set [score] to 0</a:t>
            </a:r>
            <a:endParaRPr lang="en-US" sz="1600" dirty="0"/>
          </a:p>
        </p:txBody>
      </p:sp>
      <p:sp>
        <p:nvSpPr>
          <p:cNvPr id="8" name="Shape 6"/>
          <p:cNvSpPr/>
          <p:nvPr/>
        </p:nvSpPr>
        <p:spPr>
          <a:xfrm>
            <a:off x="2664916" y="5384800"/>
            <a:ext cx="2173982" cy="457200"/>
          </a:xfrm>
          <a:prstGeom prst="roundRect">
            <a:avLst>
              <a:gd name="adj" fmla="val 19444"/>
            </a:avLst>
          </a:prstGeom>
          <a:solidFill>
            <a:srgbClr val="FF8C1A"/>
          </a:solidFill>
          <a:ln/>
        </p:spPr>
      </p:sp>
      <p:sp>
        <p:nvSpPr>
          <p:cNvPr id="9" name="Text 7"/>
          <p:cNvSpPr/>
          <p:nvPr/>
        </p:nvSpPr>
        <p:spPr>
          <a:xfrm>
            <a:off x="2836366" y="5486400"/>
            <a:ext cx="188601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change [score] by 1</a:t>
            </a:r>
            <a:endParaRPr lang="en-US" sz="1600" dirty="0"/>
          </a:p>
        </p:txBody>
      </p:sp>
      <p:sp>
        <p:nvSpPr>
          <p:cNvPr id="10" name="Shape 8"/>
          <p:cNvSpPr/>
          <p:nvPr/>
        </p:nvSpPr>
        <p:spPr>
          <a:xfrm>
            <a:off x="4940498" y="5384800"/>
            <a:ext cx="2353766" cy="457200"/>
          </a:xfrm>
          <a:prstGeom prst="roundRect">
            <a:avLst>
              <a:gd name="adj" fmla="val 19444"/>
            </a:avLst>
          </a:prstGeom>
          <a:solidFill>
            <a:srgbClr val="FF8C1A"/>
          </a:solidFill>
          <a:ln/>
        </p:spPr>
      </p:sp>
      <p:sp>
        <p:nvSpPr>
          <p:cNvPr id="11" name="Text 9"/>
          <p:cNvSpPr/>
          <p:nvPr/>
        </p:nvSpPr>
        <p:spPr>
          <a:xfrm>
            <a:off x="5111948" y="5486400"/>
            <a:ext cx="20711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show variable [score]</a:t>
            </a:r>
            <a:endParaRPr lang="en-US" sz="1600" dirty="0"/>
          </a:p>
        </p:txBody>
      </p:sp>
      <p:sp>
        <p:nvSpPr>
          <p:cNvPr id="12" name="Shape 10"/>
          <p:cNvSpPr/>
          <p:nvPr/>
        </p:nvSpPr>
        <p:spPr>
          <a:xfrm>
            <a:off x="7395865" y="5384800"/>
            <a:ext cx="2250182" cy="457200"/>
          </a:xfrm>
          <a:prstGeom prst="roundRect">
            <a:avLst>
              <a:gd name="adj" fmla="val 19444"/>
            </a:avLst>
          </a:prstGeom>
          <a:solidFill>
            <a:srgbClr val="FF8C1A"/>
          </a:solidFill>
          <a:ln/>
        </p:spPr>
      </p:sp>
      <p:sp>
        <p:nvSpPr>
          <p:cNvPr id="13" name="Text 11"/>
          <p:cNvSpPr/>
          <p:nvPr/>
        </p:nvSpPr>
        <p:spPr>
          <a:xfrm>
            <a:off x="7567315" y="5486400"/>
            <a:ext cx="19645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hide variable [score]</a:t>
            </a:r>
            <a:endParaRPr lang="en-US" sz="1600" dirty="0"/>
          </a:p>
        </p:txBody>
      </p:sp>
      <p:sp>
        <p:nvSpPr>
          <p:cNvPr id="14" name="Shape 12"/>
          <p:cNvSpPr/>
          <p:nvPr/>
        </p:nvSpPr>
        <p:spPr>
          <a:xfrm>
            <a:off x="9747647" y="5384800"/>
            <a:ext cx="984647" cy="457200"/>
          </a:xfrm>
          <a:prstGeom prst="roundRect">
            <a:avLst>
              <a:gd name="adj" fmla="val 19444"/>
            </a:avLst>
          </a:prstGeom>
          <a:solidFill>
            <a:srgbClr val="FF8C1A"/>
          </a:solidFill>
          <a:ln/>
        </p:spPr>
      </p:sp>
      <p:sp>
        <p:nvSpPr>
          <p:cNvPr id="15" name="Text 13"/>
          <p:cNvSpPr/>
          <p:nvPr/>
        </p:nvSpPr>
        <p:spPr>
          <a:xfrm>
            <a:off x="9919097" y="5486400"/>
            <a:ext cx="69254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(score)</a:t>
            </a:r>
            <a:endParaRPr lang="en-US" sz="16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MAKING A VARIABLE</a:t>
            </a:r>
            <a:endParaRPr lang="en-US" sz="1300" dirty="0"/>
          </a:p>
        </p:txBody>
      </p:sp>
      <p:sp>
        <p:nvSpPr>
          <p:cNvPr id="3" name="Text 1"/>
          <p:cNvSpPr/>
          <p:nvPr/>
        </p:nvSpPr>
        <p:spPr>
          <a:xfrm>
            <a:off x="812800" y="198725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Variables &amp;rarr; Make a Variable</a:t>
            </a:r>
            <a:endParaRPr lang="en-US" sz="3600" dirty="0"/>
          </a:p>
        </p:txBody>
      </p:sp>
      <p:sp>
        <p:nvSpPr>
          <p:cNvPr id="4" name="Text 2"/>
          <p:cNvSpPr/>
          <p:nvPr/>
        </p:nvSpPr>
        <p:spPr>
          <a:xfrm>
            <a:off x="812800" y="3424238"/>
            <a:ext cx="3662680" cy="244316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Call it </a:t>
            </a:r>
            <a:r>
              <a:rPr lang="en-US" sz="1700" b="1" dirty="0">
                <a:solidFill>
                  <a:srgbClr val="5C4A46"/>
                </a:solidFill>
                <a:latin typeface="Nunito Sans" pitchFamily="34" charset="0"/>
                <a:ea typeface="Nunito Sans" pitchFamily="34" charset="-122"/>
                <a:cs typeface="Nunito Sans" pitchFamily="34" charset="-120"/>
              </a:rPr>
              <a:t>score</a:t>
            </a:r>
            <a:r>
              <a:rPr lang="en-US" sz="1700" dirty="0">
                <a:solidFill>
                  <a:srgbClr val="5C4A46"/>
                </a:solidFill>
                <a:latin typeface="Nunito Sans" pitchFamily="34" charset="0"/>
                <a:ea typeface="Nunito Sans" pitchFamily="34" charset="-122"/>
                <a:cs typeface="Nunito Sans" pitchFamily="34" charset="-120"/>
              </a:rPr>
              <a:t>. Lower case, no spaces, and a name that says what it holds.</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It appears in a little box on the stage. Drag it somewhere sensible.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press the space bar over and over and watch it climb.</a:t>
            </a:r>
            <a:endParaRPr lang="en-US" sz="1700" dirty="0"/>
          </a:p>
        </p:txBody>
      </p:sp>
      <p:sp>
        <p:nvSpPr>
          <p:cNvPr id="5" name="Shape 3"/>
          <p:cNvSpPr/>
          <p:nvPr/>
        </p:nvSpPr>
        <p:spPr>
          <a:xfrm>
            <a:off x="4673600" y="3424238"/>
            <a:ext cx="2588716" cy="457200"/>
          </a:xfrm>
          <a:prstGeom prst="roundRect">
            <a:avLst>
              <a:gd name="adj" fmla="val 38889"/>
            </a:avLst>
          </a:prstGeom>
          <a:solidFill>
            <a:srgbClr val="FFBF00"/>
          </a:solidFill>
          <a:ln/>
        </p:spPr>
      </p:sp>
      <p:sp>
        <p:nvSpPr>
          <p:cNvPr id="6" name="Text 4"/>
          <p:cNvSpPr/>
          <p:nvPr/>
        </p:nvSpPr>
        <p:spPr>
          <a:xfrm>
            <a:off x="4845050" y="3525838"/>
            <a:ext cx="231319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green flag clicked</a:t>
            </a:r>
            <a:endParaRPr lang="en-US" sz="1600" dirty="0"/>
          </a:p>
        </p:txBody>
      </p:sp>
      <p:sp>
        <p:nvSpPr>
          <p:cNvPr id="7" name="Shape 5"/>
          <p:cNvSpPr/>
          <p:nvPr/>
        </p:nvSpPr>
        <p:spPr>
          <a:xfrm>
            <a:off x="4673600" y="3919537"/>
            <a:ext cx="1750516" cy="457200"/>
          </a:xfrm>
          <a:prstGeom prst="roundRect">
            <a:avLst>
              <a:gd name="adj" fmla="val 19444"/>
            </a:avLst>
          </a:prstGeom>
          <a:solidFill>
            <a:srgbClr val="FF8C1A"/>
          </a:solidFill>
          <a:ln/>
        </p:spPr>
      </p:sp>
      <p:sp>
        <p:nvSpPr>
          <p:cNvPr id="8" name="Text 6"/>
          <p:cNvSpPr/>
          <p:nvPr/>
        </p:nvSpPr>
        <p:spPr>
          <a:xfrm>
            <a:off x="4845050" y="4021138"/>
            <a:ext cx="145841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set [score] to 0</a:t>
            </a:r>
            <a:endParaRPr lang="en-US" sz="1600" dirty="0"/>
          </a:p>
        </p:txBody>
      </p:sp>
      <p:sp>
        <p:nvSpPr>
          <p:cNvPr id="9" name="Shape 7"/>
          <p:cNvSpPr/>
          <p:nvPr/>
        </p:nvSpPr>
        <p:spPr>
          <a:xfrm>
            <a:off x="4673600" y="4376738"/>
            <a:ext cx="2769592" cy="457200"/>
          </a:xfrm>
          <a:prstGeom prst="roundRect">
            <a:avLst>
              <a:gd name="adj" fmla="val 38889"/>
            </a:avLst>
          </a:prstGeom>
          <a:solidFill>
            <a:srgbClr val="FFBF00"/>
          </a:solidFill>
          <a:ln/>
        </p:spPr>
      </p:sp>
      <p:sp>
        <p:nvSpPr>
          <p:cNvPr id="10" name="Text 8"/>
          <p:cNvSpPr/>
          <p:nvPr/>
        </p:nvSpPr>
        <p:spPr>
          <a:xfrm>
            <a:off x="4845050" y="4478338"/>
            <a:ext cx="249949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[space] key pressed</a:t>
            </a:r>
            <a:endParaRPr lang="en-US" sz="1600" dirty="0"/>
          </a:p>
        </p:txBody>
      </p:sp>
      <p:sp>
        <p:nvSpPr>
          <p:cNvPr id="11" name="Shape 9"/>
          <p:cNvSpPr/>
          <p:nvPr/>
        </p:nvSpPr>
        <p:spPr>
          <a:xfrm>
            <a:off x="4673600" y="4872038"/>
            <a:ext cx="2173982" cy="457200"/>
          </a:xfrm>
          <a:prstGeom prst="roundRect">
            <a:avLst>
              <a:gd name="adj" fmla="val 19444"/>
            </a:avLst>
          </a:prstGeom>
          <a:solidFill>
            <a:srgbClr val="FF8C1A"/>
          </a:solidFill>
          <a:ln/>
        </p:spPr>
      </p:sp>
      <p:sp>
        <p:nvSpPr>
          <p:cNvPr id="12" name="Text 10"/>
          <p:cNvSpPr/>
          <p:nvPr/>
        </p:nvSpPr>
        <p:spPr>
          <a:xfrm>
            <a:off x="4845050" y="4973638"/>
            <a:ext cx="188601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change [score] by 1</a:t>
            </a:r>
            <a:endParaRPr lang="en-US" sz="16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33560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The score has gone to four thousand</a:t>
            </a:r>
            <a:endParaRPr lang="en-US" sz="4000" dirty="0"/>
          </a:p>
        </p:txBody>
      </p:sp>
      <p:sp>
        <p:nvSpPr>
          <p:cNvPr id="4" name="Text 2"/>
          <p:cNvSpPr/>
          <p:nvPr/>
        </p:nvSpPr>
        <p:spPr>
          <a:xfrm>
            <a:off x="812800" y="4175820"/>
            <a:ext cx="405511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I only caught one thing. Why is my score in the thousands?</a:t>
            </a:r>
            <a:endParaRPr lang="en-US" sz="2000" dirty="0"/>
          </a:p>
        </p:txBody>
      </p:sp>
      <p:sp>
        <p:nvSpPr>
          <p:cNvPr id="5" name="Text 3"/>
          <p:cNvSpPr/>
          <p:nvPr/>
        </p:nvSpPr>
        <p:spPr>
          <a:xfrm>
            <a:off x="812800" y="4988620"/>
            <a:ext cx="405511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There's no question being asked here. It just keeps adding, as fast as the computer can go.</a:t>
            </a:r>
            <a:endParaRPr lang="en-US" sz="1600" dirty="0"/>
          </a:p>
        </p:txBody>
      </p:sp>
      <p:sp>
        <p:nvSpPr>
          <p:cNvPr id="6" name="Shape 4"/>
          <p:cNvSpPr/>
          <p:nvPr/>
        </p:nvSpPr>
        <p:spPr>
          <a:xfrm>
            <a:off x="5054600" y="4175820"/>
            <a:ext cx="2588716" cy="457200"/>
          </a:xfrm>
          <a:prstGeom prst="roundRect">
            <a:avLst>
              <a:gd name="adj" fmla="val 38889"/>
            </a:avLst>
          </a:prstGeom>
          <a:solidFill>
            <a:srgbClr val="FFBF00"/>
          </a:solidFill>
          <a:ln/>
        </p:spPr>
      </p:sp>
      <p:sp>
        <p:nvSpPr>
          <p:cNvPr id="7" name="Text 5"/>
          <p:cNvSpPr/>
          <p:nvPr/>
        </p:nvSpPr>
        <p:spPr>
          <a:xfrm>
            <a:off x="5226050" y="4277420"/>
            <a:ext cx="231319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green flag clicked</a:t>
            </a:r>
            <a:endParaRPr lang="en-US" sz="1600" dirty="0"/>
          </a:p>
        </p:txBody>
      </p:sp>
      <p:sp>
        <p:nvSpPr>
          <p:cNvPr id="8" name="Shape 6"/>
          <p:cNvSpPr/>
          <p:nvPr/>
        </p:nvSpPr>
        <p:spPr>
          <a:xfrm>
            <a:off x="5054600" y="4671120"/>
            <a:ext cx="1012726" cy="457200"/>
          </a:xfrm>
          <a:prstGeom prst="roundRect">
            <a:avLst>
              <a:gd name="adj" fmla="val 19444"/>
            </a:avLst>
          </a:prstGeom>
          <a:solidFill>
            <a:srgbClr val="FFAB19"/>
          </a:solidFill>
          <a:ln/>
        </p:spPr>
      </p:sp>
      <p:sp>
        <p:nvSpPr>
          <p:cNvPr id="9" name="Text 7"/>
          <p:cNvSpPr/>
          <p:nvPr/>
        </p:nvSpPr>
        <p:spPr>
          <a:xfrm>
            <a:off x="5226050" y="4772720"/>
            <a:ext cx="72062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forever</a:t>
            </a:r>
            <a:endParaRPr lang="en-US" sz="1600" dirty="0"/>
          </a:p>
        </p:txBody>
      </p:sp>
      <p:sp>
        <p:nvSpPr>
          <p:cNvPr id="10" name="Shape 8"/>
          <p:cNvSpPr/>
          <p:nvPr/>
        </p:nvSpPr>
        <p:spPr>
          <a:xfrm>
            <a:off x="5105400" y="5166420"/>
            <a:ext cx="0" cy="457200"/>
          </a:xfrm>
          <a:prstGeom prst="line">
            <a:avLst/>
          </a:prstGeom>
          <a:noFill/>
          <a:ln w="101600">
            <a:solidFill>
              <a:srgbClr val="FFAB19"/>
            </a:solidFill>
            <a:prstDash val="solid"/>
          </a:ln>
        </p:spPr>
      </p:sp>
      <p:sp>
        <p:nvSpPr>
          <p:cNvPr id="11" name="Shape 9"/>
          <p:cNvSpPr/>
          <p:nvPr/>
        </p:nvSpPr>
        <p:spPr>
          <a:xfrm>
            <a:off x="5378450" y="5166420"/>
            <a:ext cx="2173982" cy="457200"/>
          </a:xfrm>
          <a:prstGeom prst="roundRect">
            <a:avLst>
              <a:gd name="adj" fmla="val 19444"/>
            </a:avLst>
          </a:prstGeom>
          <a:solidFill>
            <a:srgbClr val="FF8C1A"/>
          </a:solidFill>
          <a:ln/>
        </p:spPr>
      </p:sp>
      <p:sp>
        <p:nvSpPr>
          <p:cNvPr id="12" name="Text 10"/>
          <p:cNvSpPr/>
          <p:nvPr/>
        </p:nvSpPr>
        <p:spPr>
          <a:xfrm>
            <a:off x="5549900" y="5268020"/>
            <a:ext cx="188601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change [score] by 1</a:t>
            </a:r>
            <a:endParaRPr lang="en-US" sz="1600" dirty="0"/>
          </a:p>
        </p:txBody>
      </p:sp>
      <p:sp>
        <p:nvSpPr>
          <p:cNvPr id="13" name="Shape 11"/>
          <p:cNvSpPr/>
          <p:nvPr/>
        </p:nvSpPr>
        <p:spPr>
          <a:xfrm>
            <a:off x="5054600" y="5661720"/>
            <a:ext cx="914400" cy="152400"/>
          </a:xfrm>
          <a:prstGeom prst="roundRect">
            <a:avLst>
              <a:gd name="adj" fmla="val 50000"/>
            </a:avLst>
          </a:prstGeom>
          <a:solidFill>
            <a:srgbClr val="FFAB19"/>
          </a:solidFill>
          <a:ln/>
        </p:spPr>
      </p:sp>
      <p:sp>
        <p:nvSpPr>
          <p:cNvPr id="14" name="Text 12"/>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5"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TWELVE MINUTES</a:t>
            </a:r>
            <a:endParaRPr lang="en-US" sz="1300" dirty="0"/>
          </a:p>
        </p:txBody>
      </p:sp>
      <p:sp>
        <p:nvSpPr>
          <p:cNvPr id="3" name="Text 1"/>
          <p:cNvSpPr/>
          <p:nvPr/>
        </p:nvSpPr>
        <p:spPr>
          <a:xfrm>
            <a:off x="812800" y="174515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Click Counter</a:t>
            </a:r>
            <a:endParaRPr lang="en-US" sz="3600" dirty="0"/>
          </a:p>
        </p:txBody>
      </p:sp>
      <p:sp>
        <p:nvSpPr>
          <p:cNvPr id="4" name="Text 2"/>
          <p:cNvSpPr/>
          <p:nvPr/>
        </p:nvSpPr>
        <p:spPr>
          <a:xfrm>
            <a:off x="812800" y="2940050"/>
            <a:ext cx="3662680" cy="153650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Make a variable called </a:t>
            </a:r>
            <a:r>
              <a:rPr lang="en-US" sz="1700" b="1" dirty="0">
                <a:solidFill>
                  <a:srgbClr val="5C4A46"/>
                </a:solidFill>
                <a:latin typeface="Nunito Sans" pitchFamily="34" charset="0"/>
                <a:ea typeface="Nunito Sans" pitchFamily="34" charset="-122"/>
                <a:cs typeface="Nunito Sans" pitchFamily="34" charset="-120"/>
              </a:rPr>
              <a:t>clicks</a:t>
            </a:r>
            <a:r>
              <a:rPr lang="en-US" sz="1700" dirty="0">
                <a:solidFill>
                  <a:srgbClr val="5C4A46"/>
                </a:solidFill>
                <a:latin typeface="Nunito Sans" pitchFamily="34" charset="0"/>
                <a:ea typeface="Nunito Sans" pitchFamily="34" charset="-122"/>
                <a:cs typeface="Nunito Sans" pitchFamily="34" charset="-120"/>
              </a:rPr>
              <a:t>. Click the sprite over and over.</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add a little flourish: when clicks reaches ten, say </a:t>
            </a:r>
            <a:r>
              <a:rPr lang="en-US" sz="1700" b="1" dirty="0">
                <a:solidFill>
                  <a:srgbClr val="5C4A46"/>
                </a:solidFill>
                <a:latin typeface="Nunito Sans" pitchFamily="34" charset="0"/>
                <a:ea typeface="Nunito Sans" pitchFamily="34" charset="-122"/>
                <a:cs typeface="Nunito Sans" pitchFamily="34" charset="-120"/>
              </a:rPr>
              <a:t>You win!</a:t>
            </a:r>
            <a:endParaRPr lang="en-US" sz="1700" dirty="0"/>
          </a:p>
        </p:txBody>
      </p:sp>
      <p:sp>
        <p:nvSpPr>
          <p:cNvPr id="5" name="Shape 3"/>
          <p:cNvSpPr/>
          <p:nvPr/>
        </p:nvSpPr>
        <p:spPr>
          <a:xfrm>
            <a:off x="4673600" y="2940050"/>
            <a:ext cx="2422922" cy="428625"/>
          </a:xfrm>
          <a:prstGeom prst="roundRect">
            <a:avLst>
              <a:gd name="adj" fmla="val 40000"/>
            </a:avLst>
          </a:prstGeom>
          <a:solidFill>
            <a:srgbClr val="FFBF00"/>
          </a:solidFill>
          <a:ln/>
        </p:spPr>
      </p:sp>
      <p:sp>
        <p:nvSpPr>
          <p:cNvPr id="6" name="Text 4"/>
          <p:cNvSpPr/>
          <p:nvPr/>
        </p:nvSpPr>
        <p:spPr>
          <a:xfrm>
            <a:off x="4832350" y="303530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406775"/>
            <a:ext cx="1652786" cy="428625"/>
          </a:xfrm>
          <a:prstGeom prst="roundRect">
            <a:avLst>
              <a:gd name="adj" fmla="val 20741"/>
            </a:avLst>
          </a:prstGeom>
          <a:solidFill>
            <a:srgbClr val="FF8C1A"/>
          </a:solidFill>
          <a:ln/>
        </p:spPr>
      </p:sp>
      <p:sp>
        <p:nvSpPr>
          <p:cNvPr id="8" name="Text 6"/>
          <p:cNvSpPr/>
          <p:nvPr/>
        </p:nvSpPr>
        <p:spPr>
          <a:xfrm>
            <a:off x="4832350" y="3502025"/>
            <a:ext cx="138608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set [clicks] to 0</a:t>
            </a:r>
            <a:endParaRPr lang="en-US" sz="1500" dirty="0"/>
          </a:p>
        </p:txBody>
      </p:sp>
      <p:sp>
        <p:nvSpPr>
          <p:cNvPr id="9" name="Shape 7"/>
          <p:cNvSpPr/>
          <p:nvPr/>
        </p:nvSpPr>
        <p:spPr>
          <a:xfrm>
            <a:off x="4673600" y="3835400"/>
            <a:ext cx="2399506" cy="428625"/>
          </a:xfrm>
          <a:prstGeom prst="roundRect">
            <a:avLst>
              <a:gd name="adj" fmla="val 40000"/>
            </a:avLst>
          </a:prstGeom>
          <a:solidFill>
            <a:srgbClr val="FFBF00"/>
          </a:solidFill>
          <a:ln/>
        </p:spPr>
      </p:sp>
      <p:sp>
        <p:nvSpPr>
          <p:cNvPr id="10" name="Text 8"/>
          <p:cNvSpPr/>
          <p:nvPr/>
        </p:nvSpPr>
        <p:spPr>
          <a:xfrm>
            <a:off x="4832350" y="3930650"/>
            <a:ext cx="214446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this sprite clicked</a:t>
            </a:r>
            <a:endParaRPr lang="en-US" sz="1500" dirty="0"/>
          </a:p>
        </p:txBody>
      </p:sp>
      <p:sp>
        <p:nvSpPr>
          <p:cNvPr id="11" name="Shape 9"/>
          <p:cNvSpPr/>
          <p:nvPr/>
        </p:nvSpPr>
        <p:spPr>
          <a:xfrm>
            <a:off x="4673600" y="4302125"/>
            <a:ext cx="2049760" cy="428625"/>
          </a:xfrm>
          <a:prstGeom prst="roundRect">
            <a:avLst>
              <a:gd name="adj" fmla="val 20741"/>
            </a:avLst>
          </a:prstGeom>
          <a:solidFill>
            <a:srgbClr val="FF8C1A"/>
          </a:solidFill>
          <a:ln/>
        </p:spPr>
      </p:sp>
      <p:sp>
        <p:nvSpPr>
          <p:cNvPr id="12" name="Text 10"/>
          <p:cNvSpPr/>
          <p:nvPr/>
        </p:nvSpPr>
        <p:spPr>
          <a:xfrm>
            <a:off x="4832350" y="4397375"/>
            <a:ext cx="178422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change [clicks] by 1</a:t>
            </a:r>
            <a:endParaRPr lang="en-US" sz="1500" dirty="0"/>
          </a:p>
        </p:txBody>
      </p:sp>
      <p:sp>
        <p:nvSpPr>
          <p:cNvPr id="13" name="Shape 11"/>
          <p:cNvSpPr/>
          <p:nvPr/>
        </p:nvSpPr>
        <p:spPr>
          <a:xfrm>
            <a:off x="4673600" y="4768850"/>
            <a:ext cx="2229247" cy="428625"/>
          </a:xfrm>
          <a:prstGeom prst="roundRect">
            <a:avLst>
              <a:gd name="adj" fmla="val 20741"/>
            </a:avLst>
          </a:prstGeom>
          <a:solidFill>
            <a:srgbClr val="FFAB19"/>
          </a:solidFill>
          <a:ln/>
        </p:spPr>
      </p:sp>
      <p:sp>
        <p:nvSpPr>
          <p:cNvPr id="14" name="Text 12"/>
          <p:cNvSpPr/>
          <p:nvPr/>
        </p:nvSpPr>
        <p:spPr>
          <a:xfrm>
            <a:off x="4832350" y="4864100"/>
            <a:ext cx="196909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&lt;(clicks) = 10&gt; then</a:t>
            </a:r>
            <a:endParaRPr lang="en-US" sz="1500" dirty="0"/>
          </a:p>
        </p:txBody>
      </p:sp>
      <p:sp>
        <p:nvSpPr>
          <p:cNvPr id="15" name="Shape 13"/>
          <p:cNvSpPr/>
          <p:nvPr/>
        </p:nvSpPr>
        <p:spPr>
          <a:xfrm>
            <a:off x="4724400" y="5235575"/>
            <a:ext cx="0" cy="428625"/>
          </a:xfrm>
          <a:prstGeom prst="line">
            <a:avLst/>
          </a:prstGeom>
          <a:noFill/>
          <a:ln w="101600">
            <a:solidFill>
              <a:srgbClr val="FFAB19"/>
            </a:solidFill>
            <a:prstDash val="solid"/>
          </a:ln>
        </p:spPr>
      </p:sp>
      <p:sp>
        <p:nvSpPr>
          <p:cNvPr id="16" name="Shape 14"/>
          <p:cNvSpPr/>
          <p:nvPr/>
        </p:nvSpPr>
        <p:spPr>
          <a:xfrm>
            <a:off x="4984750" y="5235575"/>
            <a:ext cx="2783582" cy="428625"/>
          </a:xfrm>
          <a:prstGeom prst="roundRect">
            <a:avLst>
              <a:gd name="adj" fmla="val 20741"/>
            </a:avLst>
          </a:prstGeom>
          <a:solidFill>
            <a:srgbClr val="774DCB"/>
          </a:solidFill>
          <a:ln/>
        </p:spPr>
      </p:sp>
      <p:sp>
        <p:nvSpPr>
          <p:cNvPr id="17" name="Text 15"/>
          <p:cNvSpPr/>
          <p:nvPr/>
        </p:nvSpPr>
        <p:spPr>
          <a:xfrm>
            <a:off x="5143500" y="5330825"/>
            <a:ext cx="254006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say [You win!] for 2 seconds</a:t>
            </a:r>
            <a:endParaRPr lang="en-US" sz="1500" dirty="0"/>
          </a:p>
        </p:txBody>
      </p:sp>
      <p:sp>
        <p:nvSpPr>
          <p:cNvPr id="18" name="Shape 16"/>
          <p:cNvSpPr/>
          <p:nvPr/>
        </p:nvSpPr>
        <p:spPr>
          <a:xfrm>
            <a:off x="4673600" y="5702300"/>
            <a:ext cx="857250" cy="139700"/>
          </a:xfrm>
          <a:prstGeom prst="roundRect">
            <a:avLst>
              <a:gd name="adj" fmla="val 50000"/>
            </a:avLst>
          </a:prstGeom>
          <a:solidFill>
            <a:srgbClr val="FFAB19"/>
          </a:solidFill>
          <a:ln/>
        </p:spPr>
      </p:sp>
      <p:sp>
        <p:nvSpPr>
          <p:cNvPr id="19" name="Text 17"/>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20"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EIGHTEEN MINUTES</a:t>
            </a:r>
            <a:endParaRPr lang="en-US" sz="1300" dirty="0"/>
          </a:p>
        </p:txBody>
      </p:sp>
      <p:sp>
        <p:nvSpPr>
          <p:cNvPr id="3" name="Text 1"/>
          <p:cNvSpPr/>
          <p:nvPr/>
        </p:nvSpPr>
        <p:spPr>
          <a:xfrm>
            <a:off x="812800" y="172610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Countdown Timer</a:t>
            </a:r>
            <a:endParaRPr lang="en-US" sz="3600" dirty="0"/>
          </a:p>
        </p:txBody>
      </p:sp>
      <p:sp>
        <p:nvSpPr>
          <p:cNvPr id="4" name="Text 2"/>
          <p:cNvSpPr/>
          <p:nvPr/>
        </p:nvSpPr>
        <p:spPr>
          <a:xfrm>
            <a:off x="812800" y="2901950"/>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timer that counts down from thirty and then says Time's up.</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t>
            </a:r>
            <a:r>
              <a:rPr lang="en-US" sz="1700" b="1" dirty="0">
                <a:solidFill>
                  <a:srgbClr val="5C4A46"/>
                </a:solidFill>
                <a:latin typeface="Nunito Sans" pitchFamily="34" charset="0"/>
                <a:ea typeface="Nunito Sans" pitchFamily="34" charset="-122"/>
                <a:cs typeface="Nunito Sans" pitchFamily="34" charset="-120"/>
              </a:rPr>
              <a:t>put the two together</a:t>
            </a:r>
            <a:r>
              <a:rPr lang="en-US" sz="1700" dirty="0">
                <a:solidFill>
                  <a:srgbClr val="5C4A46"/>
                </a:solidFill>
                <a:latin typeface="Nunito Sans" pitchFamily="34" charset="0"/>
                <a:ea typeface="Nunito Sans" pitchFamily="34" charset="-122"/>
                <a:cs typeface="Nunito Sans" pitchFamily="34" charset="-120"/>
              </a:rPr>
              <a:t>: a click counter with a thirty-second timer. That's a whole little game, built from two boxes.</a:t>
            </a:r>
            <a:endParaRPr lang="en-US" sz="1700" dirty="0"/>
          </a:p>
        </p:txBody>
      </p:sp>
      <p:sp>
        <p:nvSpPr>
          <p:cNvPr id="5" name="Shape 3"/>
          <p:cNvSpPr/>
          <p:nvPr/>
        </p:nvSpPr>
        <p:spPr>
          <a:xfrm>
            <a:off x="4673600" y="2901950"/>
            <a:ext cx="2422922" cy="428625"/>
          </a:xfrm>
          <a:prstGeom prst="roundRect">
            <a:avLst>
              <a:gd name="adj" fmla="val 40000"/>
            </a:avLst>
          </a:prstGeom>
          <a:solidFill>
            <a:srgbClr val="FFBF00"/>
          </a:solidFill>
          <a:ln/>
        </p:spPr>
      </p:sp>
      <p:sp>
        <p:nvSpPr>
          <p:cNvPr id="6" name="Text 4"/>
          <p:cNvSpPr/>
          <p:nvPr/>
        </p:nvSpPr>
        <p:spPr>
          <a:xfrm>
            <a:off x="4832350" y="299720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368675"/>
            <a:ext cx="1993404" cy="428625"/>
          </a:xfrm>
          <a:prstGeom prst="roundRect">
            <a:avLst>
              <a:gd name="adj" fmla="val 20741"/>
            </a:avLst>
          </a:prstGeom>
          <a:solidFill>
            <a:srgbClr val="FF8C1A"/>
          </a:solidFill>
          <a:ln/>
        </p:spPr>
      </p:sp>
      <p:sp>
        <p:nvSpPr>
          <p:cNvPr id="8" name="Text 6"/>
          <p:cNvSpPr/>
          <p:nvPr/>
        </p:nvSpPr>
        <p:spPr>
          <a:xfrm>
            <a:off x="4832350" y="3463925"/>
            <a:ext cx="172670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set [timeleft] to 30</a:t>
            </a:r>
            <a:endParaRPr lang="en-US" sz="1500" dirty="0"/>
          </a:p>
        </p:txBody>
      </p:sp>
      <p:sp>
        <p:nvSpPr>
          <p:cNvPr id="9" name="Shape 7"/>
          <p:cNvSpPr/>
          <p:nvPr/>
        </p:nvSpPr>
        <p:spPr>
          <a:xfrm>
            <a:off x="4673600" y="3835400"/>
            <a:ext cx="1168896" cy="428625"/>
          </a:xfrm>
          <a:prstGeom prst="roundRect">
            <a:avLst>
              <a:gd name="adj" fmla="val 20741"/>
            </a:avLst>
          </a:prstGeom>
          <a:solidFill>
            <a:srgbClr val="FFAB19"/>
          </a:solidFill>
          <a:ln/>
        </p:spPr>
      </p:sp>
      <p:sp>
        <p:nvSpPr>
          <p:cNvPr id="10" name="Text 8"/>
          <p:cNvSpPr/>
          <p:nvPr/>
        </p:nvSpPr>
        <p:spPr>
          <a:xfrm>
            <a:off x="4832350" y="3930650"/>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30</a:t>
            </a:r>
            <a:endParaRPr lang="en-US" sz="1500" dirty="0"/>
          </a:p>
        </p:txBody>
      </p:sp>
      <p:sp>
        <p:nvSpPr>
          <p:cNvPr id="11" name="Shape 9"/>
          <p:cNvSpPr/>
          <p:nvPr/>
        </p:nvSpPr>
        <p:spPr>
          <a:xfrm>
            <a:off x="4724400" y="4302125"/>
            <a:ext cx="0" cy="895350"/>
          </a:xfrm>
          <a:prstGeom prst="line">
            <a:avLst/>
          </a:prstGeom>
          <a:noFill/>
          <a:ln w="101600">
            <a:solidFill>
              <a:srgbClr val="FFAB19"/>
            </a:solidFill>
            <a:prstDash val="solid"/>
          </a:ln>
        </p:spPr>
      </p:sp>
      <p:sp>
        <p:nvSpPr>
          <p:cNvPr id="12" name="Shape 10"/>
          <p:cNvSpPr/>
          <p:nvPr/>
        </p:nvSpPr>
        <p:spPr>
          <a:xfrm>
            <a:off x="4984750" y="4302125"/>
            <a:ext cx="1633934" cy="428625"/>
          </a:xfrm>
          <a:prstGeom prst="roundRect">
            <a:avLst>
              <a:gd name="adj" fmla="val 20741"/>
            </a:avLst>
          </a:prstGeom>
          <a:solidFill>
            <a:srgbClr val="FFAB19"/>
          </a:solidFill>
          <a:ln/>
        </p:spPr>
      </p:sp>
      <p:sp>
        <p:nvSpPr>
          <p:cNvPr id="13" name="Text 11"/>
          <p:cNvSpPr/>
          <p:nvPr/>
        </p:nvSpPr>
        <p:spPr>
          <a:xfrm>
            <a:off x="5143500" y="4397375"/>
            <a:ext cx="136723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1 seconds</a:t>
            </a:r>
            <a:endParaRPr lang="en-US" sz="1500" dirty="0"/>
          </a:p>
        </p:txBody>
      </p:sp>
      <p:sp>
        <p:nvSpPr>
          <p:cNvPr id="14" name="Shape 12"/>
          <p:cNvSpPr/>
          <p:nvPr/>
        </p:nvSpPr>
        <p:spPr>
          <a:xfrm>
            <a:off x="4984750" y="4768850"/>
            <a:ext cx="2358727" cy="428625"/>
          </a:xfrm>
          <a:prstGeom prst="roundRect">
            <a:avLst>
              <a:gd name="adj" fmla="val 20741"/>
            </a:avLst>
          </a:prstGeom>
          <a:solidFill>
            <a:srgbClr val="FF8C1A"/>
          </a:solidFill>
          <a:ln/>
        </p:spPr>
      </p:sp>
      <p:sp>
        <p:nvSpPr>
          <p:cNvPr id="15" name="Text 13"/>
          <p:cNvSpPr/>
          <p:nvPr/>
        </p:nvSpPr>
        <p:spPr>
          <a:xfrm>
            <a:off x="5143500" y="4864100"/>
            <a:ext cx="210246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change [timeleft] by -1</a:t>
            </a:r>
            <a:endParaRPr lang="en-US" sz="1500" dirty="0"/>
          </a:p>
        </p:txBody>
      </p:sp>
      <p:sp>
        <p:nvSpPr>
          <p:cNvPr id="16" name="Shape 14"/>
          <p:cNvSpPr/>
          <p:nvPr/>
        </p:nvSpPr>
        <p:spPr>
          <a:xfrm>
            <a:off x="4673600" y="5235575"/>
            <a:ext cx="857250" cy="139700"/>
          </a:xfrm>
          <a:prstGeom prst="roundRect">
            <a:avLst>
              <a:gd name="adj" fmla="val 50000"/>
            </a:avLst>
          </a:prstGeom>
          <a:solidFill>
            <a:srgbClr val="FFAB19"/>
          </a:solidFill>
          <a:ln/>
        </p:spPr>
      </p:sp>
      <p:sp>
        <p:nvSpPr>
          <p:cNvPr id="17" name="Shape 15"/>
          <p:cNvSpPr/>
          <p:nvPr/>
        </p:nvSpPr>
        <p:spPr>
          <a:xfrm>
            <a:off x="4673600" y="5413375"/>
            <a:ext cx="2940943" cy="428625"/>
          </a:xfrm>
          <a:prstGeom prst="roundRect">
            <a:avLst>
              <a:gd name="adj" fmla="val 20741"/>
            </a:avLst>
          </a:prstGeom>
          <a:solidFill>
            <a:srgbClr val="774DCB"/>
          </a:solidFill>
          <a:ln/>
        </p:spPr>
      </p:sp>
      <p:sp>
        <p:nvSpPr>
          <p:cNvPr id="18" name="Text 16"/>
          <p:cNvSpPr/>
          <p:nvPr/>
        </p:nvSpPr>
        <p:spPr>
          <a:xfrm>
            <a:off x="4832350" y="5508625"/>
            <a:ext cx="270214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say [Time's up!] for 2 seconds</a:t>
            </a:r>
            <a:endParaRPr lang="en-US" sz="1500" dirty="0"/>
          </a:p>
        </p:txBody>
      </p:sp>
      <p:sp>
        <p:nvSpPr>
          <p:cNvPr id="19" name="Text 17"/>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20"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your game gets a score.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55657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3016250"/>
            <a:ext cx="9810750" cy="1310481"/>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your game keeps score.</a:t>
            </a:r>
            <a:endParaRPr lang="en-US" sz="4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21754"/>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8A6712"/>
                </a:solidFill>
                <a:latin typeface="Nunito Sans" pitchFamily="34" charset="0"/>
                <a:ea typeface="Nunito Sans" pitchFamily="34" charset="-122"/>
                <a:cs typeface="Nunito Sans" pitchFamily="34" charset="-120"/>
              </a:rPr>
              <a:t>PROJECT BUILD · TWENTY MINUTES</a:t>
            </a:r>
            <a:endParaRPr lang="en-US" sz="1121" dirty="0"/>
          </a:p>
        </p:txBody>
      </p:sp>
      <p:sp>
        <p:nvSpPr>
          <p:cNvPr id="3" name="Text 1"/>
          <p:cNvSpPr/>
          <p:nvPr/>
        </p:nvSpPr>
        <p:spPr>
          <a:xfrm>
            <a:off x="812800" y="1288554"/>
            <a:ext cx="10883392" cy="445095"/>
          </a:xfrm>
          <a:prstGeom prst="rect">
            <a:avLst/>
          </a:prstGeom>
          <a:noFill/>
          <a:ln/>
        </p:spPr>
        <p:txBody>
          <a:bodyPr wrap="square" lIns="0" tIns="0" rIns="0" bIns="0" rtlCol="0" anchor="t">
            <a:normAutofit/>
          </a:bodyPr>
          <a:lstStyle/>
          <a:p>
            <a:pPr algn="l" indent="0" marL="0">
              <a:lnSpc>
                <a:spcPts val="3317"/>
              </a:lnSpc>
              <a:buNone/>
            </a:pPr>
            <a:r>
              <a:rPr lang="en-US" sz="3071" b="1" dirty="0">
                <a:solidFill>
                  <a:srgbClr val="2E1015"/>
                </a:solidFill>
                <a:latin typeface="Fredoka" pitchFamily="34" charset="0"/>
                <a:ea typeface="Fredoka" pitchFamily="34" charset="-122"/>
                <a:cs typeface="Fredoka" pitchFamily="34" charset="-120"/>
              </a:rPr>
              <a:t>Add the score</a:t>
            </a:r>
            <a:endParaRPr lang="en-US" sz="3071" dirty="0"/>
          </a:p>
        </p:txBody>
      </p:sp>
      <p:sp>
        <p:nvSpPr>
          <p:cNvPr id="4" name="Text 2"/>
          <p:cNvSpPr/>
          <p:nvPr/>
        </p:nvSpPr>
        <p:spPr>
          <a:xfrm>
            <a:off x="812800" y="1987649"/>
            <a:ext cx="3662680" cy="304760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Make a variable called </a:t>
            </a:r>
            <a:r>
              <a:rPr lang="en-US" sz="1700" b="1" dirty="0">
                <a:solidFill>
                  <a:srgbClr val="5C4A46"/>
                </a:solidFill>
                <a:latin typeface="Nunito Sans" pitchFamily="34" charset="0"/>
                <a:ea typeface="Nunito Sans" pitchFamily="34" charset="-122"/>
                <a:cs typeface="Nunito Sans" pitchFamily="34" charset="-120"/>
              </a:rPr>
              <a:t>score</a:t>
            </a:r>
            <a:r>
              <a:rPr lang="en-US" sz="1700" dirty="0">
                <a:solidFill>
                  <a:srgbClr val="5C4A46"/>
                </a:solidFill>
                <a:latin typeface="Nunito Sans" pitchFamily="34" charset="0"/>
                <a:ea typeface="Nunito Sans" pitchFamily="34" charset="-122"/>
                <a:cs typeface="Nunito Sans" pitchFamily="34" charset="-120"/>
              </a:rPr>
              <a:t>. Put </a:t>
            </a:r>
            <a:r>
              <a:rPr lang="en-US" sz="1700" b="1" dirty="0">
                <a:solidFill>
                  <a:srgbClr val="5C4A46"/>
                </a:solidFill>
                <a:latin typeface="Nunito Sans" pitchFamily="34" charset="0"/>
                <a:ea typeface="Nunito Sans" pitchFamily="34" charset="-122"/>
                <a:cs typeface="Nunito Sans" pitchFamily="34" charset="-120"/>
              </a:rPr>
              <a:t>set score to 0</a:t>
            </a:r>
            <a:r>
              <a:rPr lang="en-US" sz="1700" dirty="0">
                <a:solidFill>
                  <a:srgbClr val="5C4A46"/>
                </a:solidFill>
                <a:latin typeface="Nunito Sans" pitchFamily="34" charset="0"/>
                <a:ea typeface="Nunito Sans" pitchFamily="34" charset="-122"/>
                <a:cs typeface="Nunito Sans" pitchFamily="34" charset="-120"/>
              </a:rPr>
              <a:t> under the green flag on your player.</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add </a:t>
            </a:r>
            <a:r>
              <a:rPr lang="en-US" sz="1700" b="1" dirty="0">
                <a:solidFill>
                  <a:srgbClr val="5C4A46"/>
                </a:solidFill>
                <a:latin typeface="Nunito Sans" pitchFamily="34" charset="0"/>
                <a:ea typeface="Nunito Sans" pitchFamily="34" charset="-122"/>
                <a:cs typeface="Nunito Sans" pitchFamily="34" charset="-120"/>
              </a:rPr>
              <a:t>change score by 1</a:t>
            </a:r>
            <a:r>
              <a:rPr lang="en-US" sz="1700" dirty="0">
                <a:solidFill>
                  <a:srgbClr val="5C4A46"/>
                </a:solidFill>
                <a:latin typeface="Nunito Sans" pitchFamily="34" charset="0"/>
                <a:ea typeface="Nunito Sans" pitchFamily="34" charset="-122"/>
                <a:cs typeface="Nunito Sans" pitchFamily="34" charset="-120"/>
              </a:rPr>
              <a:t> inside the catch, right here.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Do the same on your bad object, but with </a:t>
            </a:r>
            <a:r>
              <a:rPr lang="en-US" sz="1700" b="1" dirty="0">
                <a:solidFill>
                  <a:srgbClr val="5C4A46"/>
                </a:solidFill>
                <a:latin typeface="Nunito Sans" pitchFamily="34" charset="0"/>
                <a:ea typeface="Nunito Sans" pitchFamily="34" charset="-122"/>
                <a:cs typeface="Nunito Sans" pitchFamily="34" charset="-120"/>
              </a:rPr>
              <a:t>change score by -1</a:t>
            </a:r>
            <a:r>
              <a:rPr lang="en-US" sz="1700" dirty="0">
                <a:solidFill>
                  <a:srgbClr val="5C4A46"/>
                </a:solidFill>
                <a:latin typeface="Nunito Sans" pitchFamily="34" charset="0"/>
                <a:ea typeface="Nunito Sans" pitchFamily="34" charset="-122"/>
                <a:cs typeface="Nunito Sans" pitchFamily="34" charset="-120"/>
              </a:rPr>
              <a:t> and a different sound.</a:t>
            </a:r>
            <a:endParaRPr lang="en-US" sz="1700" dirty="0"/>
          </a:p>
        </p:txBody>
      </p:sp>
      <p:sp>
        <p:nvSpPr>
          <p:cNvPr id="5" name="Shape 3"/>
          <p:cNvSpPr/>
          <p:nvPr/>
        </p:nvSpPr>
        <p:spPr>
          <a:xfrm>
            <a:off x="4673600" y="1987649"/>
            <a:ext cx="2104132" cy="371475"/>
          </a:xfrm>
          <a:prstGeom prst="roundRect">
            <a:avLst>
              <a:gd name="adj" fmla="val 39316"/>
            </a:avLst>
          </a:prstGeom>
          <a:solidFill>
            <a:srgbClr val="FFBF00"/>
          </a:solidFill>
          <a:ln/>
        </p:spPr>
      </p:sp>
      <p:sp>
        <p:nvSpPr>
          <p:cNvPr id="6" name="Text 4"/>
          <p:cNvSpPr/>
          <p:nvPr/>
        </p:nvSpPr>
        <p:spPr>
          <a:xfrm>
            <a:off x="4813300" y="2070199"/>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7" name="Shape 5"/>
          <p:cNvSpPr/>
          <p:nvPr/>
        </p:nvSpPr>
        <p:spPr>
          <a:xfrm>
            <a:off x="4673600" y="2397224"/>
            <a:ext cx="823615" cy="371475"/>
          </a:xfrm>
          <a:prstGeom prst="roundRect">
            <a:avLst>
              <a:gd name="adj" fmla="val 23932"/>
            </a:avLst>
          </a:prstGeom>
          <a:solidFill>
            <a:srgbClr val="FFAB19"/>
          </a:solidFill>
          <a:ln/>
        </p:spPr>
      </p:sp>
      <p:sp>
        <p:nvSpPr>
          <p:cNvPr id="8" name="Text 6"/>
          <p:cNvSpPr/>
          <p:nvPr/>
        </p:nvSpPr>
        <p:spPr>
          <a:xfrm>
            <a:off x="4813300" y="2479774"/>
            <a:ext cx="59501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forever</a:t>
            </a:r>
            <a:endParaRPr lang="en-US" sz="1300" dirty="0"/>
          </a:p>
        </p:txBody>
      </p:sp>
      <p:sp>
        <p:nvSpPr>
          <p:cNvPr id="9" name="Shape 7"/>
          <p:cNvSpPr/>
          <p:nvPr/>
        </p:nvSpPr>
        <p:spPr>
          <a:xfrm>
            <a:off x="4724400" y="2806799"/>
            <a:ext cx="0" cy="3556000"/>
          </a:xfrm>
          <a:prstGeom prst="line">
            <a:avLst/>
          </a:prstGeom>
          <a:noFill/>
          <a:ln w="101600">
            <a:solidFill>
              <a:srgbClr val="FFAB19"/>
            </a:solidFill>
            <a:prstDash val="solid"/>
          </a:ln>
        </p:spPr>
      </p:sp>
      <p:sp>
        <p:nvSpPr>
          <p:cNvPr id="10" name="Shape 8"/>
          <p:cNvSpPr/>
          <p:nvPr/>
        </p:nvSpPr>
        <p:spPr>
          <a:xfrm>
            <a:off x="4953000" y="2806799"/>
            <a:ext cx="3428405" cy="371475"/>
          </a:xfrm>
          <a:prstGeom prst="roundRect">
            <a:avLst>
              <a:gd name="adj" fmla="val 23932"/>
            </a:avLst>
          </a:prstGeom>
          <a:solidFill>
            <a:srgbClr val="3373CC"/>
          </a:solidFill>
          <a:ln/>
        </p:spPr>
      </p:sp>
      <p:sp>
        <p:nvSpPr>
          <p:cNvPr id="11" name="Text 9"/>
          <p:cNvSpPr/>
          <p:nvPr/>
        </p:nvSpPr>
        <p:spPr>
          <a:xfrm>
            <a:off x="5092700" y="2889349"/>
            <a:ext cx="324347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go to x: (pick random -220 to 220) y: 170</a:t>
            </a:r>
            <a:endParaRPr lang="en-US" sz="1300" dirty="0"/>
          </a:p>
        </p:txBody>
      </p:sp>
      <p:sp>
        <p:nvSpPr>
          <p:cNvPr id="12" name="Shape 10"/>
          <p:cNvSpPr/>
          <p:nvPr/>
        </p:nvSpPr>
        <p:spPr>
          <a:xfrm>
            <a:off x="4953000" y="3216374"/>
            <a:ext cx="1017290" cy="371475"/>
          </a:xfrm>
          <a:prstGeom prst="roundRect">
            <a:avLst>
              <a:gd name="adj" fmla="val 23932"/>
            </a:avLst>
          </a:prstGeom>
          <a:solidFill>
            <a:srgbClr val="FFAB19"/>
          </a:solidFill>
          <a:ln/>
        </p:spPr>
      </p:sp>
      <p:sp>
        <p:nvSpPr>
          <p:cNvPr id="13" name="Text 11"/>
          <p:cNvSpPr/>
          <p:nvPr/>
        </p:nvSpPr>
        <p:spPr>
          <a:xfrm>
            <a:off x="5092700" y="3298924"/>
            <a:ext cx="78869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repeat 20</a:t>
            </a:r>
            <a:endParaRPr lang="en-US" sz="1300" dirty="0"/>
          </a:p>
        </p:txBody>
      </p:sp>
      <p:sp>
        <p:nvSpPr>
          <p:cNvPr id="14" name="Shape 12"/>
          <p:cNvSpPr/>
          <p:nvPr/>
        </p:nvSpPr>
        <p:spPr>
          <a:xfrm>
            <a:off x="5003800" y="3625949"/>
            <a:ext cx="0" cy="2578100"/>
          </a:xfrm>
          <a:prstGeom prst="line">
            <a:avLst/>
          </a:prstGeom>
          <a:noFill/>
          <a:ln w="101600">
            <a:solidFill>
              <a:srgbClr val="FFAB19"/>
            </a:solidFill>
            <a:prstDash val="solid"/>
          </a:ln>
        </p:spPr>
      </p:sp>
      <p:sp>
        <p:nvSpPr>
          <p:cNvPr id="15" name="Shape 13"/>
          <p:cNvSpPr/>
          <p:nvPr/>
        </p:nvSpPr>
        <p:spPr>
          <a:xfrm>
            <a:off x="5232400" y="3625949"/>
            <a:ext cx="1504652" cy="371475"/>
          </a:xfrm>
          <a:prstGeom prst="roundRect">
            <a:avLst>
              <a:gd name="adj" fmla="val 23932"/>
            </a:avLst>
          </a:prstGeom>
          <a:solidFill>
            <a:srgbClr val="3373CC"/>
          </a:solidFill>
          <a:ln/>
        </p:spPr>
      </p:sp>
      <p:sp>
        <p:nvSpPr>
          <p:cNvPr id="16" name="Text 14"/>
          <p:cNvSpPr/>
          <p:nvPr/>
        </p:nvSpPr>
        <p:spPr>
          <a:xfrm>
            <a:off x="5372100" y="3708499"/>
            <a:ext cx="127605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change y by -18</a:t>
            </a:r>
            <a:endParaRPr lang="en-US" sz="1300" dirty="0"/>
          </a:p>
        </p:txBody>
      </p:sp>
      <p:sp>
        <p:nvSpPr>
          <p:cNvPr id="17" name="Shape 15"/>
          <p:cNvSpPr/>
          <p:nvPr/>
        </p:nvSpPr>
        <p:spPr>
          <a:xfrm>
            <a:off x="5232400" y="4035524"/>
            <a:ext cx="1659334" cy="371475"/>
          </a:xfrm>
          <a:prstGeom prst="roundRect">
            <a:avLst>
              <a:gd name="adj" fmla="val 23932"/>
            </a:avLst>
          </a:prstGeom>
          <a:solidFill>
            <a:srgbClr val="FFAB19"/>
          </a:solidFill>
          <a:ln/>
        </p:spPr>
      </p:sp>
      <p:sp>
        <p:nvSpPr>
          <p:cNvPr id="18" name="Text 16"/>
          <p:cNvSpPr/>
          <p:nvPr/>
        </p:nvSpPr>
        <p:spPr>
          <a:xfrm>
            <a:off x="5372100" y="4118074"/>
            <a:ext cx="143073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wait 0.02 seconds</a:t>
            </a:r>
            <a:endParaRPr lang="en-US" sz="1300" dirty="0"/>
          </a:p>
        </p:txBody>
      </p:sp>
      <p:sp>
        <p:nvSpPr>
          <p:cNvPr id="19" name="Shape 17"/>
          <p:cNvSpPr/>
          <p:nvPr/>
        </p:nvSpPr>
        <p:spPr>
          <a:xfrm>
            <a:off x="5232400" y="4445099"/>
            <a:ext cx="2410023" cy="371475"/>
          </a:xfrm>
          <a:prstGeom prst="roundRect">
            <a:avLst>
              <a:gd name="adj" fmla="val 23932"/>
            </a:avLst>
          </a:prstGeom>
          <a:solidFill>
            <a:srgbClr val="FFAB19"/>
          </a:solidFill>
          <a:ln/>
        </p:spPr>
      </p:sp>
      <p:sp>
        <p:nvSpPr>
          <p:cNvPr id="20" name="Text 18"/>
          <p:cNvSpPr/>
          <p:nvPr/>
        </p:nvSpPr>
        <p:spPr>
          <a:xfrm>
            <a:off x="5372100" y="4527649"/>
            <a:ext cx="219454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if &lt;touching [Player]?&gt; then</a:t>
            </a:r>
            <a:endParaRPr lang="en-US" sz="1300" dirty="0"/>
          </a:p>
        </p:txBody>
      </p:sp>
      <p:sp>
        <p:nvSpPr>
          <p:cNvPr id="21" name="Shape 19"/>
          <p:cNvSpPr/>
          <p:nvPr/>
        </p:nvSpPr>
        <p:spPr>
          <a:xfrm>
            <a:off x="5283200" y="4854674"/>
            <a:ext cx="0" cy="1190625"/>
          </a:xfrm>
          <a:prstGeom prst="line">
            <a:avLst/>
          </a:prstGeom>
          <a:noFill/>
          <a:ln w="101600">
            <a:solidFill>
              <a:srgbClr val="FFAB19"/>
            </a:solidFill>
            <a:prstDash val="solid"/>
          </a:ln>
        </p:spPr>
      </p:sp>
      <p:sp>
        <p:nvSpPr>
          <p:cNvPr id="22" name="Shape 20"/>
          <p:cNvSpPr/>
          <p:nvPr/>
        </p:nvSpPr>
        <p:spPr>
          <a:xfrm>
            <a:off x="5511800" y="4854674"/>
            <a:ext cx="1614587" cy="371475"/>
          </a:xfrm>
          <a:prstGeom prst="roundRect">
            <a:avLst>
              <a:gd name="adj" fmla="val 23932"/>
            </a:avLst>
          </a:prstGeom>
          <a:solidFill>
            <a:srgbClr val="A63FA6"/>
          </a:solidFill>
          <a:ln/>
        </p:spPr>
      </p:sp>
      <p:sp>
        <p:nvSpPr>
          <p:cNvPr id="23" name="Text 21"/>
          <p:cNvSpPr/>
          <p:nvPr/>
        </p:nvSpPr>
        <p:spPr>
          <a:xfrm>
            <a:off x="5651500" y="4937224"/>
            <a:ext cx="138598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start sound [Pop]</a:t>
            </a:r>
            <a:endParaRPr lang="en-US" sz="1300" dirty="0"/>
          </a:p>
        </p:txBody>
      </p:sp>
      <p:sp>
        <p:nvSpPr>
          <p:cNvPr id="24" name="Shape 22"/>
          <p:cNvSpPr/>
          <p:nvPr/>
        </p:nvSpPr>
        <p:spPr>
          <a:xfrm>
            <a:off x="5511800" y="5264249"/>
            <a:ext cx="1767185" cy="371475"/>
          </a:xfrm>
          <a:prstGeom prst="roundRect">
            <a:avLst>
              <a:gd name="adj" fmla="val 23932"/>
            </a:avLst>
          </a:prstGeom>
          <a:solidFill>
            <a:srgbClr val="FF8C1A"/>
          </a:solidFill>
          <a:ln/>
        </p:spPr>
      </p:sp>
      <p:sp>
        <p:nvSpPr>
          <p:cNvPr id="25" name="Text 23"/>
          <p:cNvSpPr/>
          <p:nvPr/>
        </p:nvSpPr>
        <p:spPr>
          <a:xfrm>
            <a:off x="5651500" y="5346799"/>
            <a:ext cx="153858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change [score] by 1</a:t>
            </a:r>
            <a:endParaRPr lang="en-US" sz="1300" dirty="0"/>
          </a:p>
        </p:txBody>
      </p:sp>
      <p:sp>
        <p:nvSpPr>
          <p:cNvPr id="26" name="Shape 24"/>
          <p:cNvSpPr/>
          <p:nvPr/>
        </p:nvSpPr>
        <p:spPr>
          <a:xfrm>
            <a:off x="5511800" y="5673824"/>
            <a:ext cx="3428405" cy="371475"/>
          </a:xfrm>
          <a:prstGeom prst="roundRect">
            <a:avLst>
              <a:gd name="adj" fmla="val 23932"/>
            </a:avLst>
          </a:prstGeom>
          <a:solidFill>
            <a:srgbClr val="3373CC"/>
          </a:solidFill>
          <a:ln/>
        </p:spPr>
      </p:sp>
      <p:sp>
        <p:nvSpPr>
          <p:cNvPr id="27" name="Text 25"/>
          <p:cNvSpPr/>
          <p:nvPr/>
        </p:nvSpPr>
        <p:spPr>
          <a:xfrm>
            <a:off x="5651500" y="5756374"/>
            <a:ext cx="324347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go to x: (pick random -220 to 220) y: 170</a:t>
            </a:r>
            <a:endParaRPr lang="en-US" sz="1300" dirty="0"/>
          </a:p>
        </p:txBody>
      </p:sp>
      <p:sp>
        <p:nvSpPr>
          <p:cNvPr id="28" name="Shape 26"/>
          <p:cNvSpPr/>
          <p:nvPr/>
        </p:nvSpPr>
        <p:spPr>
          <a:xfrm>
            <a:off x="5232400" y="6083399"/>
            <a:ext cx="742950" cy="120650"/>
          </a:xfrm>
          <a:prstGeom prst="roundRect">
            <a:avLst>
              <a:gd name="adj" fmla="val 50000"/>
            </a:avLst>
          </a:prstGeom>
          <a:solidFill>
            <a:srgbClr val="FFAB19"/>
          </a:solidFill>
          <a:ln/>
        </p:spPr>
      </p:sp>
      <p:sp>
        <p:nvSpPr>
          <p:cNvPr id="29" name="Shape 27"/>
          <p:cNvSpPr/>
          <p:nvPr/>
        </p:nvSpPr>
        <p:spPr>
          <a:xfrm>
            <a:off x="4953000" y="6242149"/>
            <a:ext cx="742950" cy="120650"/>
          </a:xfrm>
          <a:prstGeom prst="roundRect">
            <a:avLst>
              <a:gd name="adj" fmla="val 50000"/>
            </a:avLst>
          </a:prstGeom>
          <a:solidFill>
            <a:srgbClr val="FFAB19"/>
          </a:solidFill>
          <a:ln/>
        </p:spPr>
      </p:sp>
      <p:sp>
        <p:nvSpPr>
          <p:cNvPr id="30" name="Shape 28"/>
          <p:cNvSpPr/>
          <p:nvPr/>
        </p:nvSpPr>
        <p:spPr>
          <a:xfrm>
            <a:off x="4673600" y="6400899"/>
            <a:ext cx="742950" cy="120650"/>
          </a:xfrm>
          <a:prstGeom prst="roundRect">
            <a:avLst>
              <a:gd name="adj" fmla="val 50000"/>
            </a:avLst>
          </a:prstGeom>
          <a:solidFill>
            <a:srgbClr val="FFAB19"/>
          </a:solidFill>
          <a:ln/>
        </p:spPr>
      </p:sp>
      <p:sp>
        <p:nvSpPr>
          <p:cNvPr id="31" name="Text 29"/>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32"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BUG THAT WILL GET ALL OF YOU</a:t>
            </a:r>
            <a:endParaRPr lang="en-US" sz="1300" dirty="0"/>
          </a:p>
        </p:txBody>
      </p:sp>
      <p:sp>
        <p:nvSpPr>
          <p:cNvPr id="3" name="Text 1"/>
          <p:cNvSpPr/>
          <p:nvPr/>
        </p:nvSpPr>
        <p:spPr>
          <a:xfrm>
            <a:off x="812800" y="237777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Why does it go up by twenty?</a:t>
            </a:r>
            <a:endParaRPr lang="en-US" sz="4000" dirty="0"/>
          </a:p>
        </p:txBody>
      </p:sp>
      <p:sp>
        <p:nvSpPr>
          <p:cNvPr id="4" name="Shape 2"/>
          <p:cNvSpPr/>
          <p:nvPr/>
        </p:nvSpPr>
        <p:spPr>
          <a:xfrm>
            <a:off x="819150" y="4266505"/>
            <a:ext cx="3373934" cy="1569145"/>
          </a:xfrm>
          <a:prstGeom prst="roundRect">
            <a:avLst>
              <a:gd name="adj" fmla="val 8498"/>
            </a:avLst>
          </a:prstGeom>
          <a:solidFill>
            <a:srgbClr val="FFFCF4"/>
          </a:solidFill>
          <a:ln w="12700">
            <a:solidFill>
              <a:srgbClr val="E4D7BE"/>
            </a:solidFill>
            <a:prstDash val="solid"/>
          </a:ln>
        </p:spPr>
      </p:sp>
      <p:sp>
        <p:nvSpPr>
          <p:cNvPr id="5" name="Text 3"/>
          <p:cNvSpPr/>
          <p:nvPr/>
        </p:nvSpPr>
        <p:spPr>
          <a:xfrm>
            <a:off x="1054100"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You're touching for a while</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The object overlaps you for several trips through the loop, not one instant.</a:t>
            </a:r>
            <a:endParaRPr lang="en-US" sz="1450" dirty="0"/>
          </a:p>
        </p:txBody>
      </p:sp>
      <p:sp>
        <p:nvSpPr>
          <p:cNvPr id="7" name="Shape 5"/>
          <p:cNvSpPr/>
          <p:nvPr/>
        </p:nvSpPr>
        <p:spPr>
          <a:xfrm>
            <a:off x="4408984" y="4266505"/>
            <a:ext cx="3374033" cy="1569145"/>
          </a:xfrm>
          <a:prstGeom prst="roundRect">
            <a:avLst>
              <a:gd name="adj" fmla="val 8498"/>
            </a:avLst>
          </a:prstGeom>
          <a:solidFill>
            <a:srgbClr val="FFFCF4"/>
          </a:solidFill>
          <a:ln w="12700">
            <a:solidFill>
              <a:srgbClr val="E4D7BE"/>
            </a:solidFill>
            <a:prstDash val="solid"/>
          </a:ln>
        </p:spPr>
      </p:sp>
      <p:sp>
        <p:nvSpPr>
          <p:cNvPr id="8" name="Text 6"/>
          <p:cNvSpPr/>
          <p:nvPr/>
        </p:nvSpPr>
        <p:spPr>
          <a:xfrm>
            <a:off x="4643934" y="4501455"/>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So the if is true every time</a:t>
            </a:r>
            <a:endParaRPr lang="en-US" sz="1900" dirty="0"/>
          </a:p>
        </p:txBody>
      </p:sp>
      <p:sp>
        <p:nvSpPr>
          <p:cNvPr id="9" name="Text 7"/>
          <p:cNvSpPr/>
          <p:nvPr/>
        </p:nvSpPr>
        <p:spPr>
          <a:xfrm>
            <a:off x="4643934" y="4855071"/>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And change score by 1 fires on every single one of them.</a:t>
            </a:r>
            <a:endParaRPr lang="en-US" sz="1450" dirty="0"/>
          </a:p>
        </p:txBody>
      </p:sp>
      <p:sp>
        <p:nvSpPr>
          <p:cNvPr id="10" name="Shape 8"/>
          <p:cNvSpPr/>
          <p:nvPr/>
        </p:nvSpPr>
        <p:spPr>
          <a:xfrm>
            <a:off x="7998916" y="4266505"/>
            <a:ext cx="3373934" cy="1569145"/>
          </a:xfrm>
          <a:prstGeom prst="roundRect">
            <a:avLst>
              <a:gd name="adj" fmla="val 8498"/>
            </a:avLst>
          </a:prstGeom>
          <a:solidFill>
            <a:srgbClr val="FFFCF4"/>
          </a:solidFill>
          <a:ln w="12700">
            <a:solidFill>
              <a:srgbClr val="E4D7BE"/>
            </a:solidFill>
            <a:prstDash val="solid"/>
          </a:ln>
        </p:spPr>
      </p:sp>
      <p:sp>
        <p:nvSpPr>
          <p:cNvPr id="11" name="Text 9"/>
          <p:cNvSpPr/>
          <p:nvPr/>
        </p:nvSpPr>
        <p:spPr>
          <a:xfrm>
            <a:off x="8233866"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The fix is the go to</a:t>
            </a:r>
            <a:endParaRPr lang="en-US" sz="1900" dirty="0"/>
          </a:p>
        </p:txBody>
      </p:sp>
      <p:sp>
        <p:nvSpPr>
          <p:cNvPr id="12" name="Text 10"/>
          <p:cNvSpPr/>
          <p:nvPr/>
        </p:nvSpPr>
        <p:spPr>
          <a:xfrm>
            <a:off x="8233866" y="4855071"/>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Move the object away immediately and the answer becomes no again.</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30128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PLAYTEST · FOUR MINUTES</a:t>
            </a:r>
            <a:endParaRPr lang="en-US" sz="1300" dirty="0"/>
          </a:p>
        </p:txBody>
      </p:sp>
      <p:sp>
        <p:nvSpPr>
          <p:cNvPr id="3" name="Text 1"/>
          <p:cNvSpPr/>
          <p:nvPr/>
        </p:nvSpPr>
        <p:spPr>
          <a:xfrm>
            <a:off x="812800" y="276096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FF4E8"/>
                </a:solidFill>
                <a:latin typeface="Fredoka" pitchFamily="34" charset="0"/>
                <a:ea typeface="Fredoka" pitchFamily="34" charset="-122"/>
                <a:cs typeface="Fredoka" pitchFamily="34" charset="-120"/>
              </a:rPr>
              <a:t>Beat your own high score. Then move one seat and beat your neighbour's.</a:t>
            </a:r>
            <a:endParaRPr lang="en-US" sz="4400" dirty="0"/>
          </a:p>
        </p:txBody>
      </p:sp>
      <p:sp>
        <p:nvSpPr>
          <p:cNvPr id="4" name="Text 2"/>
          <p:cNvSpPr/>
          <p:nvPr/>
        </p:nvSpPr>
        <p:spPr>
          <a:xfrm>
            <a:off x="812800" y="4218880"/>
            <a:ext cx="8502650" cy="363141"/>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F3C9CF"/>
                </a:solidFill>
                <a:latin typeface="Nunito Sans" pitchFamily="34" charset="0"/>
                <a:ea typeface="Nunito Sans" pitchFamily="34" charset="-122"/>
                <a:cs typeface="Nunito Sans" pitchFamily="34" charset="-120"/>
              </a:rPr>
              <a:t>Shout out your best when you get one.</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"The score jumps by ten or twenty"</a:t>
            </a:r>
            <a:endParaRPr lang="en-US" sz="1700" dirty="0"/>
          </a:p>
        </p:txBody>
      </p:sp>
      <p:sp>
        <p:nvSpPr>
          <p:cNvPr id="6" name="Text 4"/>
          <p:cNvSpPr/>
          <p:nvPr/>
        </p:nvSpPr>
        <p:spPr>
          <a:xfrm>
            <a:off x="10541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object must move away the instant you catch it. Check the go to is inside the if.</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score starts where it finished last time"</a:t>
            </a:r>
            <a:endParaRPr lang="en-US" sz="1700" dirty="0"/>
          </a:p>
        </p:txBody>
      </p:sp>
      <p:sp>
        <p:nvSpPr>
          <p:cNvPr id="9" name="Text 7"/>
          <p:cNvSpPr/>
          <p:nvPr/>
        </p:nvSpPr>
        <p:spPr>
          <a:xfrm>
            <a:off x="6438900" y="3576340"/>
            <a:ext cx="483997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You're missing set score to 0 under the green flag.</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goes up but never down"</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Your bad object's if is checking the wrong sprite, or has no change score in it.</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"The score box has vanished from the stage"</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Untick and re-tick it in the Variables palette. Or you used hide variable.</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351088"/>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213225"/>
            <a:ext cx="3373934" cy="1622425"/>
          </a:xfrm>
          <a:prstGeom prst="roundRect">
            <a:avLst>
              <a:gd name="adj" fmla="val 8219"/>
            </a:avLst>
          </a:prstGeom>
          <a:solidFill>
            <a:srgbClr val="FFFCF4"/>
          </a:solidFill>
          <a:ln w="12700">
            <a:solidFill>
              <a:srgbClr val="E4D7BE"/>
            </a:solidFill>
            <a:prstDash val="solid"/>
          </a:ln>
        </p:spPr>
      </p:sp>
      <p:sp>
        <p:nvSpPr>
          <p:cNvPr id="5" name="Text 3"/>
          <p:cNvSpPr/>
          <p:nvPr/>
        </p:nvSpPr>
        <p:spPr>
          <a:xfrm>
            <a:off x="1054100" y="4448175"/>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4829175"/>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213225"/>
            <a:ext cx="3374033" cy="1622425"/>
          </a:xfrm>
          <a:prstGeom prst="roundRect">
            <a:avLst>
              <a:gd name="adj" fmla="val 8219"/>
            </a:avLst>
          </a:prstGeom>
          <a:solidFill>
            <a:srgbClr val="FFFCF4"/>
          </a:solidFill>
          <a:ln w="12700">
            <a:solidFill>
              <a:srgbClr val="E4D7BE"/>
            </a:solidFill>
            <a:prstDash val="solid"/>
          </a:ln>
        </p:spPr>
      </p:sp>
      <p:sp>
        <p:nvSpPr>
          <p:cNvPr id="8" name="Text 6"/>
          <p:cNvSpPr/>
          <p:nvPr/>
        </p:nvSpPr>
        <p:spPr>
          <a:xfrm>
            <a:off x="4643934" y="4448175"/>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4829175"/>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213225"/>
            <a:ext cx="3373934" cy="1622425"/>
          </a:xfrm>
          <a:prstGeom prst="roundRect">
            <a:avLst>
              <a:gd name="adj" fmla="val 8219"/>
            </a:avLst>
          </a:prstGeom>
          <a:solidFill>
            <a:srgbClr val="FFFCF4"/>
          </a:solidFill>
          <a:ln w="12700">
            <a:solidFill>
              <a:srgbClr val="E4D7BE"/>
            </a:solidFill>
            <a:prstDash val="solid"/>
          </a:ln>
        </p:spPr>
      </p:sp>
      <p:sp>
        <p:nvSpPr>
          <p:cNvPr id="11" name="Text 9"/>
          <p:cNvSpPr/>
          <p:nvPr/>
        </p:nvSpPr>
        <p:spPr>
          <a:xfrm>
            <a:off x="8233866" y="4448175"/>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Note your best</a:t>
            </a:r>
            <a:endParaRPr lang="en-US" sz="2000" dirty="0"/>
          </a:p>
        </p:txBody>
      </p:sp>
      <p:sp>
        <p:nvSpPr>
          <p:cNvPr id="12" name="Text 10"/>
          <p:cNvSpPr/>
          <p:nvPr/>
        </p:nvSpPr>
        <p:spPr>
          <a:xfrm>
            <a:off x="8233866" y="4829175"/>
            <a:ext cx="299115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Write your high score on your handout so you can beat it next week.</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16445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3839865"/>
            <a:ext cx="5168900" cy="1995785"/>
          </a:xfrm>
          <a:prstGeom prst="roundRect">
            <a:avLst>
              <a:gd name="adj" fmla="val 6682"/>
            </a:avLst>
          </a:prstGeom>
          <a:solidFill>
            <a:srgbClr val="FFFCF4"/>
          </a:solidFill>
          <a:ln w="12700">
            <a:solidFill>
              <a:srgbClr val="E4D7BE"/>
            </a:solidFill>
            <a:prstDash val="solid"/>
          </a:ln>
        </p:spPr>
      </p:sp>
      <p:sp>
        <p:nvSpPr>
          <p:cNvPr id="5" name="Text 3"/>
          <p:cNvSpPr/>
          <p:nvPr/>
        </p:nvSpPr>
        <p:spPr>
          <a:xfrm>
            <a:off x="10541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High score</a:t>
            </a:r>
            <a:endParaRPr lang="en-US" sz="2100" dirty="0"/>
          </a:p>
        </p:txBody>
      </p:sp>
      <p:sp>
        <p:nvSpPr>
          <p:cNvPr id="7" name="Text 5"/>
          <p:cNvSpPr/>
          <p:nvPr/>
        </p:nvSpPr>
        <p:spPr>
          <a:xfrm>
            <a:off x="10541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Add a second variable, highscore, that only updates when score beats it. Careful: high score must NOT be reset by the green flag, or it isn't a high score.</a:t>
            </a:r>
            <a:endParaRPr lang="en-US" sz="1500" dirty="0"/>
          </a:p>
        </p:txBody>
      </p:sp>
      <p:sp>
        <p:nvSpPr>
          <p:cNvPr id="8" name="Shape 6"/>
          <p:cNvSpPr/>
          <p:nvPr/>
        </p:nvSpPr>
        <p:spPr>
          <a:xfrm>
            <a:off x="6203950" y="3839865"/>
            <a:ext cx="5168900" cy="1995785"/>
          </a:xfrm>
          <a:prstGeom prst="roundRect">
            <a:avLst>
              <a:gd name="adj" fmla="val 6682"/>
            </a:avLst>
          </a:prstGeom>
          <a:solidFill>
            <a:srgbClr val="FFFCF4"/>
          </a:solidFill>
          <a:ln w="12700">
            <a:solidFill>
              <a:srgbClr val="E4D7BE"/>
            </a:solidFill>
            <a:prstDash val="solid"/>
          </a:ln>
        </p:spPr>
      </p:sp>
      <p:sp>
        <p:nvSpPr>
          <p:cNvPr id="9" name="Text 7"/>
          <p:cNvSpPr/>
          <p:nvPr/>
        </p:nvSpPr>
        <p:spPr>
          <a:xfrm>
            <a:off x="64389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Make it look good</a:t>
            </a:r>
            <a:endParaRPr lang="en-US" sz="2100" dirty="0"/>
          </a:p>
        </p:txBody>
      </p:sp>
      <p:sp>
        <p:nvSpPr>
          <p:cNvPr id="11" name="Text 9"/>
          <p:cNvSpPr/>
          <p:nvPr/>
        </p:nvSpPr>
        <p:spPr>
          <a:xfrm>
            <a:off x="64389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Position your score display sensibly, try the large readout, and hide any variables the player doesn't need to see.</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45754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419699"/>
            <a:ext cx="10569448" cy="144770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the game get faster as your score rises — use score inside the wait. Careful: waits can't be negative.</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a lives variable that starts at 3 and goes down when you catch a bad object. What should happen at zero?</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Ask the player their name at the start and greet them with it. Look in Sensing for ask and wait.</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a level variable that goes up every ten points, and show it on the stage.</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a start screen, lives, and Game Over.</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5 — Variables and Score</dc:title>
  <dc:subject>PptxGenJS Presentation</dc:subject>
  <dc:creator>PptxGenJS</dc:creator>
  <cp:lastModifiedBy>PptxGenJS</cp:lastModifiedBy>
  <cp:revision>1</cp:revision>
  <dcterms:created xsi:type="dcterms:W3CDTF">2026-09-19T12:31:33Z</dcterms:created>
  <dcterms:modified xsi:type="dcterms:W3CDTF">2026-09-19T12:31:33Z</dcterms:modified>
</cp:coreProperties>
</file>