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before week one, with everyone in the room and a laptop each if you can. It takes about forty minutes with questions. The aim is not to teach Scratch — the lesson plans do that — it is to get everyone agreeing on how the room is run, because a room where the adults disagree is the thing children notice fastest.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last one twice. Several volunteers will arrive with a school model in their heads and it is the single most important thing to unlearn before week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a real introduction to computer science, not a tour of a toy. Say so — volunteers who think they are running a craft club behave differently from volunteers who know they are teaching the real thing. Then add the line that matters more: they will also have debugged their own code roughly two hundred times, and that is the part that lasts.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Kids settle fastest into a predictable structure, and a predictable structure is also what lets a substitute run a session from the plan. Point at the ratio: fifteen minutes of talking, fifty of hands-on. If you find yourself explaining for twenty-five minutes, stop and let them build. They learn it in their fingers, not their 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Size the class to the volunteers you actually have, not the other way round. And the hard rule: if you are down to one adult on the day, cancel the session. Nobody will thank you for pushing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Fifteen is the largest class that still leaves two people in reserve, and reserves are what get you through eight weeks. Somebody will be sick, travelling or dealing with a family thing, probably more than once. Sixteen is the cap rather than the target. Deliberate under-loading is the right call for a first term: twelve to fifteen students with three volunteers and two spares will teach us what breaks, with enough slack to recover in the room. Sixteen with four and no reserve teaches the same things much more painfully.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Wi-fi that copes with fifteen and dies at twenty-five is extremely common at community venues, so test at the real number rather than trusting the booking form. If demand exceeds the cap, run a second cohort rather than a bigger room, and use the waitlist as the argument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 two is the one people get wrong with the best intentions. An unzoned floater feels busy and helpful and still misses the child who has not moved a block in ten minutes, which was the whole point of having them. Assign tables out loud at the start of each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arcade catch game: things fall, you move along the bottom, you catch the good ones and dodge the bad. Deliberately unoriginal, and that is the point — simple enough for an eight-year-old to hold in their head, rich enough that every concept in the course has an obvious home inside it. It also demos in forty-five seconds, which matters enormously at the showcase. Students pick their own theme in week one and never change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Falling behind is the number one reason children drop out of coding clubs, and this single artefact removes it. When a child misses week five you send the parent the week-five skeleton link, they remix it, and the child walks into week six on level ground instead of two weeks behind and quietly humiliated. Name them plainly: Sky Catcher — end of Week 3. Do not skip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will have a seven-year-old who has never used a mouse properly sitting next to a twelve-year-old who has been on Scratch for a year. That spread is the widest thing in the programme and it is what is most likely to go wrong. If someone is genuinely far ahead, hand them the Raspberry Pi Foundation's More Scratch pathway and let them run — do not hold them to the class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fix for the reading problem is ninety seconds long and it removes the problem entirely: read the activity steps aloud at the start of every activity block. All of them, every week, not just when someone asks. Seat the youngest where the floating volunteer passes most often. And if we end up with three or more seven-year-olds, seat them together rather than scattering them — it is easier to give one table a slower pace, and it saves them measuring themselves against a twelve-year-old on every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changes how the room feels, so spend time on it. Everyone arrives wanting to be helpful and helpful usually means fixing it. Practise the question out loud together now — it feels unnatural the first few times and then it becomes the only thing you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volunteer asks how we'll know they're learning without marking anything, the answer is Show and Tell and the showcase — both are public, voluntary and far better evidence than a worksheet. Nobody chases homework. Nobody mentions that a child hasn't done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Knowing the cut order in advance is what stops a session ending in a scramble. The three in the right-hand column are genuinely never cut: Show and Tell is the motivator, the break is a physical necessity for nine-year-olds, and skipping the save is how a child loses six weeks of work and never comes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eight needs a two-hour slot or its own separate event, and the venue has to be told in the FIRST email, not the week before. Also: download every project as an .sb3 to a USB stick during the polish sprint and have Scratch Desktop on the presenting laptop. Community venue wi-fi fails at exactly the wrong moment, and with backups done nobody ever knows.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third: we are not registering with Code Club Aotearoa for the pilot, so their police vetting requirement does not apply to us — but the committee still needs to decide what KCC asks of adults working with its children. That is a conversation to have now, not in week three. Their project library is free for us to use either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to lose two or three students over eight weeks. That is normal and not your fault. What IS our fault is losing them because they fell behind — which is what the skeleton files are for. If a student misses a week, message the parent with the skeleton link and one sentence on what they missed, and they will be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by handing out the volunteer briefing document and pointing at where the lesson plans live. Then take questions — leave ten minutes for it, because the questions are where you find out what people are actually worried about. Most of the time it is 'what if I don't know the answer', and the answer to that is: say you don't know, and work it out with the child in front of everyone. That is the best thing you can possibly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A121B"/>
        </a:solidFill>
      </p:bgPr>
    </p:bg>
    <p:spTree>
      <p:nvGrpSpPr>
        <p:cNvPr id="1" name=""/>
        <p:cNvGrpSpPr/>
        <p:nvPr/>
      </p:nvGrpSpPr>
      <p:grpSpPr>
        <a:xfrm>
          <a:off x="0" y="0"/>
          <a:ext cx="0" cy="0"/>
          <a:chOff x="0" y="0"/>
          <a:chExt cx="0" cy="0"/>
        </a:xfrm>
      </p:grpSpPr>
      <p:pic>
        <p:nvPicPr>
          <p:cNvPr id="2" name="Image 0" descr="Kerala Cultural Club logo">    </p:cNvPr>
          <p:cNvPicPr>
            <a:picLocks noChangeAspect="1"/>
          </p:cNvPicPr>
          <p:nvPr/>
        </p:nvPicPr>
        <p:blipFill>
          <a:blip r:embed="rId1"/>
          <a:srcRect l="0" r="0" t="0" b="0"/>
          <a:stretch/>
        </p:blipFill>
        <p:spPr>
          <a:xfrm>
            <a:off x="9779000" y="952500"/>
            <a:ext cx="1460500" cy="1460500"/>
          </a:xfrm>
          <a:prstGeom prst="rect">
            <a:avLst/>
          </a:prstGeom>
        </p:spPr>
      </p:pic>
      <p:sp>
        <p:nvSpPr>
          <p:cNvPr id="3" name="Text 0"/>
          <p:cNvSpPr/>
          <p:nvPr/>
        </p:nvSpPr>
        <p:spPr>
          <a:xfrm>
            <a:off x="812800" y="1788815"/>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9A227"/>
                </a:solidFill>
                <a:latin typeface="Nunito Sans" pitchFamily="34" charset="0"/>
                <a:ea typeface="Nunito Sans" pitchFamily="34" charset="-122"/>
                <a:cs typeface="Nunito Sans" pitchFamily="34" charset="-120"/>
              </a:rPr>
              <a:t>KCC CODE CLUB · GAME MAKERS</a:t>
            </a:r>
            <a:endParaRPr lang="en-US" sz="1300" dirty="0"/>
          </a:p>
        </p:txBody>
      </p:sp>
      <p:sp>
        <p:nvSpPr>
          <p:cNvPr id="4" name="Text 1"/>
          <p:cNvSpPr/>
          <p:nvPr/>
        </p:nvSpPr>
        <p:spPr>
          <a:xfrm>
            <a:off x="812800" y="2273895"/>
            <a:ext cx="7717790" cy="1610320"/>
          </a:xfrm>
          <a:prstGeom prst="rect">
            <a:avLst/>
          </a:prstGeom>
          <a:noFill/>
          <a:ln/>
        </p:spPr>
        <p:txBody>
          <a:bodyPr wrap="square" lIns="0" tIns="0" rIns="0" bIns="0" rtlCol="0" anchor="t">
            <a:normAutofit/>
          </a:bodyPr>
          <a:lstStyle/>
          <a:p>
            <a:pPr algn="l" indent="0" marL="0">
              <a:lnSpc>
                <a:spcPts val="6240"/>
              </a:lnSpc>
              <a:buNone/>
            </a:pPr>
            <a:r>
              <a:rPr lang="en-US" sz="6000" b="1" dirty="0">
                <a:solidFill>
                  <a:srgbClr val="F6E7C8"/>
                </a:solidFill>
                <a:latin typeface="Fredoka" pitchFamily="34" charset="0"/>
                <a:ea typeface="Fredoka" pitchFamily="34" charset="-122"/>
                <a:cs typeface="Fredoka" pitchFamily="34" charset="-120"/>
              </a:rPr>
              <a:t>Volunteer</a:t>
            </a:r>
            <a:endParaRPr lang="en-US" sz="6000" dirty="0"/>
          </a:p>
          <a:p>
            <a:pPr algn="l" indent="0" marL="0">
              <a:lnSpc>
                <a:spcPts val="6240"/>
              </a:lnSpc>
              <a:buNone/>
            </a:pPr>
            <a:r>
              <a:rPr lang="en-US" sz="6000" b="1" dirty="0">
                <a:solidFill>
                  <a:srgbClr val="F6E7C8"/>
                </a:solidFill>
                <a:latin typeface="Fredoka" pitchFamily="34" charset="0"/>
                <a:ea typeface="Fredoka" pitchFamily="34" charset="-122"/>
                <a:cs typeface="Fredoka" pitchFamily="34" charset="-120"/>
              </a:rPr>
              <a:t>Briefing</a:t>
            </a:r>
            <a:endParaRPr lang="en-US" sz="6000" dirty="0"/>
          </a:p>
        </p:txBody>
      </p:sp>
      <p:sp>
        <p:nvSpPr>
          <p:cNvPr id="5" name="Shape 2"/>
          <p:cNvSpPr/>
          <p:nvPr/>
        </p:nvSpPr>
        <p:spPr>
          <a:xfrm>
            <a:off x="812800" y="4112816"/>
            <a:ext cx="1397000" cy="50800"/>
          </a:xfrm>
          <a:prstGeom prst="roundRect">
            <a:avLst>
              <a:gd name="adj" fmla="val 50000"/>
            </a:avLst>
          </a:prstGeom>
          <a:solidFill>
            <a:srgbClr val="C9A227"/>
          </a:solidFill>
          <a:ln/>
        </p:spPr>
      </p:sp>
      <p:sp>
        <p:nvSpPr>
          <p:cNvPr id="6" name="Text 3"/>
          <p:cNvSpPr/>
          <p:nvPr/>
        </p:nvSpPr>
        <p:spPr>
          <a:xfrm>
            <a:off x="812800" y="4417616"/>
            <a:ext cx="7717790" cy="676870"/>
          </a:xfrm>
          <a:prstGeom prst="rect">
            <a:avLst/>
          </a:prstGeom>
          <a:noFill/>
          <a:ln/>
        </p:spPr>
        <p:txBody>
          <a:bodyPr wrap="square" lIns="0" tIns="0" rIns="0" bIns="0" rtlCol="0" anchor="t">
            <a:normAutofit/>
          </a:bodyPr>
          <a:lstStyle/>
          <a:p>
            <a:pPr algn="l" indent="0" marL="0">
              <a:lnSpc>
                <a:spcPts val="2565"/>
              </a:lnSpc>
              <a:buNone/>
            </a:pPr>
            <a:r>
              <a:rPr lang="en-US" sz="1900" dirty="0">
                <a:solidFill>
                  <a:srgbClr val="C49A7E"/>
                </a:solidFill>
                <a:latin typeface="Nunito Sans" pitchFamily="34" charset="0"/>
                <a:ea typeface="Nunito Sans" pitchFamily="34" charset="-122"/>
                <a:cs typeface="Nunito Sans" pitchFamily="34" charset="-120"/>
              </a:rPr>
              <a:t>Everything you need to run a session, and the reasoning behind the bits that look odd.</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THE PROGRAMME</a:t>
            </a:r>
            <a:endParaRPr lang="en-US" sz="1300" dirty="0"/>
          </a:p>
        </p:txBody>
      </p:sp>
      <p:sp>
        <p:nvSpPr>
          <p:cNvPr id="3" name="Text 1"/>
          <p:cNvSpPr/>
          <p:nvPr/>
        </p:nvSpPr>
        <p:spPr>
          <a:xfrm>
            <a:off x="812800" y="2363291"/>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What we're actually running</a:t>
            </a:r>
            <a:endParaRPr lang="en-US" sz="4000" dirty="0"/>
          </a:p>
        </p:txBody>
      </p:sp>
      <p:sp>
        <p:nvSpPr>
          <p:cNvPr id="4" name="Shape 2"/>
          <p:cNvSpPr/>
          <p:nvPr/>
        </p:nvSpPr>
        <p:spPr>
          <a:xfrm>
            <a:off x="819150" y="4237633"/>
            <a:ext cx="3373934" cy="1598017"/>
          </a:xfrm>
          <a:prstGeom prst="roundRect">
            <a:avLst>
              <a:gd name="adj" fmla="val 8345"/>
            </a:avLst>
          </a:prstGeom>
          <a:solidFill>
            <a:srgbClr val="FFFCF4"/>
          </a:solidFill>
          <a:ln w="12700">
            <a:solidFill>
              <a:srgbClr val="E4D7BE"/>
            </a:solidFill>
            <a:prstDash val="solid"/>
          </a:ln>
        </p:spPr>
      </p:sp>
      <p:sp>
        <p:nvSpPr>
          <p:cNvPr id="5" name="Text 3"/>
          <p:cNvSpPr/>
          <p:nvPr/>
        </p:nvSpPr>
        <p:spPr>
          <a:xfrm>
            <a:off x="1054100" y="4472583"/>
            <a:ext cx="2991155"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Eight classes, ninety minutes</a:t>
            </a:r>
            <a:endParaRPr lang="en-US" sz="1900" dirty="0"/>
          </a:p>
        </p:txBody>
      </p:sp>
      <p:sp>
        <p:nvSpPr>
          <p:cNvPr id="6" name="Text 4"/>
          <p:cNvSpPr/>
          <p:nvPr/>
        </p:nvSpPr>
        <p:spPr>
          <a:xfrm>
            <a:off x="1054100" y="5103614"/>
            <a:ext cx="2991155"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Weekly, term one, as a pilot. Ages 7–12, no experience assumed.</a:t>
            </a:r>
            <a:endParaRPr lang="en-US" sz="1450" dirty="0"/>
          </a:p>
        </p:txBody>
      </p:sp>
      <p:sp>
        <p:nvSpPr>
          <p:cNvPr id="7" name="Shape 5"/>
          <p:cNvSpPr/>
          <p:nvPr/>
        </p:nvSpPr>
        <p:spPr>
          <a:xfrm>
            <a:off x="4408984" y="4237633"/>
            <a:ext cx="3374033" cy="1598017"/>
          </a:xfrm>
          <a:prstGeom prst="roundRect">
            <a:avLst>
              <a:gd name="adj" fmla="val 8345"/>
            </a:avLst>
          </a:prstGeom>
          <a:solidFill>
            <a:srgbClr val="FFFCF4"/>
          </a:solidFill>
          <a:ln w="12700">
            <a:solidFill>
              <a:srgbClr val="E4D7BE"/>
            </a:solidFill>
            <a:prstDash val="solid"/>
          </a:ln>
        </p:spPr>
      </p:sp>
      <p:sp>
        <p:nvSpPr>
          <p:cNvPr id="8" name="Text 6"/>
          <p:cNvSpPr/>
          <p:nvPr/>
        </p:nvSpPr>
        <p:spPr>
          <a:xfrm>
            <a:off x="4643934" y="4472583"/>
            <a:ext cx="2991257"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One game, built across all eight</a:t>
            </a:r>
            <a:endParaRPr lang="en-US" sz="1900" dirty="0"/>
          </a:p>
        </p:txBody>
      </p:sp>
      <p:sp>
        <p:nvSpPr>
          <p:cNvPr id="9" name="Text 7"/>
          <p:cNvSpPr/>
          <p:nvPr/>
        </p:nvSpPr>
        <p:spPr>
          <a:xfrm>
            <a:off x="4643934" y="5103614"/>
            <a:ext cx="2991257"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Sky Catcher. It works at the end of every single class.</a:t>
            </a:r>
            <a:endParaRPr lang="en-US" sz="1450" dirty="0"/>
          </a:p>
        </p:txBody>
      </p:sp>
      <p:sp>
        <p:nvSpPr>
          <p:cNvPr id="10" name="Shape 8"/>
          <p:cNvSpPr/>
          <p:nvPr/>
        </p:nvSpPr>
        <p:spPr>
          <a:xfrm>
            <a:off x="7998916" y="4237633"/>
            <a:ext cx="3373934" cy="1598017"/>
          </a:xfrm>
          <a:prstGeom prst="roundRect">
            <a:avLst>
              <a:gd name="adj" fmla="val 8345"/>
            </a:avLst>
          </a:prstGeom>
          <a:solidFill>
            <a:srgbClr val="FFFCF4"/>
          </a:solidFill>
          <a:ln w="12700">
            <a:solidFill>
              <a:srgbClr val="E4D7BE"/>
            </a:solidFill>
            <a:prstDash val="solid"/>
          </a:ln>
        </p:spPr>
      </p:sp>
      <p:sp>
        <p:nvSpPr>
          <p:cNvPr id="11" name="Text 9"/>
          <p:cNvSpPr/>
          <p:nvPr/>
        </p:nvSpPr>
        <p:spPr>
          <a:xfrm>
            <a:off x="8233866" y="4472583"/>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Nothing is graded. Ever.</a:t>
            </a:r>
            <a:endParaRPr lang="en-US" sz="1900" dirty="0"/>
          </a:p>
        </p:txBody>
      </p:sp>
      <p:sp>
        <p:nvSpPr>
          <p:cNvPr id="12" name="Text 10"/>
          <p:cNvSpPr/>
          <p:nvPr/>
        </p:nvSpPr>
        <p:spPr>
          <a:xfrm>
            <a:off x="8233866" y="4826198"/>
            <a:ext cx="2991155"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No tests, no marking, no chasing homework. The moment it feels like school, attendance drops.</a:t>
            </a:r>
            <a:endParaRPr lang="en-US" sz="1450" dirty="0"/>
          </a:p>
        </p:txBody>
      </p:sp>
      <p:sp>
        <p:nvSpPr>
          <p:cNvPr id="13" name="Text 11"/>
          <p:cNvSpPr/>
          <p:nvPr/>
        </p:nvSpPr>
        <p:spPr>
          <a:xfrm>
            <a:off x="812800" y="6238280"/>
            <a:ext cx="24710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KCC Code Club · Volunteer Briefing</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C9A227"/>
        </a:solidFill>
      </p:bgPr>
    </p:bg>
    <p:spTree>
      <p:nvGrpSpPr>
        <p:cNvPr id="1" name=""/>
        <p:cNvGrpSpPr/>
        <p:nvPr/>
      </p:nvGrpSpPr>
      <p:grpSpPr>
        <a:xfrm>
          <a:off x="0" y="0"/>
          <a:ext cx="0" cy="0"/>
          <a:chOff x="0" y="0"/>
          <a:chExt cx="0" cy="0"/>
        </a:xfrm>
      </p:grpSpPr>
      <p:sp>
        <p:nvSpPr>
          <p:cNvPr id="2" name="Text 0"/>
          <p:cNvSpPr/>
          <p:nvPr/>
        </p:nvSpPr>
        <p:spPr>
          <a:xfrm>
            <a:off x="812800" y="182622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5A4A08"/>
                </a:solidFill>
                <a:latin typeface="Nunito Sans" pitchFamily="34" charset="0"/>
                <a:ea typeface="Nunito Sans" pitchFamily="34" charset="-122"/>
                <a:cs typeface="Nunito Sans" pitchFamily="34" charset="-120"/>
              </a:rPr>
              <a:t>THE BIG IDEA</a:t>
            </a:r>
            <a:endParaRPr lang="en-US" sz="1300" dirty="0"/>
          </a:p>
        </p:txBody>
      </p:sp>
      <p:sp>
        <p:nvSpPr>
          <p:cNvPr id="3" name="Text 1"/>
          <p:cNvSpPr/>
          <p:nvPr/>
        </p:nvSpPr>
        <p:spPr>
          <a:xfrm>
            <a:off x="812800" y="2285901"/>
            <a:ext cx="9810750" cy="1902718"/>
          </a:xfrm>
          <a:prstGeom prst="rect">
            <a:avLst/>
          </a:prstGeom>
          <a:noFill/>
          <a:ln/>
        </p:spPr>
        <p:txBody>
          <a:bodyPr wrap="square" lIns="0" tIns="0" rIns="0" bIns="0" rtlCol="0" anchor="t">
            <a:normAutofit/>
          </a:bodyPr>
          <a:lstStyle/>
          <a:p>
            <a:pPr algn="l" indent="0" marL="0">
              <a:lnSpc>
                <a:spcPts val="4928"/>
              </a:lnSpc>
              <a:buNone/>
            </a:pPr>
            <a:r>
              <a:rPr lang="en-US" sz="4400" b="1" dirty="0">
                <a:solidFill>
                  <a:srgbClr val="2E1015"/>
                </a:solidFill>
                <a:latin typeface="Fredoka" pitchFamily="34" charset="0"/>
                <a:ea typeface="Fredoka" pitchFamily="34" charset="-122"/>
                <a:cs typeface="Fredoka" pitchFamily="34" charset="-120"/>
              </a:rPr>
              <a:t>By week eight they build a working arcade game from a blank project, on their own, and explain how it works.</a:t>
            </a:r>
            <a:endParaRPr lang="en-US" sz="4400" dirty="0"/>
          </a:p>
        </p:txBody>
      </p:sp>
      <p:sp>
        <p:nvSpPr>
          <p:cNvPr id="4" name="Text 2"/>
          <p:cNvSpPr/>
          <p:nvPr/>
        </p:nvSpPr>
        <p:spPr>
          <a:xfrm>
            <a:off x="812800" y="4391819"/>
            <a:ext cx="8502650" cy="665361"/>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5A4A08"/>
                </a:solidFill>
                <a:latin typeface="Nunito Sans" pitchFamily="34" charset="0"/>
                <a:ea typeface="Nunito Sans" pitchFamily="34" charset="-122"/>
                <a:cs typeface="Nunito Sans" pitchFamily="34" charset="-120"/>
              </a:rPr>
              <a:t>Sequence, events, coordinates, loops, randomness, conditionals, sensing, variables, messages, operators and their own custom blocks.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EVERY CLASS RUNS THE SAME SHAPE</a:t>
            </a:r>
            <a:endParaRPr lang="en-US" sz="1300" dirty="0"/>
          </a:p>
        </p:txBody>
      </p:sp>
      <p:sp>
        <p:nvSpPr>
          <p:cNvPr id="3" name="Text 1"/>
          <p:cNvSpPr/>
          <p:nvPr/>
        </p:nvSpPr>
        <p:spPr>
          <a:xfrm>
            <a:off x="812800" y="1708150"/>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The ninety minutes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2866033"/>
          <a:ext cx="10566400" cy="2950567"/>
        </p:xfrm>
        <a:graphic>
          <a:graphicData uri="http://schemas.openxmlformats.org/drawingml/2006/table">
            <a:tbl>
              <a:tblPr/>
              <a:tblGrid>
                <a:gridCol w="1690624"/>
                <a:gridCol w="3169920"/>
                <a:gridCol w="5705856"/>
              </a:tblGrid>
              <a:tr h="385961">
                <a:tc>
                  <a:txBody>
                    <a:bodyPr/>
                    <a:lstStyle/>
                    <a:p>
                      <a:pPr indent="0" marL="0">
                        <a:lnSpc>
                          <a:spcPts val="1960"/>
                        </a:lnSpc>
                        <a:buNone/>
                      </a:pPr>
                      <a:r>
                        <a:rPr lang="en-US" sz="1400" b="1" dirty="0">
                          <a:solidFill>
                            <a:srgbClr val="2E1015"/>
                          </a:solidFill>
                          <a:latin typeface="Nunito Sans" pitchFamily="34" charset="0"/>
                          <a:ea typeface="Nunito Sans" pitchFamily="34" charset="-122"/>
                          <a:cs typeface="Nunito Sans" pitchFamily="34" charset="-120"/>
                        </a:rPr>
                        <a:t>Time</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c>
                  <a:txBody>
                    <a:bodyPr/>
                    <a:lstStyle/>
                    <a:p>
                      <a:pPr indent="0" marL="0">
                        <a:lnSpc>
                          <a:spcPts val="1960"/>
                        </a:lnSpc>
                        <a:buNone/>
                      </a:pPr>
                      <a:r>
                        <a:rPr lang="en-US" sz="1400" b="1" dirty="0">
                          <a:solidFill>
                            <a:srgbClr val="2E1015"/>
                          </a:solidFill>
                          <a:latin typeface="Nunito Sans" pitchFamily="34" charset="0"/>
                          <a:ea typeface="Nunito Sans" pitchFamily="34" charset="-122"/>
                          <a:cs typeface="Nunito Sans" pitchFamily="34" charset="-120"/>
                        </a:rPr>
                        <a:t>Segment</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c>
                  <a:txBody>
                    <a:bodyPr/>
                    <a:lstStyle/>
                    <a:p>
                      <a:pPr indent="0" marL="0">
                        <a:lnSpc>
                          <a:spcPts val="1960"/>
                        </a:lnSpc>
                        <a:buNone/>
                      </a:pPr>
                      <a:r>
                        <a:rPr lang="en-US" sz="1400" b="1" dirty="0">
                          <a:solidFill>
                            <a:srgbClr val="2E1015"/>
                          </a:solidFill>
                          <a:latin typeface="Nunito Sans" pitchFamily="34" charset="0"/>
                          <a:ea typeface="Nunito Sans" pitchFamily="34" charset="-122"/>
                          <a:cs typeface="Nunito Sans" pitchFamily="34" charset="-120"/>
                        </a:rPr>
                        <a:t>Why it's there</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r>
              <a:tr h="634802">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0:00</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Arrival and Show &amp; Tell</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Two or three demo last week's homework. Strongest motivator we have.</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r>
              <a:tr h="385961">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0:10</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New concept, live demo</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You code on the projector and deliberately make mistakes.</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r>
              <a:tr h="385961">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0:25</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Class activity</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Small, throwaway, everyone does it. No risk to their real project.</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r>
              <a:tr h="385961">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0:55</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Break</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Non-negotiable.</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r>
              <a:tr h="385961">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1:05</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Project build</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Add this week's layer to their own game.</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r>
              <a:tr h="385961">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1:25</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Save, share, homework</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Nobody leaves with a broken game.</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r>
            </a:tbl>
          </a:graphicData>
        </a:graphic>
      </p:graphicFrame>
      <p:sp>
        <p:nvSpPr>
          <p:cNvPr id="5" name="Text 2"/>
          <p:cNvSpPr/>
          <p:nvPr/>
        </p:nvSpPr>
        <p:spPr>
          <a:xfrm>
            <a:off x="812800" y="6238280"/>
            <a:ext cx="24710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KCC Code Club · Volunteer Briefing</a:t>
            </a:r>
            <a:endParaRPr lang="en-US" sz="1200" dirty="0"/>
          </a:p>
        </p:txBody>
      </p:sp>
      <p:pic>
        <p:nvPicPr>
          <p:cNvPr id="6"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C9A227"/>
        </a:solidFill>
      </p:bgPr>
    </p:bg>
    <p:spTree>
      <p:nvGrpSpPr>
        <p:cNvPr id="1" name=""/>
        <p:cNvGrpSpPr/>
        <p:nvPr/>
      </p:nvGrpSpPr>
      <p:grpSpPr>
        <a:xfrm>
          <a:off x="0" y="0"/>
          <a:ext cx="0" cy="0"/>
          <a:chOff x="0" y="0"/>
          <a:chExt cx="0" cy="0"/>
        </a:xfrm>
      </p:grpSpPr>
      <p:sp>
        <p:nvSpPr>
          <p:cNvPr id="2" name="Text 0"/>
          <p:cNvSpPr/>
          <p:nvPr/>
        </p:nvSpPr>
        <p:spPr>
          <a:xfrm>
            <a:off x="812800" y="182622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5A4A08"/>
                </a:solidFill>
                <a:latin typeface="Nunito Sans" pitchFamily="34" charset="0"/>
                <a:ea typeface="Nunito Sans" pitchFamily="34" charset="-122"/>
                <a:cs typeface="Nunito Sans" pitchFamily="34" charset="-120"/>
              </a:rPr>
              <a:t>THE BIG IDEA</a:t>
            </a:r>
            <a:endParaRPr lang="en-US" sz="1300" dirty="0"/>
          </a:p>
        </p:txBody>
      </p:sp>
      <p:sp>
        <p:nvSpPr>
          <p:cNvPr id="3" name="Text 1"/>
          <p:cNvSpPr/>
          <p:nvPr/>
        </p:nvSpPr>
        <p:spPr>
          <a:xfrm>
            <a:off x="812800" y="2285901"/>
            <a:ext cx="9810750" cy="1902718"/>
          </a:xfrm>
          <a:prstGeom prst="rect">
            <a:avLst/>
          </a:prstGeom>
          <a:noFill/>
          <a:ln/>
        </p:spPr>
        <p:txBody>
          <a:bodyPr wrap="square" lIns="0" tIns="0" rIns="0" bIns="0" rtlCol="0" anchor="t">
            <a:normAutofit/>
          </a:bodyPr>
          <a:lstStyle/>
          <a:p>
            <a:pPr algn="l" indent="0" marL="0">
              <a:lnSpc>
                <a:spcPts val="4928"/>
              </a:lnSpc>
              <a:buNone/>
            </a:pPr>
            <a:r>
              <a:rPr lang="en-US" sz="4400" b="1" dirty="0">
                <a:solidFill>
                  <a:srgbClr val="2E1015"/>
                </a:solidFill>
                <a:latin typeface="Fredoka" pitchFamily="34" charset="0"/>
                <a:ea typeface="Fredoka" pitchFamily="34" charset="-122"/>
                <a:cs typeface="Fredoka" pitchFamily="34" charset="-120"/>
              </a:rPr>
              <a:t>One volunteer per five students. Never fewer than two adults in the room, whatever the headcount.</a:t>
            </a:r>
            <a:endParaRPr lang="en-US" sz="4400" dirty="0"/>
          </a:p>
        </p:txBody>
      </p:sp>
      <p:sp>
        <p:nvSpPr>
          <p:cNvPr id="4" name="Text 2"/>
          <p:cNvSpPr/>
          <p:nvPr/>
        </p:nvSpPr>
        <p:spPr>
          <a:xfrm>
            <a:off x="812800" y="4391819"/>
            <a:ext cx="8502650" cy="665361"/>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5A4A08"/>
                </a:solidFill>
                <a:latin typeface="Nunito Sans" pitchFamily="34" charset="0"/>
                <a:ea typeface="Nunito Sans" pitchFamily="34" charset="-122"/>
                <a:cs typeface="Nunito Sans" pitchFamily="34" charset="-120"/>
              </a:rPr>
              <a:t>1:4 if more than about a third of the group is 7 or 8. Sixteen is the pilot cap; twenty is the ceiling after we've run once.</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THE ARITHMETIC</a:t>
            </a:r>
            <a:endParaRPr lang="en-US" sz="1300" dirty="0"/>
          </a:p>
        </p:txBody>
      </p:sp>
      <p:sp>
        <p:nvSpPr>
          <p:cNvPr id="3" name="Text 1"/>
          <p:cNvSpPr/>
          <p:nvPr/>
        </p:nvSpPr>
        <p:spPr>
          <a:xfrm>
            <a:off x="812800" y="1945184"/>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What each class size costs us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3340100"/>
          <a:ext cx="10566400" cy="2476500"/>
        </p:xfrm>
        <a:graphic>
          <a:graphicData uri="http://schemas.openxmlformats.org/drawingml/2006/table">
            <a:tbl>
              <a:tblPr/>
              <a:tblGrid>
                <a:gridCol w="2747264"/>
                <a:gridCol w="3909568"/>
                <a:gridCol w="3909568"/>
              </a:tblGrid>
              <a:tr h="412750">
                <a:tc>
                  <a:txBody>
                    <a:bodyPr/>
                    <a:lstStyle/>
                    <a:p>
                      <a:pPr indent="0" marL="0">
                        <a:lnSpc>
                          <a:spcPts val="2100"/>
                        </a:lnSpc>
                        <a:buNone/>
                      </a:pPr>
                      <a:r>
                        <a:rPr lang="en-US" sz="1500" b="1" dirty="0">
                          <a:solidFill>
                            <a:srgbClr val="2E1015"/>
                          </a:solidFill>
                          <a:latin typeface="Nunito Sans" pitchFamily="34" charset="0"/>
                          <a:ea typeface="Nunito Sans" pitchFamily="34" charset="-122"/>
                          <a:cs typeface="Nunito Sans" pitchFamily="34" charset="-120"/>
                        </a:rPr>
                        <a:t>Students</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c>
                  <a:txBody>
                    <a:bodyPr/>
                    <a:lstStyle/>
                    <a:p>
                      <a:pPr indent="0" marL="0">
                        <a:lnSpc>
                          <a:spcPts val="2100"/>
                        </a:lnSpc>
                        <a:buNone/>
                      </a:pPr>
                      <a:r>
                        <a:rPr lang="en-US" sz="1500" b="1" dirty="0">
                          <a:solidFill>
                            <a:srgbClr val="2E1015"/>
                          </a:solidFill>
                          <a:latin typeface="Nunito Sans" pitchFamily="34" charset="0"/>
                          <a:ea typeface="Nunito Sans" pitchFamily="34" charset="-122"/>
                          <a:cs typeface="Nunito Sans" pitchFamily="34" charset="-120"/>
                        </a:rPr>
                        <a:t>Volunteers in the room</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c>
                  <a:txBody>
                    <a:bodyPr/>
                    <a:lstStyle/>
                    <a:p>
                      <a:pPr indent="0" marL="0">
                        <a:lnSpc>
                          <a:spcPts val="2100"/>
                        </a:lnSpc>
                        <a:buNone/>
                      </a:pPr>
                      <a:r>
                        <a:rPr lang="en-US" sz="1500" b="1" dirty="0">
                          <a:solidFill>
                            <a:srgbClr val="2E1015"/>
                          </a:solidFill>
                          <a:latin typeface="Nunito Sans" pitchFamily="34" charset="0"/>
                          <a:ea typeface="Nunito Sans" pitchFamily="34" charset="-122"/>
                          <a:cs typeface="Nunito Sans" pitchFamily="34" charset="-120"/>
                        </a:rPr>
                        <a:t>Spares left, from a team of five</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r>
              <a:tr h="412750">
                <a:tc>
                  <a:txBody>
                    <a:bodyPr/>
                    <a:lstStyle/>
                    <a:p>
                      <a:pPr indent="0" marL="0">
                        <a:lnSpc>
                          <a:spcPts val="2100"/>
                        </a:lnSpc>
                        <a:buNone/>
                      </a:pPr>
                      <a:r>
                        <a:rPr lang="en-US" sz="1500" dirty="0">
                          <a:solidFill>
                            <a:srgbClr val="2E1015"/>
                          </a:solidFill>
                          <a:latin typeface="Nunito Sans" pitchFamily="34" charset="0"/>
                          <a:ea typeface="Nunito Sans" pitchFamily="34" charset="-122"/>
                          <a:cs typeface="Nunito Sans" pitchFamily="34" charset="-120"/>
                        </a:rPr>
                        <a:t>10</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c>
                  <a:txBody>
                    <a:bodyPr/>
                    <a:lstStyle/>
                    <a:p>
                      <a:pPr indent="0" marL="0">
                        <a:lnSpc>
                          <a:spcPts val="2100"/>
                        </a:lnSpc>
                        <a:buNone/>
                      </a:pPr>
                      <a:r>
                        <a:rPr lang="en-US" sz="1500" dirty="0">
                          <a:solidFill>
                            <a:srgbClr val="2E1015"/>
                          </a:solidFill>
                          <a:latin typeface="Nunito Sans" pitchFamily="34" charset="0"/>
                          <a:ea typeface="Nunito Sans" pitchFamily="34" charset="-122"/>
                          <a:cs typeface="Nunito Sans" pitchFamily="34" charset="-120"/>
                        </a:rPr>
                        <a:t>2</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c>
                  <a:txBody>
                    <a:bodyPr/>
                    <a:lstStyle/>
                    <a:p>
                      <a:pPr indent="0" marL="0">
                        <a:lnSpc>
                          <a:spcPts val="2100"/>
                        </a:lnSpc>
                        <a:buNone/>
                      </a:pPr>
                      <a:r>
                        <a:rPr lang="en-US" sz="1500" dirty="0">
                          <a:solidFill>
                            <a:srgbClr val="2E1015"/>
                          </a:solidFill>
                          <a:latin typeface="Nunito Sans" pitchFamily="34" charset="0"/>
                          <a:ea typeface="Nunito Sans" pitchFamily="34" charset="-122"/>
                          <a:cs typeface="Nunito Sans" pitchFamily="34" charset="-120"/>
                        </a:rPr>
                        <a:t>3</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r>
              <a:tr h="412750">
                <a:tc>
                  <a:txBody>
                    <a:bodyPr/>
                    <a:lstStyle/>
                    <a:p>
                      <a:pPr indent="0" marL="0">
                        <a:lnSpc>
                          <a:spcPts val="2100"/>
                        </a:lnSpc>
                        <a:buNone/>
                      </a:pPr>
                      <a:r>
                        <a:rPr lang="en-US" sz="1500" dirty="0">
                          <a:solidFill>
                            <a:srgbClr val="2E1015"/>
                          </a:solidFill>
                          <a:latin typeface="Nunito Sans" pitchFamily="34" charset="0"/>
                          <a:ea typeface="Nunito Sans" pitchFamily="34" charset="-122"/>
                          <a:cs typeface="Nunito Sans" pitchFamily="34" charset="-120"/>
                        </a:rPr>
                        <a:t>12</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c>
                  <a:txBody>
                    <a:bodyPr/>
                    <a:lstStyle/>
                    <a:p>
                      <a:pPr indent="0" marL="0">
                        <a:lnSpc>
                          <a:spcPts val="2100"/>
                        </a:lnSpc>
                        <a:buNone/>
                      </a:pPr>
                      <a:r>
                        <a:rPr lang="en-US" sz="1500" dirty="0">
                          <a:solidFill>
                            <a:srgbClr val="2E1015"/>
                          </a:solidFill>
                          <a:latin typeface="Nunito Sans" pitchFamily="34" charset="0"/>
                          <a:ea typeface="Nunito Sans" pitchFamily="34" charset="-122"/>
                          <a:cs typeface="Nunito Sans" pitchFamily="34" charset="-120"/>
                        </a:rPr>
                        <a:t>3</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c>
                  <a:txBody>
                    <a:bodyPr/>
                    <a:lstStyle/>
                    <a:p>
                      <a:pPr indent="0" marL="0">
                        <a:lnSpc>
                          <a:spcPts val="2100"/>
                        </a:lnSpc>
                        <a:buNone/>
                      </a:pPr>
                      <a:r>
                        <a:rPr lang="en-US" sz="1500" dirty="0">
                          <a:solidFill>
                            <a:srgbClr val="2E1015"/>
                          </a:solidFill>
                          <a:latin typeface="Nunito Sans" pitchFamily="34" charset="0"/>
                          <a:ea typeface="Nunito Sans" pitchFamily="34" charset="-122"/>
                          <a:cs typeface="Nunito Sans" pitchFamily="34" charset="-120"/>
                        </a:rPr>
                        <a:t>2</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r>
              <a:tr h="412750">
                <a:tc>
                  <a:txBody>
                    <a:bodyPr/>
                    <a:lstStyle/>
                    <a:p>
                      <a:pPr indent="0" marL="0">
                        <a:lnSpc>
                          <a:spcPts val="2100"/>
                        </a:lnSpc>
                        <a:buNone/>
                      </a:pPr>
                      <a:r>
                        <a:rPr lang="en-US" sz="1500" dirty="0">
                          <a:solidFill>
                            <a:srgbClr val="2E1015"/>
                          </a:solidFill>
                          <a:latin typeface="Nunito Sans" pitchFamily="34" charset="0"/>
                          <a:ea typeface="Nunito Sans" pitchFamily="34" charset="-122"/>
                          <a:cs typeface="Nunito Sans" pitchFamily="34" charset="-120"/>
                        </a:rPr>
                        <a:t>15</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c>
                  <a:txBody>
                    <a:bodyPr/>
                    <a:lstStyle/>
                    <a:p>
                      <a:pPr indent="0" marL="0">
                        <a:lnSpc>
                          <a:spcPts val="2100"/>
                        </a:lnSpc>
                        <a:buNone/>
                      </a:pPr>
                      <a:r>
                        <a:rPr lang="en-US" sz="1500" dirty="0">
                          <a:solidFill>
                            <a:srgbClr val="2E1015"/>
                          </a:solidFill>
                          <a:latin typeface="Nunito Sans" pitchFamily="34" charset="0"/>
                          <a:ea typeface="Nunito Sans" pitchFamily="34" charset="-122"/>
                          <a:cs typeface="Nunito Sans" pitchFamily="34" charset="-120"/>
                        </a:rPr>
                        <a:t>3</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c>
                  <a:txBody>
                    <a:bodyPr/>
                    <a:lstStyle/>
                    <a:p>
                      <a:pPr indent="0" marL="0">
                        <a:lnSpc>
                          <a:spcPts val="2100"/>
                        </a:lnSpc>
                        <a:buNone/>
                      </a:pPr>
                      <a:r>
                        <a:rPr lang="en-US" sz="1500" dirty="0">
                          <a:solidFill>
                            <a:srgbClr val="2E1015"/>
                          </a:solidFill>
                          <a:latin typeface="Nunito Sans" pitchFamily="34" charset="0"/>
                          <a:ea typeface="Nunito Sans" pitchFamily="34" charset="-122"/>
                          <a:cs typeface="Nunito Sans" pitchFamily="34" charset="-120"/>
                        </a:rPr>
                        <a:t>2 — the sweet spot</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r>
              <a:tr h="412750">
                <a:tc>
                  <a:txBody>
                    <a:bodyPr/>
                    <a:lstStyle/>
                    <a:p>
                      <a:pPr indent="0" marL="0">
                        <a:lnSpc>
                          <a:spcPts val="2100"/>
                        </a:lnSpc>
                        <a:buNone/>
                      </a:pPr>
                      <a:r>
                        <a:rPr lang="en-US" sz="1500" dirty="0">
                          <a:solidFill>
                            <a:srgbClr val="2E1015"/>
                          </a:solidFill>
                          <a:latin typeface="Nunito Sans" pitchFamily="34" charset="0"/>
                          <a:ea typeface="Nunito Sans" pitchFamily="34" charset="-122"/>
                          <a:cs typeface="Nunito Sans" pitchFamily="34" charset="-120"/>
                        </a:rPr>
                        <a:t>16</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c>
                  <a:txBody>
                    <a:bodyPr/>
                    <a:lstStyle/>
                    <a:p>
                      <a:pPr indent="0" marL="0">
                        <a:lnSpc>
                          <a:spcPts val="2100"/>
                        </a:lnSpc>
                        <a:buNone/>
                      </a:pPr>
                      <a:r>
                        <a:rPr lang="en-US" sz="1500" dirty="0">
                          <a:solidFill>
                            <a:srgbClr val="2E1015"/>
                          </a:solidFill>
                          <a:latin typeface="Nunito Sans" pitchFamily="34" charset="0"/>
                          <a:ea typeface="Nunito Sans" pitchFamily="34" charset="-122"/>
                          <a:cs typeface="Nunito Sans" pitchFamily="34" charset="-120"/>
                        </a:rPr>
                        <a:t>4</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c>
                  <a:txBody>
                    <a:bodyPr/>
                    <a:lstStyle/>
                    <a:p>
                      <a:pPr indent="0" marL="0">
                        <a:lnSpc>
                          <a:spcPts val="2100"/>
                        </a:lnSpc>
                        <a:buNone/>
                      </a:pPr>
                      <a:r>
                        <a:rPr lang="en-US" sz="1500" dirty="0">
                          <a:solidFill>
                            <a:srgbClr val="2E1015"/>
                          </a:solidFill>
                          <a:latin typeface="Nunito Sans" pitchFamily="34" charset="0"/>
                          <a:ea typeface="Nunito Sans" pitchFamily="34" charset="-122"/>
                          <a:cs typeface="Nunito Sans" pitchFamily="34" charset="-120"/>
                        </a:rPr>
                        <a:t>1</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r>
              <a:tr h="412750">
                <a:tc>
                  <a:txBody>
                    <a:bodyPr/>
                    <a:lstStyle/>
                    <a:p>
                      <a:pPr indent="0" marL="0">
                        <a:lnSpc>
                          <a:spcPts val="2100"/>
                        </a:lnSpc>
                        <a:buNone/>
                      </a:pPr>
                      <a:r>
                        <a:rPr lang="en-US" sz="1500" dirty="0">
                          <a:solidFill>
                            <a:srgbClr val="2E1015"/>
                          </a:solidFill>
                          <a:latin typeface="Nunito Sans" pitchFamily="34" charset="0"/>
                          <a:ea typeface="Nunito Sans" pitchFamily="34" charset="-122"/>
                          <a:cs typeface="Nunito Sans" pitchFamily="34" charset="-120"/>
                        </a:rPr>
                        <a:t>20</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c>
                  <a:txBody>
                    <a:bodyPr/>
                    <a:lstStyle/>
                    <a:p>
                      <a:pPr indent="0" marL="0">
                        <a:lnSpc>
                          <a:spcPts val="2100"/>
                        </a:lnSpc>
                        <a:buNone/>
                      </a:pPr>
                      <a:r>
                        <a:rPr lang="en-US" sz="1500" dirty="0">
                          <a:solidFill>
                            <a:srgbClr val="2E1015"/>
                          </a:solidFill>
                          <a:latin typeface="Nunito Sans" pitchFamily="34" charset="0"/>
                          <a:ea typeface="Nunito Sans" pitchFamily="34" charset="-122"/>
                          <a:cs typeface="Nunito Sans" pitchFamily="34" charset="-120"/>
                        </a:rPr>
                        <a:t>4</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c>
                  <a:txBody>
                    <a:bodyPr/>
                    <a:lstStyle/>
                    <a:p>
                      <a:pPr indent="0" marL="0">
                        <a:lnSpc>
                          <a:spcPts val="2100"/>
                        </a:lnSpc>
                        <a:buNone/>
                      </a:pPr>
                      <a:r>
                        <a:rPr lang="en-US" sz="1500" dirty="0">
                          <a:solidFill>
                            <a:srgbClr val="2E1015"/>
                          </a:solidFill>
                          <a:latin typeface="Nunito Sans" pitchFamily="34" charset="0"/>
                          <a:ea typeface="Nunito Sans" pitchFamily="34" charset="-122"/>
                          <a:cs typeface="Nunito Sans" pitchFamily="34" charset="-120"/>
                        </a:rPr>
                        <a:t>1</a:t>
                      </a:r>
                      <a:endParaRPr lang="en-US" sz="1500" dirty="0">
                        <a:latin typeface="Nunito Sans" charset="0"/>
                        <a:ea typeface="Nunito Sans" charset="0"/>
                        <a:cs typeface="Nunito Sans" charset="0"/>
                      </a:endParaRPr>
                    </a:p>
                  </a:txBody>
                  <a:tcPr marL="66675" marR="66675" marT="66675" marB="66675"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r>
            </a:tbl>
          </a:graphicData>
        </a:graphic>
      </p:graphicFrame>
      <p:sp>
        <p:nvSpPr>
          <p:cNvPr id="5" name="Text 2"/>
          <p:cNvSpPr/>
          <p:nvPr/>
        </p:nvSpPr>
        <p:spPr>
          <a:xfrm>
            <a:off x="812800" y="6238280"/>
            <a:ext cx="24710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KCC Code Club · Volunteer Briefing</a:t>
            </a:r>
            <a:endParaRPr lang="en-US" sz="1200" dirty="0"/>
          </a:p>
        </p:txBody>
      </p:sp>
      <p:pic>
        <p:nvPicPr>
          <p:cNvPr id="6"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WHY TWENTY IS THE CEILING</a:t>
            </a:r>
            <a:endParaRPr lang="en-US" sz="1300" dirty="0"/>
          </a:p>
        </p:txBody>
      </p:sp>
      <p:sp>
        <p:nvSpPr>
          <p:cNvPr id="3" name="Text 1"/>
          <p:cNvSpPr/>
          <p:nvPr/>
        </p:nvSpPr>
        <p:spPr>
          <a:xfrm>
            <a:off x="812800" y="2253456"/>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Three things the ratio doesn't fix</a:t>
            </a:r>
            <a:endParaRPr lang="en-US" sz="4000" dirty="0"/>
          </a:p>
        </p:txBody>
      </p:sp>
      <p:sp>
        <p:nvSpPr>
          <p:cNvPr id="4" name="Shape 2"/>
          <p:cNvSpPr/>
          <p:nvPr/>
        </p:nvSpPr>
        <p:spPr>
          <a:xfrm>
            <a:off x="819150" y="4017963"/>
            <a:ext cx="3373934" cy="1817688"/>
          </a:xfrm>
          <a:prstGeom prst="roundRect">
            <a:avLst>
              <a:gd name="adj" fmla="val 7336"/>
            </a:avLst>
          </a:prstGeom>
          <a:solidFill>
            <a:srgbClr val="FFFCF4"/>
          </a:solidFill>
          <a:ln w="12700">
            <a:solidFill>
              <a:srgbClr val="E4D7BE"/>
            </a:solidFill>
            <a:prstDash val="solid"/>
          </a:ln>
        </p:spPr>
      </p:sp>
      <p:sp>
        <p:nvSpPr>
          <p:cNvPr id="5" name="Text 3"/>
          <p:cNvSpPr/>
          <p:nvPr/>
        </p:nvSpPr>
        <p:spPr>
          <a:xfrm>
            <a:off x="1054100" y="4252913"/>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The projector demo</a:t>
            </a:r>
            <a:endParaRPr lang="en-US" sz="1900" dirty="0"/>
          </a:p>
        </p:txBody>
      </p:sp>
      <p:sp>
        <p:nvSpPr>
          <p:cNvPr id="6" name="Text 4"/>
          <p:cNvSpPr/>
          <p:nvPr/>
        </p:nvSpPr>
        <p:spPr>
          <a:xfrm>
            <a:off x="1054100" y="4606528"/>
            <a:ext cx="2991155" cy="1019572"/>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Fifteen minutes of live coding only works if the back row can read the blocks. Past about twenty, they can't.</a:t>
            </a:r>
            <a:endParaRPr lang="en-US" sz="1450" dirty="0"/>
          </a:p>
        </p:txBody>
      </p:sp>
      <p:sp>
        <p:nvSpPr>
          <p:cNvPr id="7" name="Shape 5"/>
          <p:cNvSpPr/>
          <p:nvPr/>
        </p:nvSpPr>
        <p:spPr>
          <a:xfrm>
            <a:off x="4408984" y="4017963"/>
            <a:ext cx="3374033" cy="1817688"/>
          </a:xfrm>
          <a:prstGeom prst="roundRect">
            <a:avLst>
              <a:gd name="adj" fmla="val 7336"/>
            </a:avLst>
          </a:prstGeom>
          <a:solidFill>
            <a:srgbClr val="FFFCF4"/>
          </a:solidFill>
          <a:ln w="12700">
            <a:solidFill>
              <a:srgbClr val="E4D7BE"/>
            </a:solidFill>
            <a:prstDash val="solid"/>
          </a:ln>
        </p:spPr>
      </p:sp>
      <p:sp>
        <p:nvSpPr>
          <p:cNvPr id="8" name="Text 6"/>
          <p:cNvSpPr/>
          <p:nvPr/>
        </p:nvSpPr>
        <p:spPr>
          <a:xfrm>
            <a:off x="4643934" y="4252913"/>
            <a:ext cx="2991257"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Pace</a:t>
            </a:r>
            <a:endParaRPr lang="en-US" sz="1900" dirty="0"/>
          </a:p>
        </p:txBody>
      </p:sp>
      <p:sp>
        <p:nvSpPr>
          <p:cNvPr id="9" name="Text 7"/>
          <p:cNvSpPr/>
          <p:nvPr/>
        </p:nvSpPr>
        <p:spPr>
          <a:xfrm>
            <a:off x="4643934" y="4606528"/>
            <a:ext cx="2991257" cy="1019572"/>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One lead can hold maybe twenty children through a build. Beyond that it isn't one class, it's two sharing a lead, badly.</a:t>
            </a:r>
            <a:endParaRPr lang="en-US" sz="1450" dirty="0"/>
          </a:p>
        </p:txBody>
      </p:sp>
      <p:sp>
        <p:nvSpPr>
          <p:cNvPr id="10" name="Shape 8"/>
          <p:cNvSpPr/>
          <p:nvPr/>
        </p:nvSpPr>
        <p:spPr>
          <a:xfrm>
            <a:off x="7998916" y="4017963"/>
            <a:ext cx="3373934" cy="1817688"/>
          </a:xfrm>
          <a:prstGeom prst="roundRect">
            <a:avLst>
              <a:gd name="adj" fmla="val 7336"/>
            </a:avLst>
          </a:prstGeom>
          <a:solidFill>
            <a:srgbClr val="FFFCF4"/>
          </a:solidFill>
          <a:ln w="12700">
            <a:solidFill>
              <a:srgbClr val="E4D7BE"/>
            </a:solidFill>
            <a:prstDash val="solid"/>
          </a:ln>
        </p:spPr>
      </p:sp>
      <p:sp>
        <p:nvSpPr>
          <p:cNvPr id="11" name="Text 9"/>
          <p:cNvSpPr/>
          <p:nvPr/>
        </p:nvSpPr>
        <p:spPr>
          <a:xfrm>
            <a:off x="8233866" y="4252913"/>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Devices and wi-fi</a:t>
            </a:r>
            <a:endParaRPr lang="en-US" sz="1900" dirty="0"/>
          </a:p>
        </p:txBody>
      </p:sp>
      <p:sp>
        <p:nvSpPr>
          <p:cNvPr id="12" name="Text 10"/>
          <p:cNvSpPr/>
          <p:nvPr/>
        </p:nvSpPr>
        <p:spPr>
          <a:xfrm>
            <a:off x="8233866" y="4606528"/>
            <a:ext cx="2991155" cy="1019572"/>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Twenty laptops, twenty spare mice, and venue wi-fi that survives twenty connections. Test at the number you're planning for.</a:t>
            </a:r>
            <a:endParaRPr lang="en-US" sz="1450" dirty="0"/>
          </a:p>
        </p:txBody>
      </p:sp>
      <p:sp>
        <p:nvSpPr>
          <p:cNvPr id="13" name="Text 11"/>
          <p:cNvSpPr/>
          <p:nvPr/>
        </p:nvSpPr>
        <p:spPr>
          <a:xfrm>
            <a:off x="812800" y="6238280"/>
            <a:ext cx="24710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KCC Code Club · Volunteer Briefing</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IF WE HAVE MORE VOLUNTEERS THAN THE MINIMUM</a:t>
            </a:r>
            <a:endParaRPr lang="en-US" sz="1300" dirty="0"/>
          </a:p>
        </p:txBody>
      </p:sp>
      <p:sp>
        <p:nvSpPr>
          <p:cNvPr id="3" name="Text 1"/>
          <p:cNvSpPr/>
          <p:nvPr/>
        </p:nvSpPr>
        <p:spPr>
          <a:xfrm>
            <a:off x="812800" y="2030809"/>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What to do with them, in order of value</a:t>
            </a:r>
            <a:endParaRPr lang="en-US" sz="4000" dirty="0"/>
          </a:p>
        </p:txBody>
      </p:sp>
      <p:sp>
        <p:nvSpPr>
          <p:cNvPr id="4" name="Text 2"/>
          <p:cNvSpPr/>
          <p:nvPr/>
        </p:nvSpPr>
        <p:spPr>
          <a:xfrm>
            <a:off x="1117600" y="3566319"/>
            <a:ext cx="10569448" cy="2301081"/>
          </a:xfrm>
          <a:prstGeom prst="rect">
            <a:avLst/>
          </a:prstGeom>
          <a:noFill/>
          <a:ln/>
        </p:spPr>
        <p:txBody>
          <a:bodyPr wrap="square" lIns="0" tIns="0" rIns="0" bIns="0" rtlCol="0" anchor="t">
            <a:normAutofit/>
          </a:bodyPr>
          <a:lstStyle/>
          <a:p>
            <a:pPr algn="l" marL="342900" indent="-342900">
              <a:lnSpc>
                <a:spcPts val="2240"/>
              </a:lnSpc>
              <a:buSzPct val="100000"/>
              <a:buFont typeface="+mj-lt"/>
              <a:buAutoNum type="arabicPeriod" startAt="1"/>
            </a:pPr>
            <a:r>
              <a:rPr lang="en-US" sz="1600" b="1" dirty="0">
                <a:solidFill>
                  <a:srgbClr val="2E1015"/>
                </a:solidFill>
                <a:latin typeface="Nunito Sans" pitchFamily="34" charset="0"/>
                <a:ea typeface="Nunito Sans" pitchFamily="34" charset="-122"/>
                <a:cs typeface="Nunito Sans" pitchFamily="34" charset="-120"/>
              </a:rPr>
              <a:t>Roster spares rather than cramming everyone in.</a:t>
            </a:r>
            <a:r>
              <a:rPr lang="en-US" sz="1600" dirty="0">
                <a:solidFill>
                  <a:srgbClr val="2E1015"/>
                </a:solidFill>
                <a:latin typeface="Nunito Sans" pitchFamily="34" charset="0"/>
                <a:ea typeface="Nunito Sans" pitchFamily="34" charset="-122"/>
                <a:cs typeface="Nunito Sans" pitchFamily="34" charset="-120"/>
              </a:rPr>
              <a:t> A briefed substitute who has read the plans beats an extra pair of hands in week one. Keep two in reserve if you can.</a:t>
            </a:r>
            <a:endParaRPr lang="en-US" sz="1600" dirty="0"/>
          </a:p>
          <a:p>
            <a:pPr algn="l" marL="342900" indent="-342900">
              <a:lnSpc>
                <a:spcPts val="2240"/>
              </a:lnSpc>
              <a:buSzPct val="100000"/>
              <a:buFont typeface="+mj-lt"/>
              <a:buAutoNum type="arabicPeriod" startAt="1"/>
            </a:pPr>
            <a:r>
              <a:rPr lang="en-US" sz="1600" b="1" dirty="0">
                <a:solidFill>
                  <a:srgbClr val="2E1015"/>
                </a:solidFill>
                <a:latin typeface="Nunito Sans" pitchFamily="34" charset="0"/>
                <a:ea typeface="Nunito Sans" pitchFamily="34" charset="-122"/>
                <a:cs typeface="Nunito Sans" pitchFamily="34" charset="-120"/>
              </a:rPr>
              <a:t>Zone the floaters.</a:t>
            </a:r>
            <a:r>
              <a:rPr lang="en-US" sz="1600" dirty="0">
                <a:solidFill>
                  <a:srgbClr val="2E1015"/>
                </a:solidFill>
                <a:latin typeface="Nunito Sans" pitchFamily="34" charset="0"/>
                <a:ea typeface="Nunito Sans" pitchFamily="34" charset="-122"/>
                <a:cs typeface="Nunito Sans" pitchFamily="34" charset="-120"/>
              </a:rPr>
              <a:t> Give each floating volunteer a couple of tables, not the whole room. Unzoned floaters gravitate to whoever is loudest, and the quiet stuck child still gets missed.</a:t>
            </a:r>
            <a:endParaRPr lang="en-US" sz="1600" dirty="0"/>
          </a:p>
          <a:p>
            <a:pPr algn="l" marL="342900" indent="-342900">
              <a:lnSpc>
                <a:spcPts val="2240"/>
              </a:lnSpc>
              <a:buSzPct val="100000"/>
              <a:buFont typeface="+mj-lt"/>
              <a:buAutoNum type="arabicPeriod" startAt="1"/>
            </a:pPr>
            <a:r>
              <a:rPr lang="en-US" sz="1600" b="1" dirty="0">
                <a:solidFill>
                  <a:srgbClr val="2E1015"/>
                </a:solidFill>
                <a:latin typeface="Nunito Sans" pitchFamily="34" charset="0"/>
                <a:ea typeface="Nunito Sans" pitchFamily="34" charset="-122"/>
                <a:cs typeface="Nunito Sans" pitchFamily="34" charset="-120"/>
              </a:rPr>
              <a:t>Split the class by age.</a:t>
            </a:r>
            <a:r>
              <a:rPr lang="en-US" sz="1600" dirty="0">
                <a:solidFill>
                  <a:srgbClr val="2E1015"/>
                </a:solidFill>
                <a:latin typeface="Nunito Sans" pitchFamily="34" charset="0"/>
                <a:ea typeface="Nunito Sans" pitchFamily="34" charset="-122"/>
                <a:cs typeface="Nunito Sans" pitchFamily="34" charset="-120"/>
              </a:rPr>
              <a:t> Running 7–9 and 10–12 separately is the single biggest quality improvement available to us. Costs a second space and double the prep — a term-two move.</a:t>
            </a:r>
            <a:endParaRPr lang="en-US" sz="1600" dirty="0"/>
          </a:p>
          <a:p>
            <a:pPr algn="l" marL="342900" indent="-342900">
              <a:lnSpc>
                <a:spcPts val="2240"/>
              </a:lnSpc>
              <a:buSzPct val="100000"/>
              <a:buFont typeface="+mj-lt"/>
              <a:buAutoNum type="arabicPeriod" startAt="1"/>
            </a:pPr>
            <a:r>
              <a:rPr lang="en-US" sz="1600" b="1" dirty="0">
                <a:solidFill>
                  <a:srgbClr val="2E1015"/>
                </a:solidFill>
                <a:latin typeface="Nunito Sans" pitchFamily="34" charset="0"/>
                <a:ea typeface="Nunito Sans" pitchFamily="34" charset="-122"/>
                <a:cs typeface="Nunito Sans" pitchFamily="34" charset="-120"/>
              </a:rPr>
              <a:t>Rotate the lead.</a:t>
            </a:r>
            <a:r>
              <a:rPr lang="en-US" sz="1600" dirty="0">
                <a:solidFill>
                  <a:srgbClr val="2E1015"/>
                </a:solidFill>
                <a:latin typeface="Nunito Sans" pitchFamily="34" charset="0"/>
                <a:ea typeface="Nunito Sans" pitchFamily="34" charset="-122"/>
                <a:cs typeface="Nunito Sans" pitchFamily="34" charset="-120"/>
              </a:rPr>
              <a:t> Two or three people who can run a session from the plan is what makes the club survive someone moving on.</a:t>
            </a:r>
            <a:endParaRPr lang="en-US" sz="1600" dirty="0"/>
          </a:p>
        </p:txBody>
      </p:sp>
      <p:sp>
        <p:nvSpPr>
          <p:cNvPr id="5" name="Text 3"/>
          <p:cNvSpPr/>
          <p:nvPr/>
        </p:nvSpPr>
        <p:spPr>
          <a:xfrm>
            <a:off x="812800" y="6238280"/>
            <a:ext cx="24710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KCC Code Club · Volunteer Briefing</a:t>
            </a:r>
            <a:endParaRPr lang="en-US" sz="1200" dirty="0"/>
          </a:p>
        </p:txBody>
      </p:sp>
      <p:pic>
        <p:nvPicPr>
          <p:cNvPr id="6"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THE LONG PROJECT</a:t>
            </a:r>
            <a:endParaRPr lang="en-US" sz="1300" dirty="0"/>
          </a:p>
        </p:txBody>
      </p:sp>
      <p:sp>
        <p:nvSpPr>
          <p:cNvPr id="3" name="Text 1"/>
          <p:cNvSpPr/>
          <p:nvPr/>
        </p:nvSpPr>
        <p:spPr>
          <a:xfrm>
            <a:off x="812800" y="1840508"/>
            <a:ext cx="10883392" cy="1122561"/>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Sky Catcher, and the three rules that make it work</a:t>
            </a:r>
            <a:endParaRPr lang="en-US" sz="4000" dirty="0"/>
          </a:p>
        </p:txBody>
      </p:sp>
      <p:sp>
        <p:nvSpPr>
          <p:cNvPr id="4" name="Shape 2"/>
          <p:cNvSpPr/>
          <p:nvPr/>
        </p:nvSpPr>
        <p:spPr>
          <a:xfrm>
            <a:off x="819150" y="3740547"/>
            <a:ext cx="3373934" cy="2095103"/>
          </a:xfrm>
          <a:prstGeom prst="roundRect">
            <a:avLst>
              <a:gd name="adj" fmla="val 6365"/>
            </a:avLst>
          </a:prstGeom>
          <a:solidFill>
            <a:srgbClr val="FFFCF4"/>
          </a:solidFill>
          <a:ln w="12700">
            <a:solidFill>
              <a:srgbClr val="E4D7BE"/>
            </a:solidFill>
            <a:prstDash val="solid"/>
          </a:ln>
        </p:spPr>
      </p:sp>
      <p:sp>
        <p:nvSpPr>
          <p:cNvPr id="5" name="Text 3"/>
          <p:cNvSpPr/>
          <p:nvPr/>
        </p:nvSpPr>
        <p:spPr>
          <a:xfrm>
            <a:off x="1054100" y="3975497"/>
            <a:ext cx="2991155"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It works at every checkpoint</a:t>
            </a:r>
            <a:endParaRPr lang="en-US" sz="1900" dirty="0"/>
          </a:p>
        </p:txBody>
      </p:sp>
      <p:sp>
        <p:nvSpPr>
          <p:cNvPr id="6" name="Text 4"/>
          <p:cNvSpPr/>
          <p:nvPr/>
        </p:nvSpPr>
        <p:spPr>
          <a:xfrm>
            <a:off x="1054100" y="4606528"/>
            <a:ext cx="2991155" cy="1019572"/>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After every single class it is a playable, demo-able thing. There is never a week of building invisible infrastructure.</a:t>
            </a:r>
            <a:endParaRPr lang="en-US" sz="1450" dirty="0"/>
          </a:p>
        </p:txBody>
      </p:sp>
      <p:sp>
        <p:nvSpPr>
          <p:cNvPr id="7" name="Shape 5"/>
          <p:cNvSpPr/>
          <p:nvPr/>
        </p:nvSpPr>
        <p:spPr>
          <a:xfrm>
            <a:off x="4408984" y="3740547"/>
            <a:ext cx="3374033" cy="2095103"/>
          </a:xfrm>
          <a:prstGeom prst="roundRect">
            <a:avLst>
              <a:gd name="adj" fmla="val 6365"/>
            </a:avLst>
          </a:prstGeom>
          <a:solidFill>
            <a:srgbClr val="FFFCF4"/>
          </a:solidFill>
          <a:ln w="12700">
            <a:solidFill>
              <a:srgbClr val="E4D7BE"/>
            </a:solidFill>
            <a:prstDash val="solid"/>
          </a:ln>
        </p:spPr>
      </p:sp>
      <p:sp>
        <p:nvSpPr>
          <p:cNvPr id="8" name="Text 6"/>
          <p:cNvSpPr/>
          <p:nvPr/>
        </p:nvSpPr>
        <p:spPr>
          <a:xfrm>
            <a:off x="4643934" y="3975497"/>
            <a:ext cx="2991257"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Each week is one independent layer</a:t>
            </a:r>
            <a:endParaRPr lang="en-US" sz="1900" dirty="0"/>
          </a:p>
        </p:txBody>
      </p:sp>
      <p:sp>
        <p:nvSpPr>
          <p:cNvPr id="9" name="Text 7"/>
          <p:cNvSpPr/>
          <p:nvPr/>
        </p:nvSpPr>
        <p:spPr>
          <a:xfrm>
            <a:off x="4643934" y="4606528"/>
            <a:ext cx="2991257"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Miss week five and you can still do week six.</a:t>
            </a:r>
            <a:endParaRPr lang="en-US" sz="1450" dirty="0"/>
          </a:p>
        </p:txBody>
      </p:sp>
      <p:sp>
        <p:nvSpPr>
          <p:cNvPr id="10" name="Shape 8"/>
          <p:cNvSpPr/>
          <p:nvPr/>
        </p:nvSpPr>
        <p:spPr>
          <a:xfrm>
            <a:off x="7998916" y="3740547"/>
            <a:ext cx="3373934" cy="2095103"/>
          </a:xfrm>
          <a:prstGeom prst="roundRect">
            <a:avLst>
              <a:gd name="adj" fmla="val 6365"/>
            </a:avLst>
          </a:prstGeom>
          <a:solidFill>
            <a:srgbClr val="FFFCF4"/>
          </a:solidFill>
          <a:ln w="12700">
            <a:solidFill>
              <a:srgbClr val="E4D7BE"/>
            </a:solidFill>
            <a:prstDash val="solid"/>
          </a:ln>
        </p:spPr>
      </p:sp>
      <p:sp>
        <p:nvSpPr>
          <p:cNvPr id="11" name="Text 9"/>
          <p:cNvSpPr/>
          <p:nvPr/>
        </p:nvSpPr>
        <p:spPr>
          <a:xfrm>
            <a:off x="8233866" y="3975497"/>
            <a:ext cx="2991155"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A skeleton file exists at every stage</a:t>
            </a:r>
            <a:endParaRPr lang="en-US" sz="1900" dirty="0"/>
          </a:p>
        </p:txBody>
      </p:sp>
      <p:sp>
        <p:nvSpPr>
          <p:cNvPr id="12" name="Text 10"/>
          <p:cNvSpPr/>
          <p:nvPr/>
        </p:nvSpPr>
        <p:spPr>
          <a:xfrm>
            <a:off x="8233866" y="4606528"/>
            <a:ext cx="2991155"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A student who missed two weeks downloads the week-five skeleton and walks back in on level ground.</a:t>
            </a:r>
            <a:endParaRPr lang="en-US" sz="1450" dirty="0"/>
          </a:p>
        </p:txBody>
      </p:sp>
      <p:sp>
        <p:nvSpPr>
          <p:cNvPr id="13" name="Text 11"/>
          <p:cNvSpPr/>
          <p:nvPr/>
        </p:nvSpPr>
        <p:spPr>
          <a:xfrm>
            <a:off x="812800" y="6238280"/>
            <a:ext cx="24710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KCC Code Club · Volunteer Briefing</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C9A227"/>
        </a:solidFill>
      </p:bgPr>
    </p:bg>
    <p:spTree>
      <p:nvGrpSpPr>
        <p:cNvPr id="1" name=""/>
        <p:cNvGrpSpPr/>
        <p:nvPr/>
      </p:nvGrpSpPr>
      <p:grpSpPr>
        <a:xfrm>
          <a:off x="0" y="0"/>
          <a:ext cx="0" cy="0"/>
          <a:chOff x="0" y="0"/>
          <a:chExt cx="0" cy="0"/>
        </a:xfrm>
      </p:grpSpPr>
      <p:sp>
        <p:nvSpPr>
          <p:cNvPr id="2" name="Text 0"/>
          <p:cNvSpPr/>
          <p:nvPr/>
        </p:nvSpPr>
        <p:spPr>
          <a:xfrm>
            <a:off x="812800" y="182622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5A4A08"/>
                </a:solidFill>
                <a:latin typeface="Nunito Sans" pitchFamily="34" charset="0"/>
                <a:ea typeface="Nunito Sans" pitchFamily="34" charset="-122"/>
                <a:cs typeface="Nunito Sans" pitchFamily="34" charset="-120"/>
              </a:rPr>
              <a:t>THE BIG IDEA</a:t>
            </a:r>
            <a:endParaRPr lang="en-US" sz="1300" dirty="0"/>
          </a:p>
        </p:txBody>
      </p:sp>
      <p:sp>
        <p:nvSpPr>
          <p:cNvPr id="3" name="Text 1"/>
          <p:cNvSpPr/>
          <p:nvPr/>
        </p:nvSpPr>
        <p:spPr>
          <a:xfrm>
            <a:off x="812800" y="2285901"/>
            <a:ext cx="9810750" cy="1902718"/>
          </a:xfrm>
          <a:prstGeom prst="rect">
            <a:avLst/>
          </a:prstGeom>
          <a:noFill/>
          <a:ln/>
        </p:spPr>
        <p:txBody>
          <a:bodyPr wrap="square" lIns="0" tIns="0" rIns="0" bIns="0" rtlCol="0" anchor="t">
            <a:normAutofit/>
          </a:bodyPr>
          <a:lstStyle/>
          <a:p>
            <a:pPr algn="l" indent="0" marL="0">
              <a:lnSpc>
                <a:spcPts val="4928"/>
              </a:lnSpc>
              <a:buNone/>
            </a:pPr>
            <a:r>
              <a:rPr lang="en-US" sz="4400" b="1" dirty="0">
                <a:solidFill>
                  <a:srgbClr val="2E1015"/>
                </a:solidFill>
                <a:latin typeface="Fredoka" pitchFamily="34" charset="0"/>
                <a:ea typeface="Fredoka" pitchFamily="34" charset="-122"/>
                <a:cs typeface="Fredoka" pitchFamily="34" charset="-120"/>
              </a:rPr>
              <a:t>The skeleton files are the most important two hours of prep in the whole programme.</a:t>
            </a:r>
            <a:endParaRPr lang="en-US" sz="4400" dirty="0"/>
          </a:p>
        </p:txBody>
      </p:sp>
      <p:sp>
        <p:nvSpPr>
          <p:cNvPr id="4" name="Text 2"/>
          <p:cNvSpPr/>
          <p:nvPr/>
        </p:nvSpPr>
        <p:spPr>
          <a:xfrm>
            <a:off x="812800" y="4391819"/>
            <a:ext cx="8502650" cy="665361"/>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5A4A08"/>
                </a:solidFill>
                <a:latin typeface="Nunito Sans" pitchFamily="34" charset="0"/>
                <a:ea typeface="Nunito Sans" pitchFamily="34" charset="-122"/>
                <a:cs typeface="Nunito Sans" pitchFamily="34" charset="-120"/>
              </a:rPr>
              <a:t>Build Sky Catcher yourself, save a copy at each week's checkpoint, publish all eight to a studio. Do it once, before week one.</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THE HARDEST THING IN THE ROOM</a:t>
            </a:r>
            <a:endParaRPr lang="en-US" sz="1300" dirty="0"/>
          </a:p>
        </p:txBody>
      </p:sp>
      <p:sp>
        <p:nvSpPr>
          <p:cNvPr id="3" name="Text 1"/>
          <p:cNvSpPr/>
          <p:nvPr/>
        </p:nvSpPr>
        <p:spPr>
          <a:xfrm>
            <a:off x="812800" y="2114748"/>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A five-year age spread</a:t>
            </a:r>
            <a:endParaRPr lang="en-US" sz="4000" dirty="0"/>
          </a:p>
        </p:txBody>
      </p:sp>
      <p:sp>
        <p:nvSpPr>
          <p:cNvPr id="4" name="Shape 2"/>
          <p:cNvSpPr/>
          <p:nvPr/>
        </p:nvSpPr>
        <p:spPr>
          <a:xfrm>
            <a:off x="819150" y="3740547"/>
            <a:ext cx="3373934" cy="2095103"/>
          </a:xfrm>
          <a:prstGeom prst="roundRect">
            <a:avLst>
              <a:gd name="adj" fmla="val 6365"/>
            </a:avLst>
          </a:prstGeom>
          <a:solidFill>
            <a:srgbClr val="FFFCF4"/>
          </a:solidFill>
          <a:ln w="12700">
            <a:solidFill>
              <a:srgbClr val="E4D7BE"/>
            </a:solidFill>
            <a:prstDash val="solid"/>
          </a:ln>
        </p:spPr>
      </p:sp>
      <p:sp>
        <p:nvSpPr>
          <p:cNvPr id="5" name="Text 3"/>
          <p:cNvSpPr/>
          <p:nvPr/>
        </p:nvSpPr>
        <p:spPr>
          <a:xfrm>
            <a:off x="1054100" y="3975497"/>
            <a:ext cx="2991155"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The class activity is the floor</a:t>
            </a:r>
            <a:endParaRPr lang="en-US" sz="1900" dirty="0"/>
          </a:p>
        </p:txBody>
      </p:sp>
      <p:sp>
        <p:nvSpPr>
          <p:cNvPr id="6" name="Text 4"/>
          <p:cNvSpPr/>
          <p:nvPr/>
        </p:nvSpPr>
        <p:spPr>
          <a:xfrm>
            <a:off x="1054100" y="4606528"/>
            <a:ext cx="2991155"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Everyone does it. Nobody is left out.</a:t>
            </a:r>
            <a:endParaRPr lang="en-US" sz="1450" dirty="0"/>
          </a:p>
        </p:txBody>
      </p:sp>
      <p:sp>
        <p:nvSpPr>
          <p:cNvPr id="7" name="Shape 5"/>
          <p:cNvSpPr/>
          <p:nvPr/>
        </p:nvSpPr>
        <p:spPr>
          <a:xfrm>
            <a:off x="4408984" y="3740547"/>
            <a:ext cx="3374033" cy="2095103"/>
          </a:xfrm>
          <a:prstGeom prst="roundRect">
            <a:avLst>
              <a:gd name="adj" fmla="val 6365"/>
            </a:avLst>
          </a:prstGeom>
          <a:solidFill>
            <a:srgbClr val="FFFCF4"/>
          </a:solidFill>
          <a:ln w="12700">
            <a:solidFill>
              <a:srgbClr val="E4D7BE"/>
            </a:solidFill>
            <a:prstDash val="solid"/>
          </a:ln>
        </p:spPr>
      </p:sp>
      <p:sp>
        <p:nvSpPr>
          <p:cNvPr id="8" name="Text 6"/>
          <p:cNvSpPr/>
          <p:nvPr/>
        </p:nvSpPr>
        <p:spPr>
          <a:xfrm>
            <a:off x="4643934" y="3975497"/>
            <a:ext cx="2991257"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Bonus challenges are the ceiling</a:t>
            </a:r>
            <a:endParaRPr lang="en-US" sz="1900" dirty="0"/>
          </a:p>
        </p:txBody>
      </p:sp>
      <p:sp>
        <p:nvSpPr>
          <p:cNvPr id="9" name="Text 7"/>
          <p:cNvSpPr/>
          <p:nvPr/>
        </p:nvSpPr>
        <p:spPr>
          <a:xfrm>
            <a:off x="4643934" y="4606528"/>
            <a:ext cx="2991257"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Open-ended, deliberately harder. Nobody is expected to finish them.</a:t>
            </a:r>
            <a:endParaRPr lang="en-US" sz="1450" dirty="0"/>
          </a:p>
        </p:txBody>
      </p:sp>
      <p:sp>
        <p:nvSpPr>
          <p:cNvPr id="10" name="Shape 8"/>
          <p:cNvSpPr/>
          <p:nvPr/>
        </p:nvSpPr>
        <p:spPr>
          <a:xfrm>
            <a:off x="7998916" y="3740547"/>
            <a:ext cx="3373934" cy="2095103"/>
          </a:xfrm>
          <a:prstGeom prst="roundRect">
            <a:avLst>
              <a:gd name="adj" fmla="val 6365"/>
            </a:avLst>
          </a:prstGeom>
          <a:solidFill>
            <a:srgbClr val="FFFCF4"/>
          </a:solidFill>
          <a:ln w="12700">
            <a:solidFill>
              <a:srgbClr val="E4D7BE"/>
            </a:solidFill>
            <a:prstDash val="solid"/>
          </a:ln>
        </p:spPr>
      </p:sp>
      <p:sp>
        <p:nvSpPr>
          <p:cNvPr id="11" name="Text 9"/>
          <p:cNvSpPr/>
          <p:nvPr/>
        </p:nvSpPr>
        <p:spPr>
          <a:xfrm>
            <a:off x="8233866" y="3975497"/>
            <a:ext cx="2991155"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Pair the experienced kid as a helper</a:t>
            </a:r>
            <a:endParaRPr lang="en-US" sz="1900" dirty="0"/>
          </a:p>
        </p:txBody>
      </p:sp>
      <p:sp>
        <p:nvSpPr>
          <p:cNvPr id="12" name="Text 10"/>
          <p:cNvSpPr/>
          <p:nvPr/>
        </p:nvSpPr>
        <p:spPr>
          <a:xfrm>
            <a:off x="8233866" y="4606528"/>
            <a:ext cx="2991155" cy="1019572"/>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From week two. Being asked to explain is the fastest way to learn, and it converts a potential disruption into a second floater.</a:t>
            </a:r>
            <a:endParaRPr lang="en-US" sz="1450" dirty="0"/>
          </a:p>
        </p:txBody>
      </p:sp>
      <p:sp>
        <p:nvSpPr>
          <p:cNvPr id="13" name="Text 11"/>
          <p:cNvSpPr/>
          <p:nvPr/>
        </p:nvSpPr>
        <p:spPr>
          <a:xfrm>
            <a:off x="812800" y="6238280"/>
            <a:ext cx="24710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KCC Code Club · Volunteer Briefing</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THE SEVEN-YEAR-OLDS SPECIFICALLY</a:t>
            </a:r>
            <a:endParaRPr lang="en-US" sz="1300" dirty="0"/>
          </a:p>
        </p:txBody>
      </p:sp>
      <p:sp>
        <p:nvSpPr>
          <p:cNvPr id="3" name="Text 1"/>
          <p:cNvSpPr/>
          <p:nvPr/>
        </p:nvSpPr>
        <p:spPr>
          <a:xfrm>
            <a:off x="812800" y="1979216"/>
            <a:ext cx="10883392" cy="1122561"/>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Dropping the floor from 8 to 7 lands in two places</a:t>
            </a:r>
            <a:endParaRPr lang="en-US" sz="4000" dirty="0"/>
          </a:p>
        </p:txBody>
      </p:sp>
      <p:sp>
        <p:nvSpPr>
          <p:cNvPr id="4" name="Shape 2"/>
          <p:cNvSpPr/>
          <p:nvPr/>
        </p:nvSpPr>
        <p:spPr>
          <a:xfrm>
            <a:off x="819150" y="4017963"/>
            <a:ext cx="5168900" cy="1817688"/>
          </a:xfrm>
          <a:prstGeom prst="roundRect">
            <a:avLst>
              <a:gd name="adj" fmla="val 7336"/>
            </a:avLst>
          </a:prstGeom>
          <a:solidFill>
            <a:srgbClr val="FFFCF4"/>
          </a:solidFill>
          <a:ln w="12700">
            <a:solidFill>
              <a:srgbClr val="E4D7BE"/>
            </a:solidFill>
            <a:prstDash val="solid"/>
          </a:ln>
        </p:spPr>
      </p:sp>
      <p:sp>
        <p:nvSpPr>
          <p:cNvPr id="5" name="Text 3"/>
          <p:cNvSpPr/>
          <p:nvPr/>
        </p:nvSpPr>
        <p:spPr>
          <a:xfrm>
            <a:off x="1054100" y="4252913"/>
            <a:ext cx="4839970"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Reading</a:t>
            </a:r>
            <a:endParaRPr lang="en-US" sz="1900" dirty="0"/>
          </a:p>
        </p:txBody>
      </p:sp>
      <p:sp>
        <p:nvSpPr>
          <p:cNvPr id="6" name="Text 4"/>
          <p:cNvSpPr/>
          <p:nvPr/>
        </p:nvSpPr>
        <p:spPr>
          <a:xfrm>
            <a:off x="1054100" y="4606528"/>
            <a:ext cx="4839970" cy="1019572"/>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The handouts assume a competent reader. A seven-year-old often isn't one yet, and a child who can't read the sheet will sit quietly doing nothing rather than admit it.</a:t>
            </a:r>
            <a:endParaRPr lang="en-US" sz="1450" dirty="0"/>
          </a:p>
        </p:txBody>
      </p:sp>
      <p:sp>
        <p:nvSpPr>
          <p:cNvPr id="7" name="Shape 5"/>
          <p:cNvSpPr/>
          <p:nvPr/>
        </p:nvSpPr>
        <p:spPr>
          <a:xfrm>
            <a:off x="6203950" y="4017963"/>
            <a:ext cx="5168900" cy="1817688"/>
          </a:xfrm>
          <a:prstGeom prst="roundRect">
            <a:avLst>
              <a:gd name="adj" fmla="val 7336"/>
            </a:avLst>
          </a:prstGeom>
          <a:solidFill>
            <a:srgbClr val="FFFCF4"/>
          </a:solidFill>
          <a:ln w="12700">
            <a:solidFill>
              <a:srgbClr val="E4D7BE"/>
            </a:solidFill>
            <a:prstDash val="solid"/>
          </a:ln>
        </p:spPr>
      </p:sp>
      <p:sp>
        <p:nvSpPr>
          <p:cNvPr id="8" name="Text 6"/>
          <p:cNvSpPr/>
          <p:nvPr/>
        </p:nvSpPr>
        <p:spPr>
          <a:xfrm>
            <a:off x="6438900" y="4252913"/>
            <a:ext cx="4839970"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Typing and mouse control</a:t>
            </a:r>
            <a:endParaRPr lang="en-US" sz="1900" dirty="0"/>
          </a:p>
        </p:txBody>
      </p:sp>
      <p:sp>
        <p:nvSpPr>
          <p:cNvPr id="9" name="Text 7"/>
          <p:cNvSpPr/>
          <p:nvPr/>
        </p:nvSpPr>
        <p:spPr>
          <a:xfrm>
            <a:off x="6438900" y="4606528"/>
            <a:ext cx="4839970"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Dragging a block into a small slot is fine motor work, and it is genuinely harder at 7 than at 10. Spare USB mice stop being a nice-to-have.</a:t>
            </a:r>
            <a:endParaRPr lang="en-US" sz="1450" dirty="0"/>
          </a:p>
        </p:txBody>
      </p:sp>
      <p:sp>
        <p:nvSpPr>
          <p:cNvPr id="10" name="Text 8"/>
          <p:cNvSpPr/>
          <p:nvPr/>
        </p:nvSpPr>
        <p:spPr>
          <a:xfrm>
            <a:off x="812800" y="6238280"/>
            <a:ext cx="24710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KCC Code Club · Volunteer Briefing</a:t>
            </a:r>
            <a:endParaRPr lang="en-US" sz="1200" dirty="0"/>
          </a:p>
        </p:txBody>
      </p:sp>
      <p:pic>
        <p:nvPicPr>
          <p:cNvPr id="11"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HOW TO HELP</a:t>
            </a:r>
            <a:endParaRPr lang="en-US" sz="1300" dirty="0"/>
          </a:p>
        </p:txBody>
      </p:sp>
      <p:sp>
        <p:nvSpPr>
          <p:cNvPr id="3" name="Text 1"/>
          <p:cNvSpPr/>
          <p:nvPr/>
        </p:nvSpPr>
        <p:spPr>
          <a:xfrm>
            <a:off x="812800" y="223907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Hands behind your back</a:t>
            </a:r>
            <a:endParaRPr lang="en-US" sz="4000" dirty="0"/>
          </a:p>
        </p:txBody>
      </p:sp>
      <p:sp>
        <p:nvSpPr>
          <p:cNvPr id="4" name="Shape 2"/>
          <p:cNvSpPr/>
          <p:nvPr/>
        </p:nvSpPr>
        <p:spPr>
          <a:xfrm>
            <a:off x="819150" y="3989090"/>
            <a:ext cx="3373934" cy="1846560"/>
          </a:xfrm>
          <a:prstGeom prst="roundRect">
            <a:avLst>
              <a:gd name="adj" fmla="val 7222"/>
            </a:avLst>
          </a:prstGeom>
          <a:solidFill>
            <a:srgbClr val="FFFCF4"/>
          </a:solidFill>
          <a:ln w="12700">
            <a:solidFill>
              <a:srgbClr val="E4D7BE"/>
            </a:solidFill>
            <a:prstDash val="solid"/>
          </a:ln>
        </p:spPr>
      </p:sp>
      <p:sp>
        <p:nvSpPr>
          <p:cNvPr id="5" name="Text 3"/>
          <p:cNvSpPr/>
          <p:nvPr/>
        </p:nvSpPr>
        <p:spPr>
          <a:xfrm>
            <a:off x="1054100" y="4224040"/>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Ask what they expected</a:t>
            </a:r>
            <a:endParaRPr lang="en-US" sz="1900" dirty="0"/>
          </a:p>
        </p:txBody>
      </p:sp>
      <p:sp>
        <p:nvSpPr>
          <p:cNvPr id="6" name="Text 4"/>
          <p:cNvSpPr/>
          <p:nvPr/>
        </p:nvSpPr>
        <p:spPr>
          <a:xfrm>
            <a:off x="1054100" y="4577655"/>
            <a:ext cx="2991155"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"What did you expect it to do, and what did it do?" Half of all bugs are found inside that sentence.</a:t>
            </a:r>
            <a:endParaRPr lang="en-US" sz="1450" dirty="0"/>
          </a:p>
        </p:txBody>
      </p:sp>
      <p:sp>
        <p:nvSpPr>
          <p:cNvPr id="7" name="Shape 5"/>
          <p:cNvSpPr/>
          <p:nvPr/>
        </p:nvSpPr>
        <p:spPr>
          <a:xfrm>
            <a:off x="4408984" y="3989090"/>
            <a:ext cx="3374033" cy="1846560"/>
          </a:xfrm>
          <a:prstGeom prst="roundRect">
            <a:avLst>
              <a:gd name="adj" fmla="val 7222"/>
            </a:avLst>
          </a:prstGeom>
          <a:solidFill>
            <a:srgbClr val="FFFCF4"/>
          </a:solidFill>
          <a:ln w="12700">
            <a:solidFill>
              <a:srgbClr val="E4D7BE"/>
            </a:solidFill>
            <a:prstDash val="solid"/>
          </a:ln>
        </p:spPr>
      </p:sp>
      <p:sp>
        <p:nvSpPr>
          <p:cNvPr id="8" name="Text 6"/>
          <p:cNvSpPr/>
          <p:nvPr/>
        </p:nvSpPr>
        <p:spPr>
          <a:xfrm>
            <a:off x="4643934" y="4224040"/>
            <a:ext cx="2991257"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Point at the screen, don't touch the mouse</a:t>
            </a:r>
            <a:endParaRPr lang="en-US" sz="1900" dirty="0"/>
          </a:p>
        </p:txBody>
      </p:sp>
      <p:sp>
        <p:nvSpPr>
          <p:cNvPr id="9" name="Text 7"/>
          <p:cNvSpPr/>
          <p:nvPr/>
        </p:nvSpPr>
        <p:spPr>
          <a:xfrm>
            <a:off x="4643934" y="4855071"/>
            <a:ext cx="2991257"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The temptation to grab it and fix the thing yourself is enormous. Don't.</a:t>
            </a:r>
            <a:endParaRPr lang="en-US" sz="1450" dirty="0"/>
          </a:p>
        </p:txBody>
      </p:sp>
      <p:sp>
        <p:nvSpPr>
          <p:cNvPr id="10" name="Shape 8"/>
          <p:cNvSpPr/>
          <p:nvPr/>
        </p:nvSpPr>
        <p:spPr>
          <a:xfrm>
            <a:off x="7998916" y="3989090"/>
            <a:ext cx="3373934" cy="1846560"/>
          </a:xfrm>
          <a:prstGeom prst="roundRect">
            <a:avLst>
              <a:gd name="adj" fmla="val 7222"/>
            </a:avLst>
          </a:prstGeom>
          <a:solidFill>
            <a:srgbClr val="FFFCF4"/>
          </a:solidFill>
          <a:ln w="12700">
            <a:solidFill>
              <a:srgbClr val="E4D7BE"/>
            </a:solidFill>
            <a:prstDash val="solid"/>
          </a:ln>
        </p:spPr>
      </p:sp>
      <p:sp>
        <p:nvSpPr>
          <p:cNvPr id="11" name="Text 9"/>
          <p:cNvSpPr/>
          <p:nvPr/>
        </p:nvSpPr>
        <p:spPr>
          <a:xfrm>
            <a:off x="8233866" y="4224040"/>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Let them struggle first</a:t>
            </a:r>
            <a:endParaRPr lang="en-US" sz="1900" dirty="0"/>
          </a:p>
        </p:txBody>
      </p:sp>
      <p:sp>
        <p:nvSpPr>
          <p:cNvPr id="12" name="Text 10"/>
          <p:cNvSpPr/>
          <p:nvPr/>
        </p:nvSpPr>
        <p:spPr>
          <a:xfrm>
            <a:off x="8233866" y="4577655"/>
            <a:ext cx="2991155" cy="1019572"/>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A few minutes of productive struggle is the lesson. Rescuing too early teaches them that stuck means wait for an adult.</a:t>
            </a:r>
            <a:endParaRPr lang="en-US" sz="1450" dirty="0"/>
          </a:p>
        </p:txBody>
      </p:sp>
      <p:sp>
        <p:nvSpPr>
          <p:cNvPr id="13" name="Text 11"/>
          <p:cNvSpPr/>
          <p:nvPr/>
        </p:nvSpPr>
        <p:spPr>
          <a:xfrm>
            <a:off x="812800" y="6238280"/>
            <a:ext cx="24710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KCC Code Club · Volunteer Briefing</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HOMEWORK, AND THE RULE AROUND IT</a:t>
            </a:r>
            <a:endParaRPr lang="en-US" sz="1300" dirty="0"/>
          </a:p>
        </p:txBody>
      </p:sp>
      <p:sp>
        <p:nvSpPr>
          <p:cNvPr id="3" name="Text 1"/>
          <p:cNvSpPr/>
          <p:nvPr/>
        </p:nvSpPr>
        <p:spPr>
          <a:xfrm>
            <a:off x="812800" y="1979216"/>
            <a:ext cx="10883392" cy="1122561"/>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Two tasks a week. Never collected, never marked, never chased.</a:t>
            </a:r>
            <a:endParaRPr lang="en-US" sz="4000" dirty="0"/>
          </a:p>
        </p:txBody>
      </p:sp>
      <p:sp>
        <p:nvSpPr>
          <p:cNvPr id="4" name="Shape 2"/>
          <p:cNvSpPr/>
          <p:nvPr/>
        </p:nvSpPr>
        <p:spPr>
          <a:xfrm>
            <a:off x="819150" y="4017963"/>
            <a:ext cx="3373934" cy="1817688"/>
          </a:xfrm>
          <a:prstGeom prst="roundRect">
            <a:avLst>
              <a:gd name="adj" fmla="val 7336"/>
            </a:avLst>
          </a:prstGeom>
          <a:solidFill>
            <a:srgbClr val="FFFCF4"/>
          </a:solidFill>
          <a:ln w="12700">
            <a:solidFill>
              <a:srgbClr val="E4D7BE"/>
            </a:solidFill>
            <a:prstDash val="solid"/>
          </a:ln>
        </p:spPr>
      </p:sp>
      <p:sp>
        <p:nvSpPr>
          <p:cNvPr id="5" name="Text 3"/>
          <p:cNvSpPr/>
          <p:nvPr/>
        </p:nvSpPr>
        <p:spPr>
          <a:xfrm>
            <a:off x="1054100" y="4252913"/>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What homework is for</a:t>
            </a:r>
            <a:endParaRPr lang="en-US" sz="1900" dirty="0"/>
          </a:p>
        </p:txBody>
      </p:sp>
      <p:sp>
        <p:nvSpPr>
          <p:cNvPr id="6" name="Text 4"/>
          <p:cNvSpPr/>
          <p:nvPr/>
        </p:nvSpPr>
        <p:spPr>
          <a:xfrm>
            <a:off x="1054100" y="4606528"/>
            <a:ext cx="2991155" cy="1019572"/>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Fifteen to twenty minutes, applying today's idea to their own game. It gets shown off voluntarily at Show &amp; Tell, and that's all.</a:t>
            </a:r>
            <a:endParaRPr lang="en-US" sz="1450" dirty="0"/>
          </a:p>
        </p:txBody>
      </p:sp>
      <p:sp>
        <p:nvSpPr>
          <p:cNvPr id="7" name="Shape 5"/>
          <p:cNvSpPr/>
          <p:nvPr/>
        </p:nvSpPr>
        <p:spPr>
          <a:xfrm>
            <a:off x="4408984" y="4017963"/>
            <a:ext cx="3374033" cy="1817688"/>
          </a:xfrm>
          <a:prstGeom prst="roundRect">
            <a:avLst>
              <a:gd name="adj" fmla="val 7336"/>
            </a:avLst>
          </a:prstGeom>
          <a:solidFill>
            <a:srgbClr val="FFFCF4"/>
          </a:solidFill>
          <a:ln w="12700">
            <a:solidFill>
              <a:srgbClr val="E4D7BE"/>
            </a:solidFill>
            <a:prstDash val="solid"/>
          </a:ln>
        </p:spPr>
      </p:sp>
      <p:sp>
        <p:nvSpPr>
          <p:cNvPr id="8" name="Text 6"/>
          <p:cNvSpPr/>
          <p:nvPr/>
        </p:nvSpPr>
        <p:spPr>
          <a:xfrm>
            <a:off x="4643934" y="4252913"/>
            <a:ext cx="2991257"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The success case</a:t>
            </a:r>
            <a:endParaRPr lang="en-US" sz="1900" dirty="0"/>
          </a:p>
        </p:txBody>
      </p:sp>
      <p:sp>
        <p:nvSpPr>
          <p:cNvPr id="9" name="Text 7"/>
          <p:cNvSpPr/>
          <p:nvPr/>
        </p:nvSpPr>
        <p:spPr>
          <a:xfrm>
            <a:off x="4643934" y="4606528"/>
            <a:ext cx="2991257"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A child who does no homework all term and still turns up every week.</a:t>
            </a:r>
            <a:endParaRPr lang="en-US" sz="1450" dirty="0"/>
          </a:p>
        </p:txBody>
      </p:sp>
      <p:sp>
        <p:nvSpPr>
          <p:cNvPr id="10" name="Shape 8"/>
          <p:cNvSpPr/>
          <p:nvPr/>
        </p:nvSpPr>
        <p:spPr>
          <a:xfrm>
            <a:off x="7998916" y="4017963"/>
            <a:ext cx="3373934" cy="1817688"/>
          </a:xfrm>
          <a:prstGeom prst="roundRect">
            <a:avLst>
              <a:gd name="adj" fmla="val 7336"/>
            </a:avLst>
          </a:prstGeom>
          <a:solidFill>
            <a:srgbClr val="FFFCF4"/>
          </a:solidFill>
          <a:ln w="12700">
            <a:solidFill>
              <a:srgbClr val="E4D7BE"/>
            </a:solidFill>
            <a:prstDash val="solid"/>
          </a:ln>
        </p:spPr>
      </p:sp>
      <p:sp>
        <p:nvSpPr>
          <p:cNvPr id="11" name="Text 9"/>
          <p:cNvSpPr/>
          <p:nvPr/>
        </p:nvSpPr>
        <p:spPr>
          <a:xfrm>
            <a:off x="8233866" y="4252913"/>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2E6B3A"/>
                </a:solidFill>
                <a:latin typeface="Fredoka" pitchFamily="34" charset="0"/>
                <a:ea typeface="Fredoka" pitchFamily="34" charset="-122"/>
                <a:cs typeface="Fredoka" pitchFamily="34" charset="-120"/>
              </a:rPr>
              <a:t>The failure case</a:t>
            </a:r>
            <a:endParaRPr lang="en-US" sz="1900" dirty="0"/>
          </a:p>
        </p:txBody>
      </p:sp>
      <p:sp>
        <p:nvSpPr>
          <p:cNvPr id="12" name="Text 10"/>
          <p:cNvSpPr/>
          <p:nvPr/>
        </p:nvSpPr>
        <p:spPr>
          <a:xfrm>
            <a:off x="8233866" y="4606528"/>
            <a:ext cx="2991155" cy="1019572"/>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A child who feels bad about unfinished homework and stops coming. That is what we are designing against.</a:t>
            </a:r>
            <a:endParaRPr lang="en-US" sz="1450" dirty="0"/>
          </a:p>
        </p:txBody>
      </p:sp>
      <p:sp>
        <p:nvSpPr>
          <p:cNvPr id="13" name="Text 11"/>
          <p:cNvSpPr/>
          <p:nvPr/>
        </p:nvSpPr>
        <p:spPr>
          <a:xfrm>
            <a:off x="812800" y="6238280"/>
            <a:ext cx="24710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KCC Code Club · Volunteer Briefing</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YOU WILL RUN OUT OF TIME</a:t>
            </a:r>
            <a:endParaRPr lang="en-US" sz="1300" dirty="0"/>
          </a:p>
        </p:txBody>
      </p:sp>
      <p:sp>
        <p:nvSpPr>
          <p:cNvPr id="3" name="Text 1"/>
          <p:cNvSpPr/>
          <p:nvPr/>
        </p:nvSpPr>
        <p:spPr>
          <a:xfrm>
            <a:off x="812800" y="2287091"/>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Roughly every second week. Cut in this order.</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4023916"/>
          <a:ext cx="10566400" cy="1792684"/>
        </p:xfrm>
        <a:graphic>
          <a:graphicData uri="http://schemas.openxmlformats.org/drawingml/2006/table">
            <a:tbl>
              <a:tblPr/>
              <a:tblGrid>
                <a:gridCol w="3486912"/>
                <a:gridCol w="3486912"/>
                <a:gridCol w="3592576"/>
              </a:tblGrid>
              <a:tr h="385961">
                <a:tc>
                  <a:txBody>
                    <a:bodyPr/>
                    <a:lstStyle/>
                    <a:p>
                      <a:pPr indent="0" marL="0">
                        <a:lnSpc>
                          <a:spcPts val="1960"/>
                        </a:lnSpc>
                        <a:buNone/>
                      </a:pPr>
                      <a:r>
                        <a:rPr lang="en-US" sz="1400" b="1" dirty="0">
                          <a:solidFill>
                            <a:srgbClr val="2E1015"/>
                          </a:solidFill>
                          <a:latin typeface="Nunito Sans" pitchFamily="34" charset="0"/>
                          <a:ea typeface="Nunito Sans" pitchFamily="34" charset="-122"/>
                          <a:cs typeface="Nunito Sans" pitchFamily="34" charset="-120"/>
                        </a:rPr>
                        <a:t>Cut first</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c>
                  <a:txBody>
                    <a:bodyPr/>
                    <a:lstStyle/>
                    <a:p>
                      <a:pPr indent="0" marL="0">
                        <a:lnSpc>
                          <a:spcPts val="1960"/>
                        </a:lnSpc>
                        <a:buNone/>
                      </a:pPr>
                      <a:r>
                        <a:rPr lang="en-US" sz="1400" b="1" dirty="0">
                          <a:solidFill>
                            <a:srgbClr val="2E1015"/>
                          </a:solidFill>
                          <a:latin typeface="Nunito Sans" pitchFamily="34" charset="0"/>
                          <a:ea typeface="Nunito Sans" pitchFamily="34" charset="-122"/>
                          <a:cs typeface="Nunito Sans" pitchFamily="34" charset="-120"/>
                        </a:rPr>
                        <a:t>Then</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c>
                  <a:txBody>
                    <a:bodyPr/>
                    <a:lstStyle/>
                    <a:p>
                      <a:pPr indent="0" marL="0">
                        <a:lnSpc>
                          <a:spcPts val="1960"/>
                        </a:lnSpc>
                        <a:buNone/>
                      </a:pPr>
                      <a:r>
                        <a:rPr lang="en-US" sz="1400" b="1" dirty="0">
                          <a:solidFill>
                            <a:srgbClr val="2E1015"/>
                          </a:solidFill>
                          <a:latin typeface="Nunito Sans" pitchFamily="34" charset="0"/>
                          <a:ea typeface="Nunito Sans" pitchFamily="34" charset="-122"/>
                          <a:cs typeface="Nunito Sans" pitchFamily="34" charset="-120"/>
                        </a:rPr>
                        <a:t>Never cut</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r>
              <a:tr h="385961">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The second class activity</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Half the project build</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Show &amp; Tell</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r>
              <a:tr h="634802">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(where there is one — always optional)</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push the rest into homework and open next class with it</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The break</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4E9D2"/>
                    </a:solidFill>
                  </a:tcPr>
                </a:tc>
              </a:tr>
              <a:tr h="385961">
                <a:tc>
                  <a:txBody>
                    <a:bodyPr/>
                    <a:lstStyle/>
                    <a:p>
                      <a:pPr indent="0" marL="0">
                        <a:lnSpc>
                          <a:spcPts val="1960"/>
                        </a:lnSpc>
                        <a:buNone/>
                      </a:pP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c>
                  <a:txBody>
                    <a:bodyPr/>
                    <a:lstStyle/>
                    <a:p>
                      <a:pPr indent="0" marL="0">
                        <a:lnSpc>
                          <a:spcPts val="1960"/>
                        </a:lnSpc>
                        <a:buNone/>
                      </a:pP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c>
                  <a:txBody>
                    <a:bodyPr/>
                    <a:lstStyle/>
                    <a:p>
                      <a:pPr indent="0" marL="0">
                        <a:lnSpc>
                          <a:spcPts val="1960"/>
                        </a:lnSpc>
                        <a:buNone/>
                      </a:pPr>
                      <a:r>
                        <a:rPr lang="en-US" sz="1400" dirty="0">
                          <a:solidFill>
                            <a:srgbClr val="2E1015"/>
                          </a:solidFill>
                          <a:latin typeface="Nunito Sans" pitchFamily="34" charset="0"/>
                          <a:ea typeface="Nunito Sans" pitchFamily="34" charset="-122"/>
                          <a:cs typeface="Nunito Sans" pitchFamily="34" charset="-120"/>
                        </a:rPr>
                        <a:t>The save and back-up at the end</a:t>
                      </a:r>
                      <a:endParaRPr lang="en-US" sz="1400" dirty="0">
                        <a:latin typeface="Nunito Sans" charset="0"/>
                        <a:ea typeface="Nunito Sans" charset="0"/>
                        <a:cs typeface="Nunito Sans" charset="0"/>
                      </a:endParaRPr>
                    </a:p>
                  </a:txBody>
                  <a:tcPr marL="62230" marR="62230" marT="62230" marB="62230" anchor="t">
                    <a:lnL w="12700" cap="flat" cmpd="sng" algn="ctr">
                      <a:solidFill>
                        <a:srgbClr val="CEC3BA"/>
                      </a:solidFill>
                      <a:prstDash val="solid"/>
                      <a:round/>
                      <a:headEnd type="none" w="med" len="med"/>
                      <a:tailEnd type="none" w="med" len="med"/>
                    </a:lnL>
                    <a:lnR w="12700" cap="flat" cmpd="sng" algn="ctr">
                      <a:solidFill>
                        <a:srgbClr val="CEC3BA"/>
                      </a:solidFill>
                      <a:prstDash val="solid"/>
                      <a:round/>
                      <a:headEnd type="none" w="med" len="med"/>
                      <a:tailEnd type="none" w="med" len="med"/>
                    </a:lnR>
                    <a:lnT w="12700" cap="flat" cmpd="sng" algn="ctr">
                      <a:solidFill>
                        <a:srgbClr val="CEC3BA"/>
                      </a:solidFill>
                      <a:prstDash val="solid"/>
                      <a:round/>
                      <a:headEnd type="none" w="med" len="med"/>
                      <a:tailEnd type="none" w="med" len="med"/>
                    </a:lnT>
                    <a:lnB w="12700" cap="flat" cmpd="sng" algn="ctr">
                      <a:solidFill>
                        <a:srgbClr val="CEC3BA"/>
                      </a:solidFill>
                      <a:prstDash val="solid"/>
                      <a:round/>
                      <a:headEnd type="none" w="med" len="med"/>
                      <a:tailEnd type="none" w="med" len="med"/>
                    </a:lnB>
                    <a:solidFill>
                      <a:srgbClr val="FFFCF4"/>
                    </a:solidFill>
                  </a:tcPr>
                </a:tc>
              </a:tr>
            </a:tbl>
          </a:graphicData>
        </a:graphic>
      </p:graphicFrame>
      <p:sp>
        <p:nvSpPr>
          <p:cNvPr id="5" name="Text 2"/>
          <p:cNvSpPr/>
          <p:nvPr/>
        </p:nvSpPr>
        <p:spPr>
          <a:xfrm>
            <a:off x="812800" y="6238280"/>
            <a:ext cx="24710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KCC Code Club · Volunteer Briefing</a:t>
            </a:r>
            <a:endParaRPr lang="en-US" sz="1200" dirty="0"/>
          </a:p>
        </p:txBody>
      </p:sp>
      <p:pic>
        <p:nvPicPr>
          <p:cNvPr id="6"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C9A227"/>
        </a:solidFill>
      </p:bgPr>
    </p:bg>
    <p:spTree>
      <p:nvGrpSpPr>
        <p:cNvPr id="1" name=""/>
        <p:cNvGrpSpPr/>
        <p:nvPr/>
      </p:nvGrpSpPr>
      <p:grpSpPr>
        <a:xfrm>
          <a:off x="0" y="0"/>
          <a:ext cx="0" cy="0"/>
          <a:chOff x="0" y="0"/>
          <a:chExt cx="0" cy="0"/>
        </a:xfrm>
      </p:grpSpPr>
      <p:sp>
        <p:nvSpPr>
          <p:cNvPr id="2" name="Text 0"/>
          <p:cNvSpPr/>
          <p:nvPr/>
        </p:nvSpPr>
        <p:spPr>
          <a:xfrm>
            <a:off x="812800" y="2139057"/>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5A4A08"/>
                </a:solidFill>
                <a:latin typeface="Nunito Sans" pitchFamily="34" charset="0"/>
                <a:ea typeface="Nunito Sans" pitchFamily="34" charset="-122"/>
                <a:cs typeface="Nunito Sans" pitchFamily="34" charset="-120"/>
              </a:rPr>
              <a:t>THE BIG IDEA</a:t>
            </a:r>
            <a:endParaRPr lang="en-US" sz="1300" dirty="0"/>
          </a:p>
        </p:txBody>
      </p:sp>
      <p:sp>
        <p:nvSpPr>
          <p:cNvPr id="3" name="Text 1"/>
          <p:cNvSpPr/>
          <p:nvPr/>
        </p:nvSpPr>
        <p:spPr>
          <a:xfrm>
            <a:off x="812800" y="2598738"/>
            <a:ext cx="9810750" cy="1276945"/>
          </a:xfrm>
          <a:prstGeom prst="rect">
            <a:avLst/>
          </a:prstGeom>
          <a:noFill/>
          <a:ln/>
        </p:spPr>
        <p:txBody>
          <a:bodyPr wrap="square" lIns="0" tIns="0" rIns="0" bIns="0" rtlCol="0" anchor="t">
            <a:normAutofit/>
          </a:bodyPr>
          <a:lstStyle/>
          <a:p>
            <a:pPr algn="l" indent="0" marL="0">
              <a:lnSpc>
                <a:spcPts val="4928"/>
              </a:lnSpc>
              <a:buNone/>
            </a:pPr>
            <a:r>
              <a:rPr lang="en-US" sz="4400" b="1" dirty="0">
                <a:solidFill>
                  <a:srgbClr val="2E1015"/>
                </a:solidFill>
                <a:latin typeface="Fredoka" pitchFamily="34" charset="0"/>
                <a:ea typeface="Fredoka" pitchFamily="34" charset="-122"/>
                <a:cs typeface="Fredoka" pitchFamily="34" charset="-120"/>
              </a:rPr>
              <a:t>Week eight does not fit in ninety minutes. At any class size.</a:t>
            </a:r>
            <a:endParaRPr lang="en-US" sz="4400" dirty="0"/>
          </a:p>
        </p:txBody>
      </p:sp>
      <p:sp>
        <p:nvSpPr>
          <p:cNvPr id="4" name="Text 2"/>
          <p:cNvSpPr/>
          <p:nvPr/>
        </p:nvSpPr>
        <p:spPr>
          <a:xfrm>
            <a:off x="812800" y="4078883"/>
            <a:ext cx="8502650" cy="665361"/>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5A4A08"/>
                </a:solidFill>
                <a:latin typeface="Nunito Sans" pitchFamily="34" charset="0"/>
                <a:ea typeface="Nunito Sans" pitchFamily="34" charset="-122"/>
                <a:cs typeface="Nunito Sans" pitchFamily="34" charset="-120"/>
              </a:rPr>
              <a:t>Two minutes per demo plus about seventeen minutes of fixed overhead. Fifteen students needs roughly forty-seven minutes.</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START SIX WEEKS OUT</a:t>
            </a:r>
            <a:endParaRPr lang="en-US" sz="1300" dirty="0"/>
          </a:p>
        </p:txBody>
      </p:sp>
      <p:sp>
        <p:nvSpPr>
          <p:cNvPr id="3" name="Text 1"/>
          <p:cNvSpPr/>
          <p:nvPr/>
        </p:nvSpPr>
        <p:spPr>
          <a:xfrm>
            <a:off x="812800" y="2325489"/>
            <a:ext cx="10883392" cy="1122561"/>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The three things you can't do at the last minute</a:t>
            </a:r>
            <a:endParaRPr lang="en-US" sz="4000" dirty="0"/>
          </a:p>
        </p:txBody>
      </p:sp>
      <p:sp>
        <p:nvSpPr>
          <p:cNvPr id="4" name="Text 2"/>
          <p:cNvSpPr/>
          <p:nvPr/>
        </p:nvSpPr>
        <p:spPr>
          <a:xfrm>
            <a:off x="1117600" y="4704159"/>
            <a:ext cx="10569448" cy="1163241"/>
          </a:xfrm>
          <a:prstGeom prst="rect">
            <a:avLst/>
          </a:prstGeom>
          <a:noFill/>
          <a:ln/>
        </p:spPr>
        <p:txBody>
          <a:bodyPr wrap="square" lIns="0" tIns="0" rIns="0" bIns="0" rtlCol="0" anchor="t">
            <a:normAutofit/>
          </a:bodyPr>
          <a:lstStyle/>
          <a:p>
            <a:pPr algn="l" marL="342900" indent="-342900">
              <a:lnSpc>
                <a:spcPts val="2240"/>
              </a:lnSpc>
              <a:buSzPct val="100000"/>
              <a:buFont typeface="+mj-lt"/>
              <a:buAutoNum type="arabicPeriod" startAt="1"/>
            </a:pPr>
            <a:r>
              <a:rPr lang="en-US" sz="1600" b="1" dirty="0">
                <a:solidFill>
                  <a:srgbClr val="2E1015"/>
                </a:solidFill>
                <a:latin typeface="Nunito Sans" pitchFamily="34" charset="0"/>
                <a:ea typeface="Nunito Sans" pitchFamily="34" charset="-122"/>
                <a:cs typeface="Nunito Sans" pitchFamily="34" charset="-120"/>
              </a:rPr>
              <a:t>Scratch teacher account.</a:t>
            </a:r>
            <a:r>
              <a:rPr lang="en-US" sz="1600" dirty="0">
                <a:solidFill>
                  <a:srgbClr val="2E1015"/>
                </a:solidFill>
                <a:latin typeface="Nunito Sans" pitchFamily="34" charset="0"/>
                <a:ea typeface="Nunito Sans" pitchFamily="34" charset="-122"/>
                <a:cs typeface="Nunito Sans" pitchFamily="34" charset="-120"/>
              </a:rPr>
              <a:t> Manual approval, days to weeks. Individual under-13 signups need a parent email confirmed for each child, which does not work at club scale.</a:t>
            </a:r>
            <a:endParaRPr lang="en-US" sz="1600" dirty="0"/>
          </a:p>
          <a:p>
            <a:pPr algn="l" marL="342900" indent="-342900">
              <a:lnSpc>
                <a:spcPts val="2240"/>
              </a:lnSpc>
              <a:buSzPct val="100000"/>
              <a:buFont typeface="+mj-lt"/>
              <a:buAutoNum type="arabicPeriod" startAt="1"/>
            </a:pPr>
            <a:r>
              <a:rPr lang="en-US" sz="1600" b="1" dirty="0">
                <a:solidFill>
                  <a:srgbClr val="2E1015"/>
                </a:solidFill>
                <a:latin typeface="Nunito Sans" pitchFamily="34" charset="0"/>
                <a:ea typeface="Nunito Sans" pitchFamily="34" charset="-122"/>
                <a:cs typeface="Nunito Sans" pitchFamily="34" charset="-120"/>
              </a:rPr>
              <a:t>Skeleton files.</a:t>
            </a:r>
            <a:r>
              <a:rPr lang="en-US" sz="1600" dirty="0">
                <a:solidFill>
                  <a:srgbClr val="2E1015"/>
                </a:solidFill>
                <a:latin typeface="Nunito Sans" pitchFamily="34" charset="0"/>
                <a:ea typeface="Nunito Sans" pitchFamily="34" charset="-122"/>
                <a:cs typeface="Nunito Sans" pitchFamily="34" charset="-120"/>
              </a:rPr>
              <a:t> About two hours, once. Removes the main cause of dropout.</a:t>
            </a:r>
            <a:endParaRPr lang="en-US" sz="1600" dirty="0"/>
          </a:p>
          <a:p>
            <a:pPr algn="l" marL="342900" indent="-342900">
              <a:lnSpc>
                <a:spcPts val="2240"/>
              </a:lnSpc>
              <a:buSzPct val="100000"/>
              <a:buFont typeface="+mj-lt"/>
              <a:buAutoNum type="arabicPeriod" startAt="1"/>
            </a:pPr>
            <a:r>
              <a:rPr lang="en-US" sz="1600" b="1" dirty="0">
                <a:solidFill>
                  <a:srgbClr val="2E1015"/>
                </a:solidFill>
                <a:latin typeface="Nunito Sans" pitchFamily="34" charset="0"/>
                <a:ea typeface="Nunito Sans" pitchFamily="34" charset="-122"/>
                <a:cs typeface="Nunito Sans" pitchFamily="34" charset="-120"/>
              </a:rPr>
              <a:t>Child safety policy.</a:t>
            </a:r>
            <a:r>
              <a:rPr lang="en-US" sz="1600" dirty="0">
                <a:solidFill>
                  <a:srgbClr val="2E1015"/>
                </a:solidFill>
                <a:latin typeface="Nunito Sans" pitchFamily="34" charset="0"/>
                <a:ea typeface="Nunito Sans" pitchFamily="34" charset="-122"/>
                <a:cs typeface="Nunito Sans" pitchFamily="34" charset="-120"/>
              </a:rPr>
              <a:t> A committee conversation, and it happens before dates are committed.</a:t>
            </a:r>
            <a:endParaRPr lang="en-US" sz="1600" dirty="0"/>
          </a:p>
        </p:txBody>
      </p:sp>
      <p:sp>
        <p:nvSpPr>
          <p:cNvPr id="5" name="Text 3"/>
          <p:cNvSpPr/>
          <p:nvPr/>
        </p:nvSpPr>
        <p:spPr>
          <a:xfrm>
            <a:off x="812800" y="6238280"/>
            <a:ext cx="24710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KCC Code Club · Volunteer Briefing</a:t>
            </a:r>
            <a:endParaRPr lang="en-US" sz="1200" dirty="0"/>
          </a:p>
        </p:txBody>
      </p:sp>
      <p:pic>
        <p:nvPicPr>
          <p:cNvPr id="6"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HOW WE'LL KNOW IT WORKED</a:t>
            </a:r>
            <a:endParaRPr lang="en-US" sz="1300" dirty="0"/>
          </a:p>
        </p:txBody>
      </p:sp>
      <p:sp>
        <p:nvSpPr>
          <p:cNvPr id="3" name="Text 1"/>
          <p:cNvSpPr/>
          <p:nvPr/>
        </p:nvSpPr>
        <p:spPr>
          <a:xfrm>
            <a:off x="812800" y="2253456"/>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Three numbers. None of them is a test.</a:t>
            </a:r>
            <a:endParaRPr lang="en-US" sz="4000" dirty="0"/>
          </a:p>
        </p:txBody>
      </p:sp>
      <p:sp>
        <p:nvSpPr>
          <p:cNvPr id="4" name="Shape 2"/>
          <p:cNvSpPr/>
          <p:nvPr/>
        </p:nvSpPr>
        <p:spPr>
          <a:xfrm>
            <a:off x="819150" y="4017963"/>
            <a:ext cx="3373934" cy="1817688"/>
          </a:xfrm>
          <a:prstGeom prst="roundRect">
            <a:avLst>
              <a:gd name="adj" fmla="val 7336"/>
            </a:avLst>
          </a:prstGeom>
          <a:solidFill>
            <a:srgbClr val="FFFCF4"/>
          </a:solidFill>
          <a:ln w="12700">
            <a:solidFill>
              <a:srgbClr val="E4D7BE"/>
            </a:solidFill>
            <a:prstDash val="solid"/>
          </a:ln>
        </p:spPr>
      </p:sp>
      <p:sp>
        <p:nvSpPr>
          <p:cNvPr id="5" name="Text 3"/>
          <p:cNvSpPr/>
          <p:nvPr/>
        </p:nvSpPr>
        <p:spPr>
          <a:xfrm>
            <a:off x="1054100" y="4252913"/>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Completion rate</a:t>
            </a:r>
            <a:endParaRPr lang="en-US" sz="1900" dirty="0"/>
          </a:p>
        </p:txBody>
      </p:sp>
      <p:sp>
        <p:nvSpPr>
          <p:cNvPr id="6" name="Text 4"/>
          <p:cNvSpPr/>
          <p:nvPr/>
        </p:nvSpPr>
        <p:spPr>
          <a:xfrm>
            <a:off x="1054100" y="4606528"/>
            <a:ext cx="2991155"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How many who started week one demo at the showcase? Aim above 75%.</a:t>
            </a:r>
            <a:endParaRPr lang="en-US" sz="1450" dirty="0"/>
          </a:p>
        </p:txBody>
      </p:sp>
      <p:sp>
        <p:nvSpPr>
          <p:cNvPr id="7" name="Shape 5"/>
          <p:cNvSpPr/>
          <p:nvPr/>
        </p:nvSpPr>
        <p:spPr>
          <a:xfrm>
            <a:off x="4408984" y="4017963"/>
            <a:ext cx="3374033" cy="1817688"/>
          </a:xfrm>
          <a:prstGeom prst="roundRect">
            <a:avLst>
              <a:gd name="adj" fmla="val 7336"/>
            </a:avLst>
          </a:prstGeom>
          <a:solidFill>
            <a:srgbClr val="FFFCF4"/>
          </a:solidFill>
          <a:ln w="12700">
            <a:solidFill>
              <a:srgbClr val="E4D7BE"/>
            </a:solidFill>
            <a:prstDash val="solid"/>
          </a:ln>
        </p:spPr>
      </p:sp>
      <p:sp>
        <p:nvSpPr>
          <p:cNvPr id="8" name="Text 6"/>
          <p:cNvSpPr/>
          <p:nvPr/>
        </p:nvSpPr>
        <p:spPr>
          <a:xfrm>
            <a:off x="4643934" y="4252913"/>
            <a:ext cx="2991257"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Voluntary homework rate</a:t>
            </a:r>
            <a:endParaRPr lang="en-US" sz="1900" dirty="0"/>
          </a:p>
        </p:txBody>
      </p:sp>
      <p:sp>
        <p:nvSpPr>
          <p:cNvPr id="9" name="Text 7"/>
          <p:cNvSpPr/>
          <p:nvPr/>
        </p:nvSpPr>
        <p:spPr>
          <a:xfrm>
            <a:off x="4643934" y="4606528"/>
            <a:ext cx="2991257"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How many bring something to Show &amp; Tell? Aim above half by week four.</a:t>
            </a:r>
            <a:endParaRPr lang="en-US" sz="1450" dirty="0"/>
          </a:p>
        </p:txBody>
      </p:sp>
      <p:sp>
        <p:nvSpPr>
          <p:cNvPr id="10" name="Shape 8"/>
          <p:cNvSpPr/>
          <p:nvPr/>
        </p:nvSpPr>
        <p:spPr>
          <a:xfrm>
            <a:off x="7998916" y="4017963"/>
            <a:ext cx="3373934" cy="1817688"/>
          </a:xfrm>
          <a:prstGeom prst="roundRect">
            <a:avLst>
              <a:gd name="adj" fmla="val 7336"/>
            </a:avLst>
          </a:prstGeom>
          <a:solidFill>
            <a:srgbClr val="FFFCF4"/>
          </a:solidFill>
          <a:ln w="12700">
            <a:solidFill>
              <a:srgbClr val="E4D7BE"/>
            </a:solidFill>
            <a:prstDash val="solid"/>
          </a:ln>
        </p:spPr>
      </p:sp>
      <p:sp>
        <p:nvSpPr>
          <p:cNvPr id="11" name="Text 9"/>
          <p:cNvSpPr/>
          <p:nvPr/>
        </p:nvSpPr>
        <p:spPr>
          <a:xfrm>
            <a:off x="8233866" y="4252913"/>
            <a:ext cx="2991155"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Week nine</a:t>
            </a:r>
            <a:endParaRPr lang="en-US" sz="1900" dirty="0"/>
          </a:p>
        </p:txBody>
      </p:sp>
      <p:sp>
        <p:nvSpPr>
          <p:cNvPr id="12" name="Text 10"/>
          <p:cNvSpPr/>
          <p:nvPr/>
        </p:nvSpPr>
        <p:spPr>
          <a:xfrm>
            <a:off x="8233866" y="4606528"/>
            <a:ext cx="2991155" cy="1019572"/>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How many are still opening Scratch a month after it ended? This is the only one that really matters.</a:t>
            </a:r>
            <a:endParaRPr lang="en-US" sz="1450" dirty="0"/>
          </a:p>
        </p:txBody>
      </p:sp>
      <p:sp>
        <p:nvSpPr>
          <p:cNvPr id="13" name="Text 11"/>
          <p:cNvSpPr/>
          <p:nvPr/>
        </p:nvSpPr>
        <p:spPr>
          <a:xfrm>
            <a:off x="812800" y="6238280"/>
            <a:ext cx="24710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KCC Code Club · Volunteer Briefing</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3A121B"/>
        </a:solidFill>
      </p:bgPr>
    </p:bg>
    <p:spTree>
      <p:nvGrpSpPr>
        <p:cNvPr id="1" name=""/>
        <p:cNvGrpSpPr/>
        <p:nvPr/>
      </p:nvGrpSpPr>
      <p:grpSpPr>
        <a:xfrm>
          <a:off x="0" y="0"/>
          <a:ext cx="0" cy="0"/>
          <a:chOff x="0" y="0"/>
          <a:chExt cx="0" cy="0"/>
        </a:xfrm>
      </p:grpSpPr>
      <p:sp>
        <p:nvSpPr>
          <p:cNvPr id="2" name="Text 0"/>
          <p:cNvSpPr/>
          <p:nvPr/>
        </p:nvSpPr>
        <p:spPr>
          <a:xfrm>
            <a:off x="812800" y="199013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9A227"/>
                </a:solidFill>
                <a:latin typeface="Nunito Sans" pitchFamily="34" charset="0"/>
                <a:ea typeface="Nunito Sans" pitchFamily="34" charset="-122"/>
                <a:cs typeface="Nunito Sans" pitchFamily="34" charset="-120"/>
              </a:rPr>
              <a:t>BEFORE YOU GO</a:t>
            </a:r>
            <a:endParaRPr lang="en-US" sz="1300" dirty="0"/>
          </a:p>
        </p:txBody>
      </p:sp>
      <p:sp>
        <p:nvSpPr>
          <p:cNvPr id="3" name="Text 1"/>
          <p:cNvSpPr/>
          <p:nvPr/>
        </p:nvSpPr>
        <p:spPr>
          <a:xfrm>
            <a:off x="812800" y="2475210"/>
            <a:ext cx="9810750" cy="125472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6E7C8"/>
                </a:solidFill>
                <a:latin typeface="Fredoka" pitchFamily="34" charset="0"/>
                <a:ea typeface="Fredoka" pitchFamily="34" charset="-122"/>
                <a:cs typeface="Fredoka" pitchFamily="34" charset="-120"/>
              </a:rPr>
              <a:t>Read your week's plan the night before. Print the handout. Turn up.</a:t>
            </a:r>
            <a:endParaRPr lang="en-US" sz="4400" dirty="0"/>
          </a:p>
        </p:txBody>
      </p:sp>
      <p:sp>
        <p:nvSpPr>
          <p:cNvPr id="4" name="Shape 2"/>
          <p:cNvSpPr/>
          <p:nvPr/>
        </p:nvSpPr>
        <p:spPr>
          <a:xfrm>
            <a:off x="812800" y="3958530"/>
            <a:ext cx="1143000" cy="50800"/>
          </a:xfrm>
          <a:prstGeom prst="roundRect">
            <a:avLst>
              <a:gd name="adj" fmla="val 50000"/>
            </a:avLst>
          </a:prstGeom>
          <a:solidFill>
            <a:srgbClr val="C9A227"/>
          </a:solidFill>
          <a:ln/>
        </p:spPr>
      </p:sp>
      <p:sp>
        <p:nvSpPr>
          <p:cNvPr id="5" name="Text 3"/>
          <p:cNvSpPr/>
          <p:nvPr/>
        </p:nvSpPr>
        <p:spPr>
          <a:xfrm>
            <a:off x="812800" y="4263330"/>
            <a:ext cx="8175625"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49A7E"/>
                </a:solidFill>
                <a:latin typeface="Nunito Sans" pitchFamily="34" charset="0"/>
                <a:ea typeface="Nunito Sans" pitchFamily="34" charset="-122"/>
                <a:cs typeface="Nunito Sans" pitchFamily="34" charset="-120"/>
              </a:rPr>
              <a:t>Everything else is in the pack, and the pack assumes you'll forget things. That's fine.</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Game Makers — Volunteer Briefing</dc:title>
  <dc:subject>PptxGenJS Presentation</dc:subject>
  <dc:creator>PptxGenJS</dc:creator>
  <cp:lastModifiedBy>PptxGenJS</cp:lastModifiedBy>
  <cp:revision>1</cp:revision>
  <dcterms:created xsi:type="dcterms:W3CDTF">2026-09-19T12:34:18Z</dcterms:created>
  <dcterms:modified xsi:type="dcterms:W3CDTF">2026-09-19T12:34:18Z</dcterms:modified>
</cp:coreProperties>
</file>