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them in. Name stickers on, everyone sitting. Do not start with signups — every machine should already be logged in with Scratch open on one tab. Say the class name out loud: KCC Code Club, Game Makers. Keep the intro under two minutes; they are here to make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time they see the whole arc. Read the eight phrases out loud, fast — it takes twenty seconds and it is the strongest promise you can make them. The point to land: the game WORKS at the end of every single class. There is never a week where they go home with something broken or half-built.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your finished Sky Catcher on the projector for thirty seconds. Let them react — the noise is the point. Then say the line on the slide, word for word. Do NOT explain how it works. They do not need to understand it yet; they need to want it. Then go round the room: name, and one game you like, one sentence each. Cut anyone who starts telling a whole story, kindly, or this runs to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on this. Kids settle fastest when they know the shape of the session. Point out that every week runs the same way: Show and Tell, a demo, an activity, a break, then time on their own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sentence the whole term rests on. Say it, then stop talking and show them instead. Come back to it every single week — by week eight they should be able to finish it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your screen and point at each one as you name it. Use these four names all term — consistency here saves you a hundred small confusions later. Watch for the child who is looking at their own screen instead of yours and has already lost the thread; the floating volunteer should catch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is the thing to teach here, not the list. Yellow blocks start things. Blue blocks move things. Purple blocks change how something looks. A seven-year-old who cannot yet read the block name can still find the right colour, and that is most of the battle in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live, in this order, running it after each block. Drag the hat block in and click the flag: nothing happens, and say so out loud. Add say Hello and run it — notice the speech bubble never goes away, which is why the next block is say-for-two-seconds. Add move 100 steps: the cat has left the stage. Bring it home with go to x:0 y:0. Narrate what you expected versus what happened at every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fifteen seconds of the class. Actually detach the move block so it floats beside the hat block rather than under it, click the flag, and be genuinely puzzled. Say out loud: what did I expect, and what did it do? Then find it with them. They need to watch an adult be confused, stay calm, and work it out — that is the lesson, not the bug. Do a version of this every single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steps aloud, all of them, before anyone starts. Some of your seven-year-olds cannot read the handout and will sit quietly doing nothing rather than say so. Ninety seconds of reading removes the problem entirely. Then circulate constantly — the floating volunteer should not sit down once in this half hour. Fast finishers go to the bonus challenges on the back of the handout, NOT ahead to the project build; you want everyone arriving at project time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non-negotiable. Ninety minutes of screen time without a break is not a thing a nine-year-old can do. Use the time to check every machine has Scratch still open and nobody has closed their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it in one sentence and then stop. Do not give step-by-step instructions on the projector during project time — the activity was the guided version, this is where they apply it. Put the blocks on the board unordered and let them struggle for a few minutes before you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decide, commit. Offer these if they are stuck but push them hard towards inventing their own — the mechanics are identical and the ownership is not. Tell them clearly they cannot change it later: changing a theme mid-course means redoing every sprite and loses a whole session. The Onam one (sadhya dishes onto a banana leaf, bad item a stray chappal) lands well with this group if you need a fifth.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everyone name the project before anything else — unnamed projects get lost, and 'it worked yesterday' is nearly always a child looking at a different copy. Walk the room and physically confirm every screen shows a named, saved project. Do not take their word for it. It is not a game yet and they know it; that is fine, they have seen where it is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last one causes more week-one confusion than everything else combined. Teach them to glance at the sprite list before they start. Second volunteer: your job this week is mouse skills and confidence, not code. Watch for the child who has not managed to drag a single block yet and is hiding it — get to them before they decide they are bad at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 and back up, and check every screen yourself. Then brief the homework in one sentence each and point at the bonus challenges. Remind them Show and Tell is at the start of next class and that you would love to see the joke.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to twenty minutes, no more. Homework is never collected, never marked and never chased — it gets shown off voluntarily at Show and Tell. A child who does no homework all term and still turns up every week is a success. A child who feels bad about unfinished homework and stops coming is the failure mode you are designing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exist to absorb the fast finishers who would otherwise be bored and disruptive. Nobody is expected to finish them and nobody should feel behind for skipping them. If a child is genuinely far ahead, hand them the Raspberry Pi Foundation's Intro to Scratch pathway and let them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promise, not on admin. One sentence, then let them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B"/>
        </a:solidFill>
      </p:bgPr>
    </p:bg>
    <p:spTree>
      <p:nvGrpSpPr>
        <p:cNvPr id="1" name=""/>
        <p:cNvGrpSpPr/>
        <p:nvPr/>
      </p:nvGrpSpPr>
      <p:grpSpPr>
        <a:xfrm>
          <a:off x="0" y="0"/>
          <a:ext cx="0" cy="0"/>
          <a:chOff x="0" y="0"/>
          <a:chExt cx="0" cy="0"/>
        </a:xfrm>
      </p:grpSpPr>
      <p:pic>
        <p:nvPicPr>
          <p:cNvPr id="2" name="Image 0" descr="Kerala Cultural Club logo">    </p:cNvPr>
          <p:cNvPicPr>
            <a:picLocks noChangeAspect="1"/>
          </p:cNvPicPr>
          <p:nvPr/>
        </p:nvPicPr>
        <p:blipFill>
          <a:blip r:embed="rId1"/>
          <a:srcRect l="0" r="0" t="0" b="0"/>
          <a:stretch/>
        </p:blipFill>
        <p:spPr>
          <a:xfrm>
            <a:off x="9779000" y="952500"/>
            <a:ext cx="1460500" cy="1460500"/>
          </a:xfrm>
          <a:prstGeom prst="rect">
            <a:avLst/>
          </a:prstGeom>
        </p:spPr>
      </p:pic>
      <p:sp>
        <p:nvSpPr>
          <p:cNvPr id="3" name="Text 0"/>
          <p:cNvSpPr/>
          <p:nvPr/>
        </p:nvSpPr>
        <p:spPr>
          <a:xfrm>
            <a:off x="812800" y="1747341"/>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KCC CODE CLUB · GAME MAKERS</a:t>
            </a:r>
            <a:endParaRPr lang="en-US" sz="1300" dirty="0"/>
          </a:p>
        </p:txBody>
      </p:sp>
      <p:sp>
        <p:nvSpPr>
          <p:cNvPr id="4" name="Text 1"/>
          <p:cNvSpPr/>
          <p:nvPr/>
        </p:nvSpPr>
        <p:spPr>
          <a:xfrm>
            <a:off x="812800" y="2207022"/>
            <a:ext cx="7717790" cy="1735138"/>
          </a:xfrm>
          <a:prstGeom prst="rect">
            <a:avLst/>
          </a:prstGeom>
          <a:noFill/>
          <a:ln/>
        </p:spPr>
        <p:txBody>
          <a:bodyPr wrap="square" lIns="0" tIns="0" rIns="0" bIns="0" rtlCol="0" anchor="t">
            <a:normAutofit/>
          </a:bodyPr>
          <a:lstStyle/>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Class 1</a:t>
            </a:r>
            <a:endParaRPr lang="en-US" sz="6600" dirty="0"/>
          </a:p>
          <a:p>
            <a:pPr algn="l" indent="0" marL="0">
              <a:lnSpc>
                <a:spcPts val="6732"/>
              </a:lnSpc>
              <a:buNone/>
            </a:pPr>
            <a:r>
              <a:rPr lang="en-US" sz="6600" b="1" dirty="0">
                <a:solidFill>
                  <a:srgbClr val="F6E7C8"/>
                </a:solidFill>
                <a:latin typeface="Fredoka" pitchFamily="34" charset="0"/>
                <a:ea typeface="Fredoka" pitchFamily="34" charset="-122"/>
                <a:cs typeface="Fredoka" pitchFamily="34" charset="-120"/>
              </a:rPr>
              <a:t>Meet Scratch</a:t>
            </a:r>
            <a:endParaRPr lang="en-US" sz="6600" dirty="0"/>
          </a:p>
        </p:txBody>
      </p:sp>
      <p:sp>
        <p:nvSpPr>
          <p:cNvPr id="5" name="Shape 2"/>
          <p:cNvSpPr/>
          <p:nvPr/>
        </p:nvSpPr>
        <p:spPr>
          <a:xfrm>
            <a:off x="812800" y="4145359"/>
            <a:ext cx="1397000" cy="50800"/>
          </a:xfrm>
          <a:prstGeom prst="roundRect">
            <a:avLst>
              <a:gd name="adj" fmla="val 50000"/>
            </a:avLst>
          </a:prstGeom>
          <a:solidFill>
            <a:srgbClr val="C9A227"/>
          </a:solidFill>
          <a:ln/>
        </p:spPr>
      </p:sp>
      <p:sp>
        <p:nvSpPr>
          <p:cNvPr id="6" name="Text 3"/>
          <p:cNvSpPr/>
          <p:nvPr/>
        </p:nvSpPr>
        <p:spPr>
          <a:xfrm>
            <a:off x="812800" y="4424759"/>
            <a:ext cx="77177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49A7E"/>
                </a:solidFill>
                <a:latin typeface="Nunito Sans" pitchFamily="34" charset="0"/>
                <a:ea typeface="Nunito Sans" pitchFamily="34" charset="-122"/>
                <a:cs typeface="Nunito Sans" pitchFamily="34" charset="-120"/>
              </a:rPr>
              <a:t>A program is a list of instructions, carried out in order, exactly as written.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SKY CATCHER · WEEK 1 OF 8</a:t>
            </a:r>
            <a:endParaRPr lang="en-US" sz="1300" dirty="0"/>
          </a:p>
        </p:txBody>
      </p:sp>
      <p:sp>
        <p:nvSpPr>
          <p:cNvPr id="3" name="Text 1"/>
          <p:cNvSpPr/>
          <p:nvPr/>
        </p:nvSpPr>
        <p:spPr>
          <a:xfrm>
            <a:off x="812800" y="2102842"/>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Your game, week by week</a:t>
            </a:r>
            <a:endParaRPr lang="en-US" sz="4000" dirty="0"/>
          </a:p>
        </p:txBody>
      </p:sp>
      <p:sp>
        <p:nvSpPr>
          <p:cNvPr id="4" name="Shape 2"/>
          <p:cNvSpPr/>
          <p:nvPr/>
        </p:nvSpPr>
        <p:spPr>
          <a:xfrm>
            <a:off x="819150" y="3716734"/>
            <a:ext cx="2514600" cy="857845"/>
          </a:xfrm>
          <a:prstGeom prst="roundRect">
            <a:avLst>
              <a:gd name="adj" fmla="val 12584"/>
            </a:avLst>
          </a:prstGeom>
          <a:solidFill>
            <a:srgbClr val="C9A227"/>
          </a:solidFill>
          <a:ln w="12700">
            <a:solidFill>
              <a:srgbClr val="A8861C"/>
            </a:solidFill>
            <a:prstDash val="solid"/>
          </a:ln>
        </p:spPr>
      </p:sp>
      <p:sp>
        <p:nvSpPr>
          <p:cNvPr id="5" name="Text 3"/>
          <p:cNvSpPr/>
          <p:nvPr/>
        </p:nvSpPr>
        <p:spPr>
          <a:xfrm>
            <a:off x="9906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3A2F04"/>
                </a:solidFill>
                <a:latin typeface="Nunito Sans" pitchFamily="34" charset="0"/>
                <a:ea typeface="Nunito Sans" pitchFamily="34" charset="-122"/>
                <a:cs typeface="Nunito Sans" pitchFamily="34" charset="-120"/>
              </a:rPr>
              <a:t>WEEK 1 · TODAY</a:t>
            </a:r>
            <a:endParaRPr lang="en-US" sz="1200" dirty="0"/>
          </a:p>
        </p:txBody>
      </p:sp>
      <p:sp>
        <p:nvSpPr>
          <p:cNvPr id="6" name="Text 4"/>
          <p:cNvSpPr/>
          <p:nvPr/>
        </p:nvSpPr>
        <p:spPr>
          <a:xfrm>
            <a:off x="9906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2E1015"/>
                </a:solidFill>
                <a:latin typeface="Nunito Sans" pitchFamily="34" charset="0"/>
                <a:ea typeface="Nunito Sans" pitchFamily="34" charset="-122"/>
                <a:cs typeface="Nunito Sans" pitchFamily="34" charset="-120"/>
              </a:rPr>
              <a:t>says hello</a:t>
            </a:r>
            <a:endParaRPr lang="en-US" sz="1500" dirty="0"/>
          </a:p>
        </p:txBody>
      </p:sp>
      <p:sp>
        <p:nvSpPr>
          <p:cNvPr id="7" name="Shape 5"/>
          <p:cNvSpPr/>
          <p:nvPr/>
        </p:nvSpPr>
        <p:spPr>
          <a:xfrm>
            <a:off x="3498850" y="3716734"/>
            <a:ext cx="2514600" cy="857845"/>
          </a:xfrm>
          <a:prstGeom prst="roundRect">
            <a:avLst>
              <a:gd name="adj" fmla="val 12584"/>
            </a:avLst>
          </a:prstGeom>
          <a:solidFill>
            <a:srgbClr val="F4E9D2"/>
          </a:solidFill>
          <a:ln w="12700">
            <a:solidFill>
              <a:srgbClr val="DFD0B4"/>
            </a:solidFill>
            <a:prstDash val="solid"/>
          </a:ln>
        </p:spPr>
      </p:sp>
      <p:sp>
        <p:nvSpPr>
          <p:cNvPr id="8" name="Text 6"/>
          <p:cNvSpPr/>
          <p:nvPr/>
        </p:nvSpPr>
        <p:spPr>
          <a:xfrm>
            <a:off x="36703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2</a:t>
            </a:r>
            <a:endParaRPr lang="en-US" sz="1200" dirty="0"/>
          </a:p>
        </p:txBody>
      </p:sp>
      <p:sp>
        <p:nvSpPr>
          <p:cNvPr id="9" name="Text 7"/>
          <p:cNvSpPr/>
          <p:nvPr/>
        </p:nvSpPr>
        <p:spPr>
          <a:xfrm>
            <a:off x="36703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drive it</a:t>
            </a:r>
            <a:endParaRPr lang="en-US" sz="1500" dirty="0"/>
          </a:p>
        </p:txBody>
      </p:sp>
      <p:sp>
        <p:nvSpPr>
          <p:cNvPr id="10" name="Shape 8"/>
          <p:cNvSpPr/>
          <p:nvPr/>
        </p:nvSpPr>
        <p:spPr>
          <a:xfrm>
            <a:off x="6178550" y="3716734"/>
            <a:ext cx="2514600" cy="857845"/>
          </a:xfrm>
          <a:prstGeom prst="roundRect">
            <a:avLst>
              <a:gd name="adj" fmla="val 12584"/>
            </a:avLst>
          </a:prstGeom>
          <a:solidFill>
            <a:srgbClr val="F4E9D2"/>
          </a:solidFill>
          <a:ln w="12700">
            <a:solidFill>
              <a:srgbClr val="DFD0B4"/>
            </a:solidFill>
            <a:prstDash val="solid"/>
          </a:ln>
        </p:spPr>
      </p:sp>
      <p:sp>
        <p:nvSpPr>
          <p:cNvPr id="11" name="Text 9"/>
          <p:cNvSpPr/>
          <p:nvPr/>
        </p:nvSpPr>
        <p:spPr>
          <a:xfrm>
            <a:off x="63500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3</a:t>
            </a:r>
            <a:endParaRPr lang="en-US" sz="1200" dirty="0"/>
          </a:p>
        </p:txBody>
      </p:sp>
      <p:sp>
        <p:nvSpPr>
          <p:cNvPr id="12" name="Text 10"/>
          <p:cNvSpPr/>
          <p:nvPr/>
        </p:nvSpPr>
        <p:spPr>
          <a:xfrm>
            <a:off x="63500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things fall from the sky</a:t>
            </a:r>
            <a:endParaRPr lang="en-US" sz="1500" dirty="0"/>
          </a:p>
        </p:txBody>
      </p:sp>
      <p:sp>
        <p:nvSpPr>
          <p:cNvPr id="13" name="Shape 11"/>
          <p:cNvSpPr/>
          <p:nvPr/>
        </p:nvSpPr>
        <p:spPr>
          <a:xfrm>
            <a:off x="8858250" y="3716734"/>
            <a:ext cx="2514600" cy="857845"/>
          </a:xfrm>
          <a:prstGeom prst="roundRect">
            <a:avLst>
              <a:gd name="adj" fmla="val 12584"/>
            </a:avLst>
          </a:prstGeom>
          <a:solidFill>
            <a:srgbClr val="F4E9D2"/>
          </a:solidFill>
          <a:ln w="12700">
            <a:solidFill>
              <a:srgbClr val="DFD0B4"/>
            </a:solidFill>
            <a:prstDash val="solid"/>
          </a:ln>
        </p:spPr>
      </p:sp>
      <p:sp>
        <p:nvSpPr>
          <p:cNvPr id="14" name="Text 12"/>
          <p:cNvSpPr/>
          <p:nvPr/>
        </p:nvSpPr>
        <p:spPr>
          <a:xfrm>
            <a:off x="9029700" y="3888184"/>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4</a:t>
            </a:r>
            <a:endParaRPr lang="en-US" sz="1200" dirty="0"/>
          </a:p>
        </p:txBody>
      </p:sp>
      <p:sp>
        <p:nvSpPr>
          <p:cNvPr id="15" name="Text 13"/>
          <p:cNvSpPr/>
          <p:nvPr/>
        </p:nvSpPr>
        <p:spPr>
          <a:xfrm>
            <a:off x="9029700" y="4165005"/>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can catch them</a:t>
            </a:r>
            <a:endParaRPr lang="en-US" sz="1500" dirty="0"/>
          </a:p>
        </p:txBody>
      </p:sp>
      <p:sp>
        <p:nvSpPr>
          <p:cNvPr id="16" name="Shape 14"/>
          <p:cNvSpPr/>
          <p:nvPr/>
        </p:nvSpPr>
        <p:spPr>
          <a:xfrm>
            <a:off x="819150" y="4739680"/>
            <a:ext cx="2514600" cy="1095970"/>
          </a:xfrm>
          <a:prstGeom prst="roundRect">
            <a:avLst>
              <a:gd name="adj" fmla="val 9850"/>
            </a:avLst>
          </a:prstGeom>
          <a:solidFill>
            <a:srgbClr val="F4E9D2"/>
          </a:solidFill>
          <a:ln w="12700">
            <a:solidFill>
              <a:srgbClr val="DFD0B4"/>
            </a:solidFill>
            <a:prstDash val="solid"/>
          </a:ln>
        </p:spPr>
      </p:sp>
      <p:sp>
        <p:nvSpPr>
          <p:cNvPr id="17" name="Text 15"/>
          <p:cNvSpPr/>
          <p:nvPr/>
        </p:nvSpPr>
        <p:spPr>
          <a:xfrm>
            <a:off x="9906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5</a:t>
            </a:r>
            <a:endParaRPr lang="en-US" sz="1200" dirty="0"/>
          </a:p>
        </p:txBody>
      </p:sp>
      <p:sp>
        <p:nvSpPr>
          <p:cNvPr id="18" name="Text 16"/>
          <p:cNvSpPr/>
          <p:nvPr/>
        </p:nvSpPr>
        <p:spPr>
          <a:xfrm>
            <a:off x="9906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keeps score</a:t>
            </a:r>
            <a:endParaRPr lang="en-US" sz="1500" dirty="0"/>
          </a:p>
        </p:txBody>
      </p:sp>
      <p:sp>
        <p:nvSpPr>
          <p:cNvPr id="19" name="Shape 17"/>
          <p:cNvSpPr/>
          <p:nvPr/>
        </p:nvSpPr>
        <p:spPr>
          <a:xfrm>
            <a:off x="3498850" y="4739680"/>
            <a:ext cx="2514600" cy="1095970"/>
          </a:xfrm>
          <a:prstGeom prst="roundRect">
            <a:avLst>
              <a:gd name="adj" fmla="val 9850"/>
            </a:avLst>
          </a:prstGeom>
          <a:solidFill>
            <a:srgbClr val="F4E9D2"/>
          </a:solidFill>
          <a:ln w="12700">
            <a:solidFill>
              <a:srgbClr val="DFD0B4"/>
            </a:solidFill>
            <a:prstDash val="solid"/>
          </a:ln>
        </p:spPr>
      </p:sp>
      <p:sp>
        <p:nvSpPr>
          <p:cNvPr id="20" name="Text 18"/>
          <p:cNvSpPr/>
          <p:nvPr/>
        </p:nvSpPr>
        <p:spPr>
          <a:xfrm>
            <a:off x="36703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6</a:t>
            </a:r>
            <a:endParaRPr lang="en-US" sz="1200" dirty="0"/>
          </a:p>
        </p:txBody>
      </p:sp>
      <p:sp>
        <p:nvSpPr>
          <p:cNvPr id="21" name="Text 19"/>
          <p:cNvSpPr/>
          <p:nvPr/>
        </p:nvSpPr>
        <p:spPr>
          <a:xfrm>
            <a:off x="3670300" y="5187950"/>
            <a:ext cx="2236851" cy="501650"/>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lives, Game Over, play again</a:t>
            </a:r>
            <a:endParaRPr lang="en-US" sz="1500" dirty="0"/>
          </a:p>
        </p:txBody>
      </p:sp>
      <p:sp>
        <p:nvSpPr>
          <p:cNvPr id="22" name="Shape 20"/>
          <p:cNvSpPr/>
          <p:nvPr/>
        </p:nvSpPr>
        <p:spPr>
          <a:xfrm>
            <a:off x="6178550" y="4739680"/>
            <a:ext cx="2514600" cy="1095970"/>
          </a:xfrm>
          <a:prstGeom prst="roundRect">
            <a:avLst>
              <a:gd name="adj" fmla="val 9850"/>
            </a:avLst>
          </a:prstGeom>
          <a:solidFill>
            <a:srgbClr val="F4E9D2"/>
          </a:solidFill>
          <a:ln w="12700">
            <a:solidFill>
              <a:srgbClr val="DFD0B4"/>
            </a:solidFill>
            <a:prstDash val="solid"/>
          </a:ln>
        </p:spPr>
      </p:sp>
      <p:sp>
        <p:nvSpPr>
          <p:cNvPr id="23" name="Text 21"/>
          <p:cNvSpPr/>
          <p:nvPr/>
        </p:nvSpPr>
        <p:spPr>
          <a:xfrm>
            <a:off x="63500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7</a:t>
            </a:r>
            <a:endParaRPr lang="en-US" sz="1200" dirty="0"/>
          </a:p>
        </p:txBody>
      </p:sp>
      <p:sp>
        <p:nvSpPr>
          <p:cNvPr id="24" name="Text 22"/>
          <p:cNvSpPr/>
          <p:nvPr/>
        </p:nvSpPr>
        <p:spPr>
          <a:xfrm>
            <a:off x="63500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it gets harder</a:t>
            </a:r>
            <a:endParaRPr lang="en-US" sz="1500" dirty="0"/>
          </a:p>
        </p:txBody>
      </p:sp>
      <p:sp>
        <p:nvSpPr>
          <p:cNvPr id="25" name="Shape 23"/>
          <p:cNvSpPr/>
          <p:nvPr/>
        </p:nvSpPr>
        <p:spPr>
          <a:xfrm>
            <a:off x="8858250" y="4739680"/>
            <a:ext cx="2514600" cy="1095970"/>
          </a:xfrm>
          <a:prstGeom prst="roundRect">
            <a:avLst>
              <a:gd name="adj" fmla="val 9850"/>
            </a:avLst>
          </a:prstGeom>
          <a:solidFill>
            <a:srgbClr val="F4E9D2"/>
          </a:solidFill>
          <a:ln w="12700">
            <a:solidFill>
              <a:srgbClr val="DFD0B4"/>
            </a:solidFill>
            <a:prstDash val="solid"/>
          </a:ln>
        </p:spPr>
      </p:sp>
      <p:sp>
        <p:nvSpPr>
          <p:cNvPr id="26" name="Text 24"/>
          <p:cNvSpPr/>
          <p:nvPr/>
        </p:nvSpPr>
        <p:spPr>
          <a:xfrm>
            <a:off x="9029700" y="4911130"/>
            <a:ext cx="2236851"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6F6144"/>
                </a:solidFill>
                <a:latin typeface="Nunito Sans" pitchFamily="34" charset="0"/>
                <a:ea typeface="Nunito Sans" pitchFamily="34" charset="-122"/>
                <a:cs typeface="Nunito Sans" pitchFamily="34" charset="-120"/>
              </a:rPr>
              <a:t>WEEK 8</a:t>
            </a:r>
            <a:endParaRPr lang="en-US" sz="1200" dirty="0"/>
          </a:p>
        </p:txBody>
      </p:sp>
      <p:sp>
        <p:nvSpPr>
          <p:cNvPr id="27" name="Text 25"/>
          <p:cNvSpPr/>
          <p:nvPr/>
        </p:nvSpPr>
        <p:spPr>
          <a:xfrm>
            <a:off x="9029700" y="5187950"/>
            <a:ext cx="2236851"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6E5C52"/>
                </a:solidFill>
                <a:latin typeface="Nunito Sans" pitchFamily="34" charset="0"/>
                <a:ea typeface="Nunito Sans" pitchFamily="34" charset="-122"/>
                <a:cs typeface="Nunito Sans" pitchFamily="34" charset="-120"/>
              </a:rPr>
              <a:t>you show your family</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193456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WELCOME TO GAME MAKERS</a:t>
            </a:r>
            <a:endParaRPr lang="en-US" sz="1300" dirty="0"/>
          </a:p>
        </p:txBody>
      </p:sp>
      <p:sp>
        <p:nvSpPr>
          <p:cNvPr id="3" name="Text 1"/>
          <p:cNvSpPr/>
          <p:nvPr/>
        </p:nvSpPr>
        <p:spPr>
          <a:xfrm>
            <a:off x="812800" y="2394248"/>
            <a:ext cx="9941560" cy="1988145"/>
          </a:xfrm>
          <a:prstGeom prst="rect">
            <a:avLst/>
          </a:prstGeom>
          <a:noFill/>
          <a:ln/>
        </p:spPr>
        <p:txBody>
          <a:bodyPr wrap="square" lIns="0" tIns="0" rIns="0" bIns="0" rtlCol="0" anchor="t">
            <a:normAutofit/>
          </a:bodyPr>
          <a:lstStyle/>
          <a:p>
            <a:pPr algn="l" indent="0" marL="0">
              <a:lnSpc>
                <a:spcPts val="5152"/>
              </a:lnSpc>
              <a:buNone/>
            </a:pPr>
            <a:r>
              <a:rPr lang="en-US" sz="4600" b="1" dirty="0">
                <a:solidFill>
                  <a:srgbClr val="FFF4E8"/>
                </a:solidFill>
                <a:latin typeface="Fredoka" pitchFamily="34" charset="0"/>
                <a:ea typeface="Fredoka" pitchFamily="34" charset="-122"/>
                <a:cs typeface="Fredoka" pitchFamily="34" charset="-120"/>
              </a:rPr>
              <a:t>In eight weeks you will build a game like this one.</a:t>
            </a:r>
            <a:endParaRPr lang="en-US" sz="4600" dirty="0"/>
          </a:p>
          <a:p>
            <a:pPr algn="l" indent="0" marL="0">
              <a:lnSpc>
                <a:spcPts val="5152"/>
              </a:lnSpc>
              <a:buNone/>
            </a:pPr>
            <a:r>
              <a:rPr lang="en-US" sz="4600" b="1" dirty="0">
                <a:solidFill>
                  <a:srgbClr val="FFF4E8"/>
                </a:solidFill>
                <a:latin typeface="Fredoka" pitchFamily="34" charset="0"/>
                <a:ea typeface="Fredoka" pitchFamily="34" charset="-122"/>
                <a:cs typeface="Fredoka" pitchFamily="34" charset="-120"/>
              </a:rPr>
              <a:t>Yours will be better than mine.</a:t>
            </a:r>
            <a:endParaRPr lang="en-US" sz="4600" dirty="0"/>
          </a:p>
        </p:txBody>
      </p:sp>
      <p:sp>
        <p:nvSpPr>
          <p:cNvPr id="4" name="Text 2"/>
          <p:cNvSpPr/>
          <p:nvPr/>
        </p:nvSpPr>
        <p:spPr>
          <a:xfrm>
            <a:off x="812800" y="4585593"/>
            <a:ext cx="7848600" cy="363141"/>
          </a:xfrm>
          <a:prstGeom prst="rect">
            <a:avLst/>
          </a:prstGeom>
          <a:noFill/>
          <a:ln/>
        </p:spPr>
        <p:txBody>
          <a:bodyPr wrap="square" lIns="0" tIns="0" rIns="0" bIns="0" rtlCol="0" anchor="t">
            <a:normAutofit/>
          </a:bodyPr>
          <a:lstStyle/>
          <a:p>
            <a:pPr algn="l" indent="0" marL="0">
              <a:lnSpc>
                <a:spcPts val="2660"/>
              </a:lnSpc>
              <a:buNone/>
            </a:pPr>
            <a:r>
              <a:rPr lang="en-US" sz="1900" b="1" dirty="0">
                <a:solidFill>
                  <a:srgbClr val="F3C9CF"/>
                </a:solidFill>
                <a:latin typeface="Nunito Sans" pitchFamily="34" charset="0"/>
                <a:ea typeface="Nunito Sans" pitchFamily="34" charset="-122"/>
                <a:cs typeface="Nunito Sans" pitchFamily="34" charset="-120"/>
              </a:rPr>
              <a:t>Right now, just watch.</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TODAY</a:t>
            </a:r>
            <a:endParaRPr lang="en-US" sz="1300" dirty="0"/>
          </a:p>
        </p:txBody>
      </p:sp>
      <p:sp>
        <p:nvSpPr>
          <p:cNvPr id="3" name="Text 1"/>
          <p:cNvSpPr/>
          <p:nvPr/>
        </p:nvSpPr>
        <p:spPr>
          <a:xfrm>
            <a:off x="812800" y="229939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Here's the plan</a:t>
            </a:r>
            <a:endParaRPr lang="en-US" sz="4000" dirty="0"/>
          </a:p>
        </p:txBody>
      </p:sp>
      <p:sp>
        <p:nvSpPr>
          <p:cNvPr id="4" name="Shape 2"/>
          <p:cNvSpPr/>
          <p:nvPr/>
        </p:nvSpPr>
        <p:spPr>
          <a:xfrm>
            <a:off x="819150" y="4109839"/>
            <a:ext cx="3373934" cy="1725811"/>
          </a:xfrm>
          <a:prstGeom prst="roundRect">
            <a:avLst>
              <a:gd name="adj" fmla="val 7727"/>
            </a:avLst>
          </a:prstGeom>
          <a:solidFill>
            <a:srgbClr val="FFFCF4"/>
          </a:solidFill>
          <a:ln w="12700">
            <a:solidFill>
              <a:srgbClr val="E4D7BE"/>
            </a:solidFill>
            <a:prstDash val="solid"/>
          </a:ln>
        </p:spPr>
      </p:sp>
      <p:sp>
        <p:nvSpPr>
          <p:cNvPr id="5" name="Text 3"/>
          <p:cNvSpPr/>
          <p:nvPr/>
        </p:nvSpPr>
        <p:spPr>
          <a:xfrm>
            <a:off x="1054100"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1</a:t>
            </a:r>
            <a:endParaRPr lang="en-US" sz="1400" dirty="0"/>
          </a:p>
        </p:txBody>
      </p:sp>
      <p:sp>
        <p:nvSpPr>
          <p:cNvPr id="6" name="Text 4"/>
          <p:cNvSpPr/>
          <p:nvPr/>
        </p:nvSpPr>
        <p:spPr>
          <a:xfrm>
            <a:off x="1054100"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Meet Scratch</a:t>
            </a:r>
            <a:endParaRPr lang="en-US" sz="2200" dirty="0"/>
          </a:p>
        </p:txBody>
      </p:sp>
      <p:sp>
        <p:nvSpPr>
          <p:cNvPr id="7" name="Text 5"/>
          <p:cNvSpPr/>
          <p:nvPr/>
        </p:nvSpPr>
        <p:spPr>
          <a:xfrm>
            <a:off x="1054100"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The four parts of the screen, and what each one is for.</a:t>
            </a:r>
            <a:endParaRPr lang="en-US" sz="1500" dirty="0"/>
          </a:p>
        </p:txBody>
      </p:sp>
      <p:sp>
        <p:nvSpPr>
          <p:cNvPr id="8" name="Shape 6"/>
          <p:cNvSpPr/>
          <p:nvPr/>
        </p:nvSpPr>
        <p:spPr>
          <a:xfrm>
            <a:off x="4408984" y="4109839"/>
            <a:ext cx="3374033" cy="1725811"/>
          </a:xfrm>
          <a:prstGeom prst="roundRect">
            <a:avLst>
              <a:gd name="adj" fmla="val 7727"/>
            </a:avLst>
          </a:prstGeom>
          <a:solidFill>
            <a:srgbClr val="FFFCF4"/>
          </a:solidFill>
          <a:ln w="12700">
            <a:solidFill>
              <a:srgbClr val="E4D7BE"/>
            </a:solidFill>
            <a:prstDash val="solid"/>
          </a:ln>
        </p:spPr>
      </p:sp>
      <p:sp>
        <p:nvSpPr>
          <p:cNvPr id="9" name="Text 7"/>
          <p:cNvSpPr/>
          <p:nvPr/>
        </p:nvSpPr>
        <p:spPr>
          <a:xfrm>
            <a:off x="4643934" y="4344789"/>
            <a:ext cx="2991257"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2</a:t>
            </a:r>
            <a:endParaRPr lang="en-US" sz="1400" dirty="0"/>
          </a:p>
        </p:txBody>
      </p:sp>
      <p:sp>
        <p:nvSpPr>
          <p:cNvPr id="10" name="Text 8"/>
          <p:cNvSpPr/>
          <p:nvPr/>
        </p:nvSpPr>
        <p:spPr>
          <a:xfrm>
            <a:off x="4643934" y="4669830"/>
            <a:ext cx="2991257"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Make a Name Dance</a:t>
            </a:r>
            <a:endParaRPr lang="en-US" sz="2200" dirty="0"/>
          </a:p>
        </p:txBody>
      </p:sp>
      <p:sp>
        <p:nvSpPr>
          <p:cNvPr id="11" name="Text 9"/>
          <p:cNvSpPr/>
          <p:nvPr/>
        </p:nvSpPr>
        <p:spPr>
          <a:xfrm>
            <a:off x="4643934" y="5067300"/>
            <a:ext cx="299125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A sprite that says your name and then dances.</a:t>
            </a:r>
            <a:endParaRPr lang="en-US" sz="1500" dirty="0"/>
          </a:p>
        </p:txBody>
      </p:sp>
      <p:sp>
        <p:nvSpPr>
          <p:cNvPr id="12" name="Shape 10"/>
          <p:cNvSpPr/>
          <p:nvPr/>
        </p:nvSpPr>
        <p:spPr>
          <a:xfrm>
            <a:off x="7998916" y="4109839"/>
            <a:ext cx="3373934" cy="1725811"/>
          </a:xfrm>
          <a:prstGeom prst="roundRect">
            <a:avLst>
              <a:gd name="adj" fmla="val 7727"/>
            </a:avLst>
          </a:prstGeom>
          <a:solidFill>
            <a:srgbClr val="FFFCF4"/>
          </a:solidFill>
          <a:ln w="12700">
            <a:solidFill>
              <a:srgbClr val="E4D7BE"/>
            </a:solidFill>
            <a:prstDash val="solid"/>
          </a:ln>
        </p:spPr>
      </p:sp>
      <p:sp>
        <p:nvSpPr>
          <p:cNvPr id="13" name="Text 11"/>
          <p:cNvSpPr/>
          <p:nvPr/>
        </p:nvSpPr>
        <p:spPr>
          <a:xfrm>
            <a:off x="8233866" y="4344789"/>
            <a:ext cx="2991155" cy="274241"/>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712"/>
                </a:solidFill>
                <a:latin typeface="Nunito Sans" pitchFamily="34" charset="0"/>
                <a:ea typeface="Nunito Sans" pitchFamily="34" charset="-122"/>
                <a:cs typeface="Nunito Sans" pitchFamily="34" charset="-120"/>
              </a:rPr>
              <a:t>3</a:t>
            </a:r>
            <a:endParaRPr lang="en-US" sz="1400" dirty="0"/>
          </a:p>
        </p:txBody>
      </p:sp>
      <p:sp>
        <p:nvSpPr>
          <p:cNvPr id="14" name="Text 12"/>
          <p:cNvSpPr/>
          <p:nvPr/>
        </p:nvSpPr>
        <p:spPr>
          <a:xfrm>
            <a:off x="8233866" y="4669830"/>
            <a:ext cx="2991155" cy="34667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2E1015"/>
                </a:solidFill>
                <a:latin typeface="Fredoka" pitchFamily="34" charset="0"/>
                <a:ea typeface="Fredoka" pitchFamily="34" charset="-122"/>
                <a:cs typeface="Fredoka" pitchFamily="34" charset="-120"/>
              </a:rPr>
              <a:t>Start your own game</a:t>
            </a:r>
            <a:endParaRPr lang="en-US" sz="2200" dirty="0"/>
          </a:p>
        </p:txBody>
      </p:sp>
      <p:sp>
        <p:nvSpPr>
          <p:cNvPr id="15" name="Text 13"/>
          <p:cNvSpPr/>
          <p:nvPr/>
        </p:nvSpPr>
        <p:spPr>
          <a:xfrm>
            <a:off x="8233866" y="5067300"/>
            <a:ext cx="299115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Pick your theme, and get your character on screen.</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C9A227"/>
        </a:solidFill>
      </p:bgPr>
    </p:bg>
    <p:spTree>
      <p:nvGrpSpPr>
        <p:cNvPr id="1" name=""/>
        <p:cNvGrpSpPr/>
        <p:nvPr/>
      </p:nvGrpSpPr>
      <p:grpSpPr>
        <a:xfrm>
          <a:off x="0" y="0"/>
          <a:ext cx="0" cy="0"/>
          <a:chOff x="0" y="0"/>
          <a:chExt cx="0" cy="0"/>
        </a:xfrm>
      </p:grpSpPr>
      <p:sp>
        <p:nvSpPr>
          <p:cNvPr id="2" name="Text 0"/>
          <p:cNvSpPr/>
          <p:nvPr/>
        </p:nvSpPr>
        <p:spPr>
          <a:xfrm>
            <a:off x="812800" y="2139057"/>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5A4A08"/>
                </a:solidFill>
                <a:latin typeface="Nunito Sans" pitchFamily="34" charset="0"/>
                <a:ea typeface="Nunito Sans" pitchFamily="34" charset="-122"/>
                <a:cs typeface="Nunito Sans" pitchFamily="34" charset="-120"/>
              </a:rPr>
              <a:t>THE BIG IDEA</a:t>
            </a:r>
            <a:endParaRPr lang="en-US" sz="1300" dirty="0"/>
          </a:p>
        </p:txBody>
      </p:sp>
      <p:sp>
        <p:nvSpPr>
          <p:cNvPr id="3" name="Text 1"/>
          <p:cNvSpPr/>
          <p:nvPr/>
        </p:nvSpPr>
        <p:spPr>
          <a:xfrm>
            <a:off x="812800" y="2598738"/>
            <a:ext cx="9810750" cy="1276945"/>
          </a:xfrm>
          <a:prstGeom prst="rect">
            <a:avLst/>
          </a:prstGeom>
          <a:noFill/>
          <a:ln/>
        </p:spPr>
        <p:txBody>
          <a:bodyPr wrap="square" lIns="0" tIns="0" rIns="0" bIns="0" rtlCol="0" anchor="t">
            <a:normAutofit/>
          </a:bodyPr>
          <a:lstStyle/>
          <a:p>
            <a:pPr algn="l" indent="0" marL="0">
              <a:lnSpc>
                <a:spcPts val="4928"/>
              </a:lnSpc>
              <a:buNone/>
            </a:pPr>
            <a:r>
              <a:rPr lang="en-US" sz="4400" b="1" dirty="0">
                <a:solidFill>
                  <a:srgbClr val="2E1015"/>
                </a:solidFill>
                <a:latin typeface="Fredoka" pitchFamily="34" charset="0"/>
                <a:ea typeface="Fredoka" pitchFamily="34" charset="-122"/>
                <a:cs typeface="Fredoka" pitchFamily="34" charset="-120"/>
              </a:rPr>
              <a:t>Computers do exactly what you say, in exactly the order you say it.</a:t>
            </a:r>
            <a:endParaRPr lang="en-US" sz="4400" dirty="0"/>
          </a:p>
        </p:txBody>
      </p:sp>
      <p:sp>
        <p:nvSpPr>
          <p:cNvPr id="4" name="Text 2"/>
          <p:cNvSpPr/>
          <p:nvPr/>
        </p:nvSpPr>
        <p:spPr>
          <a:xfrm>
            <a:off x="812800" y="4078883"/>
            <a:ext cx="8502650" cy="665361"/>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5A4A08"/>
                </a:solidFill>
                <a:latin typeface="Nunito Sans" pitchFamily="34" charset="0"/>
                <a:ea typeface="Nunito Sans" pitchFamily="34" charset="-122"/>
                <a:cs typeface="Nunito Sans" pitchFamily="34" charset="-120"/>
              </a:rPr>
              <a:t>Every bug you will ever have is you saying something slightly different from what you meant.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THE SCRATCH WINDOW</a:t>
            </a:r>
            <a:endParaRPr lang="en-US" sz="1300" dirty="0"/>
          </a:p>
        </p:txBody>
      </p:sp>
      <p:sp>
        <p:nvSpPr>
          <p:cNvPr id="3" name="Text 1"/>
          <p:cNvSpPr/>
          <p:nvPr/>
        </p:nvSpPr>
        <p:spPr>
          <a:xfrm>
            <a:off x="812800" y="237777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Four parts, four names</a:t>
            </a:r>
            <a:endParaRPr lang="en-US" sz="4000" dirty="0"/>
          </a:p>
        </p:txBody>
      </p:sp>
      <p:sp>
        <p:nvSpPr>
          <p:cNvPr id="4" name="Shape 2"/>
          <p:cNvSpPr/>
          <p:nvPr/>
        </p:nvSpPr>
        <p:spPr>
          <a:xfrm>
            <a:off x="819150" y="4266505"/>
            <a:ext cx="2476500" cy="1569145"/>
          </a:xfrm>
          <a:prstGeom prst="roundRect">
            <a:avLst>
              <a:gd name="adj" fmla="val 8498"/>
            </a:avLst>
          </a:prstGeom>
          <a:solidFill>
            <a:srgbClr val="FFFCF4"/>
          </a:solidFill>
          <a:ln w="12700">
            <a:solidFill>
              <a:srgbClr val="E4D7BE"/>
            </a:solidFill>
            <a:prstDash val="solid"/>
          </a:ln>
        </p:spPr>
      </p:sp>
      <p:sp>
        <p:nvSpPr>
          <p:cNvPr id="5" name="Text 3"/>
          <p:cNvSpPr/>
          <p:nvPr/>
        </p:nvSpPr>
        <p:spPr>
          <a:xfrm>
            <a:off x="1054100" y="4501455"/>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Stage</a:t>
            </a:r>
            <a:endParaRPr lang="en-US" sz="1900" dirty="0"/>
          </a:p>
        </p:txBody>
      </p:sp>
      <p:sp>
        <p:nvSpPr>
          <p:cNvPr id="6" name="Text 4"/>
          <p:cNvSpPr/>
          <p:nvPr/>
        </p:nvSpPr>
        <p:spPr>
          <a:xfrm>
            <a:off x="1054100" y="4855071"/>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Top right. This is where the game actually happens.</a:t>
            </a:r>
            <a:endParaRPr lang="en-US" sz="1450" dirty="0"/>
          </a:p>
        </p:txBody>
      </p:sp>
      <p:sp>
        <p:nvSpPr>
          <p:cNvPr id="7" name="Shape 5"/>
          <p:cNvSpPr/>
          <p:nvPr/>
        </p:nvSpPr>
        <p:spPr>
          <a:xfrm>
            <a:off x="3511550" y="4266505"/>
            <a:ext cx="2476500" cy="1569145"/>
          </a:xfrm>
          <a:prstGeom prst="roundRect">
            <a:avLst>
              <a:gd name="adj" fmla="val 8498"/>
            </a:avLst>
          </a:prstGeom>
          <a:solidFill>
            <a:srgbClr val="FFFCF4"/>
          </a:solidFill>
          <a:ln w="12700">
            <a:solidFill>
              <a:srgbClr val="E4D7BE"/>
            </a:solidFill>
            <a:prstDash val="solid"/>
          </a:ln>
        </p:spPr>
      </p:sp>
      <p:sp>
        <p:nvSpPr>
          <p:cNvPr id="8" name="Text 6"/>
          <p:cNvSpPr/>
          <p:nvPr/>
        </p:nvSpPr>
        <p:spPr>
          <a:xfrm>
            <a:off x="3746500" y="4501455"/>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Sprite list</a:t>
            </a:r>
            <a:endParaRPr lang="en-US" sz="1900" dirty="0"/>
          </a:p>
        </p:txBody>
      </p:sp>
      <p:sp>
        <p:nvSpPr>
          <p:cNvPr id="9" name="Text 7"/>
          <p:cNvSpPr/>
          <p:nvPr/>
        </p:nvSpPr>
        <p:spPr>
          <a:xfrm>
            <a:off x="3746500" y="4855071"/>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Bottom right. Every character in your game lives here.</a:t>
            </a:r>
            <a:endParaRPr lang="en-US" sz="1450" dirty="0"/>
          </a:p>
        </p:txBody>
      </p:sp>
      <p:sp>
        <p:nvSpPr>
          <p:cNvPr id="10" name="Shape 8"/>
          <p:cNvSpPr/>
          <p:nvPr/>
        </p:nvSpPr>
        <p:spPr>
          <a:xfrm>
            <a:off x="6203950" y="4266505"/>
            <a:ext cx="2476500" cy="1569145"/>
          </a:xfrm>
          <a:prstGeom prst="roundRect">
            <a:avLst>
              <a:gd name="adj" fmla="val 8498"/>
            </a:avLst>
          </a:prstGeom>
          <a:solidFill>
            <a:srgbClr val="FFFCF4"/>
          </a:solidFill>
          <a:ln w="12700">
            <a:solidFill>
              <a:srgbClr val="E4D7BE"/>
            </a:solidFill>
            <a:prstDash val="solid"/>
          </a:ln>
        </p:spPr>
      </p:sp>
      <p:sp>
        <p:nvSpPr>
          <p:cNvPr id="11" name="Text 9"/>
          <p:cNvSpPr/>
          <p:nvPr/>
        </p:nvSpPr>
        <p:spPr>
          <a:xfrm>
            <a:off x="6438900" y="4501455"/>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Block palette</a:t>
            </a:r>
            <a:endParaRPr lang="en-US" sz="1900" dirty="0"/>
          </a:p>
        </p:txBody>
      </p:sp>
      <p:sp>
        <p:nvSpPr>
          <p:cNvPr id="12" name="Text 10"/>
          <p:cNvSpPr/>
          <p:nvPr/>
        </p:nvSpPr>
        <p:spPr>
          <a:xfrm>
            <a:off x="6438900" y="4855071"/>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Down the left. All the instructions you can use.</a:t>
            </a:r>
            <a:endParaRPr lang="en-US" sz="1450" dirty="0"/>
          </a:p>
        </p:txBody>
      </p:sp>
      <p:sp>
        <p:nvSpPr>
          <p:cNvPr id="13" name="Shape 11"/>
          <p:cNvSpPr/>
          <p:nvPr/>
        </p:nvSpPr>
        <p:spPr>
          <a:xfrm>
            <a:off x="8896350" y="4266505"/>
            <a:ext cx="2476500" cy="1569145"/>
          </a:xfrm>
          <a:prstGeom prst="roundRect">
            <a:avLst>
              <a:gd name="adj" fmla="val 8498"/>
            </a:avLst>
          </a:prstGeom>
          <a:solidFill>
            <a:srgbClr val="FFFCF4"/>
          </a:solidFill>
          <a:ln w="12700">
            <a:solidFill>
              <a:srgbClr val="E4D7BE"/>
            </a:solidFill>
            <a:prstDash val="solid"/>
          </a:ln>
        </p:spPr>
      </p:sp>
      <p:sp>
        <p:nvSpPr>
          <p:cNvPr id="14" name="Text 12"/>
          <p:cNvSpPr/>
          <p:nvPr/>
        </p:nvSpPr>
        <p:spPr>
          <a:xfrm>
            <a:off x="9131300" y="4501455"/>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Code area</a:t>
            </a:r>
            <a:endParaRPr lang="en-US" sz="1900" dirty="0"/>
          </a:p>
        </p:txBody>
      </p:sp>
      <p:sp>
        <p:nvSpPr>
          <p:cNvPr id="15" name="Text 13"/>
          <p:cNvSpPr/>
          <p:nvPr/>
        </p:nvSpPr>
        <p:spPr>
          <a:xfrm>
            <a:off x="9131300" y="4855071"/>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The middle. Where you drag blocks to build a script.</a:t>
            </a:r>
            <a:endParaRPr lang="en-US" sz="145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NEW BLOCKS TODAY</a:t>
            </a:r>
            <a:endParaRPr lang="en-US" sz="1300" dirty="0"/>
          </a:p>
        </p:txBody>
      </p:sp>
      <p:sp>
        <p:nvSpPr>
          <p:cNvPr id="3" name="Text 1"/>
          <p:cNvSpPr/>
          <p:nvPr/>
        </p:nvSpPr>
        <p:spPr>
          <a:xfrm>
            <a:off x="812800" y="2021384"/>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Say hello to these</a:t>
            </a:r>
            <a:endParaRPr lang="en-US" sz="4000" dirty="0"/>
          </a:p>
        </p:txBody>
      </p:sp>
      <p:sp>
        <p:nvSpPr>
          <p:cNvPr id="4" name="Shape 2"/>
          <p:cNvSpPr/>
          <p:nvPr/>
        </p:nvSpPr>
        <p:spPr>
          <a:xfrm>
            <a:off x="812800" y="3547566"/>
            <a:ext cx="792063" cy="358080"/>
          </a:xfrm>
          <a:prstGeom prst="roundRect">
            <a:avLst>
              <a:gd name="adj" fmla="val 42560"/>
            </a:avLst>
          </a:prstGeom>
          <a:solidFill>
            <a:srgbClr val="FFBF00"/>
          </a:solidFill>
          <a:ln/>
        </p:spPr>
      </p:sp>
      <p:sp>
        <p:nvSpPr>
          <p:cNvPr id="5" name="Text 3"/>
          <p:cNvSpPr/>
          <p:nvPr/>
        </p:nvSpPr>
        <p:spPr>
          <a:xfrm>
            <a:off x="952500" y="3611066"/>
            <a:ext cx="563463"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A1206"/>
                </a:solidFill>
                <a:latin typeface="Nunito Sans" pitchFamily="34" charset="0"/>
                <a:ea typeface="Nunito Sans" pitchFamily="34" charset="-122"/>
                <a:cs typeface="Nunito Sans" pitchFamily="34" charset="-120"/>
              </a:rPr>
              <a:t>Events</a:t>
            </a:r>
            <a:endParaRPr lang="en-US" sz="1300" dirty="0"/>
          </a:p>
        </p:txBody>
      </p:sp>
      <p:sp>
        <p:nvSpPr>
          <p:cNvPr id="6" name="Shape 4"/>
          <p:cNvSpPr/>
          <p:nvPr/>
        </p:nvSpPr>
        <p:spPr>
          <a:xfrm>
            <a:off x="1693763" y="3547566"/>
            <a:ext cx="814189" cy="358080"/>
          </a:xfrm>
          <a:prstGeom prst="roundRect">
            <a:avLst>
              <a:gd name="adj" fmla="val 42560"/>
            </a:avLst>
          </a:prstGeom>
          <a:solidFill>
            <a:srgbClr val="3373CC"/>
          </a:solidFill>
          <a:ln/>
        </p:spPr>
      </p:sp>
      <p:sp>
        <p:nvSpPr>
          <p:cNvPr id="7" name="Text 5"/>
          <p:cNvSpPr/>
          <p:nvPr/>
        </p:nvSpPr>
        <p:spPr>
          <a:xfrm>
            <a:off x="1833463" y="3611066"/>
            <a:ext cx="585589"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Motion</a:t>
            </a:r>
            <a:endParaRPr lang="en-US" sz="1300" dirty="0"/>
          </a:p>
        </p:txBody>
      </p:sp>
      <p:sp>
        <p:nvSpPr>
          <p:cNvPr id="8" name="Shape 6"/>
          <p:cNvSpPr/>
          <p:nvPr/>
        </p:nvSpPr>
        <p:spPr>
          <a:xfrm>
            <a:off x="2596852" y="3547566"/>
            <a:ext cx="729357" cy="358080"/>
          </a:xfrm>
          <a:prstGeom prst="roundRect">
            <a:avLst>
              <a:gd name="adj" fmla="val 42560"/>
            </a:avLst>
          </a:prstGeom>
          <a:solidFill>
            <a:srgbClr val="774DCB"/>
          </a:solidFill>
          <a:ln/>
        </p:spPr>
      </p:sp>
      <p:sp>
        <p:nvSpPr>
          <p:cNvPr id="9" name="Text 7"/>
          <p:cNvSpPr/>
          <p:nvPr/>
        </p:nvSpPr>
        <p:spPr>
          <a:xfrm>
            <a:off x="2736552" y="3611066"/>
            <a:ext cx="500757"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FFFFF"/>
                </a:solidFill>
                <a:latin typeface="Nunito Sans" pitchFamily="34" charset="0"/>
                <a:ea typeface="Nunito Sans" pitchFamily="34" charset="-122"/>
                <a:cs typeface="Nunito Sans" pitchFamily="34" charset="-120"/>
              </a:rPr>
              <a:t>Looks</a:t>
            </a:r>
            <a:endParaRPr lang="en-US" sz="1300" dirty="0"/>
          </a:p>
        </p:txBody>
      </p:sp>
      <p:sp>
        <p:nvSpPr>
          <p:cNvPr id="10" name="Shape 8"/>
          <p:cNvSpPr/>
          <p:nvPr/>
        </p:nvSpPr>
        <p:spPr>
          <a:xfrm>
            <a:off x="812800" y="4883150"/>
            <a:ext cx="2422922" cy="428625"/>
          </a:xfrm>
          <a:prstGeom prst="roundRect">
            <a:avLst>
              <a:gd name="adj" fmla="val 20741"/>
            </a:avLst>
          </a:prstGeom>
          <a:solidFill>
            <a:srgbClr val="FFBF00"/>
          </a:solidFill>
          <a:ln/>
        </p:spPr>
      </p:sp>
      <p:sp>
        <p:nvSpPr>
          <p:cNvPr id="11" name="Text 9"/>
          <p:cNvSpPr/>
          <p:nvPr/>
        </p:nvSpPr>
        <p:spPr>
          <a:xfrm>
            <a:off x="971550" y="4978400"/>
            <a:ext cx="2168585"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1A1206"/>
                </a:solidFill>
                <a:latin typeface="Nunito Sans" pitchFamily="34" charset="0"/>
                <a:ea typeface="Nunito Sans" pitchFamily="34" charset="-122"/>
                <a:cs typeface="Nunito Sans" pitchFamily="34" charset="-120"/>
              </a:rPr>
              <a:t>when green flag clicked</a:t>
            </a:r>
            <a:endParaRPr lang="en-US" sz="1500" dirty="0"/>
          </a:p>
        </p:txBody>
      </p:sp>
      <p:sp>
        <p:nvSpPr>
          <p:cNvPr id="12" name="Shape 10"/>
          <p:cNvSpPr/>
          <p:nvPr/>
        </p:nvSpPr>
        <p:spPr>
          <a:xfrm>
            <a:off x="3337322" y="4883150"/>
            <a:ext cx="1600398" cy="428625"/>
          </a:xfrm>
          <a:prstGeom prst="roundRect">
            <a:avLst>
              <a:gd name="adj" fmla="val 20741"/>
            </a:avLst>
          </a:prstGeom>
          <a:solidFill>
            <a:srgbClr val="3373CC"/>
          </a:solidFill>
          <a:ln/>
        </p:spPr>
      </p:sp>
      <p:sp>
        <p:nvSpPr>
          <p:cNvPr id="13" name="Text 11"/>
          <p:cNvSpPr/>
          <p:nvPr/>
        </p:nvSpPr>
        <p:spPr>
          <a:xfrm>
            <a:off x="3496072" y="4978400"/>
            <a:ext cx="133369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move 10 steps</a:t>
            </a:r>
            <a:endParaRPr lang="en-US" sz="1500" dirty="0"/>
          </a:p>
        </p:txBody>
      </p:sp>
      <p:sp>
        <p:nvSpPr>
          <p:cNvPr id="14" name="Shape 12"/>
          <p:cNvSpPr/>
          <p:nvPr/>
        </p:nvSpPr>
        <p:spPr>
          <a:xfrm>
            <a:off x="5039320" y="4883150"/>
            <a:ext cx="1723827" cy="428625"/>
          </a:xfrm>
          <a:prstGeom prst="roundRect">
            <a:avLst>
              <a:gd name="adj" fmla="val 20741"/>
            </a:avLst>
          </a:prstGeom>
          <a:solidFill>
            <a:srgbClr val="3373CC"/>
          </a:solidFill>
          <a:ln/>
        </p:spPr>
      </p:sp>
      <p:sp>
        <p:nvSpPr>
          <p:cNvPr id="15" name="Text 13"/>
          <p:cNvSpPr/>
          <p:nvPr/>
        </p:nvSpPr>
        <p:spPr>
          <a:xfrm>
            <a:off x="5198070" y="4978400"/>
            <a:ext cx="1457127"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turn 15 degrees</a:t>
            </a:r>
            <a:endParaRPr lang="en-US" sz="1500" dirty="0"/>
          </a:p>
        </p:txBody>
      </p:sp>
      <p:sp>
        <p:nvSpPr>
          <p:cNvPr id="16" name="Shape 14"/>
          <p:cNvSpPr/>
          <p:nvPr/>
        </p:nvSpPr>
        <p:spPr>
          <a:xfrm>
            <a:off x="6864747" y="4883150"/>
            <a:ext cx="1508720" cy="428625"/>
          </a:xfrm>
          <a:prstGeom prst="roundRect">
            <a:avLst>
              <a:gd name="adj" fmla="val 20741"/>
            </a:avLst>
          </a:prstGeom>
          <a:solidFill>
            <a:srgbClr val="3373CC"/>
          </a:solidFill>
          <a:ln/>
        </p:spPr>
      </p:sp>
      <p:sp>
        <p:nvSpPr>
          <p:cNvPr id="17" name="Text 15"/>
          <p:cNvSpPr/>
          <p:nvPr/>
        </p:nvSpPr>
        <p:spPr>
          <a:xfrm>
            <a:off x="7023497" y="4978400"/>
            <a:ext cx="1242020"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go to x: 0 y: 0</a:t>
            </a:r>
            <a:endParaRPr lang="en-US" sz="1500" dirty="0"/>
          </a:p>
        </p:txBody>
      </p:sp>
      <p:sp>
        <p:nvSpPr>
          <p:cNvPr id="18" name="Shape 16"/>
          <p:cNvSpPr/>
          <p:nvPr/>
        </p:nvSpPr>
        <p:spPr>
          <a:xfrm>
            <a:off x="8475067" y="4883150"/>
            <a:ext cx="1329333" cy="428625"/>
          </a:xfrm>
          <a:prstGeom prst="roundRect">
            <a:avLst>
              <a:gd name="adj" fmla="val 20741"/>
            </a:avLst>
          </a:prstGeom>
          <a:solidFill>
            <a:srgbClr val="774DCB"/>
          </a:solidFill>
          <a:ln/>
        </p:spPr>
      </p:sp>
      <p:sp>
        <p:nvSpPr>
          <p:cNvPr id="19" name="Text 17"/>
          <p:cNvSpPr/>
          <p:nvPr/>
        </p:nvSpPr>
        <p:spPr>
          <a:xfrm>
            <a:off x="8633817" y="4978400"/>
            <a:ext cx="1062633"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[Hello!]</a:t>
            </a:r>
            <a:endParaRPr lang="en-US" sz="1500" dirty="0"/>
          </a:p>
        </p:txBody>
      </p:sp>
      <p:sp>
        <p:nvSpPr>
          <p:cNvPr id="20" name="Shape 18"/>
          <p:cNvSpPr/>
          <p:nvPr/>
        </p:nvSpPr>
        <p:spPr>
          <a:xfrm>
            <a:off x="812800" y="5413375"/>
            <a:ext cx="2561828" cy="428625"/>
          </a:xfrm>
          <a:prstGeom prst="roundRect">
            <a:avLst>
              <a:gd name="adj" fmla="val 20741"/>
            </a:avLst>
          </a:prstGeom>
          <a:solidFill>
            <a:srgbClr val="774DCB"/>
          </a:solidFill>
          <a:ln/>
        </p:spPr>
      </p:sp>
      <p:sp>
        <p:nvSpPr>
          <p:cNvPr id="21" name="Text 19"/>
          <p:cNvSpPr/>
          <p:nvPr/>
        </p:nvSpPr>
        <p:spPr>
          <a:xfrm>
            <a:off x="971550" y="5508625"/>
            <a:ext cx="2311658"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say [Hello!] for 2 seconds</a:t>
            </a:r>
            <a:endParaRPr lang="en-US" sz="1500" dirty="0"/>
          </a:p>
        </p:txBody>
      </p:sp>
      <p:sp>
        <p:nvSpPr>
          <p:cNvPr id="22" name="Shape 20"/>
          <p:cNvSpPr/>
          <p:nvPr/>
        </p:nvSpPr>
        <p:spPr>
          <a:xfrm>
            <a:off x="3476228" y="5413375"/>
            <a:ext cx="2159298" cy="428625"/>
          </a:xfrm>
          <a:prstGeom prst="roundRect">
            <a:avLst>
              <a:gd name="adj" fmla="val 20741"/>
            </a:avLst>
          </a:prstGeom>
          <a:solidFill>
            <a:srgbClr val="774DCB"/>
          </a:solidFill>
          <a:ln/>
        </p:spPr>
      </p:sp>
      <p:sp>
        <p:nvSpPr>
          <p:cNvPr id="23" name="Text 21"/>
          <p:cNvSpPr/>
          <p:nvPr/>
        </p:nvSpPr>
        <p:spPr>
          <a:xfrm>
            <a:off x="3634978" y="5508625"/>
            <a:ext cx="1897052"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switch costume to [ ]</a:t>
            </a:r>
            <a:endParaRPr lang="en-US" sz="1500" dirty="0"/>
          </a:p>
        </p:txBody>
      </p:sp>
      <p:sp>
        <p:nvSpPr>
          <p:cNvPr id="24" name="Shape 22"/>
          <p:cNvSpPr/>
          <p:nvPr/>
        </p:nvSpPr>
        <p:spPr>
          <a:xfrm>
            <a:off x="5737126" y="5413375"/>
            <a:ext cx="1503759" cy="428625"/>
          </a:xfrm>
          <a:prstGeom prst="roundRect">
            <a:avLst>
              <a:gd name="adj" fmla="val 20741"/>
            </a:avLst>
          </a:prstGeom>
          <a:solidFill>
            <a:srgbClr val="774DCB"/>
          </a:solidFill>
          <a:ln/>
        </p:spPr>
      </p:sp>
      <p:sp>
        <p:nvSpPr>
          <p:cNvPr id="25" name="Text 23"/>
          <p:cNvSpPr/>
          <p:nvPr/>
        </p:nvSpPr>
        <p:spPr>
          <a:xfrm>
            <a:off x="5895876" y="5508625"/>
            <a:ext cx="1237059"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next costume</a:t>
            </a:r>
            <a:endParaRPr lang="en-US" sz="1500" dirty="0"/>
          </a:p>
        </p:txBody>
      </p:sp>
      <p:sp>
        <p:nvSpPr>
          <p:cNvPr id="26" name="Shape 24"/>
          <p:cNvSpPr/>
          <p:nvPr/>
        </p:nvSpPr>
        <p:spPr>
          <a:xfrm>
            <a:off x="7342485" y="5413375"/>
            <a:ext cx="1881584" cy="428625"/>
          </a:xfrm>
          <a:prstGeom prst="roundRect">
            <a:avLst>
              <a:gd name="adj" fmla="val 20741"/>
            </a:avLst>
          </a:prstGeom>
          <a:solidFill>
            <a:srgbClr val="774DCB"/>
          </a:solidFill>
          <a:ln/>
        </p:spPr>
      </p:sp>
      <p:sp>
        <p:nvSpPr>
          <p:cNvPr id="27" name="Text 25"/>
          <p:cNvSpPr/>
          <p:nvPr/>
        </p:nvSpPr>
        <p:spPr>
          <a:xfrm>
            <a:off x="7501235" y="5508625"/>
            <a:ext cx="1614884" cy="263525"/>
          </a:xfrm>
          <a:prstGeom prst="rect">
            <a:avLst/>
          </a:prstGeom>
          <a:noFill/>
          <a:ln/>
        </p:spPr>
        <p:txBody>
          <a:bodyPr wrap="square" lIns="0" tIns="0" rIns="0" bIns="0" rtlCol="0" anchor="t">
            <a:normAutofit/>
          </a:bodyPr>
          <a:lstStyle/>
          <a:p>
            <a:pPr algn="l" indent="0" marL="0">
              <a:lnSpc>
                <a:spcPts val="1875"/>
              </a:lnSpc>
              <a:buNone/>
            </a:pPr>
            <a:r>
              <a:rPr lang="en-US" sz="1500" b="1" dirty="0">
                <a:solidFill>
                  <a:srgbClr val="FFFFFF"/>
                </a:solidFill>
                <a:latin typeface="Nunito Sans" pitchFamily="34" charset="0"/>
                <a:ea typeface="Nunito Sans" pitchFamily="34" charset="-122"/>
                <a:cs typeface="Nunito Sans" pitchFamily="34" charset="-120"/>
              </a:rPr>
              <a:t>change size by 10</a:t>
            </a:r>
            <a:endParaRPr lang="en-US" sz="1500" dirty="0"/>
          </a:p>
        </p:txBody>
      </p:sp>
      <p:sp>
        <p:nvSpPr>
          <p:cNvPr id="28" name="Text 26"/>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29"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WATCH ME BUILD IT · LIVE DEMO</a:t>
            </a:r>
            <a:endParaRPr lang="en-US" sz="1300" dirty="0"/>
          </a:p>
        </p:txBody>
      </p:sp>
      <p:sp>
        <p:nvSpPr>
          <p:cNvPr id="3" name="Text 1"/>
          <p:cNvSpPr/>
          <p:nvPr/>
        </p:nvSpPr>
        <p:spPr>
          <a:xfrm>
            <a:off x="812800" y="216743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Four blocks, one script</a:t>
            </a:r>
            <a:endParaRPr lang="en-US" sz="3600" dirty="0"/>
          </a:p>
        </p:txBody>
      </p:sp>
      <p:sp>
        <p:nvSpPr>
          <p:cNvPr id="4" name="Text 2"/>
          <p:cNvSpPr/>
          <p:nvPr/>
        </p:nvSpPr>
        <p:spPr>
          <a:xfrm>
            <a:off x="812800" y="3784600"/>
            <a:ext cx="3662680" cy="1536502"/>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I will build this on the projector. Watch the shapes: the yellow one has a bump on top and nothing above it. That is a </a:t>
            </a:r>
            <a:r>
              <a:rPr lang="en-US" sz="1700" b="1" dirty="0">
                <a:solidFill>
                  <a:srgbClr val="5C4A46"/>
                </a:solidFill>
                <a:latin typeface="Nunito Sans" pitchFamily="34" charset="0"/>
                <a:ea typeface="Nunito Sans" pitchFamily="34" charset="-122"/>
                <a:cs typeface="Nunito Sans" pitchFamily="34" charset="-120"/>
              </a:rPr>
              <a:t>hat block</a:t>
            </a:r>
            <a:r>
              <a:rPr lang="en-US" sz="1700" dirty="0">
                <a:solidFill>
                  <a:srgbClr val="5C4A46"/>
                </a:solidFill>
                <a:latin typeface="Nunito Sans" pitchFamily="34" charset="0"/>
                <a:ea typeface="Nunito Sans" pitchFamily="34" charset="-122"/>
                <a:cs typeface="Nunito Sans" pitchFamily="34" charset="-120"/>
              </a:rPr>
              <a:t>. Every script starts with one.</a:t>
            </a:r>
            <a:endParaRPr lang="en-US" sz="1700" dirty="0"/>
          </a:p>
        </p:txBody>
      </p:sp>
      <p:sp>
        <p:nvSpPr>
          <p:cNvPr id="5" name="Shape 3"/>
          <p:cNvSpPr/>
          <p:nvPr/>
        </p:nvSpPr>
        <p:spPr>
          <a:xfrm>
            <a:off x="4673600" y="3784600"/>
            <a:ext cx="2741811" cy="485775"/>
          </a:xfrm>
          <a:prstGeom prst="roundRect">
            <a:avLst>
              <a:gd name="adj" fmla="val 39216"/>
            </a:avLst>
          </a:prstGeom>
          <a:solidFill>
            <a:srgbClr val="FFBF00"/>
          </a:solidFill>
          <a:ln/>
        </p:spPr>
      </p:sp>
      <p:sp>
        <p:nvSpPr>
          <p:cNvPr id="6" name="Text 4"/>
          <p:cNvSpPr/>
          <p:nvPr/>
        </p:nvSpPr>
        <p:spPr>
          <a:xfrm>
            <a:off x="4851400" y="3892550"/>
            <a:ext cx="2457797"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206"/>
                </a:solidFill>
                <a:latin typeface="Nunito Sans" pitchFamily="34" charset="0"/>
                <a:ea typeface="Nunito Sans" pitchFamily="34" charset="-122"/>
                <a:cs typeface="Nunito Sans" pitchFamily="34" charset="-120"/>
              </a:rPr>
              <a:t>when green flag clicked</a:t>
            </a:r>
            <a:endParaRPr lang="en-US" sz="1700" dirty="0"/>
          </a:p>
        </p:txBody>
      </p:sp>
      <p:sp>
        <p:nvSpPr>
          <p:cNvPr id="7" name="Shape 5"/>
          <p:cNvSpPr/>
          <p:nvPr/>
        </p:nvSpPr>
        <p:spPr>
          <a:xfrm>
            <a:off x="4673600" y="4308475"/>
            <a:ext cx="2899172" cy="485775"/>
          </a:xfrm>
          <a:prstGeom prst="roundRect">
            <a:avLst>
              <a:gd name="adj" fmla="val 18301"/>
            </a:avLst>
          </a:prstGeom>
          <a:solidFill>
            <a:srgbClr val="774DCB"/>
          </a:solidFill>
          <a:ln/>
        </p:spPr>
      </p:sp>
      <p:sp>
        <p:nvSpPr>
          <p:cNvPr id="8" name="Text 6"/>
          <p:cNvSpPr/>
          <p:nvPr/>
        </p:nvSpPr>
        <p:spPr>
          <a:xfrm>
            <a:off x="4851400" y="4416425"/>
            <a:ext cx="2619879"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FFFFF"/>
                </a:solidFill>
                <a:latin typeface="Nunito Sans" pitchFamily="34" charset="0"/>
                <a:ea typeface="Nunito Sans" pitchFamily="34" charset="-122"/>
                <a:cs typeface="Nunito Sans" pitchFamily="34" charset="-120"/>
              </a:rPr>
              <a:t>say [Hello!] for 2 seconds</a:t>
            </a:r>
            <a:endParaRPr lang="en-US" sz="1700" dirty="0"/>
          </a:p>
        </p:txBody>
      </p:sp>
      <p:sp>
        <p:nvSpPr>
          <p:cNvPr id="9" name="Shape 7"/>
          <p:cNvSpPr/>
          <p:nvPr/>
        </p:nvSpPr>
        <p:spPr>
          <a:xfrm>
            <a:off x="4673600" y="4832350"/>
            <a:ext cx="1939032" cy="485775"/>
          </a:xfrm>
          <a:prstGeom prst="roundRect">
            <a:avLst>
              <a:gd name="adj" fmla="val 18301"/>
            </a:avLst>
          </a:prstGeom>
          <a:solidFill>
            <a:srgbClr val="3373CC"/>
          </a:solidFill>
          <a:ln/>
        </p:spPr>
      </p:sp>
      <p:sp>
        <p:nvSpPr>
          <p:cNvPr id="10" name="Text 8"/>
          <p:cNvSpPr/>
          <p:nvPr/>
        </p:nvSpPr>
        <p:spPr>
          <a:xfrm>
            <a:off x="4851400" y="4940300"/>
            <a:ext cx="16342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FFFFF"/>
                </a:solidFill>
                <a:latin typeface="Nunito Sans" pitchFamily="34" charset="0"/>
                <a:ea typeface="Nunito Sans" pitchFamily="34" charset="-122"/>
                <a:cs typeface="Nunito Sans" pitchFamily="34" charset="-120"/>
              </a:rPr>
              <a:t>move 100 steps</a:t>
            </a:r>
            <a:endParaRPr lang="en-US" sz="1700" dirty="0"/>
          </a:p>
        </p:txBody>
      </p:sp>
      <p:sp>
        <p:nvSpPr>
          <p:cNvPr id="11" name="Shape 9"/>
          <p:cNvSpPr/>
          <p:nvPr/>
        </p:nvSpPr>
        <p:spPr>
          <a:xfrm>
            <a:off x="4673600" y="5356225"/>
            <a:ext cx="1705670" cy="485775"/>
          </a:xfrm>
          <a:prstGeom prst="roundRect">
            <a:avLst>
              <a:gd name="adj" fmla="val 18301"/>
            </a:avLst>
          </a:prstGeom>
          <a:solidFill>
            <a:srgbClr val="3373CC"/>
          </a:solidFill>
          <a:ln/>
        </p:spPr>
      </p:sp>
      <p:sp>
        <p:nvSpPr>
          <p:cNvPr id="12" name="Text 10"/>
          <p:cNvSpPr/>
          <p:nvPr/>
        </p:nvSpPr>
        <p:spPr>
          <a:xfrm>
            <a:off x="4851400" y="5464175"/>
            <a:ext cx="1400870"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FFFFF"/>
                </a:solidFill>
                <a:latin typeface="Nunito Sans" pitchFamily="34" charset="0"/>
                <a:ea typeface="Nunito Sans" pitchFamily="34" charset="-122"/>
                <a:cs typeface="Nunito Sans" pitchFamily="34" charset="-120"/>
              </a:rPr>
              <a:t>go to x: 0 y: 0</a:t>
            </a:r>
            <a:endParaRPr lang="en-US" sz="17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C2332"/>
                </a:solidFill>
                <a:latin typeface="Nunito Sans" pitchFamily="34" charset="0"/>
                <a:ea typeface="Nunito Sans" pitchFamily="34" charset="-122"/>
                <a:cs typeface="Nunito Sans" pitchFamily="34" charset="-120"/>
              </a:rPr>
              <a:t>SPOT THE MISTAKE</a:t>
            </a:r>
            <a:endParaRPr lang="en-US" sz="1300" dirty="0"/>
          </a:p>
        </p:txBody>
      </p:sp>
      <p:sp>
        <p:nvSpPr>
          <p:cNvPr id="3" name="Text 1"/>
          <p:cNvSpPr/>
          <p:nvPr/>
        </p:nvSpPr>
        <p:spPr>
          <a:xfrm>
            <a:off x="812800" y="247779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Why is nothing happening?</a:t>
            </a:r>
            <a:endParaRPr lang="en-US" sz="4000" dirty="0"/>
          </a:p>
        </p:txBody>
      </p:sp>
      <p:sp>
        <p:nvSpPr>
          <p:cNvPr id="4" name="Text 2"/>
          <p:cNvSpPr/>
          <p:nvPr/>
        </p:nvSpPr>
        <p:spPr>
          <a:xfrm>
            <a:off x="812800" y="4460280"/>
            <a:ext cx="4055110" cy="685800"/>
          </a:xfrm>
          <a:prstGeom prst="rect">
            <a:avLst/>
          </a:prstGeom>
          <a:noFill/>
          <a:ln/>
        </p:spPr>
        <p:txBody>
          <a:bodyPr wrap="square" lIns="0" tIns="0" rIns="0" bIns="0" rtlCol="0" anchor="t">
            <a:normAutofit/>
          </a:bodyPr>
          <a:lstStyle/>
          <a:p>
            <a:pPr algn="l" indent="0" marL="0">
              <a:lnSpc>
                <a:spcPts val="2600"/>
              </a:lnSpc>
              <a:buNone/>
            </a:pPr>
            <a:r>
              <a:rPr lang="en-US" sz="2000" b="1" dirty="0">
                <a:solidFill>
                  <a:srgbClr val="2E1015"/>
                </a:solidFill>
                <a:latin typeface="Nunito Sans" pitchFamily="34" charset="0"/>
                <a:ea typeface="Nunito Sans" pitchFamily="34" charset="-122"/>
                <a:cs typeface="Nunito Sans" pitchFamily="34" charset="-120"/>
              </a:rPr>
              <a:t>I click the green flag and the cat just sits there.</a:t>
            </a:r>
            <a:endParaRPr lang="en-US" sz="2000" dirty="0"/>
          </a:p>
        </p:txBody>
      </p:sp>
      <p:sp>
        <p:nvSpPr>
          <p:cNvPr id="5" name="Text 3"/>
          <p:cNvSpPr/>
          <p:nvPr/>
        </p:nvSpPr>
        <p:spPr>
          <a:xfrm>
            <a:off x="812800" y="5273080"/>
            <a:ext cx="405511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C4A46"/>
                </a:solidFill>
                <a:latin typeface="Nunito Sans" pitchFamily="34" charset="0"/>
                <a:ea typeface="Nunito Sans" pitchFamily="34" charset="-122"/>
                <a:cs typeface="Nunito Sans" pitchFamily="34" charset="-120"/>
              </a:rPr>
              <a:t>Take answers from the floor before you say anything. Someone will get it.</a:t>
            </a:r>
            <a:endParaRPr lang="en-US" sz="1600" dirty="0"/>
          </a:p>
        </p:txBody>
      </p:sp>
      <p:sp>
        <p:nvSpPr>
          <p:cNvPr id="6" name="Shape 4"/>
          <p:cNvSpPr/>
          <p:nvPr/>
        </p:nvSpPr>
        <p:spPr>
          <a:xfrm>
            <a:off x="5054600" y="4460280"/>
            <a:ext cx="2741811" cy="485775"/>
          </a:xfrm>
          <a:prstGeom prst="roundRect">
            <a:avLst>
              <a:gd name="adj" fmla="val 39216"/>
            </a:avLst>
          </a:prstGeom>
          <a:solidFill>
            <a:srgbClr val="FFBF00"/>
          </a:solidFill>
          <a:ln/>
        </p:spPr>
      </p:sp>
      <p:sp>
        <p:nvSpPr>
          <p:cNvPr id="7" name="Text 5"/>
          <p:cNvSpPr/>
          <p:nvPr/>
        </p:nvSpPr>
        <p:spPr>
          <a:xfrm>
            <a:off x="5232400" y="4568230"/>
            <a:ext cx="2457797"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1A1206"/>
                </a:solidFill>
                <a:latin typeface="Nunito Sans" pitchFamily="34" charset="0"/>
                <a:ea typeface="Nunito Sans" pitchFamily="34" charset="-122"/>
                <a:cs typeface="Nunito Sans" pitchFamily="34" charset="-120"/>
              </a:rPr>
              <a:t>when green flag clicked</a:t>
            </a:r>
            <a:endParaRPr lang="en-US" sz="1700" dirty="0"/>
          </a:p>
        </p:txBody>
      </p:sp>
      <p:sp>
        <p:nvSpPr>
          <p:cNvPr id="8" name="Shape 6"/>
          <p:cNvSpPr/>
          <p:nvPr/>
        </p:nvSpPr>
        <p:spPr>
          <a:xfrm>
            <a:off x="5054600" y="4984155"/>
            <a:ext cx="1939032" cy="485775"/>
          </a:xfrm>
          <a:prstGeom prst="roundRect">
            <a:avLst>
              <a:gd name="adj" fmla="val 18301"/>
            </a:avLst>
          </a:prstGeom>
          <a:solidFill>
            <a:srgbClr val="3373CC"/>
          </a:solidFill>
          <a:ln/>
        </p:spPr>
      </p:sp>
      <p:sp>
        <p:nvSpPr>
          <p:cNvPr id="9" name="Text 7"/>
          <p:cNvSpPr/>
          <p:nvPr/>
        </p:nvSpPr>
        <p:spPr>
          <a:xfrm>
            <a:off x="5232400" y="5092105"/>
            <a:ext cx="1634232" cy="295275"/>
          </a:xfrm>
          <a:prstGeom prst="rect">
            <a:avLst/>
          </a:prstGeom>
          <a:noFill/>
          <a:ln/>
        </p:spPr>
        <p:txBody>
          <a:bodyPr wrap="square" lIns="0" tIns="0" rIns="0" bIns="0" rtlCol="0" anchor="t">
            <a:normAutofit/>
          </a:bodyPr>
          <a:lstStyle/>
          <a:p>
            <a:pPr algn="l" indent="0" marL="0">
              <a:lnSpc>
                <a:spcPts val="2125"/>
              </a:lnSpc>
              <a:buNone/>
            </a:pPr>
            <a:r>
              <a:rPr lang="en-US" sz="1700" b="1" dirty="0">
                <a:solidFill>
                  <a:srgbClr val="FFFFFF"/>
                </a:solidFill>
                <a:latin typeface="Nunito Sans" pitchFamily="34" charset="0"/>
                <a:ea typeface="Nunito Sans" pitchFamily="34" charset="-122"/>
                <a:cs typeface="Nunito Sans" pitchFamily="34" charset="-120"/>
              </a:rPr>
              <a:t>move 100 steps</a:t>
            </a:r>
            <a:endParaRPr lang="en-US" sz="1700" dirty="0"/>
          </a:p>
        </p:txBody>
      </p:sp>
      <p:sp>
        <p:nvSpPr>
          <p:cNvPr id="10" name="Text 8"/>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1"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CLASS ACTIVITY · THIRTY MINUTES</a:t>
            </a:r>
            <a:endParaRPr lang="en-US" sz="1300" dirty="0"/>
          </a:p>
        </p:txBody>
      </p:sp>
      <p:sp>
        <p:nvSpPr>
          <p:cNvPr id="3" name="Text 1"/>
          <p:cNvSpPr/>
          <p:nvPr/>
        </p:nvSpPr>
        <p:spPr>
          <a:xfrm>
            <a:off x="812800" y="1481634"/>
            <a:ext cx="10883392" cy="519113"/>
          </a:xfrm>
          <a:prstGeom prst="rect">
            <a:avLst/>
          </a:prstGeom>
          <a:noFill/>
          <a:ln/>
        </p:spPr>
        <p:txBody>
          <a:bodyPr wrap="square" lIns="0" tIns="0" rIns="0" bIns="0" rtlCol="0" anchor="t">
            <a:normAutofit/>
          </a:bodyPr>
          <a:lstStyle/>
          <a:p>
            <a:pPr algn="l" indent="0" marL="0">
              <a:lnSpc>
                <a:spcPts val="3888"/>
              </a:lnSpc>
              <a:buNone/>
            </a:pPr>
            <a:r>
              <a:rPr lang="en-US" sz="3600" b="1" dirty="0">
                <a:solidFill>
                  <a:srgbClr val="2E1015"/>
                </a:solidFill>
                <a:latin typeface="Fredoka" pitchFamily="34" charset="0"/>
                <a:ea typeface="Fredoka" pitchFamily="34" charset="-122"/>
                <a:cs typeface="Fredoka" pitchFamily="34" charset="-120"/>
              </a:rPr>
              <a:t>Name Dance</a:t>
            </a:r>
            <a:endParaRPr lang="en-US" sz="3600" dirty="0"/>
          </a:p>
        </p:txBody>
      </p:sp>
      <p:sp>
        <p:nvSpPr>
          <p:cNvPr id="4" name="Text 2"/>
          <p:cNvSpPr/>
          <p:nvPr/>
        </p:nvSpPr>
        <p:spPr>
          <a:xfrm>
            <a:off x="812800" y="2413000"/>
            <a:ext cx="3662680" cy="123428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5C4A46"/>
                </a:solidFill>
                <a:latin typeface="Nunito Sans" pitchFamily="34" charset="0"/>
                <a:ea typeface="Nunito Sans" pitchFamily="34" charset="-122"/>
                <a:cs typeface="Nunito Sans" pitchFamily="34" charset="-120"/>
              </a:rPr>
              <a:t>Make a sprite that </a:t>
            </a:r>
            <a:r>
              <a:rPr lang="en-US" sz="1700" b="1" dirty="0">
                <a:solidFill>
                  <a:srgbClr val="5C4A46"/>
                </a:solidFill>
                <a:latin typeface="Nunito Sans" pitchFamily="34" charset="0"/>
                <a:ea typeface="Nunito Sans" pitchFamily="34" charset="-122"/>
                <a:cs typeface="Nunito Sans" pitchFamily="34" charset="-120"/>
              </a:rPr>
              <a:t>says your name</a:t>
            </a:r>
            <a:r>
              <a:rPr lang="en-US" sz="1700" dirty="0">
                <a:solidFill>
                  <a:srgbClr val="5C4A46"/>
                </a:solidFill>
                <a:latin typeface="Nunito Sans" pitchFamily="34" charset="0"/>
                <a:ea typeface="Nunito Sans" pitchFamily="34" charset="-122"/>
                <a:cs typeface="Nunito Sans" pitchFamily="34" charset="-120"/>
              </a:rPr>
              <a:t> and then </a:t>
            </a:r>
            <a:r>
              <a:rPr lang="en-US" sz="1700" b="1" dirty="0">
                <a:solidFill>
                  <a:srgbClr val="5C4A46"/>
                </a:solidFill>
                <a:latin typeface="Nunito Sans" pitchFamily="34" charset="0"/>
                <a:ea typeface="Nunito Sans" pitchFamily="34" charset="-122"/>
                <a:cs typeface="Nunito Sans" pitchFamily="34" charset="-120"/>
              </a:rPr>
              <a:t>dances</a:t>
            </a:r>
            <a:r>
              <a:rPr lang="en-US" sz="1700" dirty="0">
                <a:solidFill>
                  <a:srgbClr val="5C4A46"/>
                </a:solidFill>
                <a:latin typeface="Nunito Sans" pitchFamily="34" charset="0"/>
                <a:ea typeface="Nunito Sans" pitchFamily="34" charset="-122"/>
                <a:cs typeface="Nunito Sans" pitchFamily="34" charset="-120"/>
              </a:rPr>
              <a:t>. Pick any sprite you like. Change the numbers and see what happens.</a:t>
            </a:r>
            <a:endParaRPr lang="en-US" sz="1700" dirty="0"/>
          </a:p>
        </p:txBody>
      </p:sp>
      <p:sp>
        <p:nvSpPr>
          <p:cNvPr id="5" name="Shape 3"/>
          <p:cNvSpPr/>
          <p:nvPr/>
        </p:nvSpPr>
        <p:spPr>
          <a:xfrm>
            <a:off x="4673600" y="2413000"/>
            <a:ext cx="2588716" cy="457200"/>
          </a:xfrm>
          <a:prstGeom prst="roundRect">
            <a:avLst>
              <a:gd name="adj" fmla="val 38889"/>
            </a:avLst>
          </a:prstGeom>
          <a:solidFill>
            <a:srgbClr val="FFBF00"/>
          </a:solidFill>
          <a:ln/>
        </p:spPr>
      </p:sp>
      <p:sp>
        <p:nvSpPr>
          <p:cNvPr id="6" name="Text 4"/>
          <p:cNvSpPr/>
          <p:nvPr/>
        </p:nvSpPr>
        <p:spPr>
          <a:xfrm>
            <a:off x="4845050" y="2514600"/>
            <a:ext cx="2313191"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when green flag clicked</a:t>
            </a:r>
            <a:endParaRPr lang="en-US" sz="1600" dirty="0"/>
          </a:p>
        </p:txBody>
      </p:sp>
      <p:sp>
        <p:nvSpPr>
          <p:cNvPr id="7" name="Shape 5"/>
          <p:cNvSpPr/>
          <p:nvPr/>
        </p:nvSpPr>
        <p:spPr>
          <a:xfrm>
            <a:off x="4673600" y="2908300"/>
            <a:ext cx="3162995" cy="457200"/>
          </a:xfrm>
          <a:prstGeom prst="roundRect">
            <a:avLst>
              <a:gd name="adj" fmla="val 19444"/>
            </a:avLst>
          </a:prstGeom>
          <a:solidFill>
            <a:srgbClr val="774DCB"/>
          </a:solidFill>
          <a:ln/>
        </p:spPr>
      </p:sp>
      <p:sp>
        <p:nvSpPr>
          <p:cNvPr id="8" name="Text 6"/>
          <p:cNvSpPr/>
          <p:nvPr/>
        </p:nvSpPr>
        <p:spPr>
          <a:xfrm>
            <a:off x="4845050" y="3009900"/>
            <a:ext cx="290469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say [your name] for 2 seconds</a:t>
            </a:r>
            <a:endParaRPr lang="en-US" sz="1600" dirty="0"/>
          </a:p>
        </p:txBody>
      </p:sp>
      <p:sp>
        <p:nvSpPr>
          <p:cNvPr id="9" name="Shape 7"/>
          <p:cNvSpPr/>
          <p:nvPr/>
        </p:nvSpPr>
        <p:spPr>
          <a:xfrm>
            <a:off x="4673600" y="3403600"/>
            <a:ext cx="1711325" cy="457200"/>
          </a:xfrm>
          <a:prstGeom prst="roundRect">
            <a:avLst>
              <a:gd name="adj" fmla="val 19444"/>
            </a:avLst>
          </a:prstGeom>
          <a:solidFill>
            <a:srgbClr val="3373CC"/>
          </a:solidFill>
          <a:ln/>
        </p:spPr>
      </p:sp>
      <p:sp>
        <p:nvSpPr>
          <p:cNvPr id="10" name="Text 8"/>
          <p:cNvSpPr/>
          <p:nvPr/>
        </p:nvSpPr>
        <p:spPr>
          <a:xfrm>
            <a:off x="4845050" y="3505200"/>
            <a:ext cx="1419225"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move 50 steps</a:t>
            </a:r>
            <a:endParaRPr lang="en-US" sz="1600" dirty="0"/>
          </a:p>
        </p:txBody>
      </p:sp>
      <p:sp>
        <p:nvSpPr>
          <p:cNvPr id="11" name="Shape 9"/>
          <p:cNvSpPr/>
          <p:nvPr/>
        </p:nvSpPr>
        <p:spPr>
          <a:xfrm>
            <a:off x="4673600" y="3898900"/>
            <a:ext cx="1919387" cy="457200"/>
          </a:xfrm>
          <a:prstGeom prst="roundRect">
            <a:avLst>
              <a:gd name="adj" fmla="val 19444"/>
            </a:avLst>
          </a:prstGeom>
          <a:solidFill>
            <a:srgbClr val="FFAB19"/>
          </a:solidFill>
          <a:ln/>
        </p:spPr>
      </p:sp>
      <p:sp>
        <p:nvSpPr>
          <p:cNvPr id="12" name="Text 10"/>
          <p:cNvSpPr/>
          <p:nvPr/>
        </p:nvSpPr>
        <p:spPr>
          <a:xfrm>
            <a:off x="4845050" y="4000500"/>
            <a:ext cx="162728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A1206"/>
                </a:solidFill>
                <a:latin typeface="Nunito Sans" pitchFamily="34" charset="0"/>
                <a:ea typeface="Nunito Sans" pitchFamily="34" charset="-122"/>
                <a:cs typeface="Nunito Sans" pitchFamily="34" charset="-120"/>
              </a:rPr>
              <a:t>wait 0.5 seconds</a:t>
            </a:r>
            <a:endParaRPr lang="en-US" sz="1600" dirty="0"/>
          </a:p>
        </p:txBody>
      </p:sp>
      <p:sp>
        <p:nvSpPr>
          <p:cNvPr id="13" name="Shape 11"/>
          <p:cNvSpPr/>
          <p:nvPr/>
        </p:nvSpPr>
        <p:spPr>
          <a:xfrm>
            <a:off x="4673600" y="4394200"/>
            <a:ext cx="1799530" cy="457200"/>
          </a:xfrm>
          <a:prstGeom prst="roundRect">
            <a:avLst>
              <a:gd name="adj" fmla="val 19444"/>
            </a:avLst>
          </a:prstGeom>
          <a:solidFill>
            <a:srgbClr val="3373CC"/>
          </a:solidFill>
          <a:ln/>
        </p:spPr>
      </p:sp>
      <p:sp>
        <p:nvSpPr>
          <p:cNvPr id="14" name="Text 12"/>
          <p:cNvSpPr/>
          <p:nvPr/>
        </p:nvSpPr>
        <p:spPr>
          <a:xfrm>
            <a:off x="4845050" y="4495800"/>
            <a:ext cx="150743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move -50 steps</a:t>
            </a:r>
            <a:endParaRPr lang="en-US" sz="1600" dirty="0"/>
          </a:p>
        </p:txBody>
      </p:sp>
      <p:sp>
        <p:nvSpPr>
          <p:cNvPr id="15" name="Shape 13"/>
          <p:cNvSpPr/>
          <p:nvPr/>
        </p:nvSpPr>
        <p:spPr>
          <a:xfrm>
            <a:off x="4673600" y="4889500"/>
            <a:ext cx="1842988" cy="457200"/>
          </a:xfrm>
          <a:prstGeom prst="roundRect">
            <a:avLst>
              <a:gd name="adj" fmla="val 19444"/>
            </a:avLst>
          </a:prstGeom>
          <a:solidFill>
            <a:srgbClr val="3373CC"/>
          </a:solidFill>
          <a:ln/>
        </p:spPr>
      </p:sp>
      <p:sp>
        <p:nvSpPr>
          <p:cNvPr id="16" name="Text 14"/>
          <p:cNvSpPr/>
          <p:nvPr/>
        </p:nvSpPr>
        <p:spPr>
          <a:xfrm>
            <a:off x="4845050" y="4991100"/>
            <a:ext cx="1550888"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turn 15 degrees</a:t>
            </a:r>
            <a:endParaRPr lang="en-US" sz="1600" dirty="0"/>
          </a:p>
        </p:txBody>
      </p:sp>
      <p:sp>
        <p:nvSpPr>
          <p:cNvPr id="17" name="Shape 15"/>
          <p:cNvSpPr/>
          <p:nvPr/>
        </p:nvSpPr>
        <p:spPr>
          <a:xfrm>
            <a:off x="4673600" y="5384800"/>
            <a:ext cx="1608237" cy="457200"/>
          </a:xfrm>
          <a:prstGeom prst="roundRect">
            <a:avLst>
              <a:gd name="adj" fmla="val 19444"/>
            </a:avLst>
          </a:prstGeom>
          <a:solidFill>
            <a:srgbClr val="774DCB"/>
          </a:solidFill>
          <a:ln/>
        </p:spPr>
      </p:sp>
      <p:sp>
        <p:nvSpPr>
          <p:cNvPr id="18" name="Text 16"/>
          <p:cNvSpPr/>
          <p:nvPr/>
        </p:nvSpPr>
        <p:spPr>
          <a:xfrm>
            <a:off x="4845050" y="5486400"/>
            <a:ext cx="1316137"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FFFFF"/>
                </a:solidFill>
                <a:latin typeface="Nunito Sans" pitchFamily="34" charset="0"/>
                <a:ea typeface="Nunito Sans" pitchFamily="34" charset="-122"/>
                <a:cs typeface="Nunito Sans" pitchFamily="34" charset="-120"/>
              </a:rPr>
              <a:t>next costume</a:t>
            </a:r>
            <a:endParaRPr lang="en-US" sz="1600" dirty="0"/>
          </a:p>
        </p:txBody>
      </p:sp>
      <p:sp>
        <p:nvSpPr>
          <p:cNvPr id="19" name="Text 17"/>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20"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27588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E7C8"/>
                </a:solidFill>
                <a:latin typeface="Fredoka" pitchFamily="34" charset="0"/>
                <a:ea typeface="Fredoka" pitchFamily="34" charset="-122"/>
                <a:cs typeface="Fredoka" pitchFamily="34" charset="-120"/>
              </a:rPr>
              <a:t>Break</a:t>
            </a:r>
            <a:endParaRPr lang="en-US" sz="6000" dirty="0"/>
          </a:p>
        </p:txBody>
      </p:sp>
      <p:sp>
        <p:nvSpPr>
          <p:cNvPr id="3" name="Text 1"/>
          <p:cNvSpPr/>
          <p:nvPr/>
        </p:nvSpPr>
        <p:spPr>
          <a:xfrm>
            <a:off x="812800" y="3329980"/>
            <a:ext cx="78486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49A7E"/>
                </a:solidFill>
                <a:latin typeface="Nunito Sans" pitchFamily="34" charset="0"/>
                <a:ea typeface="Nunito Sans" pitchFamily="34" charset="-122"/>
                <a:cs typeface="Nunito Sans" pitchFamily="34" charset="-120"/>
              </a:rPr>
              <a:t>Ten minutes. Get up, stretch, drink some water.</a:t>
            </a:r>
            <a:endParaRPr lang="en-US" sz="2200" dirty="0"/>
          </a:p>
        </p:txBody>
      </p:sp>
      <p:sp>
        <p:nvSpPr>
          <p:cNvPr id="4" name="Shape 2"/>
          <p:cNvSpPr/>
          <p:nvPr/>
        </p:nvSpPr>
        <p:spPr>
          <a:xfrm>
            <a:off x="812800" y="3975100"/>
            <a:ext cx="1143000" cy="50800"/>
          </a:xfrm>
          <a:prstGeom prst="roundRect">
            <a:avLst>
              <a:gd name="adj" fmla="val 50000"/>
            </a:avLst>
          </a:prstGeom>
          <a:solidFill>
            <a:srgbClr val="C9A227"/>
          </a:solidFill>
          <a:ln/>
        </p:spPr>
      </p:sp>
      <p:sp>
        <p:nvSpPr>
          <p:cNvPr id="5" name="Text 3"/>
          <p:cNvSpPr/>
          <p:nvPr/>
        </p:nvSpPr>
        <p:spPr>
          <a:xfrm>
            <a:off x="812800" y="4279900"/>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After the break: you start building your own game.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C2332"/>
        </a:solidFill>
      </p:bgPr>
    </p:bg>
    <p:spTree>
      <p:nvGrpSpPr>
        <p:cNvPr id="1" name=""/>
        <p:cNvGrpSpPr/>
        <p:nvPr/>
      </p:nvGrpSpPr>
      <p:grpSpPr>
        <a:xfrm>
          <a:off x="0" y="0"/>
          <a:ext cx="0" cy="0"/>
          <a:chOff x="0" y="0"/>
          <a:chExt cx="0" cy="0"/>
        </a:xfrm>
      </p:grpSpPr>
      <p:sp>
        <p:nvSpPr>
          <p:cNvPr id="2" name="Text 0"/>
          <p:cNvSpPr/>
          <p:nvPr/>
        </p:nvSpPr>
        <p:spPr>
          <a:xfrm>
            <a:off x="812800" y="2235299"/>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3C9CF"/>
                </a:solidFill>
                <a:latin typeface="Nunito Sans" pitchFamily="34" charset="0"/>
                <a:ea typeface="Nunito Sans" pitchFamily="34" charset="-122"/>
                <a:cs typeface="Nunito Sans" pitchFamily="34" charset="-120"/>
              </a:rPr>
              <a:t>TODAY'S GOAL</a:t>
            </a:r>
            <a:endParaRPr lang="en-US" sz="1300" dirty="0"/>
          </a:p>
        </p:txBody>
      </p:sp>
      <p:sp>
        <p:nvSpPr>
          <p:cNvPr id="3" name="Text 1"/>
          <p:cNvSpPr/>
          <p:nvPr/>
        </p:nvSpPr>
        <p:spPr>
          <a:xfrm>
            <a:off x="812800" y="2694980"/>
            <a:ext cx="9810750" cy="1953022"/>
          </a:xfrm>
          <a:prstGeom prst="rect">
            <a:avLst/>
          </a:prstGeom>
          <a:noFill/>
          <a:ln/>
        </p:spPr>
        <p:txBody>
          <a:bodyPr wrap="square" lIns="0" tIns="0" rIns="0" bIns="0" rtlCol="0" anchor="t">
            <a:normAutofit/>
          </a:bodyPr>
          <a:lstStyle/>
          <a:p>
            <a:pPr algn="l" indent="0" marL="0">
              <a:lnSpc>
                <a:spcPts val="5060"/>
              </a:lnSpc>
              <a:buNone/>
            </a:pPr>
            <a:r>
              <a:rPr lang="en-US" sz="4600" b="1" dirty="0">
                <a:solidFill>
                  <a:srgbClr val="FFF4E8"/>
                </a:solidFill>
                <a:latin typeface="Fredoka" pitchFamily="34" charset="0"/>
                <a:ea typeface="Fredoka" pitchFamily="34" charset="-122"/>
                <a:cs typeface="Fredoka" pitchFamily="34" charset="-120"/>
              </a:rPr>
              <a:t>By the end of today, you have a character that says hello and looks like your idea.</a:t>
            </a:r>
            <a:endParaRPr lang="en-US" sz="4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PICK YOUR THEME · TWO MINUTES, THEN COMMIT</a:t>
            </a:r>
            <a:endParaRPr lang="en-US" sz="1300" dirty="0"/>
          </a:p>
        </p:txBody>
      </p:sp>
      <p:sp>
        <p:nvSpPr>
          <p:cNvPr id="3" name="Text 1"/>
          <p:cNvSpPr/>
          <p:nvPr/>
        </p:nvSpPr>
        <p:spPr>
          <a:xfrm>
            <a:off x="812800" y="2363291"/>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What are you catching?</a:t>
            </a:r>
            <a:endParaRPr lang="en-US" sz="4000" dirty="0"/>
          </a:p>
        </p:txBody>
      </p:sp>
      <p:sp>
        <p:nvSpPr>
          <p:cNvPr id="4" name="Shape 2"/>
          <p:cNvSpPr/>
          <p:nvPr/>
        </p:nvSpPr>
        <p:spPr>
          <a:xfrm>
            <a:off x="819150" y="4237633"/>
            <a:ext cx="2476500" cy="1598017"/>
          </a:xfrm>
          <a:prstGeom prst="roundRect">
            <a:avLst>
              <a:gd name="adj" fmla="val 8345"/>
            </a:avLst>
          </a:prstGeom>
          <a:solidFill>
            <a:srgbClr val="FFFCF4"/>
          </a:solidFill>
          <a:ln w="12700">
            <a:solidFill>
              <a:srgbClr val="E4D7BE"/>
            </a:solidFill>
            <a:prstDash val="solid"/>
          </a:ln>
        </p:spPr>
      </p:sp>
      <p:sp>
        <p:nvSpPr>
          <p:cNvPr id="5" name="Text 3"/>
          <p:cNvSpPr/>
          <p:nvPr/>
        </p:nvSpPr>
        <p:spPr>
          <a:xfrm>
            <a:off x="1054100" y="4472583"/>
            <a:ext cx="2066798" cy="580231"/>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Mangoes in a basket</a:t>
            </a:r>
            <a:endParaRPr lang="en-US" sz="1900" dirty="0"/>
          </a:p>
        </p:txBody>
      </p:sp>
      <p:sp>
        <p:nvSpPr>
          <p:cNvPr id="6" name="Text 4"/>
          <p:cNvSpPr/>
          <p:nvPr/>
        </p:nvSpPr>
        <p:spPr>
          <a:xfrm>
            <a:off x="1054100" y="5103614"/>
            <a:ext cx="2066798"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Watch out for coconuts falling on your head.</a:t>
            </a:r>
            <a:endParaRPr lang="en-US" sz="1450" dirty="0"/>
          </a:p>
        </p:txBody>
      </p:sp>
      <p:sp>
        <p:nvSpPr>
          <p:cNvPr id="7" name="Shape 5"/>
          <p:cNvSpPr/>
          <p:nvPr/>
        </p:nvSpPr>
        <p:spPr>
          <a:xfrm>
            <a:off x="3511550" y="4237633"/>
            <a:ext cx="2476500" cy="1598017"/>
          </a:xfrm>
          <a:prstGeom prst="roundRect">
            <a:avLst>
              <a:gd name="adj" fmla="val 8345"/>
            </a:avLst>
          </a:prstGeom>
          <a:solidFill>
            <a:srgbClr val="FFFCF4"/>
          </a:solidFill>
          <a:ln w="12700">
            <a:solidFill>
              <a:srgbClr val="E4D7BE"/>
            </a:solidFill>
            <a:prstDash val="solid"/>
          </a:ln>
        </p:spPr>
      </p:sp>
      <p:sp>
        <p:nvSpPr>
          <p:cNvPr id="8" name="Text 6"/>
          <p:cNvSpPr/>
          <p:nvPr/>
        </p:nvSpPr>
        <p:spPr>
          <a:xfrm>
            <a:off x="3746500" y="4472583"/>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A cricket catch</a:t>
            </a:r>
            <a:endParaRPr lang="en-US" sz="1900" dirty="0"/>
          </a:p>
        </p:txBody>
      </p:sp>
      <p:sp>
        <p:nvSpPr>
          <p:cNvPr id="9" name="Text 7"/>
          <p:cNvSpPr/>
          <p:nvPr/>
        </p:nvSpPr>
        <p:spPr>
          <a:xfrm>
            <a:off x="3746500" y="4826198"/>
            <a:ext cx="2066798"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Catch the good balls. Dodge the no-balls.</a:t>
            </a:r>
            <a:endParaRPr lang="en-US" sz="1450" dirty="0"/>
          </a:p>
        </p:txBody>
      </p:sp>
      <p:sp>
        <p:nvSpPr>
          <p:cNvPr id="10" name="Shape 8"/>
          <p:cNvSpPr/>
          <p:nvPr/>
        </p:nvSpPr>
        <p:spPr>
          <a:xfrm>
            <a:off x="6203950" y="4237633"/>
            <a:ext cx="2476500" cy="1598017"/>
          </a:xfrm>
          <a:prstGeom prst="roundRect">
            <a:avLst>
              <a:gd name="adj" fmla="val 8345"/>
            </a:avLst>
          </a:prstGeom>
          <a:solidFill>
            <a:srgbClr val="FFFCF4"/>
          </a:solidFill>
          <a:ln w="12700">
            <a:solidFill>
              <a:srgbClr val="E4D7BE"/>
            </a:solidFill>
            <a:prstDash val="solid"/>
          </a:ln>
        </p:spPr>
      </p:sp>
      <p:sp>
        <p:nvSpPr>
          <p:cNvPr id="11" name="Text 9"/>
          <p:cNvSpPr/>
          <p:nvPr/>
        </p:nvSpPr>
        <p:spPr>
          <a:xfrm>
            <a:off x="6438900" y="4472583"/>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Falling stars</a:t>
            </a:r>
            <a:endParaRPr lang="en-US" sz="1900" dirty="0"/>
          </a:p>
        </p:txBody>
      </p:sp>
      <p:sp>
        <p:nvSpPr>
          <p:cNvPr id="12" name="Text 10"/>
          <p:cNvSpPr/>
          <p:nvPr/>
        </p:nvSpPr>
        <p:spPr>
          <a:xfrm>
            <a:off x="6438900" y="4826198"/>
            <a:ext cx="2066798" cy="522486"/>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Catch them in a net. Dodge the asteroids.</a:t>
            </a:r>
            <a:endParaRPr lang="en-US" sz="1450" dirty="0"/>
          </a:p>
        </p:txBody>
      </p:sp>
      <p:sp>
        <p:nvSpPr>
          <p:cNvPr id="13" name="Shape 11"/>
          <p:cNvSpPr/>
          <p:nvPr/>
        </p:nvSpPr>
        <p:spPr>
          <a:xfrm>
            <a:off x="8896350" y="4237633"/>
            <a:ext cx="2476500" cy="1598017"/>
          </a:xfrm>
          <a:prstGeom prst="roundRect">
            <a:avLst>
              <a:gd name="adj" fmla="val 8345"/>
            </a:avLst>
          </a:prstGeom>
          <a:solidFill>
            <a:srgbClr val="FFFCF4"/>
          </a:solidFill>
          <a:ln w="12700">
            <a:solidFill>
              <a:srgbClr val="E4D7BE"/>
            </a:solidFill>
            <a:prstDash val="solid"/>
          </a:ln>
        </p:spPr>
      </p:sp>
      <p:sp>
        <p:nvSpPr>
          <p:cNvPr id="14" name="Text 12"/>
          <p:cNvSpPr/>
          <p:nvPr/>
        </p:nvSpPr>
        <p:spPr>
          <a:xfrm>
            <a:off x="9131300" y="4472583"/>
            <a:ext cx="2066798" cy="302816"/>
          </a:xfrm>
          <a:prstGeom prst="rect">
            <a:avLst/>
          </a:prstGeom>
          <a:noFill/>
          <a:ln/>
        </p:spPr>
        <p:txBody>
          <a:bodyPr wrap="square" lIns="0" tIns="0" rIns="0" bIns="0" rtlCol="0" anchor="t">
            <a:normAutofit/>
          </a:bodyPr>
          <a:lstStyle/>
          <a:p>
            <a:pPr algn="l" indent="0" marL="0">
              <a:lnSpc>
                <a:spcPts val="2185"/>
              </a:lnSpc>
              <a:buNone/>
            </a:pPr>
            <a:r>
              <a:rPr lang="en-US" sz="1900" b="1" dirty="0">
                <a:solidFill>
                  <a:srgbClr val="8C2332"/>
                </a:solidFill>
                <a:latin typeface="Fredoka" pitchFamily="34" charset="0"/>
                <a:ea typeface="Fredoka" pitchFamily="34" charset="-122"/>
                <a:cs typeface="Fredoka" pitchFamily="34" charset="-120"/>
              </a:rPr>
              <a:t>Your own idea</a:t>
            </a:r>
            <a:endParaRPr lang="en-US" sz="1900" dirty="0"/>
          </a:p>
        </p:txBody>
      </p:sp>
      <p:sp>
        <p:nvSpPr>
          <p:cNvPr id="15" name="Text 13"/>
          <p:cNvSpPr/>
          <p:nvPr/>
        </p:nvSpPr>
        <p:spPr>
          <a:xfrm>
            <a:off x="9131300" y="4826198"/>
            <a:ext cx="2066798" cy="771029"/>
          </a:xfrm>
          <a:prstGeom prst="rect">
            <a:avLst/>
          </a:prstGeom>
          <a:noFill/>
          <a:ln/>
        </p:spPr>
        <p:txBody>
          <a:bodyPr wrap="square" lIns="0" tIns="0" rIns="0" bIns="0" rtlCol="0" anchor="t">
            <a:normAutofit/>
          </a:bodyPr>
          <a:lstStyle/>
          <a:p>
            <a:pPr algn="l" indent="0" marL="0">
              <a:lnSpc>
                <a:spcPts val="1958"/>
              </a:lnSpc>
              <a:buNone/>
            </a:pPr>
            <a:r>
              <a:rPr lang="en-US" sz="1450" dirty="0">
                <a:solidFill>
                  <a:srgbClr val="5C4A46"/>
                </a:solidFill>
                <a:latin typeface="Nunito Sans" pitchFamily="34" charset="0"/>
                <a:ea typeface="Nunito Sans" pitchFamily="34" charset="-122"/>
                <a:cs typeface="Nunito Sans" pitchFamily="34" charset="-120"/>
              </a:rPr>
              <a:t>Best option. Anything that falls and anything that hurts.</a:t>
            </a:r>
            <a:endParaRPr lang="en-US" sz="145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PROJECT BUILD · TWENTY MINUTES</a:t>
            </a:r>
            <a:endParaRPr lang="en-US" sz="1300" dirty="0"/>
          </a:p>
        </p:txBody>
      </p:sp>
      <p:sp>
        <p:nvSpPr>
          <p:cNvPr id="3" name="Text 1"/>
          <p:cNvSpPr/>
          <p:nvPr/>
        </p:nvSpPr>
        <p:spPr>
          <a:xfrm>
            <a:off x="812800" y="2030809"/>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Start Sky Catcher</a:t>
            </a:r>
            <a:endParaRPr lang="en-US" sz="4000" dirty="0"/>
          </a:p>
        </p:txBody>
      </p:sp>
      <p:sp>
        <p:nvSpPr>
          <p:cNvPr id="4" name="Text 2"/>
          <p:cNvSpPr/>
          <p:nvPr/>
        </p:nvSpPr>
        <p:spPr>
          <a:xfrm>
            <a:off x="1117600" y="3566319"/>
            <a:ext cx="10569448" cy="230108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New project.</a:t>
            </a:r>
            <a:r>
              <a:rPr lang="en-US" sz="1600" dirty="0">
                <a:solidFill>
                  <a:srgbClr val="2E1015"/>
                </a:solidFill>
                <a:latin typeface="Nunito Sans" pitchFamily="34" charset="0"/>
                <a:ea typeface="Nunito Sans" pitchFamily="34" charset="-122"/>
                <a:cs typeface="Nunito Sans" pitchFamily="34" charset="-120"/>
              </a:rPr>
              <a:t> Name it </a:t>
            </a:r>
            <a:r>
              <a:rPr lang="en-US" sz="1600" b="1" dirty="0">
                <a:solidFill>
                  <a:srgbClr val="2E1015"/>
                </a:solidFill>
                <a:latin typeface="Nunito Sans" pitchFamily="34" charset="0"/>
                <a:ea typeface="Nunito Sans" pitchFamily="34" charset="-122"/>
                <a:cs typeface="Nunito Sans" pitchFamily="34" charset="-120"/>
              </a:rPr>
              <a:t>Sky Catcher — your name</a:t>
            </a:r>
            <a:r>
              <a:rPr lang="en-US" sz="1600" dirty="0">
                <a:solidFill>
                  <a:srgbClr val="2E1015"/>
                </a:solidFill>
                <a:latin typeface="Nunito Sans" pitchFamily="34" charset="0"/>
                <a:ea typeface="Nunito Sans" pitchFamily="34" charset="-122"/>
                <a:cs typeface="Nunito Sans" pitchFamily="34" charset="-120"/>
              </a:rPr>
              <a:t> straight away, at the top of the window.</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Pick your theme</a:t>
            </a:r>
            <a:r>
              <a:rPr lang="en-US" sz="1600" dirty="0">
                <a:solidFill>
                  <a:srgbClr val="2E1015"/>
                </a:solidFill>
                <a:latin typeface="Nunito Sans" pitchFamily="34" charset="0"/>
                <a:ea typeface="Nunito Sans" pitchFamily="34" charset="-122"/>
                <a:cs typeface="Nunito Sans" pitchFamily="34" charset="-120"/>
              </a:rPr>
              <a:t> and stick with it.</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Delete the cat.</a:t>
            </a:r>
            <a:r>
              <a:rPr lang="en-US" sz="1600" dirty="0">
                <a:solidFill>
                  <a:srgbClr val="2E1015"/>
                </a:solidFill>
                <a:latin typeface="Nunito Sans" pitchFamily="34" charset="0"/>
                <a:ea typeface="Nunito Sans" pitchFamily="34" charset="-122"/>
                <a:cs typeface="Nunito Sans" pitchFamily="34" charset="-120"/>
              </a:rPr>
              <a:t> Right-click, delete. Enjoy it.</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Choose your player</a:t>
            </a:r>
            <a:r>
              <a:rPr lang="en-US" sz="1600" dirty="0">
                <a:solidFill>
                  <a:srgbClr val="2E1015"/>
                </a:solidFill>
                <a:latin typeface="Nunito Sans" pitchFamily="34" charset="0"/>
                <a:ea typeface="Nunito Sans" pitchFamily="34" charset="-122"/>
                <a:cs typeface="Nunito Sans" pitchFamily="34" charset="-120"/>
              </a:rPr>
              <a:t> — a basket, a person, a dog, a net. Something that catches.</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Choose a backdrop</a:t>
            </a:r>
            <a:r>
              <a:rPr lang="en-US" sz="1600" dirty="0">
                <a:solidFill>
                  <a:srgbClr val="2E1015"/>
                </a:solidFill>
                <a:latin typeface="Nunito Sans" pitchFamily="34" charset="0"/>
                <a:ea typeface="Nunito Sans" pitchFamily="34" charset="-122"/>
                <a:cs typeface="Nunito Sans" pitchFamily="34" charset="-120"/>
              </a:rPr>
              <a:t> that fits your idea.</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Put the player at the bottom:</a:t>
            </a:r>
            <a:r>
              <a:rPr lang="en-US" sz="1600" dirty="0">
                <a:solidFill>
                  <a:srgbClr val="2E1015"/>
                </a:solidFill>
                <a:latin typeface="Nunito Sans" pitchFamily="34" charset="0"/>
                <a:ea typeface="Nunito Sans" pitchFamily="34" charset="-122"/>
                <a:cs typeface="Nunito Sans" pitchFamily="34" charset="-120"/>
              </a:rPr>
              <a:t> </a:t>
            </a:r>
            <a:r>
              <a:rPr lang="en-US" sz="1600" b="1" dirty="0">
                <a:solidFill>
                  <a:srgbClr val="2E1015"/>
                </a:solidFill>
                <a:latin typeface="Nunito Sans" pitchFamily="34" charset="0"/>
                <a:ea typeface="Nunito Sans" pitchFamily="34" charset="-122"/>
                <a:cs typeface="Nunito Sans" pitchFamily="34" charset="-120"/>
              </a:rPr>
              <a:t>when green flag clicked</a:t>
            </a:r>
            <a:r>
              <a:rPr lang="en-US" sz="1600" dirty="0">
                <a:solidFill>
                  <a:srgbClr val="2E1015"/>
                </a:solidFill>
                <a:latin typeface="Nunito Sans" pitchFamily="34" charset="0"/>
                <a:ea typeface="Nunito Sans" pitchFamily="34" charset="-122"/>
                <a:cs typeface="Nunito Sans" pitchFamily="34" charset="-120"/>
              </a:rPr>
              <a:t> → </a:t>
            </a:r>
            <a:r>
              <a:rPr lang="en-US" sz="1600" b="1" dirty="0">
                <a:solidFill>
                  <a:srgbClr val="2E1015"/>
                </a:solidFill>
                <a:latin typeface="Nunito Sans" pitchFamily="34" charset="0"/>
                <a:ea typeface="Nunito Sans" pitchFamily="34" charset="-122"/>
                <a:cs typeface="Nunito Sans" pitchFamily="34" charset="-120"/>
              </a:rPr>
              <a:t>go to x: 0 y: -140</a:t>
            </a:r>
            <a:r>
              <a:rPr lang="en-US" sz="1600" dirty="0">
                <a:solidFill>
                  <a:srgbClr val="2E1015"/>
                </a:solidFill>
                <a:latin typeface="Nunito Sans" pitchFamily="34" charset="0"/>
                <a:ea typeface="Nunito Sans" pitchFamily="34" charset="-122"/>
                <a:cs typeface="Nunito Sans" pitchFamily="34" charset="-120"/>
              </a:rPr>
              <a:t>.</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Say hello:</a:t>
            </a:r>
            <a:r>
              <a:rPr lang="en-US" sz="1600" dirty="0">
                <a:solidFill>
                  <a:srgbClr val="2E1015"/>
                </a:solidFill>
                <a:latin typeface="Nunito Sans" pitchFamily="34" charset="0"/>
                <a:ea typeface="Nunito Sans" pitchFamily="34" charset="-122"/>
                <a:cs typeface="Nunito Sans" pitchFamily="34" charset="-120"/>
              </a:rPr>
              <a:t> </a:t>
            </a:r>
            <a:r>
              <a:rPr lang="en-US" sz="1600" b="1" dirty="0">
                <a:solidFill>
                  <a:srgbClr val="2E1015"/>
                </a:solidFill>
                <a:latin typeface="Nunito Sans" pitchFamily="34" charset="0"/>
                <a:ea typeface="Nunito Sans" pitchFamily="34" charset="-122"/>
                <a:cs typeface="Nunito Sans" pitchFamily="34" charset="-120"/>
              </a:rPr>
              <a:t>say [Catch the mangoes!] for 2 seconds</a:t>
            </a:r>
            <a:r>
              <a:rPr lang="en-US" sz="1600" dirty="0">
                <a:solidFill>
                  <a:srgbClr val="2E1015"/>
                </a:solidFill>
                <a:latin typeface="Nunito Sans" pitchFamily="34" charset="0"/>
                <a:ea typeface="Nunito Sans" pitchFamily="34" charset="-122"/>
                <a:cs typeface="Nunito Sans" pitchFamily="34" charset="-120"/>
              </a:rPr>
              <a:t>.</a:t>
            </a:r>
            <a:endParaRPr lang="en-US" sz="1600" dirty="0"/>
          </a:p>
          <a:p>
            <a:pPr algn="l" marL="342900" indent="-342900">
              <a:lnSpc>
                <a:spcPts val="2240"/>
              </a:lnSpc>
              <a:buSzPct val="100000"/>
              <a:buFont typeface="+mj-lt"/>
              <a:buAutoNum type="arabicPeriod" startAt="1"/>
            </a:pPr>
            <a:r>
              <a:rPr lang="en-US" sz="1600" b="1" dirty="0">
                <a:solidFill>
                  <a:srgbClr val="2E1015"/>
                </a:solidFill>
                <a:latin typeface="Nunito Sans" pitchFamily="34" charset="0"/>
                <a:ea typeface="Nunito Sans" pitchFamily="34" charset="-122"/>
                <a:cs typeface="Nunito Sans" pitchFamily="34" charset="-120"/>
              </a:rPr>
              <a:t>Save.</a:t>
            </a:r>
            <a:r>
              <a:rPr lang="en-US" sz="1600" dirty="0">
                <a:solidFill>
                  <a:srgbClr val="2E1015"/>
                </a:solidFill>
                <a:latin typeface="Nunito Sans" pitchFamily="34" charset="0"/>
                <a:ea typeface="Nunito Sans" pitchFamily="34" charset="-122"/>
                <a:cs typeface="Nunito Sans" pitchFamily="34" charset="-120"/>
              </a:rPr>
              <a:t> File → Save now.</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E9D2"/>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DEBUGGING</a:t>
            </a:r>
            <a:endParaRPr lang="en-US" sz="1300" dirty="0"/>
          </a:p>
        </p:txBody>
      </p:sp>
      <p:sp>
        <p:nvSpPr>
          <p:cNvPr id="3" name="Text 1"/>
          <p:cNvSpPr/>
          <p:nvPr/>
        </p:nvSpPr>
        <p:spPr>
          <a:xfrm>
            <a:off x="812800" y="174754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Stuck? Check these first</a:t>
            </a:r>
            <a:endParaRPr lang="en-US" sz="4000" dirty="0"/>
          </a:p>
        </p:txBody>
      </p:sp>
      <p:sp>
        <p:nvSpPr>
          <p:cNvPr id="4" name="Shape 2"/>
          <p:cNvSpPr/>
          <p:nvPr/>
        </p:nvSpPr>
        <p:spPr>
          <a:xfrm>
            <a:off x="819150" y="3006130"/>
            <a:ext cx="5168900" cy="1319510"/>
          </a:xfrm>
          <a:prstGeom prst="roundRect">
            <a:avLst>
              <a:gd name="adj" fmla="val 10106"/>
            </a:avLst>
          </a:prstGeom>
          <a:solidFill>
            <a:srgbClr val="FFFCF4"/>
          </a:solidFill>
          <a:ln w="12700">
            <a:solidFill>
              <a:srgbClr val="E4D7BE"/>
            </a:solidFill>
            <a:prstDash val="solid"/>
          </a:ln>
        </p:spPr>
      </p:sp>
      <p:sp>
        <p:nvSpPr>
          <p:cNvPr id="5" name="Text 3"/>
          <p:cNvSpPr/>
          <p:nvPr/>
        </p:nvSpPr>
        <p:spPr>
          <a:xfrm>
            <a:off x="10541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"Nothing happens when I click the flag"</a:t>
            </a:r>
            <a:endParaRPr lang="en-US" sz="1700" dirty="0"/>
          </a:p>
        </p:txBody>
      </p:sp>
      <p:sp>
        <p:nvSpPr>
          <p:cNvPr id="6" name="Text 4"/>
          <p:cNvSpPr/>
          <p:nvPr/>
        </p:nvSpPr>
        <p:spPr>
          <a:xfrm>
            <a:off x="10541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Your blocks are not joined to the hat block. Drag them until you see the grey shadow, then let go.</a:t>
            </a:r>
            <a:endParaRPr lang="en-US" sz="1500" dirty="0"/>
          </a:p>
        </p:txBody>
      </p:sp>
      <p:sp>
        <p:nvSpPr>
          <p:cNvPr id="7" name="Shape 5"/>
          <p:cNvSpPr/>
          <p:nvPr/>
        </p:nvSpPr>
        <p:spPr>
          <a:xfrm>
            <a:off x="6203950" y="3006130"/>
            <a:ext cx="5168900" cy="1319510"/>
          </a:xfrm>
          <a:prstGeom prst="roundRect">
            <a:avLst>
              <a:gd name="adj" fmla="val 10106"/>
            </a:avLst>
          </a:prstGeom>
          <a:solidFill>
            <a:srgbClr val="FFFCF4"/>
          </a:solidFill>
          <a:ln w="12700">
            <a:solidFill>
              <a:srgbClr val="E4D7BE"/>
            </a:solidFill>
            <a:prstDash val="solid"/>
          </a:ln>
        </p:spPr>
      </p:sp>
      <p:sp>
        <p:nvSpPr>
          <p:cNvPr id="8" name="Text 6"/>
          <p:cNvSpPr/>
          <p:nvPr/>
        </p:nvSpPr>
        <p:spPr>
          <a:xfrm>
            <a:off x="6438900" y="324108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sprite has disappeared"</a:t>
            </a:r>
            <a:endParaRPr lang="en-US" sz="1700" dirty="0"/>
          </a:p>
        </p:txBody>
      </p:sp>
      <p:sp>
        <p:nvSpPr>
          <p:cNvPr id="9" name="Text 7"/>
          <p:cNvSpPr/>
          <p:nvPr/>
        </p:nvSpPr>
        <p:spPr>
          <a:xfrm>
            <a:off x="6438900" y="357634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It walked off the stage. Add go to x: 0 y: 0 and click the flag.</a:t>
            </a:r>
            <a:endParaRPr lang="en-US" sz="1500" dirty="0"/>
          </a:p>
        </p:txBody>
      </p:sp>
      <p:sp>
        <p:nvSpPr>
          <p:cNvPr id="10" name="Shape 8"/>
          <p:cNvSpPr/>
          <p:nvPr/>
        </p:nvSpPr>
        <p:spPr>
          <a:xfrm>
            <a:off x="819150" y="4516140"/>
            <a:ext cx="5168900" cy="1319510"/>
          </a:xfrm>
          <a:prstGeom prst="roundRect">
            <a:avLst>
              <a:gd name="adj" fmla="val 10106"/>
            </a:avLst>
          </a:prstGeom>
          <a:solidFill>
            <a:srgbClr val="FFFCF4"/>
          </a:solidFill>
          <a:ln w="12700">
            <a:solidFill>
              <a:srgbClr val="E4D7BE"/>
            </a:solidFill>
            <a:prstDash val="solid"/>
          </a:ln>
        </p:spPr>
      </p:sp>
      <p:sp>
        <p:nvSpPr>
          <p:cNvPr id="11" name="Text 9"/>
          <p:cNvSpPr/>
          <p:nvPr/>
        </p:nvSpPr>
        <p:spPr>
          <a:xfrm>
            <a:off x="10541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"The speech bubble never goes away"</a:t>
            </a:r>
            <a:endParaRPr lang="en-US" sz="1700" dirty="0"/>
          </a:p>
        </p:txBody>
      </p:sp>
      <p:sp>
        <p:nvSpPr>
          <p:cNvPr id="12" name="Text 10"/>
          <p:cNvSpPr/>
          <p:nvPr/>
        </p:nvSpPr>
        <p:spPr>
          <a:xfrm>
            <a:off x="1054100" y="5086350"/>
            <a:ext cx="4839970"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You used say instead of say for 2 seconds. Swap it.</a:t>
            </a:r>
            <a:endParaRPr lang="en-US" sz="1500" dirty="0"/>
          </a:p>
        </p:txBody>
      </p:sp>
      <p:sp>
        <p:nvSpPr>
          <p:cNvPr id="13" name="Shape 11"/>
          <p:cNvSpPr/>
          <p:nvPr/>
        </p:nvSpPr>
        <p:spPr>
          <a:xfrm>
            <a:off x="6203950" y="4516140"/>
            <a:ext cx="5168900" cy="1319510"/>
          </a:xfrm>
          <a:prstGeom prst="roundRect">
            <a:avLst>
              <a:gd name="adj" fmla="val 10106"/>
            </a:avLst>
          </a:prstGeom>
          <a:solidFill>
            <a:srgbClr val="FFFCF4"/>
          </a:solidFill>
          <a:ln w="12700">
            <a:solidFill>
              <a:srgbClr val="E4D7BE"/>
            </a:solidFill>
            <a:prstDash val="solid"/>
          </a:ln>
        </p:spPr>
      </p:sp>
      <p:sp>
        <p:nvSpPr>
          <p:cNvPr id="14" name="Text 12"/>
          <p:cNvSpPr/>
          <p:nvPr/>
        </p:nvSpPr>
        <p:spPr>
          <a:xfrm>
            <a:off x="6438900" y="4751090"/>
            <a:ext cx="483997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8C2332"/>
                </a:solidFill>
                <a:latin typeface="Fredoka" pitchFamily="34" charset="0"/>
                <a:ea typeface="Fredoka" pitchFamily="34" charset="-122"/>
                <a:cs typeface="Fredoka" pitchFamily="34" charset="-120"/>
              </a:rPr>
              <a:t>"My code is on the wrong character"</a:t>
            </a:r>
            <a:endParaRPr lang="en-US" sz="1700" dirty="0"/>
          </a:p>
        </p:txBody>
      </p:sp>
      <p:sp>
        <p:nvSpPr>
          <p:cNvPr id="15" name="Text 13"/>
          <p:cNvSpPr/>
          <p:nvPr/>
        </p:nvSpPr>
        <p:spPr>
          <a:xfrm>
            <a:off x="6438900" y="5086350"/>
            <a:ext cx="4839970"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Check which sprite is highlighted in the sprite list before you start dragging.</a:t>
            </a:r>
            <a:endParaRPr lang="en-US" sz="1500" dirty="0"/>
          </a:p>
        </p:txBody>
      </p:sp>
      <p:sp>
        <p:nvSpPr>
          <p:cNvPr id="16" name="Text 14"/>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7"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BEFORE YOU GO</a:t>
            </a:r>
            <a:endParaRPr lang="en-US" sz="1300" dirty="0"/>
          </a:p>
        </p:txBody>
      </p:sp>
      <p:sp>
        <p:nvSpPr>
          <p:cNvPr id="3" name="Text 1"/>
          <p:cNvSpPr/>
          <p:nvPr/>
        </p:nvSpPr>
        <p:spPr>
          <a:xfrm>
            <a:off x="812800" y="2479675"/>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Save it. Check the name.</a:t>
            </a:r>
            <a:endParaRPr lang="en-US" sz="4000" dirty="0"/>
          </a:p>
        </p:txBody>
      </p:sp>
      <p:sp>
        <p:nvSpPr>
          <p:cNvPr id="4" name="Shape 2"/>
          <p:cNvSpPr/>
          <p:nvPr/>
        </p:nvSpPr>
        <p:spPr>
          <a:xfrm>
            <a:off x="819150" y="4470400"/>
            <a:ext cx="3373934" cy="1365250"/>
          </a:xfrm>
          <a:prstGeom prst="roundRect">
            <a:avLst>
              <a:gd name="adj" fmla="val 9767"/>
            </a:avLst>
          </a:prstGeom>
          <a:solidFill>
            <a:srgbClr val="FFFCF4"/>
          </a:solidFill>
          <a:ln w="12700">
            <a:solidFill>
              <a:srgbClr val="E4D7BE"/>
            </a:solidFill>
            <a:prstDash val="solid"/>
          </a:ln>
        </p:spPr>
      </p:sp>
      <p:sp>
        <p:nvSpPr>
          <p:cNvPr id="5" name="Text 3"/>
          <p:cNvSpPr/>
          <p:nvPr/>
        </p:nvSpPr>
        <p:spPr>
          <a:xfrm>
            <a:off x="1054100"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1 — Save now</a:t>
            </a:r>
            <a:endParaRPr lang="en-US" sz="2000" dirty="0"/>
          </a:p>
        </p:txBody>
      </p:sp>
      <p:sp>
        <p:nvSpPr>
          <p:cNvPr id="6" name="Text 4"/>
          <p:cNvSpPr/>
          <p:nvPr/>
        </p:nvSpPr>
        <p:spPr>
          <a:xfrm>
            <a:off x="1054100"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File → Save now. Watch for the message that says it saved.</a:t>
            </a:r>
            <a:endParaRPr lang="en-US" sz="1500" dirty="0"/>
          </a:p>
        </p:txBody>
      </p:sp>
      <p:sp>
        <p:nvSpPr>
          <p:cNvPr id="7" name="Shape 5"/>
          <p:cNvSpPr/>
          <p:nvPr/>
        </p:nvSpPr>
        <p:spPr>
          <a:xfrm>
            <a:off x="4408984" y="4470400"/>
            <a:ext cx="3374033" cy="1365250"/>
          </a:xfrm>
          <a:prstGeom prst="roundRect">
            <a:avLst>
              <a:gd name="adj" fmla="val 9767"/>
            </a:avLst>
          </a:prstGeom>
          <a:solidFill>
            <a:srgbClr val="FFFCF4"/>
          </a:solidFill>
          <a:ln w="12700">
            <a:solidFill>
              <a:srgbClr val="E4D7BE"/>
            </a:solidFill>
            <a:prstDash val="solid"/>
          </a:ln>
        </p:spPr>
      </p:sp>
      <p:sp>
        <p:nvSpPr>
          <p:cNvPr id="8" name="Text 6"/>
          <p:cNvSpPr/>
          <p:nvPr/>
        </p:nvSpPr>
        <p:spPr>
          <a:xfrm>
            <a:off x="4643934" y="4705350"/>
            <a:ext cx="299125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2 — Check the name</a:t>
            </a:r>
            <a:endParaRPr lang="en-US" sz="2000" dirty="0"/>
          </a:p>
        </p:txBody>
      </p:sp>
      <p:sp>
        <p:nvSpPr>
          <p:cNvPr id="9" name="Text 7"/>
          <p:cNvSpPr/>
          <p:nvPr/>
        </p:nvSpPr>
        <p:spPr>
          <a:xfrm>
            <a:off x="4643934" y="5086350"/>
            <a:ext cx="299125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The name at the top should still say </a:t>
            </a:r>
            <a:r>
              <a:rPr lang="en-US" sz="1500" b="1" dirty="0">
                <a:solidFill>
                  <a:srgbClr val="5C4A46"/>
                </a:solidFill>
                <a:latin typeface="Nunito Sans" pitchFamily="34" charset="0"/>
                <a:ea typeface="Nunito Sans" pitchFamily="34" charset="-122"/>
                <a:cs typeface="Nunito Sans" pitchFamily="34" charset="-120"/>
              </a:rPr>
              <a:t>Sky Catcher — your name</a:t>
            </a:r>
            <a:r>
              <a:rPr lang="en-US" sz="1500" dirty="0">
                <a:solidFill>
                  <a:srgbClr val="5C4A46"/>
                </a:solidFill>
                <a:latin typeface="Nunito Sans" pitchFamily="34" charset="0"/>
                <a:ea typeface="Nunito Sans" pitchFamily="34" charset="-122"/>
                <a:cs typeface="Nunito Sans" pitchFamily="34" charset="-120"/>
              </a:rPr>
              <a:t>.</a:t>
            </a:r>
            <a:endParaRPr lang="en-US" sz="1500" dirty="0"/>
          </a:p>
        </p:txBody>
      </p:sp>
      <p:sp>
        <p:nvSpPr>
          <p:cNvPr id="10" name="Shape 8"/>
          <p:cNvSpPr/>
          <p:nvPr/>
        </p:nvSpPr>
        <p:spPr>
          <a:xfrm>
            <a:off x="7998916" y="4470400"/>
            <a:ext cx="3373934" cy="1365250"/>
          </a:xfrm>
          <a:prstGeom prst="roundRect">
            <a:avLst>
              <a:gd name="adj" fmla="val 9767"/>
            </a:avLst>
          </a:prstGeom>
          <a:solidFill>
            <a:srgbClr val="FFFCF4"/>
          </a:solidFill>
          <a:ln w="12700">
            <a:solidFill>
              <a:srgbClr val="E4D7BE"/>
            </a:solidFill>
            <a:prstDash val="solid"/>
          </a:ln>
        </p:spPr>
      </p:sp>
      <p:sp>
        <p:nvSpPr>
          <p:cNvPr id="11" name="Text 9"/>
          <p:cNvSpPr/>
          <p:nvPr/>
        </p:nvSpPr>
        <p:spPr>
          <a:xfrm>
            <a:off x="8233866" y="4705350"/>
            <a:ext cx="299115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E6B3A"/>
                </a:solidFill>
                <a:latin typeface="Fredoka" pitchFamily="34" charset="0"/>
                <a:ea typeface="Fredoka" pitchFamily="34" charset="-122"/>
                <a:cs typeface="Fredoka" pitchFamily="34" charset="-120"/>
              </a:rPr>
              <a:t>3 — Check My Stuff</a:t>
            </a:r>
            <a:endParaRPr lang="en-US" sz="2000" dirty="0"/>
          </a:p>
        </p:txBody>
      </p:sp>
      <p:sp>
        <p:nvSpPr>
          <p:cNvPr id="12" name="Text 10"/>
          <p:cNvSpPr/>
          <p:nvPr/>
        </p:nvSpPr>
        <p:spPr>
          <a:xfrm>
            <a:off x="8233866" y="5086350"/>
            <a:ext cx="299115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5C4A46"/>
                </a:solidFill>
                <a:latin typeface="Nunito Sans" pitchFamily="34" charset="0"/>
                <a:ea typeface="Nunito Sans" pitchFamily="34" charset="-122"/>
                <a:cs typeface="Nunito Sans" pitchFamily="34" charset="-120"/>
              </a:rPr>
              <a:t>Click your name → My Stuff. Your project should be sitting there.</a:t>
            </a:r>
            <a:endParaRPr lang="en-US" sz="1500" dirty="0"/>
          </a:p>
        </p:txBody>
      </p:sp>
      <p:sp>
        <p:nvSpPr>
          <p:cNvPr id="13" name="Text 11"/>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4"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HOMEWORK · NEVER MARKED, NEVER CHASED</a:t>
            </a:r>
            <a:endParaRPr lang="en-US" sz="1300" dirty="0"/>
          </a:p>
        </p:txBody>
      </p:sp>
      <p:sp>
        <p:nvSpPr>
          <p:cNvPr id="3" name="Text 1"/>
          <p:cNvSpPr/>
          <p:nvPr/>
        </p:nvSpPr>
        <p:spPr>
          <a:xfrm>
            <a:off x="812800" y="2297807"/>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Two things to try at home</a:t>
            </a:r>
            <a:endParaRPr lang="en-US" sz="4000" dirty="0"/>
          </a:p>
        </p:txBody>
      </p:sp>
      <p:sp>
        <p:nvSpPr>
          <p:cNvPr id="4" name="Shape 2"/>
          <p:cNvSpPr/>
          <p:nvPr/>
        </p:nvSpPr>
        <p:spPr>
          <a:xfrm>
            <a:off x="819150" y="4106565"/>
            <a:ext cx="5168900" cy="1729085"/>
          </a:xfrm>
          <a:prstGeom prst="roundRect">
            <a:avLst>
              <a:gd name="adj" fmla="val 7712"/>
            </a:avLst>
          </a:prstGeom>
          <a:solidFill>
            <a:srgbClr val="FFFCF4"/>
          </a:solidFill>
          <a:ln w="12700">
            <a:solidFill>
              <a:srgbClr val="E4D7BE"/>
            </a:solidFill>
            <a:prstDash val="solid"/>
          </a:ln>
        </p:spPr>
      </p:sp>
      <p:sp>
        <p:nvSpPr>
          <p:cNvPr id="5" name="Text 3"/>
          <p:cNvSpPr/>
          <p:nvPr/>
        </p:nvSpPr>
        <p:spPr>
          <a:xfrm>
            <a:off x="10541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1</a:t>
            </a:r>
            <a:endParaRPr lang="en-US" sz="1500" dirty="0"/>
          </a:p>
        </p:txBody>
      </p:sp>
      <p:sp>
        <p:nvSpPr>
          <p:cNvPr id="6" name="Text 4"/>
          <p:cNvSpPr/>
          <p:nvPr/>
        </p:nvSpPr>
        <p:spPr>
          <a:xfrm>
            <a:off x="10541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The four-line joke</a:t>
            </a:r>
            <a:endParaRPr lang="en-US" sz="2100" dirty="0"/>
          </a:p>
        </p:txBody>
      </p:sp>
      <p:sp>
        <p:nvSpPr>
          <p:cNvPr id="7" name="Text 5"/>
          <p:cNvSpPr/>
          <p:nvPr/>
        </p:nvSpPr>
        <p:spPr>
          <a:xfrm>
            <a:off x="10541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Make a sprite tell a joke using four say blocks with waits, so the timing lands. The punchline has to wait.</a:t>
            </a:r>
            <a:endParaRPr lang="en-US" sz="1500" dirty="0"/>
          </a:p>
        </p:txBody>
      </p:sp>
      <p:sp>
        <p:nvSpPr>
          <p:cNvPr id="8" name="Shape 6"/>
          <p:cNvSpPr/>
          <p:nvPr/>
        </p:nvSpPr>
        <p:spPr>
          <a:xfrm>
            <a:off x="6203950" y="4106565"/>
            <a:ext cx="5168900" cy="1729085"/>
          </a:xfrm>
          <a:prstGeom prst="roundRect">
            <a:avLst>
              <a:gd name="adj" fmla="val 7712"/>
            </a:avLst>
          </a:prstGeom>
          <a:solidFill>
            <a:srgbClr val="FFFCF4"/>
          </a:solidFill>
          <a:ln w="12700">
            <a:solidFill>
              <a:srgbClr val="E4D7BE"/>
            </a:solidFill>
            <a:prstDash val="solid"/>
          </a:ln>
        </p:spPr>
      </p:sp>
      <p:sp>
        <p:nvSpPr>
          <p:cNvPr id="9" name="Text 7"/>
          <p:cNvSpPr/>
          <p:nvPr/>
        </p:nvSpPr>
        <p:spPr>
          <a:xfrm>
            <a:off x="6438900" y="4341515"/>
            <a:ext cx="4839970" cy="292100"/>
          </a:xfrm>
          <a:prstGeom prst="rect">
            <a:avLst/>
          </a:prstGeom>
          <a:noFill/>
          <a:ln/>
        </p:spPr>
        <p:txBody>
          <a:bodyPr wrap="square" lIns="0" tIns="0" rIns="0" bIns="0" rtlCol="0" anchor="t">
            <a:normAutofit/>
          </a:bodyPr>
          <a:lstStyle/>
          <a:p>
            <a:pPr algn="l" indent="0" marL="0">
              <a:lnSpc>
                <a:spcPts val="2100"/>
              </a:lnSpc>
              <a:buNone/>
            </a:pPr>
            <a:r>
              <a:rPr lang="en-US" sz="1500" b="1" spc="100" kern="0" dirty="0">
                <a:solidFill>
                  <a:srgbClr val="8A6712"/>
                </a:solidFill>
                <a:latin typeface="Nunito Sans" pitchFamily="34" charset="0"/>
                <a:ea typeface="Nunito Sans" pitchFamily="34" charset="-122"/>
                <a:cs typeface="Nunito Sans" pitchFamily="34" charset="-120"/>
              </a:rPr>
              <a:t>2</a:t>
            </a:r>
            <a:endParaRPr lang="en-US" sz="1500" dirty="0"/>
          </a:p>
        </p:txBody>
      </p:sp>
      <p:sp>
        <p:nvSpPr>
          <p:cNvPr id="10" name="Text 8"/>
          <p:cNvSpPr/>
          <p:nvPr/>
        </p:nvSpPr>
        <p:spPr>
          <a:xfrm>
            <a:off x="6438900" y="4684415"/>
            <a:ext cx="4839970" cy="332085"/>
          </a:xfrm>
          <a:prstGeom prst="rect">
            <a:avLst/>
          </a:prstGeom>
          <a:noFill/>
          <a:ln/>
        </p:spPr>
        <p:txBody>
          <a:bodyPr wrap="square" lIns="0" tIns="0" rIns="0" bIns="0" rtlCol="0" anchor="t">
            <a:normAutofit/>
          </a:bodyPr>
          <a:lstStyle/>
          <a:p>
            <a:pPr algn="l" indent="0" marL="0">
              <a:lnSpc>
                <a:spcPts val="2415"/>
              </a:lnSpc>
              <a:buNone/>
            </a:pPr>
            <a:r>
              <a:rPr lang="en-US" sz="2100" b="1" dirty="0">
                <a:solidFill>
                  <a:srgbClr val="2E1015"/>
                </a:solidFill>
                <a:latin typeface="Fredoka" pitchFamily="34" charset="0"/>
                <a:ea typeface="Fredoka" pitchFamily="34" charset="-122"/>
                <a:cs typeface="Fredoka" pitchFamily="34" charset="-120"/>
              </a:rPr>
              <a:t>Theme your player</a:t>
            </a:r>
            <a:endParaRPr lang="en-US" sz="2100" dirty="0"/>
          </a:p>
        </p:txBody>
      </p:sp>
      <p:sp>
        <p:nvSpPr>
          <p:cNvPr id="11" name="Text 9"/>
          <p:cNvSpPr/>
          <p:nvPr/>
        </p:nvSpPr>
        <p:spPr>
          <a:xfrm>
            <a:off x="6438900" y="5067300"/>
            <a:ext cx="483997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C4A46"/>
                </a:solidFill>
                <a:latin typeface="Nunito Sans" pitchFamily="34" charset="0"/>
                <a:ea typeface="Nunito Sans" pitchFamily="34" charset="-122"/>
                <a:cs typeface="Nunito Sans" pitchFamily="34" charset="-120"/>
              </a:rPr>
              <a:t>Change your player's costume, colour or size so it looks properly like your game's idea.</a:t>
            </a:r>
            <a:endParaRPr lang="en-US" sz="1500" dirty="0"/>
          </a:p>
        </p:txBody>
      </p:sp>
      <p:sp>
        <p:nvSpPr>
          <p:cNvPr id="12" name="Text 10"/>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13"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5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A6712"/>
                </a:solidFill>
                <a:latin typeface="Nunito Sans" pitchFamily="34" charset="0"/>
                <a:ea typeface="Nunito Sans" pitchFamily="34" charset="-122"/>
                <a:cs typeface="Nunito Sans" pitchFamily="34" charset="-120"/>
              </a:rPr>
              <a:t>BONUS CHALLENGES · NOBODY HAS TO FINISH THESE</a:t>
            </a:r>
            <a:endParaRPr lang="en-US" sz="1300" dirty="0"/>
          </a:p>
        </p:txBody>
      </p:sp>
      <p:sp>
        <p:nvSpPr>
          <p:cNvPr id="3" name="Text 1"/>
          <p:cNvSpPr/>
          <p:nvPr/>
        </p:nvSpPr>
        <p:spPr>
          <a:xfrm>
            <a:off x="812800" y="2599730"/>
            <a:ext cx="10883392" cy="573980"/>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2E1015"/>
                </a:solidFill>
                <a:latin typeface="Fredoka" pitchFamily="34" charset="0"/>
                <a:ea typeface="Fredoka" pitchFamily="34" charset="-122"/>
                <a:cs typeface="Fredoka" pitchFamily="34" charset="-120"/>
              </a:rPr>
              <a:t>If you race ahead</a:t>
            </a:r>
            <a:endParaRPr lang="en-US" sz="4000" dirty="0"/>
          </a:p>
        </p:txBody>
      </p:sp>
      <p:sp>
        <p:nvSpPr>
          <p:cNvPr id="4" name="Text 2"/>
          <p:cNvSpPr/>
          <p:nvPr/>
        </p:nvSpPr>
        <p:spPr>
          <a:xfrm>
            <a:off x="1117600" y="4704159"/>
            <a:ext cx="10569448" cy="1163241"/>
          </a:xfrm>
          <a:prstGeom prst="rect">
            <a:avLst/>
          </a:prstGeom>
          <a:noFill/>
          <a:ln/>
        </p:spPr>
        <p:txBody>
          <a:bodyPr wrap="square" lIns="0" tIns="0" rIns="0" bIns="0" rtlCol="0" anchor="t">
            <a:normAutofit/>
          </a:bodyPr>
          <a:lstStyle/>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a sprite draw a square by moving and turning. Hint: four moves, four turns of 90.</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two sprites have a conversation, with the waits timed so they do not talk over each other.</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Explore the Sound blocks. Make your sprite play a sound when the flag is clicked.</a:t>
            </a:r>
            <a:endParaRPr lang="en-US" sz="1600" dirty="0"/>
          </a:p>
          <a:p>
            <a:pPr algn="l" marL="342900" indent="-342900">
              <a:lnSpc>
                <a:spcPts val="2240"/>
              </a:lnSpc>
              <a:buSzPct val="100000"/>
              <a:buFont typeface="+mj-lt"/>
              <a:buAutoNum type="arabicPeriod" startAt="1"/>
            </a:pPr>
            <a:r>
              <a:rPr lang="en-US" sz="1600" dirty="0">
                <a:solidFill>
                  <a:srgbClr val="2E1015"/>
                </a:solidFill>
                <a:latin typeface="Nunito Sans" pitchFamily="34" charset="0"/>
                <a:ea typeface="Nunito Sans" pitchFamily="34" charset="-122"/>
                <a:cs typeface="Nunito Sans" pitchFamily="34" charset="-120"/>
              </a:rPr>
              <a:t>Make your sprite grow bigger and bigger, then reset to normal size.</a:t>
            </a:r>
            <a:endParaRPr lang="en-US" sz="1600" dirty="0"/>
          </a:p>
        </p:txBody>
      </p:sp>
      <p:sp>
        <p:nvSpPr>
          <p:cNvPr id="5" name="Text 3"/>
          <p:cNvSpPr/>
          <p:nvPr/>
        </p:nvSpPr>
        <p:spPr>
          <a:xfrm>
            <a:off x="812800" y="6238280"/>
            <a:ext cx="16052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7A72"/>
                </a:solidFill>
                <a:latin typeface="Nunito Sans" pitchFamily="34" charset="0"/>
                <a:ea typeface="Nunito Sans" pitchFamily="34" charset="-122"/>
                <a:cs typeface="Nunito Sans" pitchFamily="34" charset="-120"/>
              </a:rPr>
              <a:t>Game Makers · Class 1</a:t>
            </a:r>
            <a:endParaRPr lang="en-US" sz="1200" dirty="0"/>
          </a:p>
        </p:txBody>
      </p:sp>
      <p:pic>
        <p:nvPicPr>
          <p:cNvPr id="6" name="Image 0" descr="Kerala Cultural Club">    </p:cNvPr>
          <p:cNvPicPr>
            <a:picLocks noChangeAspect="1"/>
          </p:cNvPicPr>
          <p:nvPr/>
        </p:nvPicPr>
        <p:blipFill>
          <a:blip r:embed="rId1"/>
          <a:srcRect l="0" r="0" t="0" b="0"/>
          <a:stretch/>
        </p:blipFill>
        <p:spPr>
          <a:xfrm>
            <a:off x="11049000" y="6184900"/>
            <a:ext cx="330200" cy="330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A121B"/>
        </a:solidFill>
      </p:bgPr>
    </p:bg>
    <p:spTree>
      <p:nvGrpSpPr>
        <p:cNvPr id="1" name=""/>
        <p:cNvGrpSpPr/>
        <p:nvPr/>
      </p:nvGrpSpPr>
      <p:grpSpPr>
        <a:xfrm>
          <a:off x="0" y="0"/>
          <a:ext cx="0" cy="0"/>
          <a:chOff x="0" y="0"/>
          <a:chExt cx="0" cy="0"/>
        </a:xfrm>
      </p:grpSpPr>
      <p:sp>
        <p:nvSpPr>
          <p:cNvPr id="2" name="Text 0"/>
          <p:cNvSpPr/>
          <p:nvPr/>
        </p:nvSpPr>
        <p:spPr>
          <a:xfrm>
            <a:off x="812800" y="214124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C9A227"/>
                </a:solidFill>
                <a:latin typeface="Nunito Sans" pitchFamily="34" charset="0"/>
                <a:ea typeface="Nunito Sans" pitchFamily="34" charset="-122"/>
                <a:cs typeface="Nunito Sans" pitchFamily="34" charset="-120"/>
              </a:rPr>
              <a:t>NEXT WEEK</a:t>
            </a:r>
            <a:endParaRPr lang="en-US" sz="1300" dirty="0"/>
          </a:p>
        </p:txBody>
      </p:sp>
      <p:sp>
        <p:nvSpPr>
          <p:cNvPr id="3" name="Text 1"/>
          <p:cNvSpPr/>
          <p:nvPr/>
        </p:nvSpPr>
        <p:spPr>
          <a:xfrm>
            <a:off x="812800" y="2626320"/>
            <a:ext cx="9483725" cy="125472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F6E7C8"/>
                </a:solidFill>
                <a:latin typeface="Fredoka" pitchFamily="34" charset="0"/>
                <a:ea typeface="Fredoka" pitchFamily="34" charset="-122"/>
                <a:cs typeface="Fredoka" pitchFamily="34" charset="-120"/>
              </a:rPr>
              <a:t>Next week: your player learns to move.</a:t>
            </a:r>
            <a:endParaRPr lang="en-US" sz="4400" dirty="0"/>
          </a:p>
        </p:txBody>
      </p:sp>
      <p:sp>
        <p:nvSpPr>
          <p:cNvPr id="4" name="Shape 2"/>
          <p:cNvSpPr/>
          <p:nvPr/>
        </p:nvSpPr>
        <p:spPr>
          <a:xfrm>
            <a:off x="812800" y="4109641"/>
            <a:ext cx="1143000" cy="50800"/>
          </a:xfrm>
          <a:prstGeom prst="roundRect">
            <a:avLst>
              <a:gd name="adj" fmla="val 50000"/>
            </a:avLst>
          </a:prstGeom>
          <a:solidFill>
            <a:srgbClr val="C9A227"/>
          </a:solidFill>
          <a:ln/>
        </p:spPr>
      </p:sp>
      <p:sp>
        <p:nvSpPr>
          <p:cNvPr id="5" name="Text 3"/>
          <p:cNvSpPr/>
          <p:nvPr/>
        </p:nvSpPr>
        <p:spPr>
          <a:xfrm>
            <a:off x="812800" y="4414441"/>
            <a:ext cx="78486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49A7E"/>
                </a:solidFill>
                <a:latin typeface="Nunito Sans" pitchFamily="34" charset="0"/>
                <a:ea typeface="Nunito Sans" pitchFamily="34" charset="-122"/>
                <a:cs typeface="Nunito Sans" pitchFamily="34" charset="-120"/>
              </a:rPr>
              <a:t>Save your game. Check the name at the top of the screen.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Game Makers 1 — Meet Scratch</dc:title>
  <dc:subject>PptxGenJS Presentation</dc:subject>
  <dc:creator>PptxGenJS</dc:creator>
  <cp:lastModifiedBy>PptxGenJS</cp:lastModifiedBy>
  <cp:revision>1</cp:revision>
  <dcterms:created xsi:type="dcterms:W3CDTF">2026-09-19T12:30:19Z</dcterms:created>
  <dcterms:modified xsi:type="dcterms:W3CDTF">2026-09-19T12:30:19Z</dcterms:modified>
</cp:coreProperties>
</file>