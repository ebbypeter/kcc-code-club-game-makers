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class: print the handouts, and get a big coordinate grid ready. Masking tape on the floor beats a whiteboard by a mile and is worth the setup. Have the Week 1 skeleton link ready to send to anyone who missed the first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seconds. Point at week 1, remind them it says hello, then point at today. Coming back to this every week is what makes the term feel like it is going somewhere rather than being eight separate lessons.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or three volunteers, on the projector. Applaud everything. If nobody volunteers — likely in week two — demo one yourself and ask the class to rate the joke out of ten. Next week someone will put their hand up. This ten minutes is the single strongest motivator in the whole programme and it costs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Then straight into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of them will assume everything needs the green flag. Break that assumption early and out loud, because the arrow-key movement they are about to build depends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all three live on ONE sprite, one after another, and run each as you go. The point to land: three scripts, one sprite, all live at the same time. Press space, then the arrow key, then click the sprite, and let them see three different things happen without ever touching the green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on the floor grid if you have one. Stand a child at 0,0 and call out coordinates for them to walk to. Two or three goes is plenty. Note that positive y is UP, which surprises anyone who has met screen coordinates elsewhere, and is the cause of next week's falls-upward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Yellow starts things, blue moves things — same two colours as last week plus two new yellow triggers. Do not read the list out; they will meet each one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 full minute here even though it looks trivial. Change versus set comes back hard in week five with variables, and the minute you spend now saves ten then. Make them tell you the difference back before you move on. Also show glide, so they can see smooth movement against the teleport of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it wrong on the projector, press the key repeatedly, and be baffled. Let them shout the answer — they will, because it was on the previous slide, and being right out loud in week two is worth a lot. Then fix it in front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and quick, and it makes the when-this-sprite-clicked trigger stick. Read the steps aloud before anyone starts. Twelve minutes, then move them on firmly — activity B is the one that matters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separate scripts on one sprite. Once it works, get them to play with the number: change 10 to 50 and it is uncontrollable, change it to 2 and it crawls. Finding the number that FEELS right is their first taste of game tuning and they enjoy it far more than you would expect. Second volunteer: watch for children who have built the script on the STAGE instead of on a sprite — the stage has no motion blocks, so the palette looks broken to them and they get quietly stuck.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Check that nobody has lost their Sky Catcher project while playing with the 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then the blocks go on the board unordered and you stop talking. Let them struggle for a few minutes before helping. When you do help, ask 'what did you expect it to do, and what did it do?' and put your hands behind your back. The temptation to grab the mouse is enormous.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Unordered, deliberately. The activity was the guided version; this is where they apply it themselves. Two refinements once most of them have it working: keep the player at the bottom, and, if anyone asks how to stop it leaving the stage, defer honestly — 'we will be able to do that properly in two weeks, when we learn if'. Deferring honestly beats handing them a magic block they do not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rotation-style one arrives every year with the point-in-direction homework. The fix is in the sprite info panel, not in the code, which is exactly why it stumps them — they stare at blocks that are perfectly correct. Show them where the panel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back up, brief the homework, point at the bonuses.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Wrapping needs if-on-edge-bounce or a set x on a key, since if is not taught until week four. Either answer is fine. Fifteen to twenty minutes, never marked, never chased.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pen-trail one will keep a fast student busy for a solid fifteen minutes, which is exactly what you want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week it starts to look like a real game, and telling them so now buys you their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121B"/>
        </a:solidFill>
      </p:bgPr>
    </p:bg>
    <p:spTree>
      <p:nvGrpSpPr>
        <p:cNvPr id="1" name=""/>
        <p:cNvGrpSpPr/>
        <p:nvPr/>
      </p:nvGrpSpPr>
      <p:grpSpPr>
        <a:xfrm>
          <a:off x="0" y="0"/>
          <a:ext cx="0" cy="0"/>
          <a:chOff x="0" y="0"/>
          <a:chExt cx="0" cy="0"/>
        </a:xfrm>
      </p:grpSpPr>
      <p:pic>
        <p:nvPicPr>
          <p:cNvPr id="2" name="Image 0" descr="Kerala Cultural Club logo">    </p:cNvPr>
          <p:cNvPicPr>
            <a:picLocks noChangeAspect="1"/>
          </p:cNvPicPr>
          <p:nvPr/>
        </p:nvPicPr>
        <p:blipFill>
          <a:blip r:embed="rId1"/>
          <a:srcRect l="0" r="0" t="0" b="0"/>
          <a:stretch/>
        </p:blipFill>
        <p:spPr>
          <a:xfrm>
            <a:off x="9779000" y="952500"/>
            <a:ext cx="1460500" cy="1460500"/>
          </a:xfrm>
          <a:prstGeom prst="rect">
            <a:avLst/>
          </a:prstGeom>
        </p:spPr>
      </p:pic>
      <p:sp>
        <p:nvSpPr>
          <p:cNvPr id="3" name="Text 0"/>
          <p:cNvSpPr/>
          <p:nvPr/>
        </p:nvSpPr>
        <p:spPr>
          <a:xfrm>
            <a:off x="812800" y="1319907"/>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KCC CODE CLUB · GAME MAKERS</a:t>
            </a:r>
            <a:endParaRPr lang="en-US" sz="1300" dirty="0"/>
          </a:p>
        </p:txBody>
      </p:sp>
      <p:sp>
        <p:nvSpPr>
          <p:cNvPr id="4" name="Text 1"/>
          <p:cNvSpPr/>
          <p:nvPr/>
        </p:nvSpPr>
        <p:spPr>
          <a:xfrm>
            <a:off x="812800" y="1779588"/>
            <a:ext cx="7717790" cy="2590006"/>
          </a:xfrm>
          <a:prstGeom prst="rect">
            <a:avLst/>
          </a:prstGeom>
          <a:noFill/>
          <a:ln/>
        </p:spPr>
        <p:txBody>
          <a:bodyPr wrap="square" lIns="0" tIns="0" rIns="0" bIns="0" rtlCol="0" anchor="t">
            <a:normAutofit/>
          </a:bodyPr>
          <a:lstStyle/>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Class 2</a:t>
            </a:r>
            <a:endParaRPr lang="en-US" sz="6600" dirty="0"/>
          </a:p>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Events and Movement</a:t>
            </a:r>
            <a:endParaRPr lang="en-US" sz="6600" dirty="0"/>
          </a:p>
        </p:txBody>
      </p:sp>
      <p:sp>
        <p:nvSpPr>
          <p:cNvPr id="5" name="Shape 2"/>
          <p:cNvSpPr/>
          <p:nvPr/>
        </p:nvSpPr>
        <p:spPr>
          <a:xfrm>
            <a:off x="812800" y="4572794"/>
            <a:ext cx="1397000" cy="50800"/>
          </a:xfrm>
          <a:prstGeom prst="roundRect">
            <a:avLst>
              <a:gd name="adj" fmla="val 50000"/>
            </a:avLst>
          </a:prstGeom>
          <a:solidFill>
            <a:srgbClr val="C9A227"/>
          </a:solidFill>
          <a:ln/>
        </p:spPr>
      </p:sp>
      <p:sp>
        <p:nvSpPr>
          <p:cNvPr id="6" name="Text 3"/>
          <p:cNvSpPr/>
          <p:nvPr/>
        </p:nvSpPr>
        <p:spPr>
          <a:xfrm>
            <a:off x="812800" y="4852194"/>
            <a:ext cx="771779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49A7E"/>
                </a:solidFill>
                <a:latin typeface="Nunito Sans" pitchFamily="34" charset="0"/>
                <a:ea typeface="Nunito Sans" pitchFamily="34" charset="-122"/>
                <a:cs typeface="Nunito Sans" pitchFamily="34" charset="-120"/>
              </a:rPr>
              <a:t>Code doesn't only run when you click the flag. It runs when things happen — and position on screen is just two numbers.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SKY CATCHER · WEEK 2 OF 8</a:t>
            </a:r>
            <a:endParaRPr lang="en-US" sz="1300" dirty="0"/>
          </a:p>
        </p:txBody>
      </p:sp>
      <p:sp>
        <p:nvSpPr>
          <p:cNvPr id="3" name="Text 1"/>
          <p:cNvSpPr/>
          <p:nvPr/>
        </p:nvSpPr>
        <p:spPr>
          <a:xfrm>
            <a:off x="812800" y="2102842"/>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Your game, week by week</a:t>
            </a:r>
            <a:endParaRPr lang="en-US" sz="4000" dirty="0"/>
          </a:p>
        </p:txBody>
      </p:sp>
      <p:sp>
        <p:nvSpPr>
          <p:cNvPr id="4" name="Shape 2"/>
          <p:cNvSpPr/>
          <p:nvPr/>
        </p:nvSpPr>
        <p:spPr>
          <a:xfrm>
            <a:off x="819150" y="3716734"/>
            <a:ext cx="2514600" cy="857845"/>
          </a:xfrm>
          <a:prstGeom prst="roundRect">
            <a:avLst>
              <a:gd name="adj" fmla="val 12584"/>
            </a:avLst>
          </a:prstGeom>
          <a:solidFill>
            <a:srgbClr val="FFFCF4"/>
          </a:solidFill>
          <a:ln w="12700">
            <a:solidFill>
              <a:srgbClr val="E4D7BE"/>
            </a:solidFill>
            <a:prstDash val="solid"/>
          </a:ln>
        </p:spPr>
      </p:sp>
      <p:sp>
        <p:nvSpPr>
          <p:cNvPr id="5" name="Text 3"/>
          <p:cNvSpPr/>
          <p:nvPr/>
        </p:nvSpPr>
        <p:spPr>
          <a:xfrm>
            <a:off x="9906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1 · DONE</a:t>
            </a:r>
            <a:endParaRPr lang="en-US" sz="1200" dirty="0"/>
          </a:p>
        </p:txBody>
      </p:sp>
      <p:sp>
        <p:nvSpPr>
          <p:cNvPr id="6" name="Text 4"/>
          <p:cNvSpPr/>
          <p:nvPr/>
        </p:nvSpPr>
        <p:spPr>
          <a:xfrm>
            <a:off x="9906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says hello</a:t>
            </a:r>
            <a:endParaRPr lang="en-US" sz="1500" dirty="0"/>
          </a:p>
        </p:txBody>
      </p:sp>
      <p:sp>
        <p:nvSpPr>
          <p:cNvPr id="7" name="Shape 5"/>
          <p:cNvSpPr/>
          <p:nvPr/>
        </p:nvSpPr>
        <p:spPr>
          <a:xfrm>
            <a:off x="3498850" y="3716734"/>
            <a:ext cx="2514600" cy="857845"/>
          </a:xfrm>
          <a:prstGeom prst="roundRect">
            <a:avLst>
              <a:gd name="adj" fmla="val 12584"/>
            </a:avLst>
          </a:prstGeom>
          <a:solidFill>
            <a:srgbClr val="C9A227"/>
          </a:solidFill>
          <a:ln w="12700">
            <a:solidFill>
              <a:srgbClr val="A8861C"/>
            </a:solidFill>
            <a:prstDash val="solid"/>
          </a:ln>
        </p:spPr>
      </p:sp>
      <p:sp>
        <p:nvSpPr>
          <p:cNvPr id="8" name="Text 6"/>
          <p:cNvSpPr/>
          <p:nvPr/>
        </p:nvSpPr>
        <p:spPr>
          <a:xfrm>
            <a:off x="36703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3A2F04"/>
                </a:solidFill>
                <a:latin typeface="Nunito Sans" pitchFamily="34" charset="0"/>
                <a:ea typeface="Nunito Sans" pitchFamily="34" charset="-122"/>
                <a:cs typeface="Nunito Sans" pitchFamily="34" charset="-120"/>
              </a:rPr>
              <a:t>WEEK 2 · TODAY</a:t>
            </a:r>
            <a:endParaRPr lang="en-US" sz="1200" dirty="0"/>
          </a:p>
        </p:txBody>
      </p:sp>
      <p:sp>
        <p:nvSpPr>
          <p:cNvPr id="9" name="Text 7"/>
          <p:cNvSpPr/>
          <p:nvPr/>
        </p:nvSpPr>
        <p:spPr>
          <a:xfrm>
            <a:off x="36703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2E1015"/>
                </a:solidFill>
                <a:latin typeface="Nunito Sans" pitchFamily="34" charset="0"/>
                <a:ea typeface="Nunito Sans" pitchFamily="34" charset="-122"/>
                <a:cs typeface="Nunito Sans" pitchFamily="34" charset="-120"/>
              </a:rPr>
              <a:t>you can drive it</a:t>
            </a:r>
            <a:endParaRPr lang="en-US" sz="1500" dirty="0"/>
          </a:p>
        </p:txBody>
      </p:sp>
      <p:sp>
        <p:nvSpPr>
          <p:cNvPr id="10" name="Shape 8"/>
          <p:cNvSpPr/>
          <p:nvPr/>
        </p:nvSpPr>
        <p:spPr>
          <a:xfrm>
            <a:off x="6178550" y="3716734"/>
            <a:ext cx="2514600" cy="857845"/>
          </a:xfrm>
          <a:prstGeom prst="roundRect">
            <a:avLst>
              <a:gd name="adj" fmla="val 12584"/>
            </a:avLst>
          </a:prstGeom>
          <a:solidFill>
            <a:srgbClr val="F4E9D2"/>
          </a:solidFill>
          <a:ln w="12700">
            <a:solidFill>
              <a:srgbClr val="DFD0B4"/>
            </a:solidFill>
            <a:prstDash val="solid"/>
          </a:ln>
        </p:spPr>
      </p:sp>
      <p:sp>
        <p:nvSpPr>
          <p:cNvPr id="11" name="Text 9"/>
          <p:cNvSpPr/>
          <p:nvPr/>
        </p:nvSpPr>
        <p:spPr>
          <a:xfrm>
            <a:off x="63500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3</a:t>
            </a:r>
            <a:endParaRPr lang="en-US" sz="1200" dirty="0"/>
          </a:p>
        </p:txBody>
      </p:sp>
      <p:sp>
        <p:nvSpPr>
          <p:cNvPr id="12" name="Text 10"/>
          <p:cNvSpPr/>
          <p:nvPr/>
        </p:nvSpPr>
        <p:spPr>
          <a:xfrm>
            <a:off x="63500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things fall from the sky</a:t>
            </a:r>
            <a:endParaRPr lang="en-US" sz="1500" dirty="0"/>
          </a:p>
        </p:txBody>
      </p:sp>
      <p:sp>
        <p:nvSpPr>
          <p:cNvPr id="13" name="Shape 11"/>
          <p:cNvSpPr/>
          <p:nvPr/>
        </p:nvSpPr>
        <p:spPr>
          <a:xfrm>
            <a:off x="8858250" y="3716734"/>
            <a:ext cx="2514600" cy="857845"/>
          </a:xfrm>
          <a:prstGeom prst="roundRect">
            <a:avLst>
              <a:gd name="adj" fmla="val 12584"/>
            </a:avLst>
          </a:prstGeom>
          <a:solidFill>
            <a:srgbClr val="F4E9D2"/>
          </a:solidFill>
          <a:ln w="12700">
            <a:solidFill>
              <a:srgbClr val="DFD0B4"/>
            </a:solidFill>
            <a:prstDash val="solid"/>
          </a:ln>
        </p:spPr>
      </p:sp>
      <p:sp>
        <p:nvSpPr>
          <p:cNvPr id="14" name="Text 12"/>
          <p:cNvSpPr/>
          <p:nvPr/>
        </p:nvSpPr>
        <p:spPr>
          <a:xfrm>
            <a:off x="90297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4</a:t>
            </a:r>
            <a:endParaRPr lang="en-US" sz="1200" dirty="0"/>
          </a:p>
        </p:txBody>
      </p:sp>
      <p:sp>
        <p:nvSpPr>
          <p:cNvPr id="15" name="Text 13"/>
          <p:cNvSpPr/>
          <p:nvPr/>
        </p:nvSpPr>
        <p:spPr>
          <a:xfrm>
            <a:off x="90297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you can catch them</a:t>
            </a:r>
            <a:endParaRPr lang="en-US" sz="1500" dirty="0"/>
          </a:p>
        </p:txBody>
      </p:sp>
      <p:sp>
        <p:nvSpPr>
          <p:cNvPr id="16" name="Shape 14"/>
          <p:cNvSpPr/>
          <p:nvPr/>
        </p:nvSpPr>
        <p:spPr>
          <a:xfrm>
            <a:off x="819150" y="4739680"/>
            <a:ext cx="2514600" cy="1095970"/>
          </a:xfrm>
          <a:prstGeom prst="roundRect">
            <a:avLst>
              <a:gd name="adj" fmla="val 9850"/>
            </a:avLst>
          </a:prstGeom>
          <a:solidFill>
            <a:srgbClr val="F4E9D2"/>
          </a:solidFill>
          <a:ln w="12700">
            <a:solidFill>
              <a:srgbClr val="DFD0B4"/>
            </a:solidFill>
            <a:prstDash val="solid"/>
          </a:ln>
        </p:spPr>
      </p:sp>
      <p:sp>
        <p:nvSpPr>
          <p:cNvPr id="17" name="Text 15"/>
          <p:cNvSpPr/>
          <p:nvPr/>
        </p:nvSpPr>
        <p:spPr>
          <a:xfrm>
            <a:off x="9906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5</a:t>
            </a:r>
            <a:endParaRPr lang="en-US" sz="1200" dirty="0"/>
          </a:p>
        </p:txBody>
      </p:sp>
      <p:sp>
        <p:nvSpPr>
          <p:cNvPr id="18" name="Text 16"/>
          <p:cNvSpPr/>
          <p:nvPr/>
        </p:nvSpPr>
        <p:spPr>
          <a:xfrm>
            <a:off x="9906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it keeps score</a:t>
            </a:r>
            <a:endParaRPr lang="en-US" sz="1500" dirty="0"/>
          </a:p>
        </p:txBody>
      </p:sp>
      <p:sp>
        <p:nvSpPr>
          <p:cNvPr id="19" name="Shape 17"/>
          <p:cNvSpPr/>
          <p:nvPr/>
        </p:nvSpPr>
        <p:spPr>
          <a:xfrm>
            <a:off x="3498850" y="4739680"/>
            <a:ext cx="2514600" cy="1095970"/>
          </a:xfrm>
          <a:prstGeom prst="roundRect">
            <a:avLst>
              <a:gd name="adj" fmla="val 9850"/>
            </a:avLst>
          </a:prstGeom>
          <a:solidFill>
            <a:srgbClr val="F4E9D2"/>
          </a:solidFill>
          <a:ln w="12700">
            <a:solidFill>
              <a:srgbClr val="DFD0B4"/>
            </a:solidFill>
            <a:prstDash val="solid"/>
          </a:ln>
        </p:spPr>
      </p:sp>
      <p:sp>
        <p:nvSpPr>
          <p:cNvPr id="20" name="Text 18"/>
          <p:cNvSpPr/>
          <p:nvPr/>
        </p:nvSpPr>
        <p:spPr>
          <a:xfrm>
            <a:off x="36703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6</a:t>
            </a:r>
            <a:endParaRPr lang="en-US" sz="1200" dirty="0"/>
          </a:p>
        </p:txBody>
      </p:sp>
      <p:sp>
        <p:nvSpPr>
          <p:cNvPr id="21" name="Text 19"/>
          <p:cNvSpPr/>
          <p:nvPr/>
        </p:nvSpPr>
        <p:spPr>
          <a:xfrm>
            <a:off x="3670300" y="5187950"/>
            <a:ext cx="2236851"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lives, Game Over, play again</a:t>
            </a:r>
            <a:endParaRPr lang="en-US" sz="1500" dirty="0"/>
          </a:p>
        </p:txBody>
      </p:sp>
      <p:sp>
        <p:nvSpPr>
          <p:cNvPr id="22" name="Shape 20"/>
          <p:cNvSpPr/>
          <p:nvPr/>
        </p:nvSpPr>
        <p:spPr>
          <a:xfrm>
            <a:off x="6178550" y="4739680"/>
            <a:ext cx="2514600" cy="1095970"/>
          </a:xfrm>
          <a:prstGeom prst="roundRect">
            <a:avLst>
              <a:gd name="adj" fmla="val 9850"/>
            </a:avLst>
          </a:prstGeom>
          <a:solidFill>
            <a:srgbClr val="F4E9D2"/>
          </a:solidFill>
          <a:ln w="12700">
            <a:solidFill>
              <a:srgbClr val="DFD0B4"/>
            </a:solidFill>
            <a:prstDash val="solid"/>
          </a:ln>
        </p:spPr>
      </p:sp>
      <p:sp>
        <p:nvSpPr>
          <p:cNvPr id="23" name="Text 21"/>
          <p:cNvSpPr/>
          <p:nvPr/>
        </p:nvSpPr>
        <p:spPr>
          <a:xfrm>
            <a:off x="63500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7</a:t>
            </a:r>
            <a:endParaRPr lang="en-US" sz="1200" dirty="0"/>
          </a:p>
        </p:txBody>
      </p:sp>
      <p:sp>
        <p:nvSpPr>
          <p:cNvPr id="24" name="Text 22"/>
          <p:cNvSpPr/>
          <p:nvPr/>
        </p:nvSpPr>
        <p:spPr>
          <a:xfrm>
            <a:off x="63500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it gets harder</a:t>
            </a:r>
            <a:endParaRPr lang="en-US" sz="1500" dirty="0"/>
          </a:p>
        </p:txBody>
      </p:sp>
      <p:sp>
        <p:nvSpPr>
          <p:cNvPr id="25" name="Shape 23"/>
          <p:cNvSpPr/>
          <p:nvPr/>
        </p:nvSpPr>
        <p:spPr>
          <a:xfrm>
            <a:off x="8858250" y="4739680"/>
            <a:ext cx="2514600" cy="1095970"/>
          </a:xfrm>
          <a:prstGeom prst="roundRect">
            <a:avLst>
              <a:gd name="adj" fmla="val 9850"/>
            </a:avLst>
          </a:prstGeom>
          <a:solidFill>
            <a:srgbClr val="F4E9D2"/>
          </a:solidFill>
          <a:ln w="12700">
            <a:solidFill>
              <a:srgbClr val="DFD0B4"/>
            </a:solidFill>
            <a:prstDash val="solid"/>
          </a:ln>
        </p:spPr>
      </p:sp>
      <p:sp>
        <p:nvSpPr>
          <p:cNvPr id="26" name="Text 24"/>
          <p:cNvSpPr/>
          <p:nvPr/>
        </p:nvSpPr>
        <p:spPr>
          <a:xfrm>
            <a:off x="90297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8</a:t>
            </a:r>
            <a:endParaRPr lang="en-US" sz="1200" dirty="0"/>
          </a:p>
        </p:txBody>
      </p:sp>
      <p:sp>
        <p:nvSpPr>
          <p:cNvPr id="27" name="Text 25"/>
          <p:cNvSpPr/>
          <p:nvPr/>
        </p:nvSpPr>
        <p:spPr>
          <a:xfrm>
            <a:off x="90297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you show your family</a:t>
            </a:r>
            <a:endParaRPr lang="en-US" sz="1500" dirty="0"/>
          </a:p>
        </p:txBody>
      </p:sp>
      <p:sp>
        <p:nvSpPr>
          <p:cNvPr id="28" name="Text 26"/>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29"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SHOW &amp;AMP; TELL · FIRST TEN MINUTES</a:t>
            </a:r>
            <a:endParaRPr lang="en-US" sz="1300" dirty="0"/>
          </a:p>
        </p:txBody>
      </p:sp>
      <p:sp>
        <p:nvSpPr>
          <p:cNvPr id="3" name="Text 1"/>
          <p:cNvSpPr/>
          <p:nvPr/>
        </p:nvSpPr>
        <p:spPr>
          <a:xfrm>
            <a:off x="812800" y="2515691"/>
            <a:ext cx="9810750" cy="683716"/>
          </a:xfrm>
          <a:prstGeom prst="rect">
            <a:avLst/>
          </a:prstGeom>
          <a:noFill/>
          <a:ln/>
        </p:spPr>
        <p:txBody>
          <a:bodyPr wrap="square" lIns="0" tIns="0" rIns="0" bIns="0" rtlCol="0" anchor="t">
            <a:normAutofit/>
          </a:bodyPr>
          <a:lstStyle/>
          <a:p>
            <a:pPr algn="l" indent="0" marL="0">
              <a:lnSpc>
                <a:spcPts val="5184"/>
              </a:lnSpc>
              <a:buNone/>
            </a:pPr>
            <a:r>
              <a:rPr lang="en-US" sz="4800" b="1" dirty="0">
                <a:solidFill>
                  <a:srgbClr val="2E1015"/>
                </a:solidFill>
                <a:latin typeface="Fredoka" pitchFamily="34" charset="0"/>
                <a:ea typeface="Fredoka" pitchFamily="34" charset="-122"/>
                <a:cs typeface="Fredoka" pitchFamily="34" charset="-120"/>
              </a:rPr>
              <a:t>Who brought something?</a:t>
            </a:r>
            <a:endParaRPr lang="en-US" sz="4800" dirty="0"/>
          </a:p>
        </p:txBody>
      </p:sp>
      <p:sp>
        <p:nvSpPr>
          <p:cNvPr id="4" name="Shape 2"/>
          <p:cNvSpPr/>
          <p:nvPr/>
        </p:nvSpPr>
        <p:spPr>
          <a:xfrm>
            <a:off x="819150" y="4652070"/>
            <a:ext cx="10553700" cy="1183580"/>
          </a:xfrm>
          <a:prstGeom prst="roundRect">
            <a:avLst>
              <a:gd name="adj" fmla="val 11267"/>
            </a:avLst>
          </a:prstGeom>
          <a:solidFill>
            <a:srgbClr val="FFFCF4"/>
          </a:solidFill>
          <a:ln w="12700">
            <a:solidFill>
              <a:srgbClr val="E4D7BE"/>
            </a:solidFill>
            <a:prstDash val="solid"/>
          </a:ln>
        </p:spPr>
      </p:sp>
      <p:sp>
        <p:nvSpPr>
          <p:cNvPr id="5" name="Text 3"/>
          <p:cNvSpPr/>
          <p:nvPr/>
        </p:nvSpPr>
        <p:spPr>
          <a:xfrm>
            <a:off x="1054100" y="4887020"/>
            <a:ext cx="1038631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8C2332"/>
                </a:solidFill>
                <a:latin typeface="Fredoka" pitchFamily="34" charset="0"/>
                <a:ea typeface="Fredoka" pitchFamily="34" charset="-122"/>
                <a:cs typeface="Fredoka" pitchFamily="34" charset="-120"/>
              </a:rPr>
              <a:t>Did anyone get the four-line joke to land?</a:t>
            </a:r>
            <a:endParaRPr lang="en-US" sz="2200" dirty="0"/>
          </a:p>
        </p:txBody>
      </p:sp>
      <p:sp>
        <p:nvSpPr>
          <p:cNvPr id="6" name="Text 4"/>
          <p:cNvSpPr/>
          <p:nvPr/>
        </p:nvSpPr>
        <p:spPr>
          <a:xfrm>
            <a:off x="1054100" y="5298480"/>
            <a:ext cx="1038631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Come up, plug in, show us. Tell us one thing that went wrong and how you fixed it.</a:t>
            </a:r>
            <a:endParaRPr lang="en-US" sz="1700" dirty="0"/>
          </a:p>
        </p:txBody>
      </p:sp>
      <p:sp>
        <p:nvSpPr>
          <p:cNvPr id="7" name="Text 5"/>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8"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TODAY</a:t>
            </a:r>
            <a:endParaRPr lang="en-US" sz="1300" dirty="0"/>
          </a:p>
        </p:txBody>
      </p:sp>
      <p:sp>
        <p:nvSpPr>
          <p:cNvPr id="3" name="Text 1"/>
          <p:cNvSpPr/>
          <p:nvPr/>
        </p:nvSpPr>
        <p:spPr>
          <a:xfrm>
            <a:off x="812800" y="2299395"/>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Here's the plan</a:t>
            </a:r>
            <a:endParaRPr lang="en-US" sz="4000" dirty="0"/>
          </a:p>
        </p:txBody>
      </p:sp>
      <p:sp>
        <p:nvSpPr>
          <p:cNvPr id="4" name="Shape 2"/>
          <p:cNvSpPr/>
          <p:nvPr/>
        </p:nvSpPr>
        <p:spPr>
          <a:xfrm>
            <a:off x="819150" y="4109839"/>
            <a:ext cx="3373934" cy="1725811"/>
          </a:xfrm>
          <a:prstGeom prst="roundRect">
            <a:avLst>
              <a:gd name="adj" fmla="val 7727"/>
            </a:avLst>
          </a:prstGeom>
          <a:solidFill>
            <a:srgbClr val="FFFCF4"/>
          </a:solidFill>
          <a:ln w="12700">
            <a:solidFill>
              <a:srgbClr val="E4D7BE"/>
            </a:solidFill>
            <a:prstDash val="solid"/>
          </a:ln>
        </p:spPr>
      </p:sp>
      <p:sp>
        <p:nvSpPr>
          <p:cNvPr id="5" name="Text 3"/>
          <p:cNvSpPr/>
          <p:nvPr/>
        </p:nvSpPr>
        <p:spPr>
          <a:xfrm>
            <a:off x="1054100" y="4344789"/>
            <a:ext cx="299115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1</a:t>
            </a:r>
            <a:endParaRPr lang="en-US" sz="1400" dirty="0"/>
          </a:p>
        </p:txBody>
      </p:sp>
      <p:sp>
        <p:nvSpPr>
          <p:cNvPr id="6" name="Text 4"/>
          <p:cNvSpPr/>
          <p:nvPr/>
        </p:nvSpPr>
        <p:spPr>
          <a:xfrm>
            <a:off x="1054100" y="4669830"/>
            <a:ext cx="299115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Triggers</a:t>
            </a:r>
            <a:endParaRPr lang="en-US" sz="2200" dirty="0"/>
          </a:p>
        </p:txBody>
      </p:sp>
      <p:sp>
        <p:nvSpPr>
          <p:cNvPr id="7" name="Text 5"/>
          <p:cNvSpPr/>
          <p:nvPr/>
        </p:nvSpPr>
        <p:spPr>
          <a:xfrm>
            <a:off x="1054100" y="5067300"/>
            <a:ext cx="299115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The green flag is only one way to start a script. There are lots.</a:t>
            </a:r>
            <a:endParaRPr lang="en-US" sz="1500" dirty="0"/>
          </a:p>
        </p:txBody>
      </p:sp>
      <p:sp>
        <p:nvSpPr>
          <p:cNvPr id="8" name="Shape 6"/>
          <p:cNvSpPr/>
          <p:nvPr/>
        </p:nvSpPr>
        <p:spPr>
          <a:xfrm>
            <a:off x="4408984" y="4109839"/>
            <a:ext cx="3374033" cy="1725811"/>
          </a:xfrm>
          <a:prstGeom prst="roundRect">
            <a:avLst>
              <a:gd name="adj" fmla="val 7727"/>
            </a:avLst>
          </a:prstGeom>
          <a:solidFill>
            <a:srgbClr val="FFFCF4"/>
          </a:solidFill>
          <a:ln w="12700">
            <a:solidFill>
              <a:srgbClr val="E4D7BE"/>
            </a:solidFill>
            <a:prstDash val="solid"/>
          </a:ln>
        </p:spPr>
      </p:sp>
      <p:sp>
        <p:nvSpPr>
          <p:cNvPr id="9" name="Text 7"/>
          <p:cNvSpPr/>
          <p:nvPr/>
        </p:nvSpPr>
        <p:spPr>
          <a:xfrm>
            <a:off x="4643934" y="4344789"/>
            <a:ext cx="2991257"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2</a:t>
            </a:r>
            <a:endParaRPr lang="en-US" sz="1400" dirty="0"/>
          </a:p>
        </p:txBody>
      </p:sp>
      <p:sp>
        <p:nvSpPr>
          <p:cNvPr id="10" name="Text 8"/>
          <p:cNvSpPr/>
          <p:nvPr/>
        </p:nvSpPr>
        <p:spPr>
          <a:xfrm>
            <a:off x="4643934" y="4669830"/>
            <a:ext cx="2991257"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Coordinates</a:t>
            </a:r>
            <a:endParaRPr lang="en-US" sz="2200" dirty="0"/>
          </a:p>
        </p:txBody>
      </p:sp>
      <p:sp>
        <p:nvSpPr>
          <p:cNvPr id="11" name="Text 9"/>
          <p:cNvSpPr/>
          <p:nvPr/>
        </p:nvSpPr>
        <p:spPr>
          <a:xfrm>
            <a:off x="4643934" y="5067300"/>
            <a:ext cx="299125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Every spot on the stage is just two numbers: x and y.</a:t>
            </a:r>
            <a:endParaRPr lang="en-US" sz="1500" dirty="0"/>
          </a:p>
        </p:txBody>
      </p:sp>
      <p:sp>
        <p:nvSpPr>
          <p:cNvPr id="12" name="Shape 10"/>
          <p:cNvSpPr/>
          <p:nvPr/>
        </p:nvSpPr>
        <p:spPr>
          <a:xfrm>
            <a:off x="7998916" y="4109839"/>
            <a:ext cx="3373934" cy="1725811"/>
          </a:xfrm>
          <a:prstGeom prst="roundRect">
            <a:avLst>
              <a:gd name="adj" fmla="val 7727"/>
            </a:avLst>
          </a:prstGeom>
          <a:solidFill>
            <a:srgbClr val="FFFCF4"/>
          </a:solidFill>
          <a:ln w="12700">
            <a:solidFill>
              <a:srgbClr val="E4D7BE"/>
            </a:solidFill>
            <a:prstDash val="solid"/>
          </a:ln>
        </p:spPr>
      </p:sp>
      <p:sp>
        <p:nvSpPr>
          <p:cNvPr id="13" name="Text 11"/>
          <p:cNvSpPr/>
          <p:nvPr/>
        </p:nvSpPr>
        <p:spPr>
          <a:xfrm>
            <a:off x="8233866" y="4344789"/>
            <a:ext cx="299115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3</a:t>
            </a:r>
            <a:endParaRPr lang="en-US" sz="1400" dirty="0"/>
          </a:p>
        </p:txBody>
      </p:sp>
      <p:sp>
        <p:nvSpPr>
          <p:cNvPr id="14" name="Text 12"/>
          <p:cNvSpPr/>
          <p:nvPr/>
        </p:nvSpPr>
        <p:spPr>
          <a:xfrm>
            <a:off x="8233866" y="4669830"/>
            <a:ext cx="299115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Drive your player</a:t>
            </a:r>
            <a:endParaRPr lang="en-US" sz="2200" dirty="0"/>
          </a:p>
        </p:txBody>
      </p:sp>
      <p:sp>
        <p:nvSpPr>
          <p:cNvPr id="15" name="Text 13"/>
          <p:cNvSpPr/>
          <p:nvPr/>
        </p:nvSpPr>
        <p:spPr>
          <a:xfrm>
            <a:off x="8233866" y="5067300"/>
            <a:ext cx="299115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Arrow keys, left and right, along the bottom of your game.</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C9A227"/>
        </a:solidFill>
      </p:bgPr>
    </p:bg>
    <p:spTree>
      <p:nvGrpSpPr>
        <p:cNvPr id="1" name=""/>
        <p:cNvGrpSpPr/>
        <p:nvPr/>
      </p:nvGrpSpPr>
      <p:grpSpPr>
        <a:xfrm>
          <a:off x="0" y="0"/>
          <a:ext cx="0" cy="0"/>
          <a:chOff x="0" y="0"/>
          <a:chExt cx="0" cy="0"/>
        </a:xfrm>
      </p:grpSpPr>
      <p:sp>
        <p:nvSpPr>
          <p:cNvPr id="2" name="Text 0"/>
          <p:cNvSpPr/>
          <p:nvPr/>
        </p:nvSpPr>
        <p:spPr>
          <a:xfrm>
            <a:off x="812800" y="2139057"/>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5A4A08"/>
                </a:solidFill>
                <a:latin typeface="Nunito Sans" pitchFamily="34" charset="0"/>
                <a:ea typeface="Nunito Sans" pitchFamily="34" charset="-122"/>
                <a:cs typeface="Nunito Sans" pitchFamily="34" charset="-120"/>
              </a:rPr>
              <a:t>THE BIG IDEA</a:t>
            </a:r>
            <a:endParaRPr lang="en-US" sz="1300" dirty="0"/>
          </a:p>
        </p:txBody>
      </p:sp>
      <p:sp>
        <p:nvSpPr>
          <p:cNvPr id="3" name="Text 1"/>
          <p:cNvSpPr/>
          <p:nvPr/>
        </p:nvSpPr>
        <p:spPr>
          <a:xfrm>
            <a:off x="812800" y="2598738"/>
            <a:ext cx="9810750" cy="1276945"/>
          </a:xfrm>
          <a:prstGeom prst="rect">
            <a:avLst/>
          </a:prstGeom>
          <a:noFill/>
          <a:ln/>
        </p:spPr>
        <p:txBody>
          <a:bodyPr wrap="square" lIns="0" tIns="0" rIns="0" bIns="0" rtlCol="0" anchor="t">
            <a:normAutofit/>
          </a:bodyPr>
          <a:lstStyle/>
          <a:p>
            <a:pPr algn="l" indent="0" marL="0">
              <a:lnSpc>
                <a:spcPts val="4928"/>
              </a:lnSpc>
              <a:buNone/>
            </a:pPr>
            <a:r>
              <a:rPr lang="en-US" sz="4400" b="1" dirty="0">
                <a:solidFill>
                  <a:srgbClr val="2E1015"/>
                </a:solidFill>
                <a:latin typeface="Fredoka" pitchFamily="34" charset="0"/>
                <a:ea typeface="Fredoka" pitchFamily="34" charset="-122"/>
                <a:cs typeface="Fredoka" pitchFamily="34" charset="-120"/>
              </a:rPr>
              <a:t>Code doesn't only run when you click the flag. It runs when things happen.</a:t>
            </a:r>
            <a:endParaRPr lang="en-US" sz="4400" dirty="0"/>
          </a:p>
        </p:txBody>
      </p:sp>
      <p:sp>
        <p:nvSpPr>
          <p:cNvPr id="4" name="Text 2"/>
          <p:cNvSpPr/>
          <p:nvPr/>
        </p:nvSpPr>
        <p:spPr>
          <a:xfrm>
            <a:off x="812800" y="4078883"/>
            <a:ext cx="8502650" cy="665361"/>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A4A08"/>
                </a:solidFill>
                <a:latin typeface="Nunito Sans" pitchFamily="34" charset="0"/>
                <a:ea typeface="Nunito Sans" pitchFamily="34" charset="-122"/>
                <a:cs typeface="Nunito Sans" pitchFamily="34" charset="-120"/>
              </a:rPr>
              <a:t>A block that starts a script is called a hat block. The green flag is just one of them.</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LIVE DEMO · HAT BLOCKS ARE TRIGGERS</a:t>
            </a:r>
            <a:endParaRPr lang="en-US" sz="1300" dirty="0"/>
          </a:p>
        </p:txBody>
      </p:sp>
      <p:sp>
        <p:nvSpPr>
          <p:cNvPr id="3" name="Text 1"/>
          <p:cNvSpPr/>
          <p:nvPr/>
        </p:nvSpPr>
        <p:spPr>
          <a:xfrm>
            <a:off x="812800" y="2183408"/>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Three ways to start a script</a:t>
            </a:r>
            <a:endParaRPr lang="en-US" sz="3600" dirty="0"/>
          </a:p>
        </p:txBody>
      </p:sp>
      <p:sp>
        <p:nvSpPr>
          <p:cNvPr id="4" name="Shape 2"/>
          <p:cNvSpPr/>
          <p:nvPr/>
        </p:nvSpPr>
        <p:spPr>
          <a:xfrm>
            <a:off x="819150" y="3822898"/>
            <a:ext cx="3407767" cy="2012752"/>
          </a:xfrm>
          <a:prstGeom prst="roundRect">
            <a:avLst>
              <a:gd name="adj" fmla="val 6625"/>
            </a:avLst>
          </a:prstGeom>
          <a:solidFill>
            <a:srgbClr val="FFFCF4"/>
          </a:solidFill>
          <a:ln w="12700">
            <a:solidFill>
              <a:srgbClr val="E4D7BE"/>
            </a:solidFill>
            <a:prstDash val="solid"/>
          </a:ln>
        </p:spPr>
      </p:sp>
      <p:sp>
        <p:nvSpPr>
          <p:cNvPr id="5" name="Text 3"/>
          <p:cNvSpPr/>
          <p:nvPr/>
        </p:nvSpPr>
        <p:spPr>
          <a:xfrm>
            <a:off x="1003300" y="4007048"/>
            <a:ext cx="3130651"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When the flag is clicked</a:t>
            </a:r>
            <a:endParaRPr lang="en-US" sz="1700" dirty="0"/>
          </a:p>
        </p:txBody>
      </p:sp>
      <p:sp>
        <p:nvSpPr>
          <p:cNvPr id="6" name="Shape 4"/>
          <p:cNvSpPr/>
          <p:nvPr/>
        </p:nvSpPr>
        <p:spPr>
          <a:xfrm>
            <a:off x="1003300" y="4331494"/>
            <a:ext cx="2104132" cy="371475"/>
          </a:xfrm>
          <a:prstGeom prst="roundRect">
            <a:avLst>
              <a:gd name="adj" fmla="val 39316"/>
            </a:avLst>
          </a:prstGeom>
          <a:solidFill>
            <a:srgbClr val="FFBF00"/>
          </a:solidFill>
          <a:ln/>
        </p:spPr>
      </p:sp>
      <p:sp>
        <p:nvSpPr>
          <p:cNvPr id="7" name="Text 5"/>
          <p:cNvSpPr/>
          <p:nvPr/>
        </p:nvSpPr>
        <p:spPr>
          <a:xfrm>
            <a:off x="1143000" y="4414044"/>
            <a:ext cx="187947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when green flag clicked</a:t>
            </a:r>
            <a:endParaRPr lang="en-US" sz="1300" dirty="0"/>
          </a:p>
        </p:txBody>
      </p:sp>
      <p:sp>
        <p:nvSpPr>
          <p:cNvPr id="8" name="Shape 6"/>
          <p:cNvSpPr/>
          <p:nvPr/>
        </p:nvSpPr>
        <p:spPr>
          <a:xfrm>
            <a:off x="1003300" y="4741069"/>
            <a:ext cx="1977529" cy="371475"/>
          </a:xfrm>
          <a:prstGeom prst="roundRect">
            <a:avLst>
              <a:gd name="adj" fmla="val 23932"/>
            </a:avLst>
          </a:prstGeom>
          <a:solidFill>
            <a:srgbClr val="774DCB"/>
          </a:solidFill>
          <a:ln/>
        </p:spPr>
      </p:sp>
      <p:sp>
        <p:nvSpPr>
          <p:cNvPr id="9" name="Text 7"/>
          <p:cNvSpPr/>
          <p:nvPr/>
        </p:nvSpPr>
        <p:spPr>
          <a:xfrm>
            <a:off x="1143000" y="4823619"/>
            <a:ext cx="1749073"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say [Hi!] for 2 seconds</a:t>
            </a:r>
            <a:endParaRPr lang="en-US" sz="1300" dirty="0"/>
          </a:p>
        </p:txBody>
      </p:sp>
      <p:sp>
        <p:nvSpPr>
          <p:cNvPr id="10" name="Text 8"/>
          <p:cNvSpPr/>
          <p:nvPr/>
        </p:nvSpPr>
        <p:spPr>
          <a:xfrm>
            <a:off x="1003300" y="5188744"/>
            <a:ext cx="3130651" cy="488156"/>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C4A46"/>
                </a:solidFill>
                <a:latin typeface="Nunito Sans" pitchFamily="34" charset="0"/>
                <a:ea typeface="Nunito Sans" pitchFamily="34" charset="-122"/>
                <a:cs typeface="Nunito Sans" pitchFamily="34" charset="-120"/>
              </a:rPr>
              <a:t>Runs once, when you click the green flag.</a:t>
            </a:r>
            <a:endParaRPr lang="en-US" sz="1350" dirty="0"/>
          </a:p>
        </p:txBody>
      </p:sp>
      <p:sp>
        <p:nvSpPr>
          <p:cNvPr id="11" name="Shape 9"/>
          <p:cNvSpPr/>
          <p:nvPr/>
        </p:nvSpPr>
        <p:spPr>
          <a:xfrm>
            <a:off x="4392017" y="3822898"/>
            <a:ext cx="3407866" cy="2012752"/>
          </a:xfrm>
          <a:prstGeom prst="roundRect">
            <a:avLst>
              <a:gd name="adj" fmla="val 6625"/>
            </a:avLst>
          </a:prstGeom>
          <a:solidFill>
            <a:srgbClr val="FFFCF4"/>
          </a:solidFill>
          <a:ln w="12700">
            <a:solidFill>
              <a:srgbClr val="E4D7BE"/>
            </a:solidFill>
            <a:prstDash val="solid"/>
          </a:ln>
        </p:spPr>
      </p:sp>
      <p:sp>
        <p:nvSpPr>
          <p:cNvPr id="12" name="Text 10"/>
          <p:cNvSpPr/>
          <p:nvPr/>
        </p:nvSpPr>
        <p:spPr>
          <a:xfrm>
            <a:off x="4576167" y="4007048"/>
            <a:ext cx="3130753"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When a key is pressed</a:t>
            </a:r>
            <a:endParaRPr lang="en-US" sz="1700" dirty="0"/>
          </a:p>
        </p:txBody>
      </p:sp>
      <p:sp>
        <p:nvSpPr>
          <p:cNvPr id="13" name="Shape 11"/>
          <p:cNvSpPr/>
          <p:nvPr/>
        </p:nvSpPr>
        <p:spPr>
          <a:xfrm>
            <a:off x="4576167" y="4331494"/>
            <a:ext cx="2251075" cy="371475"/>
          </a:xfrm>
          <a:prstGeom prst="roundRect">
            <a:avLst>
              <a:gd name="adj" fmla="val 39316"/>
            </a:avLst>
          </a:prstGeom>
          <a:solidFill>
            <a:srgbClr val="FFBF00"/>
          </a:solidFill>
          <a:ln/>
        </p:spPr>
      </p:sp>
      <p:sp>
        <p:nvSpPr>
          <p:cNvPr id="14" name="Text 12"/>
          <p:cNvSpPr/>
          <p:nvPr/>
        </p:nvSpPr>
        <p:spPr>
          <a:xfrm>
            <a:off x="4715867" y="4414044"/>
            <a:ext cx="203082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when [space] key pressed</a:t>
            </a:r>
            <a:endParaRPr lang="en-US" sz="1300" dirty="0"/>
          </a:p>
        </p:txBody>
      </p:sp>
      <p:sp>
        <p:nvSpPr>
          <p:cNvPr id="15" name="Shape 13"/>
          <p:cNvSpPr/>
          <p:nvPr/>
        </p:nvSpPr>
        <p:spPr>
          <a:xfrm>
            <a:off x="4576167" y="4741069"/>
            <a:ext cx="1436291" cy="371475"/>
          </a:xfrm>
          <a:prstGeom prst="roundRect">
            <a:avLst>
              <a:gd name="adj" fmla="val 23932"/>
            </a:avLst>
          </a:prstGeom>
          <a:solidFill>
            <a:srgbClr val="3373CC"/>
          </a:solidFill>
          <a:ln/>
        </p:spPr>
      </p:sp>
      <p:sp>
        <p:nvSpPr>
          <p:cNvPr id="16" name="Text 14"/>
          <p:cNvSpPr/>
          <p:nvPr/>
        </p:nvSpPr>
        <p:spPr>
          <a:xfrm>
            <a:off x="4715867" y="4823619"/>
            <a:ext cx="1207691"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change x by 10</a:t>
            </a:r>
            <a:endParaRPr lang="en-US" sz="1300" dirty="0"/>
          </a:p>
        </p:txBody>
      </p:sp>
      <p:sp>
        <p:nvSpPr>
          <p:cNvPr id="17" name="Text 15"/>
          <p:cNvSpPr/>
          <p:nvPr/>
        </p:nvSpPr>
        <p:spPr>
          <a:xfrm>
            <a:off x="4576167" y="5188744"/>
            <a:ext cx="3130753" cy="488156"/>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C4A46"/>
                </a:solidFill>
                <a:latin typeface="Nunito Sans" pitchFamily="34" charset="0"/>
                <a:ea typeface="Nunito Sans" pitchFamily="34" charset="-122"/>
                <a:cs typeface="Nunito Sans" pitchFamily="34" charset="-120"/>
              </a:rPr>
              <a:t>Runs every time you press that key. No flag needed.</a:t>
            </a:r>
            <a:endParaRPr lang="en-US" sz="1350" dirty="0"/>
          </a:p>
        </p:txBody>
      </p:sp>
      <p:sp>
        <p:nvSpPr>
          <p:cNvPr id="18" name="Shape 16"/>
          <p:cNvSpPr/>
          <p:nvPr/>
        </p:nvSpPr>
        <p:spPr>
          <a:xfrm>
            <a:off x="7964984" y="3822898"/>
            <a:ext cx="3407866" cy="2012752"/>
          </a:xfrm>
          <a:prstGeom prst="roundRect">
            <a:avLst>
              <a:gd name="adj" fmla="val 6625"/>
            </a:avLst>
          </a:prstGeom>
          <a:solidFill>
            <a:srgbClr val="FFFCF4"/>
          </a:solidFill>
          <a:ln w="12700">
            <a:solidFill>
              <a:srgbClr val="E4D7BE"/>
            </a:solidFill>
            <a:prstDash val="solid"/>
          </a:ln>
        </p:spPr>
      </p:sp>
      <p:sp>
        <p:nvSpPr>
          <p:cNvPr id="19" name="Text 17"/>
          <p:cNvSpPr/>
          <p:nvPr/>
        </p:nvSpPr>
        <p:spPr>
          <a:xfrm>
            <a:off x="8149134" y="4007048"/>
            <a:ext cx="3130753"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When the sprite is clicked</a:t>
            </a:r>
            <a:endParaRPr lang="en-US" sz="1700" dirty="0"/>
          </a:p>
        </p:txBody>
      </p:sp>
      <p:sp>
        <p:nvSpPr>
          <p:cNvPr id="20" name="Shape 18"/>
          <p:cNvSpPr/>
          <p:nvPr/>
        </p:nvSpPr>
        <p:spPr>
          <a:xfrm>
            <a:off x="8149134" y="4331494"/>
            <a:ext cx="2083792" cy="371475"/>
          </a:xfrm>
          <a:prstGeom prst="roundRect">
            <a:avLst>
              <a:gd name="adj" fmla="val 39316"/>
            </a:avLst>
          </a:prstGeom>
          <a:solidFill>
            <a:srgbClr val="FFBF00"/>
          </a:solidFill>
          <a:ln/>
        </p:spPr>
      </p:sp>
      <p:sp>
        <p:nvSpPr>
          <p:cNvPr id="21" name="Text 19"/>
          <p:cNvSpPr/>
          <p:nvPr/>
        </p:nvSpPr>
        <p:spPr>
          <a:xfrm>
            <a:off x="8288834" y="4414044"/>
            <a:ext cx="185852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when this sprite clicked</a:t>
            </a:r>
            <a:endParaRPr lang="en-US" sz="1300" dirty="0"/>
          </a:p>
        </p:txBody>
      </p:sp>
      <p:sp>
        <p:nvSpPr>
          <p:cNvPr id="22" name="Shape 20"/>
          <p:cNvSpPr/>
          <p:nvPr/>
        </p:nvSpPr>
        <p:spPr>
          <a:xfrm>
            <a:off x="8149134" y="4741069"/>
            <a:ext cx="2206129" cy="371475"/>
          </a:xfrm>
          <a:prstGeom prst="roundRect">
            <a:avLst>
              <a:gd name="adj" fmla="val 23932"/>
            </a:avLst>
          </a:prstGeom>
          <a:solidFill>
            <a:srgbClr val="774DCB"/>
          </a:solidFill>
          <a:ln/>
        </p:spPr>
      </p:sp>
      <p:sp>
        <p:nvSpPr>
          <p:cNvPr id="23" name="Text 21"/>
          <p:cNvSpPr/>
          <p:nvPr/>
        </p:nvSpPr>
        <p:spPr>
          <a:xfrm>
            <a:off x="8288834" y="4823619"/>
            <a:ext cx="1984531"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say [Ouch!] for 1 seconds</a:t>
            </a:r>
            <a:endParaRPr lang="en-US" sz="1300" dirty="0"/>
          </a:p>
        </p:txBody>
      </p:sp>
      <p:sp>
        <p:nvSpPr>
          <p:cNvPr id="24" name="Text 22"/>
          <p:cNvSpPr/>
          <p:nvPr/>
        </p:nvSpPr>
        <p:spPr>
          <a:xfrm>
            <a:off x="8149134" y="5188744"/>
            <a:ext cx="3130753"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C4A46"/>
                </a:solidFill>
                <a:latin typeface="Nunito Sans" pitchFamily="34" charset="0"/>
                <a:ea typeface="Nunito Sans" pitchFamily="34" charset="-122"/>
                <a:cs typeface="Nunito Sans" pitchFamily="34" charset="-120"/>
              </a:rPr>
              <a:t>Runs when you click the sprite itself.</a:t>
            </a:r>
            <a:endParaRPr lang="en-US" sz="1350" dirty="0"/>
          </a:p>
        </p:txBody>
      </p:sp>
      <p:sp>
        <p:nvSpPr>
          <p:cNvPr id="25" name="Text 2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2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COORDINATES</a:t>
            </a:r>
            <a:endParaRPr lang="en-US" sz="1300" dirty="0"/>
          </a:p>
        </p:txBody>
      </p:sp>
      <p:sp>
        <p:nvSpPr>
          <p:cNvPr id="3" name="Text 1"/>
          <p:cNvSpPr/>
          <p:nvPr/>
        </p:nvSpPr>
        <p:spPr>
          <a:xfrm>
            <a:off x="812800" y="223907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Where things are is just two numbers</a:t>
            </a:r>
            <a:endParaRPr lang="en-US" sz="4000" dirty="0"/>
          </a:p>
        </p:txBody>
      </p:sp>
      <p:sp>
        <p:nvSpPr>
          <p:cNvPr id="4" name="Shape 2"/>
          <p:cNvSpPr/>
          <p:nvPr/>
        </p:nvSpPr>
        <p:spPr>
          <a:xfrm>
            <a:off x="819150" y="3989090"/>
            <a:ext cx="2476500" cy="1846560"/>
          </a:xfrm>
          <a:prstGeom prst="roundRect">
            <a:avLst>
              <a:gd name="adj" fmla="val 7222"/>
            </a:avLst>
          </a:prstGeom>
          <a:solidFill>
            <a:srgbClr val="FFFCF4"/>
          </a:solidFill>
          <a:ln w="12700">
            <a:solidFill>
              <a:srgbClr val="E4D7BE"/>
            </a:solidFill>
            <a:prstDash val="solid"/>
          </a:ln>
        </p:spPr>
      </p:sp>
      <p:sp>
        <p:nvSpPr>
          <p:cNvPr id="5" name="Text 3"/>
          <p:cNvSpPr/>
          <p:nvPr/>
        </p:nvSpPr>
        <p:spPr>
          <a:xfrm>
            <a:off x="1054100" y="4224040"/>
            <a:ext cx="2066798"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x is left and right</a:t>
            </a:r>
            <a:endParaRPr lang="en-US" sz="1900" dirty="0"/>
          </a:p>
        </p:txBody>
      </p:sp>
      <p:sp>
        <p:nvSpPr>
          <p:cNvPr id="6" name="Text 4"/>
          <p:cNvSpPr/>
          <p:nvPr/>
        </p:nvSpPr>
        <p:spPr>
          <a:xfrm>
            <a:off x="1054100" y="4577655"/>
            <a:ext cx="2066798"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Minus 240 at the far left, 0 in the middle, 240 at the far right.</a:t>
            </a:r>
            <a:endParaRPr lang="en-US" sz="1450" dirty="0"/>
          </a:p>
        </p:txBody>
      </p:sp>
      <p:sp>
        <p:nvSpPr>
          <p:cNvPr id="7" name="Shape 5"/>
          <p:cNvSpPr/>
          <p:nvPr/>
        </p:nvSpPr>
        <p:spPr>
          <a:xfrm>
            <a:off x="3511550" y="3989090"/>
            <a:ext cx="2476500" cy="1846560"/>
          </a:xfrm>
          <a:prstGeom prst="roundRect">
            <a:avLst>
              <a:gd name="adj" fmla="val 7222"/>
            </a:avLst>
          </a:prstGeom>
          <a:solidFill>
            <a:srgbClr val="FFFCF4"/>
          </a:solidFill>
          <a:ln w="12700">
            <a:solidFill>
              <a:srgbClr val="E4D7BE"/>
            </a:solidFill>
            <a:prstDash val="solid"/>
          </a:ln>
        </p:spPr>
      </p:sp>
      <p:sp>
        <p:nvSpPr>
          <p:cNvPr id="8" name="Text 6"/>
          <p:cNvSpPr/>
          <p:nvPr/>
        </p:nvSpPr>
        <p:spPr>
          <a:xfrm>
            <a:off x="3746500" y="4224040"/>
            <a:ext cx="2066798"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y is up and down</a:t>
            </a:r>
            <a:endParaRPr lang="en-US" sz="1900" dirty="0"/>
          </a:p>
        </p:txBody>
      </p:sp>
      <p:sp>
        <p:nvSpPr>
          <p:cNvPr id="9" name="Text 7"/>
          <p:cNvSpPr/>
          <p:nvPr/>
        </p:nvSpPr>
        <p:spPr>
          <a:xfrm>
            <a:off x="3746500" y="4577655"/>
            <a:ext cx="2066798"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Minus 180 at the bottom, 0 in the middle, 180 at the top.</a:t>
            </a:r>
            <a:endParaRPr lang="en-US" sz="1450" dirty="0"/>
          </a:p>
        </p:txBody>
      </p:sp>
      <p:sp>
        <p:nvSpPr>
          <p:cNvPr id="10" name="Shape 8"/>
          <p:cNvSpPr/>
          <p:nvPr/>
        </p:nvSpPr>
        <p:spPr>
          <a:xfrm>
            <a:off x="6203950" y="3989090"/>
            <a:ext cx="2476500" cy="1846560"/>
          </a:xfrm>
          <a:prstGeom prst="roundRect">
            <a:avLst>
              <a:gd name="adj" fmla="val 7222"/>
            </a:avLst>
          </a:prstGeom>
          <a:solidFill>
            <a:srgbClr val="FFFCF4"/>
          </a:solidFill>
          <a:ln w="12700">
            <a:solidFill>
              <a:srgbClr val="E4D7BE"/>
            </a:solidFill>
            <a:prstDash val="solid"/>
          </a:ln>
        </p:spPr>
      </p:sp>
      <p:sp>
        <p:nvSpPr>
          <p:cNvPr id="11" name="Text 9"/>
          <p:cNvSpPr/>
          <p:nvPr/>
        </p:nvSpPr>
        <p:spPr>
          <a:xfrm>
            <a:off x="6438900" y="4224040"/>
            <a:ext cx="2066798"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The middle is 0, 0</a:t>
            </a:r>
            <a:endParaRPr lang="en-US" sz="1900" dirty="0"/>
          </a:p>
        </p:txBody>
      </p:sp>
      <p:sp>
        <p:nvSpPr>
          <p:cNvPr id="12" name="Text 10"/>
          <p:cNvSpPr/>
          <p:nvPr/>
        </p:nvSpPr>
        <p:spPr>
          <a:xfrm>
            <a:off x="6438900" y="4577655"/>
            <a:ext cx="2066798"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Every new sprite starts there until you move it.</a:t>
            </a:r>
            <a:endParaRPr lang="en-US" sz="1450" dirty="0"/>
          </a:p>
        </p:txBody>
      </p:sp>
      <p:sp>
        <p:nvSpPr>
          <p:cNvPr id="13" name="Shape 11"/>
          <p:cNvSpPr/>
          <p:nvPr/>
        </p:nvSpPr>
        <p:spPr>
          <a:xfrm>
            <a:off x="8896350" y="3989090"/>
            <a:ext cx="2476500" cy="1846560"/>
          </a:xfrm>
          <a:prstGeom prst="roundRect">
            <a:avLst>
              <a:gd name="adj" fmla="val 7222"/>
            </a:avLst>
          </a:prstGeom>
          <a:solidFill>
            <a:srgbClr val="FFFCF4"/>
          </a:solidFill>
          <a:ln w="12700">
            <a:solidFill>
              <a:srgbClr val="E4D7BE"/>
            </a:solidFill>
            <a:prstDash val="solid"/>
          </a:ln>
        </p:spPr>
      </p:sp>
      <p:sp>
        <p:nvSpPr>
          <p:cNvPr id="14" name="Text 12"/>
          <p:cNvSpPr/>
          <p:nvPr/>
        </p:nvSpPr>
        <p:spPr>
          <a:xfrm>
            <a:off x="9131300" y="4224040"/>
            <a:ext cx="2066798"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Your player lives at y = -140</a:t>
            </a:r>
            <a:endParaRPr lang="en-US" sz="1900" dirty="0"/>
          </a:p>
        </p:txBody>
      </p:sp>
      <p:sp>
        <p:nvSpPr>
          <p:cNvPr id="15" name="Text 13"/>
          <p:cNvSpPr/>
          <p:nvPr/>
        </p:nvSpPr>
        <p:spPr>
          <a:xfrm>
            <a:off x="9131300" y="4855071"/>
            <a:ext cx="2066798"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Near the bottom. That is where things will fall towards.</a:t>
            </a:r>
            <a:endParaRPr lang="en-US" sz="145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NEW BLOCKS TODAY</a:t>
            </a:r>
            <a:endParaRPr lang="en-US" sz="1300" dirty="0"/>
          </a:p>
        </p:txBody>
      </p:sp>
      <p:sp>
        <p:nvSpPr>
          <p:cNvPr id="3" name="Text 1"/>
          <p:cNvSpPr/>
          <p:nvPr/>
        </p:nvSpPr>
        <p:spPr>
          <a:xfrm>
            <a:off x="812800" y="2021384"/>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Say hello to these</a:t>
            </a:r>
            <a:endParaRPr lang="en-US" sz="4000" dirty="0"/>
          </a:p>
        </p:txBody>
      </p:sp>
      <p:sp>
        <p:nvSpPr>
          <p:cNvPr id="4" name="Shape 2"/>
          <p:cNvSpPr/>
          <p:nvPr/>
        </p:nvSpPr>
        <p:spPr>
          <a:xfrm>
            <a:off x="812800" y="3547566"/>
            <a:ext cx="792063" cy="358080"/>
          </a:xfrm>
          <a:prstGeom prst="roundRect">
            <a:avLst>
              <a:gd name="adj" fmla="val 42560"/>
            </a:avLst>
          </a:prstGeom>
          <a:solidFill>
            <a:srgbClr val="FFBF00"/>
          </a:solidFill>
          <a:ln/>
        </p:spPr>
      </p:sp>
      <p:sp>
        <p:nvSpPr>
          <p:cNvPr id="5" name="Text 3"/>
          <p:cNvSpPr/>
          <p:nvPr/>
        </p:nvSpPr>
        <p:spPr>
          <a:xfrm>
            <a:off x="952500" y="3611066"/>
            <a:ext cx="56346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1206"/>
                </a:solidFill>
                <a:latin typeface="Nunito Sans" pitchFamily="34" charset="0"/>
                <a:ea typeface="Nunito Sans" pitchFamily="34" charset="-122"/>
                <a:cs typeface="Nunito Sans" pitchFamily="34" charset="-120"/>
              </a:rPr>
              <a:t>Events</a:t>
            </a:r>
            <a:endParaRPr lang="en-US" sz="1300" dirty="0"/>
          </a:p>
        </p:txBody>
      </p:sp>
      <p:sp>
        <p:nvSpPr>
          <p:cNvPr id="6" name="Shape 4"/>
          <p:cNvSpPr/>
          <p:nvPr/>
        </p:nvSpPr>
        <p:spPr>
          <a:xfrm>
            <a:off x="1693763" y="3547566"/>
            <a:ext cx="814189" cy="358080"/>
          </a:xfrm>
          <a:prstGeom prst="roundRect">
            <a:avLst>
              <a:gd name="adj" fmla="val 42560"/>
            </a:avLst>
          </a:prstGeom>
          <a:solidFill>
            <a:srgbClr val="3373CC"/>
          </a:solidFill>
          <a:ln/>
        </p:spPr>
      </p:sp>
      <p:sp>
        <p:nvSpPr>
          <p:cNvPr id="7" name="Text 5"/>
          <p:cNvSpPr/>
          <p:nvPr/>
        </p:nvSpPr>
        <p:spPr>
          <a:xfrm>
            <a:off x="1833463" y="3611066"/>
            <a:ext cx="58558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Nunito Sans" pitchFamily="34" charset="0"/>
                <a:ea typeface="Nunito Sans" pitchFamily="34" charset="-122"/>
                <a:cs typeface="Nunito Sans" pitchFamily="34" charset="-120"/>
              </a:rPr>
              <a:t>Motion</a:t>
            </a:r>
            <a:endParaRPr lang="en-US" sz="1300" dirty="0"/>
          </a:p>
        </p:txBody>
      </p:sp>
      <p:sp>
        <p:nvSpPr>
          <p:cNvPr id="8" name="Shape 6"/>
          <p:cNvSpPr/>
          <p:nvPr/>
        </p:nvSpPr>
        <p:spPr>
          <a:xfrm>
            <a:off x="812800" y="4883150"/>
            <a:ext cx="2592487" cy="428625"/>
          </a:xfrm>
          <a:prstGeom prst="roundRect">
            <a:avLst>
              <a:gd name="adj" fmla="val 20741"/>
            </a:avLst>
          </a:prstGeom>
          <a:solidFill>
            <a:srgbClr val="FFBF00"/>
          </a:solidFill>
          <a:ln/>
        </p:spPr>
      </p:sp>
      <p:sp>
        <p:nvSpPr>
          <p:cNvPr id="9" name="Text 7"/>
          <p:cNvSpPr/>
          <p:nvPr/>
        </p:nvSpPr>
        <p:spPr>
          <a:xfrm>
            <a:off x="971550" y="4978400"/>
            <a:ext cx="234323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[space] key pressed</a:t>
            </a:r>
            <a:endParaRPr lang="en-US" sz="1500" dirty="0"/>
          </a:p>
        </p:txBody>
      </p:sp>
      <p:sp>
        <p:nvSpPr>
          <p:cNvPr id="10" name="Shape 8"/>
          <p:cNvSpPr/>
          <p:nvPr/>
        </p:nvSpPr>
        <p:spPr>
          <a:xfrm>
            <a:off x="3506887" y="4883150"/>
            <a:ext cx="2399506" cy="428625"/>
          </a:xfrm>
          <a:prstGeom prst="roundRect">
            <a:avLst>
              <a:gd name="adj" fmla="val 20741"/>
            </a:avLst>
          </a:prstGeom>
          <a:solidFill>
            <a:srgbClr val="FFBF00"/>
          </a:solidFill>
          <a:ln/>
        </p:spPr>
      </p:sp>
      <p:sp>
        <p:nvSpPr>
          <p:cNvPr id="11" name="Text 9"/>
          <p:cNvSpPr/>
          <p:nvPr/>
        </p:nvSpPr>
        <p:spPr>
          <a:xfrm>
            <a:off x="3665637" y="4978400"/>
            <a:ext cx="214446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this sprite clicked</a:t>
            </a:r>
            <a:endParaRPr lang="en-US" sz="1500" dirty="0"/>
          </a:p>
        </p:txBody>
      </p:sp>
      <p:sp>
        <p:nvSpPr>
          <p:cNvPr id="12" name="Shape 10"/>
          <p:cNvSpPr/>
          <p:nvPr/>
        </p:nvSpPr>
        <p:spPr>
          <a:xfrm>
            <a:off x="6007993" y="4883150"/>
            <a:ext cx="1652389" cy="428625"/>
          </a:xfrm>
          <a:prstGeom prst="roundRect">
            <a:avLst>
              <a:gd name="adj" fmla="val 20741"/>
            </a:avLst>
          </a:prstGeom>
          <a:solidFill>
            <a:srgbClr val="3373CC"/>
          </a:solidFill>
          <a:ln/>
        </p:spPr>
      </p:sp>
      <p:sp>
        <p:nvSpPr>
          <p:cNvPr id="13" name="Text 11"/>
          <p:cNvSpPr/>
          <p:nvPr/>
        </p:nvSpPr>
        <p:spPr>
          <a:xfrm>
            <a:off x="6166743" y="4978400"/>
            <a:ext cx="138568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change x by 10</a:t>
            </a:r>
            <a:endParaRPr lang="en-US" sz="1500" dirty="0"/>
          </a:p>
        </p:txBody>
      </p:sp>
      <p:sp>
        <p:nvSpPr>
          <p:cNvPr id="14" name="Shape 12"/>
          <p:cNvSpPr/>
          <p:nvPr/>
        </p:nvSpPr>
        <p:spPr>
          <a:xfrm>
            <a:off x="7761982" y="4883150"/>
            <a:ext cx="1648619" cy="428625"/>
          </a:xfrm>
          <a:prstGeom prst="roundRect">
            <a:avLst>
              <a:gd name="adj" fmla="val 20741"/>
            </a:avLst>
          </a:prstGeom>
          <a:solidFill>
            <a:srgbClr val="3373CC"/>
          </a:solidFill>
          <a:ln/>
        </p:spPr>
      </p:sp>
      <p:sp>
        <p:nvSpPr>
          <p:cNvPr id="15" name="Text 13"/>
          <p:cNvSpPr/>
          <p:nvPr/>
        </p:nvSpPr>
        <p:spPr>
          <a:xfrm>
            <a:off x="7920732" y="4978400"/>
            <a:ext cx="138191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change y by 10</a:t>
            </a:r>
            <a:endParaRPr lang="en-US" sz="1500" dirty="0"/>
          </a:p>
        </p:txBody>
      </p:sp>
      <p:sp>
        <p:nvSpPr>
          <p:cNvPr id="16" name="Shape 14"/>
          <p:cNvSpPr/>
          <p:nvPr/>
        </p:nvSpPr>
        <p:spPr>
          <a:xfrm>
            <a:off x="9512201" y="4883150"/>
            <a:ext cx="1141115" cy="428625"/>
          </a:xfrm>
          <a:prstGeom prst="roundRect">
            <a:avLst>
              <a:gd name="adj" fmla="val 20741"/>
            </a:avLst>
          </a:prstGeom>
          <a:solidFill>
            <a:srgbClr val="3373CC"/>
          </a:solidFill>
          <a:ln/>
        </p:spPr>
      </p:sp>
      <p:sp>
        <p:nvSpPr>
          <p:cNvPr id="17" name="Text 15"/>
          <p:cNvSpPr/>
          <p:nvPr/>
        </p:nvSpPr>
        <p:spPr>
          <a:xfrm>
            <a:off x="9670951" y="4978400"/>
            <a:ext cx="87441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set x to 0</a:t>
            </a:r>
            <a:endParaRPr lang="en-US" sz="1500" dirty="0"/>
          </a:p>
        </p:txBody>
      </p:sp>
      <p:sp>
        <p:nvSpPr>
          <p:cNvPr id="18" name="Shape 16"/>
          <p:cNvSpPr/>
          <p:nvPr/>
        </p:nvSpPr>
        <p:spPr>
          <a:xfrm>
            <a:off x="812800" y="5413375"/>
            <a:ext cx="1137245" cy="428625"/>
          </a:xfrm>
          <a:prstGeom prst="roundRect">
            <a:avLst>
              <a:gd name="adj" fmla="val 20741"/>
            </a:avLst>
          </a:prstGeom>
          <a:solidFill>
            <a:srgbClr val="3373CC"/>
          </a:solidFill>
          <a:ln/>
        </p:spPr>
      </p:sp>
      <p:sp>
        <p:nvSpPr>
          <p:cNvPr id="19" name="Text 17"/>
          <p:cNvSpPr/>
          <p:nvPr/>
        </p:nvSpPr>
        <p:spPr>
          <a:xfrm>
            <a:off x="971550" y="5508625"/>
            <a:ext cx="87054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set y to 0</a:t>
            </a:r>
            <a:endParaRPr lang="en-US" sz="1500" dirty="0"/>
          </a:p>
        </p:txBody>
      </p:sp>
      <p:sp>
        <p:nvSpPr>
          <p:cNvPr id="20" name="Shape 18"/>
          <p:cNvSpPr/>
          <p:nvPr/>
        </p:nvSpPr>
        <p:spPr>
          <a:xfrm>
            <a:off x="2051645" y="5413375"/>
            <a:ext cx="2550815" cy="428625"/>
          </a:xfrm>
          <a:prstGeom prst="roundRect">
            <a:avLst>
              <a:gd name="adj" fmla="val 20741"/>
            </a:avLst>
          </a:prstGeom>
          <a:solidFill>
            <a:srgbClr val="3373CC"/>
          </a:solidFill>
          <a:ln/>
        </p:spPr>
      </p:sp>
      <p:sp>
        <p:nvSpPr>
          <p:cNvPr id="21" name="Text 19"/>
          <p:cNvSpPr/>
          <p:nvPr/>
        </p:nvSpPr>
        <p:spPr>
          <a:xfrm>
            <a:off x="2210395" y="5508625"/>
            <a:ext cx="2300314"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glide 1 secs to x: 0 y: 100</a:t>
            </a:r>
            <a:endParaRPr lang="en-US" sz="1500" dirty="0"/>
          </a:p>
        </p:txBody>
      </p:sp>
      <p:sp>
        <p:nvSpPr>
          <p:cNvPr id="22" name="Shape 20"/>
          <p:cNvSpPr/>
          <p:nvPr/>
        </p:nvSpPr>
        <p:spPr>
          <a:xfrm>
            <a:off x="4704060" y="5413375"/>
            <a:ext cx="2090142" cy="428625"/>
          </a:xfrm>
          <a:prstGeom prst="roundRect">
            <a:avLst>
              <a:gd name="adj" fmla="val 20741"/>
            </a:avLst>
          </a:prstGeom>
          <a:solidFill>
            <a:srgbClr val="3373CC"/>
          </a:solidFill>
          <a:ln/>
        </p:spPr>
      </p:sp>
      <p:sp>
        <p:nvSpPr>
          <p:cNvPr id="23" name="Text 21"/>
          <p:cNvSpPr/>
          <p:nvPr/>
        </p:nvSpPr>
        <p:spPr>
          <a:xfrm>
            <a:off x="4862810" y="5508625"/>
            <a:ext cx="182582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point in direction 90</a:t>
            </a:r>
            <a:endParaRPr lang="en-US" sz="1500" dirty="0"/>
          </a:p>
        </p:txBody>
      </p:sp>
      <p:sp>
        <p:nvSpPr>
          <p:cNvPr id="24" name="Text 22"/>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25"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THE ONE THAT CATCHES EVERYBODY</a:t>
            </a:r>
            <a:endParaRPr lang="en-US" sz="1300" dirty="0"/>
          </a:p>
        </p:txBody>
      </p:sp>
      <p:sp>
        <p:nvSpPr>
          <p:cNvPr id="3" name="Text 1"/>
          <p:cNvSpPr/>
          <p:nvPr/>
        </p:nvSpPr>
        <p:spPr>
          <a:xfrm>
            <a:off x="812800" y="2154833"/>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change is not the same as set</a:t>
            </a:r>
            <a:endParaRPr lang="en-US" sz="3600" dirty="0"/>
          </a:p>
        </p:txBody>
      </p:sp>
      <p:sp>
        <p:nvSpPr>
          <p:cNvPr id="4" name="Shape 2"/>
          <p:cNvSpPr/>
          <p:nvPr/>
        </p:nvSpPr>
        <p:spPr>
          <a:xfrm>
            <a:off x="819150" y="3765748"/>
            <a:ext cx="5194300" cy="2069902"/>
          </a:xfrm>
          <a:prstGeom prst="roundRect">
            <a:avLst>
              <a:gd name="adj" fmla="val 6442"/>
            </a:avLst>
          </a:prstGeom>
          <a:solidFill>
            <a:srgbClr val="FFFCF4"/>
          </a:solidFill>
          <a:ln w="12700">
            <a:solidFill>
              <a:srgbClr val="E4D7BE"/>
            </a:solidFill>
            <a:prstDash val="solid"/>
          </a:ln>
        </p:spPr>
      </p:sp>
      <p:sp>
        <p:nvSpPr>
          <p:cNvPr id="5" name="Text 3"/>
          <p:cNvSpPr/>
          <p:nvPr/>
        </p:nvSpPr>
        <p:spPr>
          <a:xfrm>
            <a:off x="1003300" y="3949898"/>
            <a:ext cx="4970780"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change x by 10</a:t>
            </a:r>
            <a:endParaRPr lang="en-US" sz="1700" dirty="0"/>
          </a:p>
        </p:txBody>
      </p:sp>
      <p:sp>
        <p:nvSpPr>
          <p:cNvPr id="6" name="Shape 4"/>
          <p:cNvSpPr/>
          <p:nvPr/>
        </p:nvSpPr>
        <p:spPr>
          <a:xfrm>
            <a:off x="1003300" y="4274344"/>
            <a:ext cx="2878237" cy="400050"/>
          </a:xfrm>
          <a:prstGeom prst="roundRect">
            <a:avLst>
              <a:gd name="adj" fmla="val 39683"/>
            </a:avLst>
          </a:prstGeom>
          <a:solidFill>
            <a:srgbClr val="FFBF00"/>
          </a:solidFill>
          <a:ln/>
        </p:spPr>
      </p:sp>
      <p:sp>
        <p:nvSpPr>
          <p:cNvPr id="7" name="Text 5"/>
          <p:cNvSpPr/>
          <p:nvPr/>
        </p:nvSpPr>
        <p:spPr>
          <a:xfrm>
            <a:off x="1149350" y="4363244"/>
            <a:ext cx="2663721"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when [right arrow] key pressed</a:t>
            </a:r>
            <a:endParaRPr lang="en-US" sz="1400" dirty="0"/>
          </a:p>
        </p:txBody>
      </p:sp>
      <p:sp>
        <p:nvSpPr>
          <p:cNvPr id="8" name="Shape 6"/>
          <p:cNvSpPr/>
          <p:nvPr/>
        </p:nvSpPr>
        <p:spPr>
          <a:xfrm>
            <a:off x="1003300" y="4712494"/>
            <a:ext cx="1537990" cy="400050"/>
          </a:xfrm>
          <a:prstGeom prst="roundRect">
            <a:avLst>
              <a:gd name="adj" fmla="val 22222"/>
            </a:avLst>
          </a:prstGeom>
          <a:solidFill>
            <a:srgbClr val="3373CC"/>
          </a:solidFill>
          <a:ln/>
        </p:spPr>
      </p:sp>
      <p:sp>
        <p:nvSpPr>
          <p:cNvPr id="9" name="Text 7"/>
          <p:cNvSpPr/>
          <p:nvPr/>
        </p:nvSpPr>
        <p:spPr>
          <a:xfrm>
            <a:off x="1149350" y="4801394"/>
            <a:ext cx="129669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change x by 10</a:t>
            </a:r>
            <a:endParaRPr lang="en-US" sz="1400" dirty="0"/>
          </a:p>
        </p:txBody>
      </p:sp>
      <p:sp>
        <p:nvSpPr>
          <p:cNvPr id="10" name="Text 8"/>
          <p:cNvSpPr/>
          <p:nvPr/>
        </p:nvSpPr>
        <p:spPr>
          <a:xfrm>
            <a:off x="1003300" y="5188744"/>
            <a:ext cx="4970780" cy="488156"/>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C4A46"/>
                </a:solidFill>
                <a:latin typeface="Nunito Sans" pitchFamily="34" charset="0"/>
                <a:ea typeface="Nunito Sans" pitchFamily="34" charset="-122"/>
                <a:cs typeface="Nunito Sans" pitchFamily="34" charset="-120"/>
              </a:rPr>
              <a:t>ADDS ten to where you already are. Press it five times, move fifty.</a:t>
            </a:r>
            <a:endParaRPr lang="en-US" sz="1350" dirty="0"/>
          </a:p>
        </p:txBody>
      </p:sp>
      <p:sp>
        <p:nvSpPr>
          <p:cNvPr id="11" name="Shape 9"/>
          <p:cNvSpPr/>
          <p:nvPr/>
        </p:nvSpPr>
        <p:spPr>
          <a:xfrm>
            <a:off x="6178550" y="3765748"/>
            <a:ext cx="5194300" cy="2069902"/>
          </a:xfrm>
          <a:prstGeom prst="roundRect">
            <a:avLst>
              <a:gd name="adj" fmla="val 6442"/>
            </a:avLst>
          </a:prstGeom>
          <a:solidFill>
            <a:srgbClr val="FFFCF4"/>
          </a:solidFill>
          <a:ln w="12700">
            <a:solidFill>
              <a:srgbClr val="E4D7BE"/>
            </a:solidFill>
            <a:prstDash val="solid"/>
          </a:ln>
        </p:spPr>
      </p:sp>
      <p:sp>
        <p:nvSpPr>
          <p:cNvPr id="12" name="Text 10"/>
          <p:cNvSpPr/>
          <p:nvPr/>
        </p:nvSpPr>
        <p:spPr>
          <a:xfrm>
            <a:off x="6362700" y="3949898"/>
            <a:ext cx="4970780"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set x to 10</a:t>
            </a:r>
            <a:endParaRPr lang="en-US" sz="1700" dirty="0"/>
          </a:p>
        </p:txBody>
      </p:sp>
      <p:sp>
        <p:nvSpPr>
          <p:cNvPr id="13" name="Shape 11"/>
          <p:cNvSpPr/>
          <p:nvPr/>
        </p:nvSpPr>
        <p:spPr>
          <a:xfrm>
            <a:off x="6362700" y="4274344"/>
            <a:ext cx="2878237" cy="400050"/>
          </a:xfrm>
          <a:prstGeom prst="roundRect">
            <a:avLst>
              <a:gd name="adj" fmla="val 39683"/>
            </a:avLst>
          </a:prstGeom>
          <a:solidFill>
            <a:srgbClr val="FFBF00"/>
          </a:solidFill>
          <a:ln/>
        </p:spPr>
      </p:sp>
      <p:sp>
        <p:nvSpPr>
          <p:cNvPr id="14" name="Text 12"/>
          <p:cNvSpPr/>
          <p:nvPr/>
        </p:nvSpPr>
        <p:spPr>
          <a:xfrm>
            <a:off x="6508750" y="4363244"/>
            <a:ext cx="2663721"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when [right arrow] key pressed</a:t>
            </a:r>
            <a:endParaRPr lang="en-US" sz="1400" dirty="0"/>
          </a:p>
        </p:txBody>
      </p:sp>
      <p:sp>
        <p:nvSpPr>
          <p:cNvPr id="15" name="Shape 13"/>
          <p:cNvSpPr/>
          <p:nvPr/>
        </p:nvSpPr>
        <p:spPr>
          <a:xfrm>
            <a:off x="6362700" y="4712494"/>
            <a:ext cx="1167507" cy="400050"/>
          </a:xfrm>
          <a:prstGeom prst="roundRect">
            <a:avLst>
              <a:gd name="adj" fmla="val 22222"/>
            </a:avLst>
          </a:prstGeom>
          <a:solidFill>
            <a:srgbClr val="3373CC"/>
          </a:solidFill>
          <a:ln/>
        </p:spPr>
      </p:sp>
      <p:sp>
        <p:nvSpPr>
          <p:cNvPr id="16" name="Text 14"/>
          <p:cNvSpPr/>
          <p:nvPr/>
        </p:nvSpPr>
        <p:spPr>
          <a:xfrm>
            <a:off x="6508750" y="4801394"/>
            <a:ext cx="926207"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set x to 10</a:t>
            </a:r>
            <a:endParaRPr lang="en-US" sz="1400" dirty="0"/>
          </a:p>
        </p:txBody>
      </p:sp>
      <p:sp>
        <p:nvSpPr>
          <p:cNvPr id="17" name="Text 15"/>
          <p:cNvSpPr/>
          <p:nvPr/>
        </p:nvSpPr>
        <p:spPr>
          <a:xfrm>
            <a:off x="6362700" y="5188744"/>
            <a:ext cx="4970780" cy="488156"/>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C4A46"/>
                </a:solidFill>
                <a:latin typeface="Nunito Sans" pitchFamily="34" charset="0"/>
                <a:ea typeface="Nunito Sans" pitchFamily="34" charset="-122"/>
                <a:cs typeface="Nunito Sans" pitchFamily="34" charset="-120"/>
              </a:rPr>
              <a:t>JUMPS to exactly ten. Press it five times, nothing happens after the first.</a:t>
            </a:r>
            <a:endParaRPr lang="en-US" sz="1350" dirty="0"/>
          </a:p>
        </p:txBody>
      </p:sp>
      <p:sp>
        <p:nvSpPr>
          <p:cNvPr id="18" name="Text 16"/>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19"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C2332"/>
                </a:solidFill>
                <a:latin typeface="Nunito Sans" pitchFamily="34" charset="0"/>
                <a:ea typeface="Nunito Sans" pitchFamily="34" charset="-122"/>
                <a:cs typeface="Nunito Sans" pitchFamily="34" charset="-120"/>
              </a:rPr>
              <a:t>SPOT THE MISTAKE</a:t>
            </a:r>
            <a:endParaRPr lang="en-US" sz="1300" dirty="0"/>
          </a:p>
        </p:txBody>
      </p:sp>
      <p:sp>
        <p:nvSpPr>
          <p:cNvPr id="3" name="Text 1"/>
          <p:cNvSpPr/>
          <p:nvPr/>
        </p:nvSpPr>
        <p:spPr>
          <a:xfrm>
            <a:off x="812800" y="247779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It only moves once</a:t>
            </a:r>
            <a:endParaRPr lang="en-US" sz="4000" dirty="0"/>
          </a:p>
        </p:txBody>
      </p:sp>
      <p:sp>
        <p:nvSpPr>
          <p:cNvPr id="4" name="Text 2"/>
          <p:cNvSpPr/>
          <p:nvPr/>
        </p:nvSpPr>
        <p:spPr>
          <a:xfrm>
            <a:off x="812800" y="4460280"/>
            <a:ext cx="4055110" cy="6858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2E1015"/>
                </a:solidFill>
                <a:latin typeface="Nunito Sans" pitchFamily="34" charset="0"/>
                <a:ea typeface="Nunito Sans" pitchFamily="34" charset="-122"/>
                <a:cs typeface="Nunito Sans" pitchFamily="34" charset="-120"/>
              </a:rPr>
              <a:t>I press the arrow key over and over and my sprite just sits at ten.</a:t>
            </a:r>
            <a:endParaRPr lang="en-US" sz="2000" dirty="0"/>
          </a:p>
        </p:txBody>
      </p:sp>
      <p:sp>
        <p:nvSpPr>
          <p:cNvPr id="5" name="Text 3"/>
          <p:cNvSpPr/>
          <p:nvPr/>
        </p:nvSpPr>
        <p:spPr>
          <a:xfrm>
            <a:off x="812800" y="5273080"/>
            <a:ext cx="405511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C4A46"/>
                </a:solidFill>
                <a:latin typeface="Nunito Sans" pitchFamily="34" charset="0"/>
                <a:ea typeface="Nunito Sans" pitchFamily="34" charset="-122"/>
                <a:cs typeface="Nunito Sans" pitchFamily="34" charset="-120"/>
              </a:rPr>
              <a:t>You have already seen the answer on the last slide. Who can say it?</a:t>
            </a:r>
            <a:endParaRPr lang="en-US" sz="1600" dirty="0"/>
          </a:p>
        </p:txBody>
      </p:sp>
      <p:sp>
        <p:nvSpPr>
          <p:cNvPr id="6" name="Shape 4"/>
          <p:cNvSpPr/>
          <p:nvPr/>
        </p:nvSpPr>
        <p:spPr>
          <a:xfrm>
            <a:off x="5054600" y="4460280"/>
            <a:ext cx="3495873" cy="485775"/>
          </a:xfrm>
          <a:prstGeom prst="roundRect">
            <a:avLst>
              <a:gd name="adj" fmla="val 39216"/>
            </a:avLst>
          </a:prstGeom>
          <a:solidFill>
            <a:srgbClr val="FFBF00"/>
          </a:solidFill>
          <a:ln/>
        </p:spPr>
      </p:sp>
      <p:sp>
        <p:nvSpPr>
          <p:cNvPr id="7" name="Text 5"/>
          <p:cNvSpPr/>
          <p:nvPr/>
        </p:nvSpPr>
        <p:spPr>
          <a:xfrm>
            <a:off x="5232400" y="4568230"/>
            <a:ext cx="3234482"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1A1206"/>
                </a:solidFill>
                <a:latin typeface="Nunito Sans" pitchFamily="34" charset="0"/>
                <a:ea typeface="Nunito Sans" pitchFamily="34" charset="-122"/>
                <a:cs typeface="Nunito Sans" pitchFamily="34" charset="-120"/>
              </a:rPr>
              <a:t>when [right arrow] key pressed</a:t>
            </a:r>
            <a:endParaRPr lang="en-US" sz="1700" dirty="0"/>
          </a:p>
        </p:txBody>
      </p:sp>
      <p:sp>
        <p:nvSpPr>
          <p:cNvPr id="8" name="Shape 6"/>
          <p:cNvSpPr/>
          <p:nvPr/>
        </p:nvSpPr>
        <p:spPr>
          <a:xfrm>
            <a:off x="5054600" y="4984155"/>
            <a:ext cx="1418530" cy="485775"/>
          </a:xfrm>
          <a:prstGeom prst="roundRect">
            <a:avLst>
              <a:gd name="adj" fmla="val 18301"/>
            </a:avLst>
          </a:prstGeom>
          <a:solidFill>
            <a:srgbClr val="3373CC"/>
          </a:solidFill>
          <a:ln/>
        </p:spPr>
      </p:sp>
      <p:sp>
        <p:nvSpPr>
          <p:cNvPr id="9" name="Text 7"/>
          <p:cNvSpPr/>
          <p:nvPr/>
        </p:nvSpPr>
        <p:spPr>
          <a:xfrm>
            <a:off x="5232400" y="5092105"/>
            <a:ext cx="1113730"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FFFFFF"/>
                </a:solidFill>
                <a:latin typeface="Nunito Sans" pitchFamily="34" charset="0"/>
                <a:ea typeface="Nunito Sans" pitchFamily="34" charset="-122"/>
                <a:cs typeface="Nunito Sans" pitchFamily="34" charset="-120"/>
              </a:rPr>
              <a:t>set x to 10</a:t>
            </a:r>
            <a:endParaRPr lang="en-US" sz="1700" dirty="0"/>
          </a:p>
        </p:txBody>
      </p:sp>
      <p:sp>
        <p:nvSpPr>
          <p:cNvPr id="10" name="Text 8"/>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11"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ACTIVITY A · TWELVE MINUTES</a:t>
            </a:r>
            <a:endParaRPr lang="en-US" sz="1300" dirty="0"/>
          </a:p>
        </p:txBody>
      </p:sp>
      <p:sp>
        <p:nvSpPr>
          <p:cNvPr id="3" name="Text 1"/>
          <p:cNvSpPr/>
          <p:nvPr/>
        </p:nvSpPr>
        <p:spPr>
          <a:xfrm>
            <a:off x="812800" y="1872159"/>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Treasure Hunt</a:t>
            </a:r>
            <a:endParaRPr lang="en-US" sz="3600" dirty="0"/>
          </a:p>
        </p:txBody>
      </p:sp>
      <p:sp>
        <p:nvSpPr>
          <p:cNvPr id="4" name="Text 2"/>
          <p:cNvSpPr/>
          <p:nvPr/>
        </p:nvSpPr>
        <p:spPr>
          <a:xfrm>
            <a:off x="812800" y="3194050"/>
            <a:ext cx="3662680" cy="123428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Put three or four sprites on the stage. One of them is hiding the treasure. Click each one to find out which.</a:t>
            </a:r>
            <a:endParaRPr lang="en-US" sz="1700" dirty="0"/>
          </a:p>
        </p:txBody>
      </p:sp>
      <p:sp>
        <p:nvSpPr>
          <p:cNvPr id="5" name="Shape 3"/>
          <p:cNvSpPr/>
          <p:nvPr/>
        </p:nvSpPr>
        <p:spPr>
          <a:xfrm>
            <a:off x="4673600" y="3194050"/>
            <a:ext cx="2563713" cy="457200"/>
          </a:xfrm>
          <a:prstGeom prst="roundRect">
            <a:avLst>
              <a:gd name="adj" fmla="val 38889"/>
            </a:avLst>
          </a:prstGeom>
          <a:solidFill>
            <a:srgbClr val="FFBF00"/>
          </a:solidFill>
          <a:ln/>
        </p:spPr>
      </p:sp>
      <p:sp>
        <p:nvSpPr>
          <p:cNvPr id="6" name="Text 4"/>
          <p:cNvSpPr/>
          <p:nvPr/>
        </p:nvSpPr>
        <p:spPr>
          <a:xfrm>
            <a:off x="4845050" y="3295650"/>
            <a:ext cx="228743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when this sprite clicked</a:t>
            </a:r>
            <a:endParaRPr lang="en-US" sz="1600" dirty="0"/>
          </a:p>
        </p:txBody>
      </p:sp>
      <p:sp>
        <p:nvSpPr>
          <p:cNvPr id="7" name="Shape 5"/>
          <p:cNvSpPr/>
          <p:nvPr/>
        </p:nvSpPr>
        <p:spPr>
          <a:xfrm>
            <a:off x="4673600" y="3689350"/>
            <a:ext cx="3454301" cy="457200"/>
          </a:xfrm>
          <a:prstGeom prst="roundRect">
            <a:avLst>
              <a:gd name="adj" fmla="val 19444"/>
            </a:avLst>
          </a:prstGeom>
          <a:solidFill>
            <a:srgbClr val="774DCB"/>
          </a:solidFill>
          <a:ln/>
        </p:spPr>
      </p:sp>
      <p:sp>
        <p:nvSpPr>
          <p:cNvPr id="8" name="Text 6"/>
          <p:cNvSpPr/>
          <p:nvPr/>
        </p:nvSpPr>
        <p:spPr>
          <a:xfrm>
            <a:off x="4845050" y="3790950"/>
            <a:ext cx="3204743"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FFFFF"/>
                </a:solidFill>
                <a:latin typeface="Nunito Sans" pitchFamily="34" charset="0"/>
                <a:ea typeface="Nunito Sans" pitchFamily="34" charset="-122"/>
                <a:cs typeface="Nunito Sans" pitchFamily="34" charset="-120"/>
              </a:rPr>
              <a:t>say [Nothing here!] for 2 seconds</a:t>
            </a:r>
            <a:endParaRPr lang="en-US" sz="1600" dirty="0"/>
          </a:p>
        </p:txBody>
      </p:sp>
      <p:sp>
        <p:nvSpPr>
          <p:cNvPr id="9" name="Text 7"/>
          <p:cNvSpPr/>
          <p:nvPr/>
        </p:nvSpPr>
        <p:spPr>
          <a:xfrm>
            <a:off x="4673600" y="4146550"/>
            <a:ext cx="690676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5C4A46"/>
                </a:solidFill>
                <a:latin typeface="Nunito Sans" pitchFamily="34" charset="0"/>
                <a:ea typeface="Nunito Sans" pitchFamily="34" charset="-122"/>
                <a:cs typeface="Nunito Sans" pitchFamily="34" charset="-120"/>
              </a:rPr>
              <a:t>On the winner, instead:</a:t>
            </a:r>
            <a:endParaRPr lang="en-US" sz="1500" dirty="0"/>
          </a:p>
        </p:txBody>
      </p:sp>
      <p:sp>
        <p:nvSpPr>
          <p:cNvPr id="10" name="Shape 8"/>
          <p:cNvSpPr/>
          <p:nvPr/>
        </p:nvSpPr>
        <p:spPr>
          <a:xfrm>
            <a:off x="4673600" y="4394200"/>
            <a:ext cx="2563713" cy="457200"/>
          </a:xfrm>
          <a:prstGeom prst="roundRect">
            <a:avLst>
              <a:gd name="adj" fmla="val 38889"/>
            </a:avLst>
          </a:prstGeom>
          <a:solidFill>
            <a:srgbClr val="FFBF00"/>
          </a:solidFill>
          <a:ln/>
        </p:spPr>
      </p:sp>
      <p:sp>
        <p:nvSpPr>
          <p:cNvPr id="11" name="Text 9"/>
          <p:cNvSpPr/>
          <p:nvPr/>
        </p:nvSpPr>
        <p:spPr>
          <a:xfrm>
            <a:off x="4845050" y="4495800"/>
            <a:ext cx="228743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when this sprite clicked</a:t>
            </a:r>
            <a:endParaRPr lang="en-US" sz="1600" dirty="0"/>
          </a:p>
        </p:txBody>
      </p:sp>
      <p:sp>
        <p:nvSpPr>
          <p:cNvPr id="12" name="Shape 10"/>
          <p:cNvSpPr/>
          <p:nvPr/>
        </p:nvSpPr>
        <p:spPr>
          <a:xfrm>
            <a:off x="4673600" y="4889500"/>
            <a:ext cx="3361234" cy="457200"/>
          </a:xfrm>
          <a:prstGeom prst="roundRect">
            <a:avLst>
              <a:gd name="adj" fmla="val 19444"/>
            </a:avLst>
          </a:prstGeom>
          <a:solidFill>
            <a:srgbClr val="774DCB"/>
          </a:solidFill>
          <a:ln/>
        </p:spPr>
      </p:sp>
      <p:sp>
        <p:nvSpPr>
          <p:cNvPr id="13" name="Text 11"/>
          <p:cNvSpPr/>
          <p:nvPr/>
        </p:nvSpPr>
        <p:spPr>
          <a:xfrm>
            <a:off x="4845050" y="4991100"/>
            <a:ext cx="3108884"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FFFFF"/>
                </a:solidFill>
                <a:latin typeface="Nunito Sans" pitchFamily="34" charset="0"/>
                <a:ea typeface="Nunito Sans" pitchFamily="34" charset="-122"/>
                <a:cs typeface="Nunito Sans" pitchFamily="34" charset="-120"/>
              </a:rPr>
              <a:t>say [You found it!] for 2 seconds</a:t>
            </a:r>
            <a:endParaRPr lang="en-US" sz="1600" dirty="0"/>
          </a:p>
        </p:txBody>
      </p:sp>
      <p:sp>
        <p:nvSpPr>
          <p:cNvPr id="14" name="Shape 12"/>
          <p:cNvSpPr/>
          <p:nvPr/>
        </p:nvSpPr>
        <p:spPr>
          <a:xfrm>
            <a:off x="4673600" y="5384800"/>
            <a:ext cx="2011263" cy="457200"/>
          </a:xfrm>
          <a:prstGeom prst="roundRect">
            <a:avLst>
              <a:gd name="adj" fmla="val 19444"/>
            </a:avLst>
          </a:prstGeom>
          <a:solidFill>
            <a:srgbClr val="774DCB"/>
          </a:solidFill>
          <a:ln/>
        </p:spPr>
      </p:sp>
      <p:sp>
        <p:nvSpPr>
          <p:cNvPr id="15" name="Text 13"/>
          <p:cNvSpPr/>
          <p:nvPr/>
        </p:nvSpPr>
        <p:spPr>
          <a:xfrm>
            <a:off x="4845050" y="5486400"/>
            <a:ext cx="1719163"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FFFFF"/>
                </a:solidFill>
                <a:latin typeface="Nunito Sans" pitchFamily="34" charset="0"/>
                <a:ea typeface="Nunito Sans" pitchFamily="34" charset="-122"/>
                <a:cs typeface="Nunito Sans" pitchFamily="34" charset="-120"/>
              </a:rPr>
              <a:t>change size by 50</a:t>
            </a:r>
            <a:endParaRPr lang="en-US" sz="16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ACTIVITY B · EIGHTEEN MINUTES</a:t>
            </a:r>
            <a:endParaRPr lang="en-US" sz="1300" dirty="0"/>
          </a:p>
        </p:txBody>
      </p:sp>
      <p:sp>
        <p:nvSpPr>
          <p:cNvPr id="3" name="Text 1"/>
          <p:cNvSpPr/>
          <p:nvPr/>
        </p:nvSpPr>
        <p:spPr>
          <a:xfrm>
            <a:off x="812800" y="1838027"/>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Drive the Car</a:t>
            </a:r>
            <a:endParaRPr lang="en-US" sz="3600" dirty="0"/>
          </a:p>
        </p:txBody>
      </p:sp>
      <p:sp>
        <p:nvSpPr>
          <p:cNvPr id="4" name="Text 2"/>
          <p:cNvSpPr/>
          <p:nvPr/>
        </p:nvSpPr>
        <p:spPr>
          <a:xfrm>
            <a:off x="812800" y="3125788"/>
            <a:ext cx="9483725"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Four scripts, one sprite. Build them all, then </a:t>
            </a:r>
            <a:r>
              <a:rPr lang="en-US" sz="1700" b="1" dirty="0">
                <a:solidFill>
                  <a:srgbClr val="5C4A46"/>
                </a:solidFill>
                <a:latin typeface="Nunito Sans" pitchFamily="34" charset="0"/>
                <a:ea typeface="Nunito Sans" pitchFamily="34" charset="-122"/>
                <a:cs typeface="Nunito Sans" pitchFamily="34" charset="-120"/>
              </a:rPr>
              <a:t>change the 10</a:t>
            </a:r>
            <a:r>
              <a:rPr lang="en-US" sz="1700" dirty="0">
                <a:solidFill>
                  <a:srgbClr val="5C4A46"/>
                </a:solidFill>
                <a:latin typeface="Nunito Sans" pitchFamily="34" charset="0"/>
                <a:ea typeface="Nunito Sans" pitchFamily="34" charset="-122"/>
                <a:cs typeface="Nunito Sans" pitchFamily="34" charset="-120"/>
              </a:rPr>
              <a:t> until the movement feels right.</a:t>
            </a:r>
            <a:endParaRPr lang="en-US" sz="1700" dirty="0"/>
          </a:p>
        </p:txBody>
      </p:sp>
      <p:sp>
        <p:nvSpPr>
          <p:cNvPr id="5" name="Shape 3"/>
          <p:cNvSpPr/>
          <p:nvPr/>
        </p:nvSpPr>
        <p:spPr>
          <a:xfrm>
            <a:off x="819150" y="4228505"/>
            <a:ext cx="2514600" cy="1607145"/>
          </a:xfrm>
          <a:prstGeom prst="roundRect">
            <a:avLst>
              <a:gd name="adj" fmla="val 8297"/>
            </a:avLst>
          </a:prstGeom>
          <a:solidFill>
            <a:srgbClr val="FFFCF4"/>
          </a:solidFill>
          <a:ln w="12700">
            <a:solidFill>
              <a:srgbClr val="E4D7BE"/>
            </a:solidFill>
            <a:prstDash val="solid"/>
          </a:ln>
        </p:spPr>
      </p:sp>
      <p:sp>
        <p:nvSpPr>
          <p:cNvPr id="6" name="Text 4"/>
          <p:cNvSpPr/>
          <p:nvPr/>
        </p:nvSpPr>
        <p:spPr>
          <a:xfrm>
            <a:off x="1003300" y="4412655"/>
            <a:ext cx="2210689"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Right</a:t>
            </a:r>
            <a:endParaRPr lang="en-US" sz="1700" dirty="0"/>
          </a:p>
        </p:txBody>
      </p:sp>
      <p:sp>
        <p:nvSpPr>
          <p:cNvPr id="7" name="Shape 5"/>
          <p:cNvSpPr/>
          <p:nvPr/>
        </p:nvSpPr>
        <p:spPr>
          <a:xfrm>
            <a:off x="1003300" y="4737100"/>
            <a:ext cx="2146300" cy="533400"/>
          </a:xfrm>
          <a:prstGeom prst="roundRect">
            <a:avLst>
              <a:gd name="adj" fmla="val 25000"/>
            </a:avLst>
          </a:prstGeom>
          <a:solidFill>
            <a:srgbClr val="FFBF00"/>
          </a:solidFill>
          <a:ln/>
        </p:spPr>
      </p:sp>
      <p:sp>
        <p:nvSpPr>
          <p:cNvPr id="8" name="Text 6"/>
          <p:cNvSpPr/>
          <p:nvPr/>
        </p:nvSpPr>
        <p:spPr>
          <a:xfrm>
            <a:off x="1130300" y="4813300"/>
            <a:ext cx="1949069"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when [right arrow] key pressed</a:t>
            </a:r>
            <a:endParaRPr lang="en-US" sz="1200" dirty="0"/>
          </a:p>
        </p:txBody>
      </p:sp>
      <p:sp>
        <p:nvSpPr>
          <p:cNvPr id="9" name="Shape 7"/>
          <p:cNvSpPr/>
          <p:nvPr/>
        </p:nvSpPr>
        <p:spPr>
          <a:xfrm>
            <a:off x="1003300" y="5308600"/>
            <a:ext cx="1321891" cy="342900"/>
          </a:xfrm>
          <a:prstGeom prst="roundRect">
            <a:avLst>
              <a:gd name="adj" fmla="val 25926"/>
            </a:avLst>
          </a:prstGeom>
          <a:solidFill>
            <a:srgbClr val="3373CC"/>
          </a:solidFill>
          <a:ln/>
        </p:spPr>
      </p:sp>
      <p:sp>
        <p:nvSpPr>
          <p:cNvPr id="10" name="Text 8"/>
          <p:cNvSpPr/>
          <p:nvPr/>
        </p:nvSpPr>
        <p:spPr>
          <a:xfrm>
            <a:off x="1130300" y="5384800"/>
            <a:ext cx="1118691"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Nunito Sans" pitchFamily="34" charset="0"/>
                <a:ea typeface="Nunito Sans" pitchFamily="34" charset="-122"/>
                <a:cs typeface="Nunito Sans" pitchFamily="34" charset="-120"/>
              </a:rPr>
              <a:t>change x by 10</a:t>
            </a:r>
            <a:endParaRPr lang="en-US" sz="1200" dirty="0"/>
          </a:p>
        </p:txBody>
      </p:sp>
      <p:sp>
        <p:nvSpPr>
          <p:cNvPr id="11" name="Shape 9"/>
          <p:cNvSpPr/>
          <p:nvPr/>
        </p:nvSpPr>
        <p:spPr>
          <a:xfrm>
            <a:off x="3498850" y="4228505"/>
            <a:ext cx="2514600" cy="1607145"/>
          </a:xfrm>
          <a:prstGeom prst="roundRect">
            <a:avLst>
              <a:gd name="adj" fmla="val 8297"/>
            </a:avLst>
          </a:prstGeom>
          <a:solidFill>
            <a:srgbClr val="FFFCF4"/>
          </a:solidFill>
          <a:ln w="12700">
            <a:solidFill>
              <a:srgbClr val="E4D7BE"/>
            </a:solidFill>
            <a:prstDash val="solid"/>
          </a:ln>
        </p:spPr>
      </p:sp>
      <p:sp>
        <p:nvSpPr>
          <p:cNvPr id="12" name="Text 10"/>
          <p:cNvSpPr/>
          <p:nvPr/>
        </p:nvSpPr>
        <p:spPr>
          <a:xfrm>
            <a:off x="3683000" y="4412655"/>
            <a:ext cx="2210689"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Left</a:t>
            </a:r>
            <a:endParaRPr lang="en-US" sz="1700" dirty="0"/>
          </a:p>
        </p:txBody>
      </p:sp>
      <p:sp>
        <p:nvSpPr>
          <p:cNvPr id="13" name="Shape 11"/>
          <p:cNvSpPr/>
          <p:nvPr/>
        </p:nvSpPr>
        <p:spPr>
          <a:xfrm>
            <a:off x="3683000" y="4737100"/>
            <a:ext cx="2146300" cy="533400"/>
          </a:xfrm>
          <a:prstGeom prst="roundRect">
            <a:avLst>
              <a:gd name="adj" fmla="val 25000"/>
            </a:avLst>
          </a:prstGeom>
          <a:solidFill>
            <a:srgbClr val="FFBF00"/>
          </a:solidFill>
          <a:ln/>
        </p:spPr>
      </p:sp>
      <p:sp>
        <p:nvSpPr>
          <p:cNvPr id="14" name="Text 12"/>
          <p:cNvSpPr/>
          <p:nvPr/>
        </p:nvSpPr>
        <p:spPr>
          <a:xfrm>
            <a:off x="3810000" y="4813300"/>
            <a:ext cx="1949069"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when [left arrow] key pressed</a:t>
            </a:r>
            <a:endParaRPr lang="en-US" sz="1200" dirty="0"/>
          </a:p>
        </p:txBody>
      </p:sp>
      <p:sp>
        <p:nvSpPr>
          <p:cNvPr id="15" name="Shape 13"/>
          <p:cNvSpPr/>
          <p:nvPr/>
        </p:nvSpPr>
        <p:spPr>
          <a:xfrm>
            <a:off x="3683000" y="5308600"/>
            <a:ext cx="1388070" cy="342900"/>
          </a:xfrm>
          <a:prstGeom prst="roundRect">
            <a:avLst>
              <a:gd name="adj" fmla="val 25926"/>
            </a:avLst>
          </a:prstGeom>
          <a:solidFill>
            <a:srgbClr val="3373CC"/>
          </a:solidFill>
          <a:ln/>
        </p:spPr>
      </p:sp>
      <p:sp>
        <p:nvSpPr>
          <p:cNvPr id="16" name="Text 14"/>
          <p:cNvSpPr/>
          <p:nvPr/>
        </p:nvSpPr>
        <p:spPr>
          <a:xfrm>
            <a:off x="3810000" y="5384800"/>
            <a:ext cx="118487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Nunito Sans" pitchFamily="34" charset="0"/>
                <a:ea typeface="Nunito Sans" pitchFamily="34" charset="-122"/>
                <a:cs typeface="Nunito Sans" pitchFamily="34" charset="-120"/>
              </a:rPr>
              <a:t>change x by -10</a:t>
            </a:r>
            <a:endParaRPr lang="en-US" sz="1200" dirty="0"/>
          </a:p>
        </p:txBody>
      </p:sp>
      <p:sp>
        <p:nvSpPr>
          <p:cNvPr id="17" name="Shape 15"/>
          <p:cNvSpPr/>
          <p:nvPr/>
        </p:nvSpPr>
        <p:spPr>
          <a:xfrm>
            <a:off x="6178550" y="4228505"/>
            <a:ext cx="2514600" cy="1607145"/>
          </a:xfrm>
          <a:prstGeom prst="roundRect">
            <a:avLst>
              <a:gd name="adj" fmla="val 8297"/>
            </a:avLst>
          </a:prstGeom>
          <a:solidFill>
            <a:srgbClr val="FFFCF4"/>
          </a:solidFill>
          <a:ln w="12700">
            <a:solidFill>
              <a:srgbClr val="E4D7BE"/>
            </a:solidFill>
            <a:prstDash val="solid"/>
          </a:ln>
        </p:spPr>
      </p:sp>
      <p:sp>
        <p:nvSpPr>
          <p:cNvPr id="18" name="Text 16"/>
          <p:cNvSpPr/>
          <p:nvPr/>
        </p:nvSpPr>
        <p:spPr>
          <a:xfrm>
            <a:off x="6362700" y="4412655"/>
            <a:ext cx="2210689"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Up</a:t>
            </a:r>
            <a:endParaRPr lang="en-US" sz="1700" dirty="0"/>
          </a:p>
        </p:txBody>
      </p:sp>
      <p:sp>
        <p:nvSpPr>
          <p:cNvPr id="19" name="Shape 17"/>
          <p:cNvSpPr/>
          <p:nvPr/>
        </p:nvSpPr>
        <p:spPr>
          <a:xfrm>
            <a:off x="6362700" y="4737100"/>
            <a:ext cx="2146300" cy="533400"/>
          </a:xfrm>
          <a:prstGeom prst="roundRect">
            <a:avLst>
              <a:gd name="adj" fmla="val 25000"/>
            </a:avLst>
          </a:prstGeom>
          <a:solidFill>
            <a:srgbClr val="FFBF00"/>
          </a:solidFill>
          <a:ln/>
        </p:spPr>
      </p:sp>
      <p:sp>
        <p:nvSpPr>
          <p:cNvPr id="20" name="Text 18"/>
          <p:cNvSpPr/>
          <p:nvPr/>
        </p:nvSpPr>
        <p:spPr>
          <a:xfrm>
            <a:off x="6489700" y="4813300"/>
            <a:ext cx="1949069"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when [up arrow] key pressed</a:t>
            </a:r>
            <a:endParaRPr lang="en-US" sz="1200" dirty="0"/>
          </a:p>
        </p:txBody>
      </p:sp>
      <p:sp>
        <p:nvSpPr>
          <p:cNvPr id="21" name="Shape 19"/>
          <p:cNvSpPr/>
          <p:nvPr/>
        </p:nvSpPr>
        <p:spPr>
          <a:xfrm>
            <a:off x="6362700" y="5308600"/>
            <a:ext cx="1318915" cy="342900"/>
          </a:xfrm>
          <a:prstGeom prst="roundRect">
            <a:avLst>
              <a:gd name="adj" fmla="val 25926"/>
            </a:avLst>
          </a:prstGeom>
          <a:solidFill>
            <a:srgbClr val="3373CC"/>
          </a:solidFill>
          <a:ln/>
        </p:spPr>
      </p:sp>
      <p:sp>
        <p:nvSpPr>
          <p:cNvPr id="22" name="Text 20"/>
          <p:cNvSpPr/>
          <p:nvPr/>
        </p:nvSpPr>
        <p:spPr>
          <a:xfrm>
            <a:off x="6489700" y="5384800"/>
            <a:ext cx="111571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Nunito Sans" pitchFamily="34" charset="0"/>
                <a:ea typeface="Nunito Sans" pitchFamily="34" charset="-122"/>
                <a:cs typeface="Nunito Sans" pitchFamily="34" charset="-120"/>
              </a:rPr>
              <a:t>change y by 10</a:t>
            </a:r>
            <a:endParaRPr lang="en-US" sz="1200" dirty="0"/>
          </a:p>
        </p:txBody>
      </p:sp>
      <p:sp>
        <p:nvSpPr>
          <p:cNvPr id="23" name="Shape 21"/>
          <p:cNvSpPr/>
          <p:nvPr/>
        </p:nvSpPr>
        <p:spPr>
          <a:xfrm>
            <a:off x="8858250" y="4228505"/>
            <a:ext cx="2514600" cy="1607145"/>
          </a:xfrm>
          <a:prstGeom prst="roundRect">
            <a:avLst>
              <a:gd name="adj" fmla="val 8297"/>
            </a:avLst>
          </a:prstGeom>
          <a:solidFill>
            <a:srgbClr val="FFFCF4"/>
          </a:solidFill>
          <a:ln w="12700">
            <a:solidFill>
              <a:srgbClr val="E4D7BE"/>
            </a:solidFill>
            <a:prstDash val="solid"/>
          </a:ln>
        </p:spPr>
      </p:sp>
      <p:sp>
        <p:nvSpPr>
          <p:cNvPr id="24" name="Text 22"/>
          <p:cNvSpPr/>
          <p:nvPr/>
        </p:nvSpPr>
        <p:spPr>
          <a:xfrm>
            <a:off x="9042400" y="4412655"/>
            <a:ext cx="2210689"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Down</a:t>
            </a:r>
            <a:endParaRPr lang="en-US" sz="1700" dirty="0"/>
          </a:p>
        </p:txBody>
      </p:sp>
      <p:sp>
        <p:nvSpPr>
          <p:cNvPr id="25" name="Shape 23"/>
          <p:cNvSpPr/>
          <p:nvPr/>
        </p:nvSpPr>
        <p:spPr>
          <a:xfrm>
            <a:off x="9042400" y="4737100"/>
            <a:ext cx="2146300" cy="533400"/>
          </a:xfrm>
          <a:prstGeom prst="roundRect">
            <a:avLst>
              <a:gd name="adj" fmla="val 25000"/>
            </a:avLst>
          </a:prstGeom>
          <a:solidFill>
            <a:srgbClr val="FFBF00"/>
          </a:solidFill>
          <a:ln/>
        </p:spPr>
      </p:sp>
      <p:sp>
        <p:nvSpPr>
          <p:cNvPr id="26" name="Text 24"/>
          <p:cNvSpPr/>
          <p:nvPr/>
        </p:nvSpPr>
        <p:spPr>
          <a:xfrm>
            <a:off x="9169400" y="4813300"/>
            <a:ext cx="1949069"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when [down arrow] key pressed</a:t>
            </a:r>
            <a:endParaRPr lang="en-US" sz="1200" dirty="0"/>
          </a:p>
        </p:txBody>
      </p:sp>
      <p:sp>
        <p:nvSpPr>
          <p:cNvPr id="27" name="Shape 25"/>
          <p:cNvSpPr/>
          <p:nvPr/>
        </p:nvSpPr>
        <p:spPr>
          <a:xfrm>
            <a:off x="9042400" y="5308600"/>
            <a:ext cx="1384995" cy="342900"/>
          </a:xfrm>
          <a:prstGeom prst="roundRect">
            <a:avLst>
              <a:gd name="adj" fmla="val 25926"/>
            </a:avLst>
          </a:prstGeom>
          <a:solidFill>
            <a:srgbClr val="3373CC"/>
          </a:solidFill>
          <a:ln/>
        </p:spPr>
      </p:sp>
      <p:sp>
        <p:nvSpPr>
          <p:cNvPr id="28" name="Text 26"/>
          <p:cNvSpPr/>
          <p:nvPr/>
        </p:nvSpPr>
        <p:spPr>
          <a:xfrm>
            <a:off x="9169400" y="5384800"/>
            <a:ext cx="118179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Nunito Sans" pitchFamily="34" charset="0"/>
                <a:ea typeface="Nunito Sans" pitchFamily="34" charset="-122"/>
                <a:cs typeface="Nunito Sans" pitchFamily="34" charset="-120"/>
              </a:rPr>
              <a:t>change y by -10</a:t>
            </a:r>
            <a:endParaRPr lang="en-US" sz="1200" dirty="0"/>
          </a:p>
        </p:txBody>
      </p:sp>
      <p:sp>
        <p:nvSpPr>
          <p:cNvPr id="29" name="Text 27"/>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30"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227588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6E7C8"/>
                </a:solidFill>
                <a:latin typeface="Fredoka" pitchFamily="34" charset="0"/>
                <a:ea typeface="Fredoka" pitchFamily="34" charset="-122"/>
                <a:cs typeface="Fredoka" pitchFamily="34" charset="-120"/>
              </a:rPr>
              <a:t>Break</a:t>
            </a:r>
            <a:endParaRPr lang="en-US" sz="6000" dirty="0"/>
          </a:p>
        </p:txBody>
      </p:sp>
      <p:sp>
        <p:nvSpPr>
          <p:cNvPr id="3" name="Text 1"/>
          <p:cNvSpPr/>
          <p:nvPr/>
        </p:nvSpPr>
        <p:spPr>
          <a:xfrm>
            <a:off x="812800" y="3329980"/>
            <a:ext cx="78486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49A7E"/>
                </a:solidFill>
                <a:latin typeface="Nunito Sans" pitchFamily="34" charset="0"/>
                <a:ea typeface="Nunito Sans" pitchFamily="34" charset="-122"/>
                <a:cs typeface="Nunito Sans" pitchFamily="34" charset="-120"/>
              </a:rPr>
              <a:t>Ten minutes. Get up, stretch, drink some water.</a:t>
            </a:r>
            <a:endParaRPr lang="en-US" sz="2200" dirty="0"/>
          </a:p>
        </p:txBody>
      </p:sp>
      <p:sp>
        <p:nvSpPr>
          <p:cNvPr id="4" name="Shape 2"/>
          <p:cNvSpPr/>
          <p:nvPr/>
        </p:nvSpPr>
        <p:spPr>
          <a:xfrm>
            <a:off x="812800" y="3975100"/>
            <a:ext cx="1143000" cy="50800"/>
          </a:xfrm>
          <a:prstGeom prst="roundRect">
            <a:avLst>
              <a:gd name="adj" fmla="val 50000"/>
            </a:avLst>
          </a:prstGeom>
          <a:solidFill>
            <a:srgbClr val="C9A227"/>
          </a:solidFill>
          <a:ln/>
        </p:spPr>
      </p:sp>
      <p:sp>
        <p:nvSpPr>
          <p:cNvPr id="5" name="Text 3"/>
          <p:cNvSpPr/>
          <p:nvPr/>
        </p:nvSpPr>
        <p:spPr>
          <a:xfrm>
            <a:off x="812800" y="4279900"/>
            <a:ext cx="78486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After the break: your own player learns to drive.</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8C2332"/>
        </a:solidFill>
      </p:bgPr>
    </p:bg>
    <p:spTree>
      <p:nvGrpSpPr>
        <p:cNvPr id="1" name=""/>
        <p:cNvGrpSpPr/>
        <p:nvPr/>
      </p:nvGrpSpPr>
      <p:grpSpPr>
        <a:xfrm>
          <a:off x="0" y="0"/>
          <a:ext cx="0" cy="0"/>
          <a:chOff x="0" y="0"/>
          <a:chExt cx="0" cy="0"/>
        </a:xfrm>
      </p:grpSpPr>
      <p:sp>
        <p:nvSpPr>
          <p:cNvPr id="2" name="Text 0"/>
          <p:cNvSpPr/>
          <p:nvPr/>
        </p:nvSpPr>
        <p:spPr>
          <a:xfrm>
            <a:off x="812800" y="2235299"/>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3C9CF"/>
                </a:solidFill>
                <a:latin typeface="Nunito Sans" pitchFamily="34" charset="0"/>
                <a:ea typeface="Nunito Sans" pitchFamily="34" charset="-122"/>
                <a:cs typeface="Nunito Sans" pitchFamily="34" charset="-120"/>
              </a:rPr>
              <a:t>TODAY'S GOAL</a:t>
            </a:r>
            <a:endParaRPr lang="en-US" sz="1300" dirty="0"/>
          </a:p>
        </p:txBody>
      </p:sp>
      <p:sp>
        <p:nvSpPr>
          <p:cNvPr id="3" name="Text 1"/>
          <p:cNvSpPr/>
          <p:nvPr/>
        </p:nvSpPr>
        <p:spPr>
          <a:xfrm>
            <a:off x="812800" y="2694980"/>
            <a:ext cx="9810750" cy="1953022"/>
          </a:xfrm>
          <a:prstGeom prst="rect">
            <a:avLst/>
          </a:prstGeom>
          <a:noFill/>
          <a:ln/>
        </p:spPr>
        <p:txBody>
          <a:bodyPr wrap="square" lIns="0" tIns="0" rIns="0" bIns="0" rtlCol="0" anchor="t">
            <a:normAutofit/>
          </a:bodyPr>
          <a:lstStyle/>
          <a:p>
            <a:pPr algn="l" indent="0" marL="0">
              <a:lnSpc>
                <a:spcPts val="5060"/>
              </a:lnSpc>
              <a:buNone/>
            </a:pPr>
            <a:r>
              <a:rPr lang="en-US" sz="4600" b="1" dirty="0">
                <a:solidFill>
                  <a:srgbClr val="FFF4E8"/>
                </a:solidFill>
                <a:latin typeface="Fredoka" pitchFamily="34" charset="0"/>
                <a:ea typeface="Fredoka" pitchFamily="34" charset="-122"/>
                <a:cs typeface="Fredoka" pitchFamily="34" charset="-120"/>
              </a:rPr>
              <a:t>By the end of today you can drive your player left and right along the bottom.</a:t>
            </a:r>
            <a:endParaRPr lang="en-US" sz="4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PROJECT BUILD · TWENTY MINUTES</a:t>
            </a:r>
            <a:endParaRPr lang="en-US" sz="1300" dirty="0"/>
          </a:p>
        </p:txBody>
      </p:sp>
      <p:sp>
        <p:nvSpPr>
          <p:cNvPr id="3" name="Text 1"/>
          <p:cNvSpPr/>
          <p:nvPr/>
        </p:nvSpPr>
        <p:spPr>
          <a:xfrm>
            <a:off x="812800" y="1668562"/>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Blocks you'll need</a:t>
            </a:r>
            <a:endParaRPr lang="en-US" sz="3600" dirty="0"/>
          </a:p>
        </p:txBody>
      </p:sp>
      <p:sp>
        <p:nvSpPr>
          <p:cNvPr id="4" name="Text 2"/>
          <p:cNvSpPr/>
          <p:nvPr/>
        </p:nvSpPr>
        <p:spPr>
          <a:xfrm>
            <a:off x="812800" y="2786856"/>
            <a:ext cx="9483725" cy="339030"/>
          </a:xfrm>
          <a:prstGeom prst="rect">
            <a:avLst/>
          </a:prstGeom>
          <a:noFill/>
          <a:ln/>
        </p:spPr>
        <p:txBody>
          <a:bodyPr wrap="square" lIns="0" tIns="0" rIns="0" bIns="0" rtlCol="0" anchor="t">
            <a:normAutofit/>
          </a:bodyPr>
          <a:lstStyle/>
          <a:p>
            <a:pPr algn="l" indent="0" marL="0">
              <a:lnSpc>
                <a:spcPts val="2470"/>
              </a:lnSpc>
              <a:buNone/>
            </a:pPr>
            <a:r>
              <a:rPr lang="en-US" sz="1900" b="1" dirty="0">
                <a:solidFill>
                  <a:srgbClr val="2E1015"/>
                </a:solidFill>
                <a:latin typeface="Nunito Sans" pitchFamily="34" charset="0"/>
                <a:ea typeface="Nunito Sans" pitchFamily="34" charset="-122"/>
                <a:cs typeface="Nunito Sans" pitchFamily="34" charset="-120"/>
              </a:rPr>
              <a:t>Goal: your player moves left and right with the arrow keys.</a:t>
            </a:r>
            <a:endParaRPr lang="en-US" sz="1900" dirty="0"/>
          </a:p>
        </p:txBody>
      </p:sp>
      <p:sp>
        <p:nvSpPr>
          <p:cNvPr id="5" name="Shape 3"/>
          <p:cNvSpPr/>
          <p:nvPr/>
        </p:nvSpPr>
        <p:spPr>
          <a:xfrm>
            <a:off x="812800" y="3725168"/>
            <a:ext cx="3088382" cy="428625"/>
          </a:xfrm>
          <a:prstGeom prst="roundRect">
            <a:avLst>
              <a:gd name="adj" fmla="val 20741"/>
            </a:avLst>
          </a:prstGeom>
          <a:solidFill>
            <a:srgbClr val="FFBF00"/>
          </a:solidFill>
          <a:ln/>
        </p:spPr>
      </p:sp>
      <p:sp>
        <p:nvSpPr>
          <p:cNvPr id="6" name="Text 4"/>
          <p:cNvSpPr/>
          <p:nvPr/>
        </p:nvSpPr>
        <p:spPr>
          <a:xfrm>
            <a:off x="971550" y="3820418"/>
            <a:ext cx="2854008"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[right arrow] key pressed</a:t>
            </a:r>
            <a:endParaRPr lang="en-US" sz="1500" dirty="0"/>
          </a:p>
        </p:txBody>
      </p:sp>
      <p:sp>
        <p:nvSpPr>
          <p:cNvPr id="7" name="Shape 5"/>
          <p:cNvSpPr/>
          <p:nvPr/>
        </p:nvSpPr>
        <p:spPr>
          <a:xfrm>
            <a:off x="4002782" y="3725168"/>
            <a:ext cx="2965351" cy="428625"/>
          </a:xfrm>
          <a:prstGeom prst="roundRect">
            <a:avLst>
              <a:gd name="adj" fmla="val 20741"/>
            </a:avLst>
          </a:prstGeom>
          <a:solidFill>
            <a:srgbClr val="FFBF00"/>
          </a:solidFill>
          <a:ln/>
        </p:spPr>
      </p:sp>
      <p:sp>
        <p:nvSpPr>
          <p:cNvPr id="8" name="Text 6"/>
          <p:cNvSpPr/>
          <p:nvPr/>
        </p:nvSpPr>
        <p:spPr>
          <a:xfrm>
            <a:off x="4161532" y="3820418"/>
            <a:ext cx="272728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[left arrow] key pressed</a:t>
            </a:r>
            <a:endParaRPr lang="en-US" sz="1500" dirty="0"/>
          </a:p>
        </p:txBody>
      </p:sp>
      <p:sp>
        <p:nvSpPr>
          <p:cNvPr id="9" name="Shape 7"/>
          <p:cNvSpPr/>
          <p:nvPr/>
        </p:nvSpPr>
        <p:spPr>
          <a:xfrm>
            <a:off x="7069733" y="3725168"/>
            <a:ext cx="1652389" cy="428625"/>
          </a:xfrm>
          <a:prstGeom prst="roundRect">
            <a:avLst>
              <a:gd name="adj" fmla="val 20741"/>
            </a:avLst>
          </a:prstGeom>
          <a:solidFill>
            <a:srgbClr val="3373CC"/>
          </a:solidFill>
          <a:ln/>
        </p:spPr>
      </p:sp>
      <p:sp>
        <p:nvSpPr>
          <p:cNvPr id="10" name="Text 8"/>
          <p:cNvSpPr/>
          <p:nvPr/>
        </p:nvSpPr>
        <p:spPr>
          <a:xfrm>
            <a:off x="7228483" y="3820418"/>
            <a:ext cx="138568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change x by 10</a:t>
            </a:r>
            <a:endParaRPr lang="en-US" sz="1500" dirty="0"/>
          </a:p>
        </p:txBody>
      </p:sp>
      <p:sp>
        <p:nvSpPr>
          <p:cNvPr id="11" name="Shape 9"/>
          <p:cNvSpPr/>
          <p:nvPr/>
        </p:nvSpPr>
        <p:spPr>
          <a:xfrm>
            <a:off x="8823722" y="3725168"/>
            <a:ext cx="1735038" cy="428625"/>
          </a:xfrm>
          <a:prstGeom prst="roundRect">
            <a:avLst>
              <a:gd name="adj" fmla="val 20741"/>
            </a:avLst>
          </a:prstGeom>
          <a:solidFill>
            <a:srgbClr val="3373CC"/>
          </a:solidFill>
          <a:ln/>
        </p:spPr>
      </p:sp>
      <p:sp>
        <p:nvSpPr>
          <p:cNvPr id="12" name="Text 10"/>
          <p:cNvSpPr/>
          <p:nvPr/>
        </p:nvSpPr>
        <p:spPr>
          <a:xfrm>
            <a:off x="8982472" y="3820418"/>
            <a:ext cx="1468338"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change x by -10</a:t>
            </a:r>
            <a:endParaRPr lang="en-US" sz="1500" dirty="0"/>
          </a:p>
        </p:txBody>
      </p:sp>
      <p:sp>
        <p:nvSpPr>
          <p:cNvPr id="13" name="Shape 11"/>
          <p:cNvSpPr/>
          <p:nvPr/>
        </p:nvSpPr>
        <p:spPr>
          <a:xfrm>
            <a:off x="812800" y="4255393"/>
            <a:ext cx="1820069" cy="428625"/>
          </a:xfrm>
          <a:prstGeom prst="roundRect">
            <a:avLst>
              <a:gd name="adj" fmla="val 20741"/>
            </a:avLst>
          </a:prstGeom>
          <a:solidFill>
            <a:srgbClr val="3373CC"/>
          </a:solidFill>
          <a:ln/>
        </p:spPr>
      </p:sp>
      <p:sp>
        <p:nvSpPr>
          <p:cNvPr id="14" name="Text 12"/>
          <p:cNvSpPr/>
          <p:nvPr/>
        </p:nvSpPr>
        <p:spPr>
          <a:xfrm>
            <a:off x="971550" y="4350643"/>
            <a:ext cx="155336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go to x: 0 y: -140</a:t>
            </a:r>
            <a:endParaRPr lang="en-US" sz="1500" dirty="0"/>
          </a:p>
        </p:txBody>
      </p:sp>
      <p:sp>
        <p:nvSpPr>
          <p:cNvPr id="15" name="Text 13"/>
          <p:cNvSpPr/>
          <p:nvPr/>
        </p:nvSpPr>
        <p:spPr>
          <a:xfrm>
            <a:off x="812800" y="5308600"/>
            <a:ext cx="948372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Only x should change. Your player needs to stay near the bottom — next week, things start falling from the sky towards it.</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DEBUGGING</a:t>
            </a:r>
            <a:endParaRPr lang="en-US" sz="1300" dirty="0"/>
          </a:p>
        </p:txBody>
      </p:sp>
      <p:sp>
        <p:nvSpPr>
          <p:cNvPr id="3" name="Text 1"/>
          <p:cNvSpPr/>
          <p:nvPr/>
        </p:nvSpPr>
        <p:spPr>
          <a:xfrm>
            <a:off x="812800" y="174754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Stuck? Check these first</a:t>
            </a:r>
            <a:endParaRPr lang="en-US" sz="4000" dirty="0"/>
          </a:p>
        </p:txBody>
      </p:sp>
      <p:sp>
        <p:nvSpPr>
          <p:cNvPr id="4" name="Shape 2"/>
          <p:cNvSpPr/>
          <p:nvPr/>
        </p:nvSpPr>
        <p:spPr>
          <a:xfrm>
            <a:off x="819150" y="3006130"/>
            <a:ext cx="5168900" cy="1319510"/>
          </a:xfrm>
          <a:prstGeom prst="roundRect">
            <a:avLst>
              <a:gd name="adj" fmla="val 10106"/>
            </a:avLst>
          </a:prstGeom>
          <a:solidFill>
            <a:srgbClr val="FFFCF4"/>
          </a:solidFill>
          <a:ln w="12700">
            <a:solidFill>
              <a:srgbClr val="E4D7BE"/>
            </a:solidFill>
            <a:prstDash val="solid"/>
          </a:ln>
        </p:spPr>
      </p:sp>
      <p:sp>
        <p:nvSpPr>
          <p:cNvPr id="5" name="Text 3"/>
          <p:cNvSpPr/>
          <p:nvPr/>
        </p:nvSpPr>
        <p:spPr>
          <a:xfrm>
            <a:off x="1054100" y="324108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"It only moves once, then stops"</a:t>
            </a:r>
            <a:endParaRPr lang="en-US" sz="1700" dirty="0"/>
          </a:p>
        </p:txBody>
      </p:sp>
      <p:sp>
        <p:nvSpPr>
          <p:cNvPr id="6" name="Text 4"/>
          <p:cNvSpPr/>
          <p:nvPr/>
        </p:nvSpPr>
        <p:spPr>
          <a:xfrm>
            <a:off x="1054100" y="3576340"/>
            <a:ext cx="483997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You used set x to instead of change x by.</a:t>
            </a:r>
            <a:endParaRPr lang="en-US" sz="1500" dirty="0"/>
          </a:p>
        </p:txBody>
      </p:sp>
      <p:sp>
        <p:nvSpPr>
          <p:cNvPr id="7" name="Shape 5"/>
          <p:cNvSpPr/>
          <p:nvPr/>
        </p:nvSpPr>
        <p:spPr>
          <a:xfrm>
            <a:off x="6203950" y="3006130"/>
            <a:ext cx="5168900" cy="1319510"/>
          </a:xfrm>
          <a:prstGeom prst="roundRect">
            <a:avLst>
              <a:gd name="adj" fmla="val 10106"/>
            </a:avLst>
          </a:prstGeom>
          <a:solidFill>
            <a:srgbClr val="FFFCF4"/>
          </a:solidFill>
          <a:ln w="12700">
            <a:solidFill>
              <a:srgbClr val="E4D7BE"/>
            </a:solidFill>
            <a:prstDash val="solid"/>
          </a:ln>
        </p:spPr>
      </p:sp>
      <p:sp>
        <p:nvSpPr>
          <p:cNvPr id="8" name="Text 6"/>
          <p:cNvSpPr/>
          <p:nvPr/>
        </p:nvSpPr>
        <p:spPr>
          <a:xfrm>
            <a:off x="6438900" y="324108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"It goes diagonally when I want straight"</a:t>
            </a:r>
            <a:endParaRPr lang="en-US" sz="1700" dirty="0"/>
          </a:p>
        </p:txBody>
      </p:sp>
      <p:sp>
        <p:nvSpPr>
          <p:cNvPr id="9" name="Text 7"/>
          <p:cNvSpPr/>
          <p:nvPr/>
        </p:nvSpPr>
        <p:spPr>
          <a:xfrm>
            <a:off x="6438900" y="357634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Both x and y are changing. Check which block you grabbed.</a:t>
            </a:r>
            <a:endParaRPr lang="en-US" sz="1500" dirty="0"/>
          </a:p>
        </p:txBody>
      </p:sp>
      <p:sp>
        <p:nvSpPr>
          <p:cNvPr id="10" name="Shape 8"/>
          <p:cNvSpPr/>
          <p:nvPr/>
        </p:nvSpPr>
        <p:spPr>
          <a:xfrm>
            <a:off x="819150" y="4516140"/>
            <a:ext cx="5168900" cy="1319510"/>
          </a:xfrm>
          <a:prstGeom prst="roundRect">
            <a:avLst>
              <a:gd name="adj" fmla="val 10106"/>
            </a:avLst>
          </a:prstGeom>
          <a:solidFill>
            <a:srgbClr val="FFFCF4"/>
          </a:solidFill>
          <a:ln w="12700">
            <a:solidFill>
              <a:srgbClr val="E4D7BE"/>
            </a:solidFill>
            <a:prstDash val="solid"/>
          </a:ln>
        </p:spPr>
      </p:sp>
      <p:sp>
        <p:nvSpPr>
          <p:cNvPr id="11" name="Text 9"/>
          <p:cNvSpPr/>
          <p:nvPr/>
        </p:nvSpPr>
        <p:spPr>
          <a:xfrm>
            <a:off x="1054100" y="475109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"Nothing happens when I press the key"</a:t>
            </a:r>
            <a:endParaRPr lang="en-US" sz="1700" dirty="0"/>
          </a:p>
        </p:txBody>
      </p:sp>
      <p:sp>
        <p:nvSpPr>
          <p:cNvPr id="12" name="Text 10"/>
          <p:cNvSpPr/>
          <p:nvPr/>
        </p:nvSpPr>
        <p:spPr>
          <a:xfrm>
            <a:off x="1054100" y="508635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Wrong sprite was selected when you wrote the script. Check the sprite list.</a:t>
            </a:r>
            <a:endParaRPr lang="en-US" sz="1500" dirty="0"/>
          </a:p>
        </p:txBody>
      </p:sp>
      <p:sp>
        <p:nvSpPr>
          <p:cNvPr id="13" name="Shape 11"/>
          <p:cNvSpPr/>
          <p:nvPr/>
        </p:nvSpPr>
        <p:spPr>
          <a:xfrm>
            <a:off x="6203950" y="4516140"/>
            <a:ext cx="5168900" cy="1319510"/>
          </a:xfrm>
          <a:prstGeom prst="roundRect">
            <a:avLst>
              <a:gd name="adj" fmla="val 10106"/>
            </a:avLst>
          </a:prstGeom>
          <a:solidFill>
            <a:srgbClr val="FFFCF4"/>
          </a:solidFill>
          <a:ln w="12700">
            <a:solidFill>
              <a:srgbClr val="E4D7BE"/>
            </a:solidFill>
            <a:prstDash val="solid"/>
          </a:ln>
        </p:spPr>
      </p:sp>
      <p:sp>
        <p:nvSpPr>
          <p:cNvPr id="14" name="Text 12"/>
          <p:cNvSpPr/>
          <p:nvPr/>
        </p:nvSpPr>
        <p:spPr>
          <a:xfrm>
            <a:off x="6438900" y="475109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"My sprite is on its side"</a:t>
            </a:r>
            <a:endParaRPr lang="en-US" sz="1700" dirty="0"/>
          </a:p>
        </p:txBody>
      </p:sp>
      <p:sp>
        <p:nvSpPr>
          <p:cNvPr id="15" name="Text 13"/>
          <p:cNvSpPr/>
          <p:nvPr/>
        </p:nvSpPr>
        <p:spPr>
          <a:xfrm>
            <a:off x="6438900" y="508635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That is the rotation style, not your code. Set it to left-right in the sprite panel.</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BEFORE YOU GO</a:t>
            </a:r>
            <a:endParaRPr lang="en-US" sz="1300" dirty="0"/>
          </a:p>
        </p:txBody>
      </p:sp>
      <p:sp>
        <p:nvSpPr>
          <p:cNvPr id="3" name="Text 1"/>
          <p:cNvSpPr/>
          <p:nvPr/>
        </p:nvSpPr>
        <p:spPr>
          <a:xfrm>
            <a:off x="812800" y="2351088"/>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Save it. Check the name.</a:t>
            </a:r>
            <a:endParaRPr lang="en-US" sz="4000" dirty="0"/>
          </a:p>
        </p:txBody>
      </p:sp>
      <p:sp>
        <p:nvSpPr>
          <p:cNvPr id="4" name="Shape 2"/>
          <p:cNvSpPr/>
          <p:nvPr/>
        </p:nvSpPr>
        <p:spPr>
          <a:xfrm>
            <a:off x="819150" y="4213225"/>
            <a:ext cx="3373934" cy="1622425"/>
          </a:xfrm>
          <a:prstGeom prst="roundRect">
            <a:avLst>
              <a:gd name="adj" fmla="val 8219"/>
            </a:avLst>
          </a:prstGeom>
          <a:solidFill>
            <a:srgbClr val="FFFCF4"/>
          </a:solidFill>
          <a:ln w="12700">
            <a:solidFill>
              <a:srgbClr val="E4D7BE"/>
            </a:solidFill>
            <a:prstDash val="solid"/>
          </a:ln>
        </p:spPr>
      </p:sp>
      <p:sp>
        <p:nvSpPr>
          <p:cNvPr id="5" name="Text 3"/>
          <p:cNvSpPr/>
          <p:nvPr/>
        </p:nvSpPr>
        <p:spPr>
          <a:xfrm>
            <a:off x="1054100" y="4448175"/>
            <a:ext cx="2991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1 — Save now</a:t>
            </a:r>
            <a:endParaRPr lang="en-US" sz="2000" dirty="0"/>
          </a:p>
        </p:txBody>
      </p:sp>
      <p:sp>
        <p:nvSpPr>
          <p:cNvPr id="6" name="Text 4"/>
          <p:cNvSpPr/>
          <p:nvPr/>
        </p:nvSpPr>
        <p:spPr>
          <a:xfrm>
            <a:off x="1054100" y="4829175"/>
            <a:ext cx="299115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File → Save now. Watch for the message that says it saved.</a:t>
            </a:r>
            <a:endParaRPr lang="en-US" sz="1500" dirty="0"/>
          </a:p>
        </p:txBody>
      </p:sp>
      <p:sp>
        <p:nvSpPr>
          <p:cNvPr id="7" name="Shape 5"/>
          <p:cNvSpPr/>
          <p:nvPr/>
        </p:nvSpPr>
        <p:spPr>
          <a:xfrm>
            <a:off x="4408984" y="4213225"/>
            <a:ext cx="3374033" cy="1622425"/>
          </a:xfrm>
          <a:prstGeom prst="roundRect">
            <a:avLst>
              <a:gd name="adj" fmla="val 8219"/>
            </a:avLst>
          </a:prstGeom>
          <a:solidFill>
            <a:srgbClr val="FFFCF4"/>
          </a:solidFill>
          <a:ln w="12700">
            <a:solidFill>
              <a:srgbClr val="E4D7BE"/>
            </a:solidFill>
            <a:prstDash val="solid"/>
          </a:ln>
        </p:spPr>
      </p:sp>
      <p:sp>
        <p:nvSpPr>
          <p:cNvPr id="8" name="Text 6"/>
          <p:cNvSpPr/>
          <p:nvPr/>
        </p:nvSpPr>
        <p:spPr>
          <a:xfrm>
            <a:off x="4643934" y="4448175"/>
            <a:ext cx="299125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2 — Check the name</a:t>
            </a:r>
            <a:endParaRPr lang="en-US" sz="2000" dirty="0"/>
          </a:p>
        </p:txBody>
      </p:sp>
      <p:sp>
        <p:nvSpPr>
          <p:cNvPr id="9" name="Text 7"/>
          <p:cNvSpPr/>
          <p:nvPr/>
        </p:nvSpPr>
        <p:spPr>
          <a:xfrm>
            <a:off x="4643934" y="4829175"/>
            <a:ext cx="299125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 name at the top should still say </a:t>
            </a:r>
            <a:r>
              <a:rPr lang="en-US" sz="1500" b="1" dirty="0">
                <a:solidFill>
                  <a:srgbClr val="5C4A46"/>
                </a:solidFill>
                <a:latin typeface="Nunito Sans" pitchFamily="34" charset="0"/>
                <a:ea typeface="Nunito Sans" pitchFamily="34" charset="-122"/>
                <a:cs typeface="Nunito Sans" pitchFamily="34" charset="-120"/>
              </a:rPr>
              <a:t>Sky Catcher — your name</a:t>
            </a:r>
            <a:r>
              <a:rPr lang="en-US" sz="1500" dirty="0">
                <a:solidFill>
                  <a:srgbClr val="5C4A46"/>
                </a:solidFill>
                <a:latin typeface="Nunito Sans" pitchFamily="34" charset="0"/>
                <a:ea typeface="Nunito Sans" pitchFamily="34" charset="-122"/>
                <a:cs typeface="Nunito Sans" pitchFamily="34" charset="-120"/>
              </a:rPr>
              <a:t>.</a:t>
            </a:r>
            <a:endParaRPr lang="en-US" sz="1500" dirty="0"/>
          </a:p>
        </p:txBody>
      </p:sp>
      <p:sp>
        <p:nvSpPr>
          <p:cNvPr id="10" name="Shape 8"/>
          <p:cNvSpPr/>
          <p:nvPr/>
        </p:nvSpPr>
        <p:spPr>
          <a:xfrm>
            <a:off x="7998916" y="4213225"/>
            <a:ext cx="3373934" cy="1622425"/>
          </a:xfrm>
          <a:prstGeom prst="roundRect">
            <a:avLst>
              <a:gd name="adj" fmla="val 8219"/>
            </a:avLst>
          </a:prstGeom>
          <a:solidFill>
            <a:srgbClr val="FFFCF4"/>
          </a:solidFill>
          <a:ln w="12700">
            <a:solidFill>
              <a:srgbClr val="E4D7BE"/>
            </a:solidFill>
            <a:prstDash val="solid"/>
          </a:ln>
        </p:spPr>
      </p:sp>
      <p:sp>
        <p:nvSpPr>
          <p:cNvPr id="11" name="Text 9"/>
          <p:cNvSpPr/>
          <p:nvPr/>
        </p:nvSpPr>
        <p:spPr>
          <a:xfrm>
            <a:off x="8233866" y="4448175"/>
            <a:ext cx="2991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3 — Try it once more</a:t>
            </a:r>
            <a:endParaRPr lang="en-US" sz="2000" dirty="0"/>
          </a:p>
        </p:txBody>
      </p:sp>
      <p:sp>
        <p:nvSpPr>
          <p:cNvPr id="12" name="Text 10"/>
          <p:cNvSpPr/>
          <p:nvPr/>
        </p:nvSpPr>
        <p:spPr>
          <a:xfrm>
            <a:off x="8233866" y="4829175"/>
            <a:ext cx="2991155"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Click the flag and drive your player end to end before you close the lid.</a:t>
            </a:r>
            <a:endParaRPr lang="en-US" sz="150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HOMEWORK · NEVER MARKED, NEVER CHASED</a:t>
            </a:r>
            <a:endParaRPr lang="en-US" sz="1300" dirty="0"/>
          </a:p>
        </p:txBody>
      </p:sp>
      <p:sp>
        <p:nvSpPr>
          <p:cNvPr id="3" name="Text 1"/>
          <p:cNvSpPr/>
          <p:nvPr/>
        </p:nvSpPr>
        <p:spPr>
          <a:xfrm>
            <a:off x="812800" y="2297807"/>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Two things to try at home</a:t>
            </a:r>
            <a:endParaRPr lang="en-US" sz="4000" dirty="0"/>
          </a:p>
        </p:txBody>
      </p:sp>
      <p:sp>
        <p:nvSpPr>
          <p:cNvPr id="4" name="Shape 2"/>
          <p:cNvSpPr/>
          <p:nvPr/>
        </p:nvSpPr>
        <p:spPr>
          <a:xfrm>
            <a:off x="819150" y="4106565"/>
            <a:ext cx="5168900" cy="1729085"/>
          </a:xfrm>
          <a:prstGeom prst="roundRect">
            <a:avLst>
              <a:gd name="adj" fmla="val 7712"/>
            </a:avLst>
          </a:prstGeom>
          <a:solidFill>
            <a:srgbClr val="FFFCF4"/>
          </a:solidFill>
          <a:ln w="12700">
            <a:solidFill>
              <a:srgbClr val="E4D7BE"/>
            </a:solidFill>
            <a:prstDash val="solid"/>
          </a:ln>
        </p:spPr>
      </p:sp>
      <p:sp>
        <p:nvSpPr>
          <p:cNvPr id="5" name="Text 3"/>
          <p:cNvSpPr/>
          <p:nvPr/>
        </p:nvSpPr>
        <p:spPr>
          <a:xfrm>
            <a:off x="1054100" y="4341515"/>
            <a:ext cx="483997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8A6712"/>
                </a:solidFill>
                <a:latin typeface="Nunito Sans" pitchFamily="34" charset="0"/>
                <a:ea typeface="Nunito Sans" pitchFamily="34" charset="-122"/>
                <a:cs typeface="Nunito Sans" pitchFamily="34" charset="-120"/>
              </a:rPr>
              <a:t>1</a:t>
            </a:r>
            <a:endParaRPr lang="en-US" sz="1500" dirty="0"/>
          </a:p>
        </p:txBody>
      </p:sp>
      <p:sp>
        <p:nvSpPr>
          <p:cNvPr id="6" name="Text 4"/>
          <p:cNvSpPr/>
          <p:nvPr/>
        </p:nvSpPr>
        <p:spPr>
          <a:xfrm>
            <a:off x="1054100" y="4684415"/>
            <a:ext cx="4839970" cy="33208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2E1015"/>
                </a:solidFill>
                <a:latin typeface="Fredoka" pitchFamily="34" charset="0"/>
                <a:ea typeface="Fredoka" pitchFamily="34" charset="-122"/>
                <a:cs typeface="Fredoka" pitchFamily="34" charset="-120"/>
              </a:rPr>
              <a:t>Add another direction</a:t>
            </a:r>
            <a:endParaRPr lang="en-US" sz="2100" dirty="0"/>
          </a:p>
        </p:txBody>
      </p:sp>
      <p:sp>
        <p:nvSpPr>
          <p:cNvPr id="7" name="Text 5"/>
          <p:cNvSpPr/>
          <p:nvPr/>
        </p:nvSpPr>
        <p:spPr>
          <a:xfrm>
            <a:off x="1054100" y="5067300"/>
            <a:ext cx="483997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Either let your player move up and down too, or make it wrap around — off the right edge, back on the left.</a:t>
            </a:r>
            <a:endParaRPr lang="en-US" sz="1500" dirty="0"/>
          </a:p>
        </p:txBody>
      </p:sp>
      <p:sp>
        <p:nvSpPr>
          <p:cNvPr id="8" name="Shape 6"/>
          <p:cNvSpPr/>
          <p:nvPr/>
        </p:nvSpPr>
        <p:spPr>
          <a:xfrm>
            <a:off x="6203950" y="4106565"/>
            <a:ext cx="5168900" cy="1729085"/>
          </a:xfrm>
          <a:prstGeom prst="roundRect">
            <a:avLst>
              <a:gd name="adj" fmla="val 7712"/>
            </a:avLst>
          </a:prstGeom>
          <a:solidFill>
            <a:srgbClr val="FFFCF4"/>
          </a:solidFill>
          <a:ln w="12700">
            <a:solidFill>
              <a:srgbClr val="E4D7BE"/>
            </a:solidFill>
            <a:prstDash val="solid"/>
          </a:ln>
        </p:spPr>
      </p:sp>
      <p:sp>
        <p:nvSpPr>
          <p:cNvPr id="9" name="Text 7"/>
          <p:cNvSpPr/>
          <p:nvPr/>
        </p:nvSpPr>
        <p:spPr>
          <a:xfrm>
            <a:off x="6438900" y="4341515"/>
            <a:ext cx="483997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8A6712"/>
                </a:solidFill>
                <a:latin typeface="Nunito Sans" pitchFamily="34" charset="0"/>
                <a:ea typeface="Nunito Sans" pitchFamily="34" charset="-122"/>
                <a:cs typeface="Nunito Sans" pitchFamily="34" charset="-120"/>
              </a:rPr>
              <a:t>2</a:t>
            </a:r>
            <a:endParaRPr lang="en-US" sz="1500" dirty="0"/>
          </a:p>
        </p:txBody>
      </p:sp>
      <p:sp>
        <p:nvSpPr>
          <p:cNvPr id="10" name="Text 8"/>
          <p:cNvSpPr/>
          <p:nvPr/>
        </p:nvSpPr>
        <p:spPr>
          <a:xfrm>
            <a:off x="6438900" y="4684415"/>
            <a:ext cx="4839970" cy="33208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2E1015"/>
                </a:solidFill>
                <a:latin typeface="Fredoka" pitchFamily="34" charset="0"/>
                <a:ea typeface="Fredoka" pitchFamily="34" charset="-122"/>
                <a:cs typeface="Fredoka" pitchFamily="34" charset="-120"/>
              </a:rPr>
              <a:t>Face the right way</a:t>
            </a:r>
            <a:endParaRPr lang="en-US" sz="2100" dirty="0"/>
          </a:p>
        </p:txBody>
      </p:sp>
      <p:sp>
        <p:nvSpPr>
          <p:cNvPr id="11" name="Text 9"/>
          <p:cNvSpPr/>
          <p:nvPr/>
        </p:nvSpPr>
        <p:spPr>
          <a:xfrm>
            <a:off x="6438900" y="5067300"/>
            <a:ext cx="483997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Make your player point in the direction it is moving, using point in direction.</a:t>
            </a:r>
            <a:endParaRPr lang="en-US" sz="1500" dirty="0"/>
          </a:p>
        </p:txBody>
      </p:sp>
      <p:sp>
        <p:nvSpPr>
          <p:cNvPr id="12" name="Text 10"/>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13"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BONUS CHALLENGES · NOBODY HAS TO FINISH THESE</a:t>
            </a:r>
            <a:endParaRPr lang="en-US" sz="1300" dirty="0"/>
          </a:p>
        </p:txBody>
      </p:sp>
      <p:sp>
        <p:nvSpPr>
          <p:cNvPr id="3" name="Text 1"/>
          <p:cNvSpPr/>
          <p:nvPr/>
        </p:nvSpPr>
        <p:spPr>
          <a:xfrm>
            <a:off x="812800" y="259973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If you race ahead</a:t>
            </a:r>
            <a:endParaRPr lang="en-US" sz="4000" dirty="0"/>
          </a:p>
        </p:txBody>
      </p:sp>
      <p:sp>
        <p:nvSpPr>
          <p:cNvPr id="4" name="Text 2"/>
          <p:cNvSpPr/>
          <p:nvPr/>
        </p:nvSpPr>
        <p:spPr>
          <a:xfrm>
            <a:off x="1117600" y="4704159"/>
            <a:ext cx="10569448" cy="1163241"/>
          </a:xfrm>
          <a:prstGeom prst="rect">
            <a:avLst/>
          </a:prstGeom>
          <a:noFill/>
          <a:ln/>
        </p:spPr>
        <p:txBody>
          <a:bodyPr wrap="square" lIns="0" tIns="0" rIns="0" bIns="0" rtlCol="0" anchor="t">
            <a:normAutofit/>
          </a:bodyPr>
          <a:lstStyle/>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Add WASD keys as well as the arrows, so two people could play at once.</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Add an H for home key that sends the player back to where it started.</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Add the Pen extension and make your sprite draw a trail. Add a key that clears it.</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Make the sprite move faster while you hold shift. Harder than it looks — come back to it in week four.</a:t>
            </a:r>
            <a:endParaRPr lang="en-US" sz="1600" dirty="0"/>
          </a:p>
        </p:txBody>
      </p:sp>
      <p:sp>
        <p:nvSpPr>
          <p:cNvPr id="5" name="Text 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214124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NEXT WEEK</a:t>
            </a:r>
            <a:endParaRPr lang="en-US" sz="1300" dirty="0"/>
          </a:p>
        </p:txBody>
      </p:sp>
      <p:sp>
        <p:nvSpPr>
          <p:cNvPr id="3" name="Text 1"/>
          <p:cNvSpPr/>
          <p:nvPr/>
        </p:nvSpPr>
        <p:spPr>
          <a:xfrm>
            <a:off x="812800" y="2626320"/>
            <a:ext cx="9483725" cy="125472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E7C8"/>
                </a:solidFill>
                <a:latin typeface="Fredoka" pitchFamily="34" charset="0"/>
                <a:ea typeface="Fredoka" pitchFamily="34" charset="-122"/>
                <a:cs typeface="Fredoka" pitchFamily="34" charset="-120"/>
              </a:rPr>
              <a:t>Next week: things start falling from the sky.</a:t>
            </a:r>
            <a:endParaRPr lang="en-US" sz="4400" dirty="0"/>
          </a:p>
        </p:txBody>
      </p:sp>
      <p:sp>
        <p:nvSpPr>
          <p:cNvPr id="4" name="Shape 2"/>
          <p:cNvSpPr/>
          <p:nvPr/>
        </p:nvSpPr>
        <p:spPr>
          <a:xfrm>
            <a:off x="812800" y="4109641"/>
            <a:ext cx="1143000" cy="50800"/>
          </a:xfrm>
          <a:prstGeom prst="roundRect">
            <a:avLst>
              <a:gd name="adj" fmla="val 50000"/>
            </a:avLst>
          </a:prstGeom>
          <a:solidFill>
            <a:srgbClr val="C9A227"/>
          </a:solidFill>
          <a:ln/>
        </p:spPr>
      </p:sp>
      <p:sp>
        <p:nvSpPr>
          <p:cNvPr id="5" name="Text 3"/>
          <p:cNvSpPr/>
          <p:nvPr/>
        </p:nvSpPr>
        <p:spPr>
          <a:xfrm>
            <a:off x="812800" y="4414441"/>
            <a:ext cx="78486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Save your game. Check the name at the top of the screen.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Makers 2 — Events and Movement</dc:title>
  <dc:subject>PptxGenJS Presentation</dc:subject>
  <dc:creator>PptxGenJS</dc:creator>
  <cp:lastModifiedBy>PptxGenJS</cp:lastModifiedBy>
  <cp:revision>1</cp:revision>
  <dcterms:created xsi:type="dcterms:W3CDTF">2026-09-19T12:30:48Z</dcterms:created>
  <dcterms:modified xsi:type="dcterms:W3CDTF">2026-09-19T12:30:48Z</dcterms:modified>
</cp:coreProperties>
</file>