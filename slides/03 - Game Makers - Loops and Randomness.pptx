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 handouts. Have the Week 2 skeleton ready for anyone who missed a class. This is the week the project starts looking like a game and they feel it — expect the energy to lift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This is the week the grid starts doing real work — they can see two boxes gone and the big ones still ahead. Anyone who missed a week can see exactly what they missed and that the skeleton file will catch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you should get three or four hands. If somebody has done a bonus challenge, get them up — bonus work being celebrated in public is what makes the NEXT student attempt one. That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straight into the clapping.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demonstrate rather than explain further. The clap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clapping for real, wearily, four times through, then write it on the board as repeat 4 and change the 4 to a 10. Thirty seconds of your time, and the nested loop later lands much more easily for it. This is the highest-value thirty seconds in the lesson — do not skip it because it feels silly.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wraps around other blocks — that is the new shape today, and it is worth naming. Green reports a value and slots INTO another block rather than sitting under it. Shape is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live. The forever block has no bump at the bottom because nothing can ever come after it — ask them why before you tell them, it is a lovely small puzzle and someone always gets it. Warn them here, pre-emptively, that a forever with no wait inside it will freeze the browser tab and lose their unsaved work. Say 'every forever needs a wait somewhere inside it' and keep repeating it all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with the wait, then pull the wait out and run it again, then put it back. Three runs, fifteen seconds, and it inoculates them against the number one bug of the project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pick random into a move block first so they see the reporter-in-a-slot idea, then into the go-to. Run it repeatedly and let them notice it is different every time. Point out explicitly that this is the spawn position for the thing they are about to build — the connection to their own game is the motivator.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wait is OUTSIDE the loop instead of inside it, so it waits once at the very end. Build it wrong, run it, be confused for a moment, then narrate finding it. Drag the wait inside and run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aloud. The tuning is the learning here — 0.2 seconds looks like walking, 0.05 looks like panic, 1 second looks like slow motion. Let them find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dress rehearsal for the project build, deliberately — same shape, throwaway sprite, no risk to their real game. Fast finishers: duplicate the sprite three or four times to make it look like real rain. Duplicating copies the scripts too, which is a nice thing for them to discover on their own. Second volunteer: the loop inside a loop is the first genuinely abstract thing in this course. Some will build it correctly and still not be able to explain it — that is fine at this stage. Ask them to predict what happens if you change a number, and let understanding follow the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Check nobody has a frozen tab from a forever with no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put the blocks on the board, and stop. This is the week it starts looking like a game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Rain, so most of them will get there. Make everyone spend a full five minutes tuning the speed — that is real game design and it matters for week four, when catching has to be possible. Say out loud that the falling object does not yet notice the player at all: you can 'catch' it and nothing happens. Promise it for next week. The anticipation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frozen tab is worth warning about before it happens, because it loses unsaved work and that is genuinely upsetting for a nine-year-old. Say 'every forever needs a wait somewhere inside it' and keep saying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There is more to lose now than there was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duplicate hint is worth saying aloud as well as printing — discovering that duplicating a sprite copies its scripts is a small delight and saves them a lot of dragging.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repeat-until one needs a way to count, which is properly a week-five problem. Let them get as far as they get; running into the need for a variable a fortnight early is excellent preparation. Try repeat 36 [ move 10, turn 10 ] with anyone who enjoys the shapes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single promise of the course. Make it sound like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3</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Loops and Randomness</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If you're about to do the same thing twenty times, don't. Tell the computer to repeat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3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C9A227"/>
          </a:solidFill>
          <a:ln w="12700">
            <a:solidFill>
              <a:srgbClr val="A8861C"/>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3 · TODAY</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4E9D2"/>
          </a:solidFill>
          <a:ln w="12700">
            <a:solidFill>
              <a:srgbClr val="DFD0B4"/>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4</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Who got their player driving? Anyone try a bonus?</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Repeat</a:t>
            </a:r>
            <a:endParaRPr lang="en-US" sz="2200" dirty="0"/>
          </a:p>
        </p:txBody>
      </p:sp>
      <p:sp>
        <p:nvSpPr>
          <p:cNvPr id="7" name="Text 5"/>
          <p:cNvSpPr/>
          <p:nvPr/>
        </p:nvSpPr>
        <p:spPr>
          <a:xfrm>
            <a:off x="1054100" y="5067300"/>
            <a:ext cx="299115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Say it once, do it twenty times.</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Random</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Ask the computer for a number it picks itself.</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Make it rain</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Something falls from the sky, over and over, in your game.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98616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44584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If you're about to do the same thing twenty times, don't. Tell the computer to repeat it.</a:t>
            </a:r>
            <a:endParaRPr lang="en-US" sz="4400" dirty="0"/>
          </a:p>
        </p:txBody>
      </p:sp>
      <p:sp>
        <p:nvSpPr>
          <p:cNvPr id="4" name="Text 2"/>
          <p:cNvSpPr/>
          <p:nvPr/>
        </p:nvSpPr>
        <p:spPr>
          <a:xfrm>
            <a:off x="812800" y="4551759"/>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And if you want the game to surprise you, ask it for a random number.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WE TOUCH A KEYBOARD</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Clap, clap, stomp</a:t>
            </a:r>
            <a:endParaRPr lang="en-US" sz="4000" dirty="0"/>
          </a:p>
        </p:txBody>
      </p:sp>
      <p:sp>
        <p:nvSpPr>
          <p:cNvPr id="4" name="Shape 2"/>
          <p:cNvSpPr/>
          <p:nvPr/>
        </p:nvSpPr>
        <p:spPr>
          <a:xfrm>
            <a:off x="819150" y="4266505"/>
            <a:ext cx="3373934"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Do it with me</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Clap, clap, stomp. Again. Again. Again. That's twelve things I just asked you to do.</a:t>
            </a:r>
            <a:endParaRPr lang="en-US" sz="1450" dirty="0"/>
          </a:p>
        </p:txBody>
      </p:sp>
      <p:sp>
        <p:nvSpPr>
          <p:cNvPr id="7" name="Shape 5"/>
          <p:cNvSpPr/>
          <p:nvPr/>
        </p:nvSpPr>
        <p:spPr>
          <a:xfrm>
            <a:off x="4408984" y="4266505"/>
            <a:ext cx="3374033"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4643934" y="4501455"/>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Or write it once</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repeat 4 [ clap, clap, stomp ] — three things, and a number.</a:t>
            </a:r>
            <a:endParaRPr lang="en-US" sz="1450" dirty="0"/>
          </a:p>
        </p:txBody>
      </p:sp>
      <p:sp>
        <p:nvSpPr>
          <p:cNvPr id="10" name="Shape 8"/>
          <p:cNvSpPr/>
          <p:nvPr/>
        </p:nvSpPr>
        <p:spPr>
          <a:xfrm>
            <a:off x="7998916" y="4266505"/>
            <a:ext cx="3373934"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8233866"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Now change the 4 to 10</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Thirty actions. I edited one character. That is what a loop buys you.</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1981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900984"/>
            <a:ext cx="851991" cy="358080"/>
          </a:xfrm>
          <a:prstGeom prst="roundRect">
            <a:avLst>
              <a:gd name="adj" fmla="val 42560"/>
            </a:avLst>
          </a:prstGeom>
          <a:solidFill>
            <a:srgbClr val="FFAB19"/>
          </a:solidFill>
          <a:ln/>
        </p:spPr>
      </p:sp>
      <p:sp>
        <p:nvSpPr>
          <p:cNvPr id="5" name="Text 3"/>
          <p:cNvSpPr/>
          <p:nvPr/>
        </p:nvSpPr>
        <p:spPr>
          <a:xfrm>
            <a:off x="952500" y="3964484"/>
            <a:ext cx="6233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Control</a:t>
            </a:r>
            <a:endParaRPr lang="en-US" sz="1300" dirty="0"/>
          </a:p>
        </p:txBody>
      </p:sp>
      <p:sp>
        <p:nvSpPr>
          <p:cNvPr id="6" name="Shape 4"/>
          <p:cNvSpPr/>
          <p:nvPr/>
        </p:nvSpPr>
        <p:spPr>
          <a:xfrm>
            <a:off x="1753691" y="3900984"/>
            <a:ext cx="1053902" cy="358080"/>
          </a:xfrm>
          <a:prstGeom prst="roundRect">
            <a:avLst>
              <a:gd name="adj" fmla="val 42560"/>
            </a:avLst>
          </a:prstGeom>
          <a:solidFill>
            <a:srgbClr val="389438"/>
          </a:solidFill>
          <a:ln/>
        </p:spPr>
      </p:sp>
      <p:sp>
        <p:nvSpPr>
          <p:cNvPr id="7" name="Text 5"/>
          <p:cNvSpPr/>
          <p:nvPr/>
        </p:nvSpPr>
        <p:spPr>
          <a:xfrm>
            <a:off x="1893391" y="3964484"/>
            <a:ext cx="8253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Operators</a:t>
            </a:r>
            <a:endParaRPr lang="en-US" sz="1300" dirty="0"/>
          </a:p>
        </p:txBody>
      </p:sp>
      <p:sp>
        <p:nvSpPr>
          <p:cNvPr id="8" name="Shape 6"/>
          <p:cNvSpPr/>
          <p:nvPr/>
        </p:nvSpPr>
        <p:spPr>
          <a:xfrm>
            <a:off x="812800" y="5413375"/>
            <a:ext cx="1168896" cy="428625"/>
          </a:xfrm>
          <a:prstGeom prst="roundRect">
            <a:avLst>
              <a:gd name="adj" fmla="val 20741"/>
            </a:avLst>
          </a:prstGeom>
          <a:solidFill>
            <a:srgbClr val="FFAB19"/>
          </a:solidFill>
          <a:ln/>
        </p:spPr>
      </p:sp>
      <p:sp>
        <p:nvSpPr>
          <p:cNvPr id="9" name="Text 7"/>
          <p:cNvSpPr/>
          <p:nvPr/>
        </p:nvSpPr>
        <p:spPr>
          <a:xfrm>
            <a:off x="971550" y="5508625"/>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10</a:t>
            </a:r>
            <a:endParaRPr lang="en-US" sz="1500" dirty="0"/>
          </a:p>
        </p:txBody>
      </p:sp>
      <p:sp>
        <p:nvSpPr>
          <p:cNvPr id="10" name="Shape 8"/>
          <p:cNvSpPr/>
          <p:nvPr/>
        </p:nvSpPr>
        <p:spPr>
          <a:xfrm>
            <a:off x="2083296" y="5413375"/>
            <a:ext cx="945455" cy="428625"/>
          </a:xfrm>
          <a:prstGeom prst="roundRect">
            <a:avLst>
              <a:gd name="adj" fmla="val 20741"/>
            </a:avLst>
          </a:prstGeom>
          <a:solidFill>
            <a:srgbClr val="FFAB19"/>
          </a:solidFill>
          <a:ln/>
        </p:spPr>
      </p:sp>
      <p:sp>
        <p:nvSpPr>
          <p:cNvPr id="11" name="Text 9"/>
          <p:cNvSpPr/>
          <p:nvPr/>
        </p:nvSpPr>
        <p:spPr>
          <a:xfrm>
            <a:off x="2242046" y="5508625"/>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12" name="Shape 10"/>
          <p:cNvSpPr/>
          <p:nvPr/>
        </p:nvSpPr>
        <p:spPr>
          <a:xfrm>
            <a:off x="3130352" y="5413375"/>
            <a:ext cx="1676003" cy="428625"/>
          </a:xfrm>
          <a:prstGeom prst="roundRect">
            <a:avLst>
              <a:gd name="adj" fmla="val 20741"/>
            </a:avLst>
          </a:prstGeom>
          <a:solidFill>
            <a:srgbClr val="FFAB19"/>
          </a:solidFill>
          <a:ln/>
        </p:spPr>
      </p:sp>
      <p:sp>
        <p:nvSpPr>
          <p:cNvPr id="13" name="Text 11"/>
          <p:cNvSpPr/>
          <p:nvPr/>
        </p:nvSpPr>
        <p:spPr>
          <a:xfrm>
            <a:off x="3289102" y="5508625"/>
            <a:ext cx="140930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until &lt; &gt;</a:t>
            </a:r>
            <a:endParaRPr lang="en-US" sz="1500" dirty="0"/>
          </a:p>
        </p:txBody>
      </p:sp>
      <p:sp>
        <p:nvSpPr>
          <p:cNvPr id="14" name="Shape 12"/>
          <p:cNvSpPr/>
          <p:nvPr/>
        </p:nvSpPr>
        <p:spPr>
          <a:xfrm>
            <a:off x="4907955" y="5413375"/>
            <a:ext cx="1633934" cy="428625"/>
          </a:xfrm>
          <a:prstGeom prst="roundRect">
            <a:avLst>
              <a:gd name="adj" fmla="val 20741"/>
            </a:avLst>
          </a:prstGeom>
          <a:solidFill>
            <a:srgbClr val="FFAB19"/>
          </a:solidFill>
          <a:ln/>
        </p:spPr>
      </p:sp>
      <p:sp>
        <p:nvSpPr>
          <p:cNvPr id="15" name="Text 13"/>
          <p:cNvSpPr/>
          <p:nvPr/>
        </p:nvSpPr>
        <p:spPr>
          <a:xfrm>
            <a:off x="5066705" y="5508625"/>
            <a:ext cx="136723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1 seconds</a:t>
            </a:r>
            <a:endParaRPr lang="en-US" sz="1500" dirty="0"/>
          </a:p>
        </p:txBody>
      </p:sp>
      <p:sp>
        <p:nvSpPr>
          <p:cNvPr id="16" name="Shape 14"/>
          <p:cNvSpPr/>
          <p:nvPr/>
        </p:nvSpPr>
        <p:spPr>
          <a:xfrm>
            <a:off x="6643489" y="5413375"/>
            <a:ext cx="2083495" cy="428625"/>
          </a:xfrm>
          <a:prstGeom prst="roundRect">
            <a:avLst>
              <a:gd name="adj" fmla="val 20741"/>
            </a:avLst>
          </a:prstGeom>
          <a:solidFill>
            <a:srgbClr val="389438"/>
          </a:solidFill>
          <a:ln/>
        </p:spPr>
      </p:sp>
      <p:sp>
        <p:nvSpPr>
          <p:cNvPr id="17" name="Text 15"/>
          <p:cNvSpPr/>
          <p:nvPr/>
        </p:nvSpPr>
        <p:spPr>
          <a:xfrm>
            <a:off x="6802239" y="5508625"/>
            <a:ext cx="181897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pick random 1 to 10</a:t>
            </a:r>
            <a:endParaRPr lang="en-US" sz="1500" dirty="0"/>
          </a:p>
        </p:txBody>
      </p:sp>
      <p:sp>
        <p:nvSpPr>
          <p:cNvPr id="18" name="Text 1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TWO KINDS OF LOOP</a:t>
            </a:r>
            <a:endParaRPr lang="en-US" sz="1300" dirty="0"/>
          </a:p>
        </p:txBody>
      </p:sp>
      <p:sp>
        <p:nvSpPr>
          <p:cNvPr id="3" name="Text 1"/>
          <p:cNvSpPr/>
          <p:nvPr/>
        </p:nvSpPr>
        <p:spPr>
          <a:xfrm>
            <a:off x="812800" y="1810147"/>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repeat, and forever</a:t>
            </a:r>
            <a:endParaRPr lang="en-US" sz="3600" dirty="0"/>
          </a:p>
        </p:txBody>
      </p:sp>
      <p:sp>
        <p:nvSpPr>
          <p:cNvPr id="4" name="Shape 2"/>
          <p:cNvSpPr/>
          <p:nvPr/>
        </p:nvSpPr>
        <p:spPr>
          <a:xfrm>
            <a:off x="819150" y="3076377"/>
            <a:ext cx="5194300" cy="2759273"/>
          </a:xfrm>
          <a:prstGeom prst="roundRect">
            <a:avLst>
              <a:gd name="adj" fmla="val 4833"/>
            </a:avLst>
          </a:prstGeom>
          <a:solidFill>
            <a:srgbClr val="FFFCF4"/>
          </a:solidFill>
          <a:ln w="12700">
            <a:solidFill>
              <a:srgbClr val="E4D7BE"/>
            </a:solidFill>
            <a:prstDash val="solid"/>
          </a:ln>
        </p:spPr>
      </p:sp>
      <p:sp>
        <p:nvSpPr>
          <p:cNvPr id="5" name="Text 3"/>
          <p:cNvSpPr/>
          <p:nvPr/>
        </p:nvSpPr>
        <p:spPr>
          <a:xfrm>
            <a:off x="1003300" y="326052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repeat 10 — counts, then stops</a:t>
            </a:r>
            <a:endParaRPr lang="en-US" sz="1700" dirty="0"/>
          </a:p>
        </p:txBody>
      </p:sp>
      <p:sp>
        <p:nvSpPr>
          <p:cNvPr id="6" name="Shape 4"/>
          <p:cNvSpPr/>
          <p:nvPr/>
        </p:nvSpPr>
        <p:spPr>
          <a:xfrm>
            <a:off x="1003300" y="3584972"/>
            <a:ext cx="2104132" cy="371475"/>
          </a:xfrm>
          <a:prstGeom prst="roundRect">
            <a:avLst>
              <a:gd name="adj" fmla="val 39316"/>
            </a:avLst>
          </a:prstGeom>
          <a:solidFill>
            <a:srgbClr val="FFBF00"/>
          </a:solidFill>
          <a:ln/>
        </p:spPr>
      </p:sp>
      <p:sp>
        <p:nvSpPr>
          <p:cNvPr id="7" name="Text 5"/>
          <p:cNvSpPr/>
          <p:nvPr/>
        </p:nvSpPr>
        <p:spPr>
          <a:xfrm>
            <a:off x="1143000" y="3667522"/>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8" name="Shape 6"/>
          <p:cNvSpPr/>
          <p:nvPr/>
        </p:nvSpPr>
        <p:spPr>
          <a:xfrm>
            <a:off x="1003300" y="3994547"/>
            <a:ext cx="1017290" cy="371475"/>
          </a:xfrm>
          <a:prstGeom prst="roundRect">
            <a:avLst>
              <a:gd name="adj" fmla="val 23932"/>
            </a:avLst>
          </a:prstGeom>
          <a:solidFill>
            <a:srgbClr val="FFAB19"/>
          </a:solidFill>
          <a:ln/>
        </p:spPr>
      </p:sp>
      <p:sp>
        <p:nvSpPr>
          <p:cNvPr id="9" name="Text 7"/>
          <p:cNvSpPr/>
          <p:nvPr/>
        </p:nvSpPr>
        <p:spPr>
          <a:xfrm>
            <a:off x="1143000" y="4077097"/>
            <a:ext cx="7886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repeat 10</a:t>
            </a:r>
            <a:endParaRPr lang="en-US" sz="1300" dirty="0"/>
          </a:p>
        </p:txBody>
      </p:sp>
      <p:sp>
        <p:nvSpPr>
          <p:cNvPr id="10" name="Shape 8"/>
          <p:cNvSpPr/>
          <p:nvPr/>
        </p:nvSpPr>
        <p:spPr>
          <a:xfrm>
            <a:off x="1054100" y="4404122"/>
            <a:ext cx="0" cy="781050"/>
          </a:xfrm>
          <a:prstGeom prst="line">
            <a:avLst/>
          </a:prstGeom>
          <a:noFill/>
          <a:ln w="101600">
            <a:solidFill>
              <a:srgbClr val="FFAB19"/>
            </a:solidFill>
            <a:prstDash val="solid"/>
          </a:ln>
        </p:spPr>
      </p:sp>
      <p:sp>
        <p:nvSpPr>
          <p:cNvPr id="11" name="Shape 9"/>
          <p:cNvSpPr/>
          <p:nvPr/>
        </p:nvSpPr>
        <p:spPr>
          <a:xfrm>
            <a:off x="1282700" y="4404122"/>
            <a:ext cx="1391245" cy="371475"/>
          </a:xfrm>
          <a:prstGeom prst="roundRect">
            <a:avLst>
              <a:gd name="adj" fmla="val 23932"/>
            </a:avLst>
          </a:prstGeom>
          <a:solidFill>
            <a:srgbClr val="3373CC"/>
          </a:solidFill>
          <a:ln/>
        </p:spPr>
      </p:sp>
      <p:sp>
        <p:nvSpPr>
          <p:cNvPr id="12" name="Text 10"/>
          <p:cNvSpPr/>
          <p:nvPr/>
        </p:nvSpPr>
        <p:spPr>
          <a:xfrm>
            <a:off x="1422400" y="4486672"/>
            <a:ext cx="116264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move 10 steps</a:t>
            </a:r>
            <a:endParaRPr lang="en-US" sz="1300" dirty="0"/>
          </a:p>
        </p:txBody>
      </p:sp>
      <p:sp>
        <p:nvSpPr>
          <p:cNvPr id="13" name="Shape 11"/>
          <p:cNvSpPr/>
          <p:nvPr/>
        </p:nvSpPr>
        <p:spPr>
          <a:xfrm>
            <a:off x="1282700" y="4813697"/>
            <a:ext cx="1560314" cy="371475"/>
          </a:xfrm>
          <a:prstGeom prst="roundRect">
            <a:avLst>
              <a:gd name="adj" fmla="val 23932"/>
            </a:avLst>
          </a:prstGeom>
          <a:solidFill>
            <a:srgbClr val="FFAB19"/>
          </a:solidFill>
          <a:ln/>
        </p:spPr>
      </p:sp>
      <p:sp>
        <p:nvSpPr>
          <p:cNvPr id="14" name="Text 12"/>
          <p:cNvSpPr/>
          <p:nvPr/>
        </p:nvSpPr>
        <p:spPr>
          <a:xfrm>
            <a:off x="1422400" y="4896247"/>
            <a:ext cx="1331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0.1 seconds</a:t>
            </a:r>
            <a:endParaRPr lang="en-US" sz="1300" dirty="0"/>
          </a:p>
        </p:txBody>
      </p:sp>
      <p:sp>
        <p:nvSpPr>
          <p:cNvPr id="15" name="Shape 13"/>
          <p:cNvSpPr/>
          <p:nvPr/>
        </p:nvSpPr>
        <p:spPr>
          <a:xfrm>
            <a:off x="1003300" y="5223272"/>
            <a:ext cx="742950" cy="120650"/>
          </a:xfrm>
          <a:prstGeom prst="roundRect">
            <a:avLst>
              <a:gd name="adj" fmla="val 50000"/>
            </a:avLst>
          </a:prstGeom>
          <a:solidFill>
            <a:srgbClr val="FFAB19"/>
          </a:solidFill>
          <a:ln/>
        </p:spPr>
      </p:sp>
      <p:sp>
        <p:nvSpPr>
          <p:cNvPr id="16" name="Text 14"/>
          <p:cNvSpPr/>
          <p:nvPr/>
        </p:nvSpPr>
        <p:spPr>
          <a:xfrm>
            <a:off x="1003300" y="5420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Ten times, then the script ends.</a:t>
            </a:r>
            <a:endParaRPr lang="en-US" sz="1350" dirty="0"/>
          </a:p>
        </p:txBody>
      </p:sp>
      <p:sp>
        <p:nvSpPr>
          <p:cNvPr id="17" name="Shape 15"/>
          <p:cNvSpPr/>
          <p:nvPr/>
        </p:nvSpPr>
        <p:spPr>
          <a:xfrm>
            <a:off x="6178550" y="3076377"/>
            <a:ext cx="5194300" cy="2759273"/>
          </a:xfrm>
          <a:prstGeom prst="roundRect">
            <a:avLst>
              <a:gd name="adj" fmla="val 4833"/>
            </a:avLst>
          </a:prstGeom>
          <a:solidFill>
            <a:srgbClr val="FFFCF4"/>
          </a:solidFill>
          <a:ln w="12700">
            <a:solidFill>
              <a:srgbClr val="E4D7BE"/>
            </a:solidFill>
            <a:prstDash val="solid"/>
          </a:ln>
        </p:spPr>
      </p:sp>
      <p:sp>
        <p:nvSpPr>
          <p:cNvPr id="18" name="Text 16"/>
          <p:cNvSpPr/>
          <p:nvPr/>
        </p:nvSpPr>
        <p:spPr>
          <a:xfrm>
            <a:off x="6362700" y="326052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forever — never stops</a:t>
            </a:r>
            <a:endParaRPr lang="en-US" sz="1700" dirty="0"/>
          </a:p>
        </p:txBody>
      </p:sp>
      <p:sp>
        <p:nvSpPr>
          <p:cNvPr id="19" name="Shape 17"/>
          <p:cNvSpPr/>
          <p:nvPr/>
        </p:nvSpPr>
        <p:spPr>
          <a:xfrm>
            <a:off x="6362700" y="3584972"/>
            <a:ext cx="2104132" cy="371475"/>
          </a:xfrm>
          <a:prstGeom prst="roundRect">
            <a:avLst>
              <a:gd name="adj" fmla="val 39316"/>
            </a:avLst>
          </a:prstGeom>
          <a:solidFill>
            <a:srgbClr val="FFBF00"/>
          </a:solidFill>
          <a:ln/>
        </p:spPr>
      </p:sp>
      <p:sp>
        <p:nvSpPr>
          <p:cNvPr id="20" name="Text 18"/>
          <p:cNvSpPr/>
          <p:nvPr/>
        </p:nvSpPr>
        <p:spPr>
          <a:xfrm>
            <a:off x="6502400" y="3667522"/>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21" name="Shape 19"/>
          <p:cNvSpPr/>
          <p:nvPr/>
        </p:nvSpPr>
        <p:spPr>
          <a:xfrm>
            <a:off x="6362700" y="3994547"/>
            <a:ext cx="823615" cy="371475"/>
          </a:xfrm>
          <a:prstGeom prst="roundRect">
            <a:avLst>
              <a:gd name="adj" fmla="val 23932"/>
            </a:avLst>
          </a:prstGeom>
          <a:solidFill>
            <a:srgbClr val="FFAB19"/>
          </a:solidFill>
          <a:ln/>
        </p:spPr>
      </p:sp>
      <p:sp>
        <p:nvSpPr>
          <p:cNvPr id="22" name="Text 20"/>
          <p:cNvSpPr/>
          <p:nvPr/>
        </p:nvSpPr>
        <p:spPr>
          <a:xfrm>
            <a:off x="6502400" y="4077097"/>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23" name="Shape 21"/>
          <p:cNvSpPr/>
          <p:nvPr/>
        </p:nvSpPr>
        <p:spPr>
          <a:xfrm>
            <a:off x="6413500" y="4404122"/>
            <a:ext cx="0" cy="781050"/>
          </a:xfrm>
          <a:prstGeom prst="line">
            <a:avLst/>
          </a:prstGeom>
          <a:noFill/>
          <a:ln w="101600">
            <a:solidFill>
              <a:srgbClr val="FFAB19"/>
            </a:solidFill>
            <a:prstDash val="solid"/>
          </a:ln>
        </p:spPr>
      </p:sp>
      <p:sp>
        <p:nvSpPr>
          <p:cNvPr id="24" name="Shape 22"/>
          <p:cNvSpPr/>
          <p:nvPr/>
        </p:nvSpPr>
        <p:spPr>
          <a:xfrm>
            <a:off x="6642100" y="4404122"/>
            <a:ext cx="1391245" cy="371475"/>
          </a:xfrm>
          <a:prstGeom prst="roundRect">
            <a:avLst>
              <a:gd name="adj" fmla="val 23932"/>
            </a:avLst>
          </a:prstGeom>
          <a:solidFill>
            <a:srgbClr val="3373CC"/>
          </a:solidFill>
          <a:ln/>
        </p:spPr>
      </p:sp>
      <p:sp>
        <p:nvSpPr>
          <p:cNvPr id="25" name="Text 23"/>
          <p:cNvSpPr/>
          <p:nvPr/>
        </p:nvSpPr>
        <p:spPr>
          <a:xfrm>
            <a:off x="6781800" y="4486672"/>
            <a:ext cx="116264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move 10 steps</a:t>
            </a:r>
            <a:endParaRPr lang="en-US" sz="1300" dirty="0"/>
          </a:p>
        </p:txBody>
      </p:sp>
      <p:sp>
        <p:nvSpPr>
          <p:cNvPr id="26" name="Shape 24"/>
          <p:cNvSpPr/>
          <p:nvPr/>
        </p:nvSpPr>
        <p:spPr>
          <a:xfrm>
            <a:off x="6642100" y="4813697"/>
            <a:ext cx="1560314" cy="371475"/>
          </a:xfrm>
          <a:prstGeom prst="roundRect">
            <a:avLst>
              <a:gd name="adj" fmla="val 23932"/>
            </a:avLst>
          </a:prstGeom>
          <a:solidFill>
            <a:srgbClr val="FFAB19"/>
          </a:solidFill>
          <a:ln/>
        </p:spPr>
      </p:sp>
      <p:sp>
        <p:nvSpPr>
          <p:cNvPr id="27" name="Text 25"/>
          <p:cNvSpPr/>
          <p:nvPr/>
        </p:nvSpPr>
        <p:spPr>
          <a:xfrm>
            <a:off x="6781800" y="4896247"/>
            <a:ext cx="1331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0.1 seconds</a:t>
            </a:r>
            <a:endParaRPr lang="en-US" sz="1300" dirty="0"/>
          </a:p>
        </p:txBody>
      </p:sp>
      <p:sp>
        <p:nvSpPr>
          <p:cNvPr id="28" name="Shape 26"/>
          <p:cNvSpPr/>
          <p:nvPr/>
        </p:nvSpPr>
        <p:spPr>
          <a:xfrm>
            <a:off x="6362700" y="5223272"/>
            <a:ext cx="742950" cy="120650"/>
          </a:xfrm>
          <a:prstGeom prst="roundRect">
            <a:avLst>
              <a:gd name="adj" fmla="val 50000"/>
            </a:avLst>
          </a:prstGeom>
          <a:solidFill>
            <a:srgbClr val="FFAB19"/>
          </a:solidFill>
          <a:ln/>
        </p:spPr>
      </p:sp>
      <p:sp>
        <p:nvSpPr>
          <p:cNvPr id="29" name="Text 27"/>
          <p:cNvSpPr/>
          <p:nvPr/>
        </p:nvSpPr>
        <p:spPr>
          <a:xfrm>
            <a:off x="6362700" y="5420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Look at the bottom of the block. No bump. Why not?</a:t>
            </a:r>
            <a:endParaRPr lang="en-US" sz="1350" dirty="0"/>
          </a:p>
        </p:txBody>
      </p:sp>
      <p:sp>
        <p:nvSpPr>
          <p:cNvPr id="30" name="Text 2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3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BLOCK THAT MAKES IT VISIBLE</a:t>
            </a:r>
            <a:endParaRPr lang="en-US" sz="1300" dirty="0"/>
          </a:p>
        </p:txBody>
      </p:sp>
      <p:sp>
        <p:nvSpPr>
          <p:cNvPr id="3" name="Text 1"/>
          <p:cNvSpPr/>
          <p:nvPr/>
        </p:nvSpPr>
        <p:spPr>
          <a:xfrm>
            <a:off x="812800" y="212933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Take the wait out and it vanishes</a:t>
            </a:r>
            <a:endParaRPr lang="en-US" sz="3600" dirty="0"/>
          </a:p>
        </p:txBody>
      </p:sp>
      <p:sp>
        <p:nvSpPr>
          <p:cNvPr id="4" name="Text 2"/>
          <p:cNvSpPr/>
          <p:nvPr/>
        </p:nvSpPr>
        <p:spPr>
          <a:xfrm>
            <a:off x="812800" y="370840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Without the </a:t>
            </a:r>
            <a:r>
              <a:rPr lang="en-US" sz="1700" b="1" dirty="0">
                <a:solidFill>
                  <a:srgbClr val="5C4A46"/>
                </a:solidFill>
                <a:latin typeface="Nunito Sans" pitchFamily="34" charset="0"/>
                <a:ea typeface="Nunito Sans" pitchFamily="34" charset="-122"/>
                <a:cs typeface="Nunito Sans" pitchFamily="34" charset="-120"/>
              </a:rPr>
              <a:t>wait</a:t>
            </a:r>
            <a:r>
              <a:rPr lang="en-US" sz="1700" dirty="0">
                <a:solidFill>
                  <a:srgbClr val="5C4A46"/>
                </a:solidFill>
                <a:latin typeface="Nunito Sans" pitchFamily="34" charset="0"/>
                <a:ea typeface="Nunito Sans" pitchFamily="34" charset="-122"/>
                <a:cs typeface="Nunito Sans" pitchFamily="34" charset="-120"/>
              </a:rPr>
              <a:t>, the whole twenty steps happen in a single frame. It doesn't move slowly — it teleports, and your eye never sees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This is why your falling object will ‘not work’ later today.</a:t>
            </a:r>
            <a:endParaRPr lang="en-US" sz="1700" dirty="0"/>
          </a:p>
        </p:txBody>
      </p:sp>
      <p:sp>
        <p:nvSpPr>
          <p:cNvPr id="5" name="Shape 3"/>
          <p:cNvSpPr/>
          <p:nvPr/>
        </p:nvSpPr>
        <p:spPr>
          <a:xfrm>
            <a:off x="4673600" y="3708400"/>
            <a:ext cx="2588716" cy="457200"/>
          </a:xfrm>
          <a:prstGeom prst="roundRect">
            <a:avLst>
              <a:gd name="adj" fmla="val 38889"/>
            </a:avLst>
          </a:prstGeom>
          <a:solidFill>
            <a:srgbClr val="FFBF00"/>
          </a:solidFill>
          <a:ln/>
        </p:spPr>
      </p:sp>
      <p:sp>
        <p:nvSpPr>
          <p:cNvPr id="6" name="Text 4"/>
          <p:cNvSpPr/>
          <p:nvPr/>
        </p:nvSpPr>
        <p:spPr>
          <a:xfrm>
            <a:off x="4845050" y="381000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4203700"/>
            <a:ext cx="1251049" cy="457200"/>
          </a:xfrm>
          <a:prstGeom prst="roundRect">
            <a:avLst>
              <a:gd name="adj" fmla="val 19444"/>
            </a:avLst>
          </a:prstGeom>
          <a:solidFill>
            <a:srgbClr val="FFAB19"/>
          </a:solidFill>
          <a:ln/>
        </p:spPr>
      </p:sp>
      <p:sp>
        <p:nvSpPr>
          <p:cNvPr id="8" name="Text 6"/>
          <p:cNvSpPr/>
          <p:nvPr/>
        </p:nvSpPr>
        <p:spPr>
          <a:xfrm>
            <a:off x="4845050" y="4305300"/>
            <a:ext cx="958949"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repeat 10</a:t>
            </a:r>
            <a:endParaRPr lang="en-US" sz="1600" dirty="0"/>
          </a:p>
        </p:txBody>
      </p:sp>
      <p:sp>
        <p:nvSpPr>
          <p:cNvPr id="9" name="Shape 7"/>
          <p:cNvSpPr/>
          <p:nvPr/>
        </p:nvSpPr>
        <p:spPr>
          <a:xfrm>
            <a:off x="4724400" y="4699000"/>
            <a:ext cx="0" cy="952500"/>
          </a:xfrm>
          <a:prstGeom prst="line">
            <a:avLst/>
          </a:prstGeom>
          <a:noFill/>
          <a:ln w="101600">
            <a:solidFill>
              <a:srgbClr val="FFAB19"/>
            </a:solidFill>
            <a:prstDash val="solid"/>
          </a:ln>
        </p:spPr>
      </p:sp>
      <p:sp>
        <p:nvSpPr>
          <p:cNvPr id="10" name="Shape 8"/>
          <p:cNvSpPr/>
          <p:nvPr/>
        </p:nvSpPr>
        <p:spPr>
          <a:xfrm>
            <a:off x="4997450" y="4699000"/>
            <a:ext cx="1711325" cy="457200"/>
          </a:xfrm>
          <a:prstGeom prst="roundRect">
            <a:avLst>
              <a:gd name="adj" fmla="val 19444"/>
            </a:avLst>
          </a:prstGeom>
          <a:solidFill>
            <a:srgbClr val="3373CC"/>
          </a:solidFill>
          <a:ln/>
        </p:spPr>
      </p:sp>
      <p:sp>
        <p:nvSpPr>
          <p:cNvPr id="11" name="Text 9"/>
          <p:cNvSpPr/>
          <p:nvPr/>
        </p:nvSpPr>
        <p:spPr>
          <a:xfrm>
            <a:off x="5168900" y="4800600"/>
            <a:ext cx="14192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move 10 steps</a:t>
            </a:r>
            <a:endParaRPr lang="en-US" sz="1600" dirty="0"/>
          </a:p>
        </p:txBody>
      </p:sp>
      <p:sp>
        <p:nvSpPr>
          <p:cNvPr id="12" name="Shape 10"/>
          <p:cNvSpPr/>
          <p:nvPr/>
        </p:nvSpPr>
        <p:spPr>
          <a:xfrm>
            <a:off x="4997450" y="5194300"/>
            <a:ext cx="1919387" cy="457200"/>
          </a:xfrm>
          <a:prstGeom prst="roundRect">
            <a:avLst>
              <a:gd name="adj" fmla="val 19444"/>
            </a:avLst>
          </a:prstGeom>
          <a:solidFill>
            <a:srgbClr val="FFAB19"/>
          </a:solidFill>
          <a:ln/>
        </p:spPr>
      </p:sp>
      <p:sp>
        <p:nvSpPr>
          <p:cNvPr id="13" name="Text 11"/>
          <p:cNvSpPr/>
          <p:nvPr/>
        </p:nvSpPr>
        <p:spPr>
          <a:xfrm>
            <a:off x="5168900" y="5295900"/>
            <a:ext cx="1627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0.1 seconds</a:t>
            </a:r>
            <a:endParaRPr lang="en-US" sz="1600" dirty="0"/>
          </a:p>
        </p:txBody>
      </p:sp>
      <p:sp>
        <p:nvSpPr>
          <p:cNvPr id="14" name="Shape 12"/>
          <p:cNvSpPr/>
          <p:nvPr/>
        </p:nvSpPr>
        <p:spPr>
          <a:xfrm>
            <a:off x="4673600" y="5689600"/>
            <a:ext cx="914400" cy="152400"/>
          </a:xfrm>
          <a:prstGeom prst="roundRect">
            <a:avLst>
              <a:gd name="adj" fmla="val 50000"/>
            </a:avLst>
          </a:prstGeom>
          <a:solidFill>
            <a:srgbClr val="FFAB19"/>
          </a:solidFill>
          <a:ln/>
        </p:spPr>
      </p:sp>
      <p:sp>
        <p:nvSpPr>
          <p:cNvPr id="15" name="Text 1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RANDOMNESS</a:t>
            </a:r>
            <a:endParaRPr lang="en-US" sz="1300" dirty="0"/>
          </a:p>
        </p:txBody>
      </p:sp>
      <p:sp>
        <p:nvSpPr>
          <p:cNvPr id="3" name="Text 1"/>
          <p:cNvSpPr/>
          <p:nvPr/>
        </p:nvSpPr>
        <p:spPr>
          <a:xfrm>
            <a:off x="812800" y="183614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Ask for a number you don't choose</a:t>
            </a:r>
            <a:endParaRPr lang="en-US" sz="3600" dirty="0"/>
          </a:p>
        </p:txBody>
      </p:sp>
      <p:sp>
        <p:nvSpPr>
          <p:cNvPr id="4" name="Text 2"/>
          <p:cNvSpPr/>
          <p:nvPr/>
        </p:nvSpPr>
        <p:spPr>
          <a:xfrm>
            <a:off x="812800" y="3122017"/>
            <a:ext cx="3662680" cy="2745383"/>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4A46"/>
                </a:solidFill>
                <a:latin typeface="Nunito Sans" pitchFamily="34" charset="0"/>
                <a:ea typeface="Nunito Sans" pitchFamily="34" charset="-122"/>
                <a:cs typeface="Nunito Sans" pitchFamily="34" charset="-120"/>
              </a:rPr>
              <a:t>pick random</a:t>
            </a:r>
            <a:r>
              <a:rPr lang="en-US" sz="1700" dirty="0">
                <a:solidFill>
                  <a:srgbClr val="5C4A46"/>
                </a:solidFill>
                <a:latin typeface="Nunito Sans" pitchFamily="34" charset="0"/>
                <a:ea typeface="Nunito Sans" pitchFamily="34" charset="-122"/>
                <a:cs typeface="Nunito Sans" pitchFamily="34" charset="-120"/>
              </a:rPr>
              <a:t> is a green reporter block. It goes </a:t>
            </a:r>
            <a:r>
              <a:rPr lang="en-US" sz="1700" b="1" dirty="0">
                <a:solidFill>
                  <a:srgbClr val="5C4A46"/>
                </a:solidFill>
                <a:latin typeface="Nunito Sans" pitchFamily="34" charset="0"/>
                <a:ea typeface="Nunito Sans" pitchFamily="34" charset="-122"/>
                <a:cs typeface="Nunito Sans" pitchFamily="34" charset="-120"/>
              </a:rPr>
              <a:t>inside</a:t>
            </a:r>
            <a:r>
              <a:rPr lang="en-US" sz="1700" dirty="0">
                <a:solidFill>
                  <a:srgbClr val="5C4A46"/>
                </a:solidFill>
                <a:latin typeface="Nunito Sans" pitchFamily="34" charset="0"/>
                <a:ea typeface="Nunito Sans" pitchFamily="34" charset="-122"/>
                <a:cs typeface="Nunito Sans" pitchFamily="34" charset="-120"/>
              </a:rPr>
              <a:t> another block, in the slot where a number would go.</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Run this one a few times. It jumps around the top of the stage — which is exactly where your falling objects are going to come from.</a:t>
            </a:r>
            <a:endParaRPr lang="en-US" sz="1700" dirty="0"/>
          </a:p>
        </p:txBody>
      </p:sp>
      <p:sp>
        <p:nvSpPr>
          <p:cNvPr id="5" name="Shape 3"/>
          <p:cNvSpPr/>
          <p:nvPr/>
        </p:nvSpPr>
        <p:spPr>
          <a:xfrm>
            <a:off x="4673600" y="3122017"/>
            <a:ext cx="2422922" cy="428625"/>
          </a:xfrm>
          <a:prstGeom prst="roundRect">
            <a:avLst>
              <a:gd name="adj" fmla="val 40000"/>
            </a:avLst>
          </a:prstGeom>
          <a:solidFill>
            <a:srgbClr val="FFBF00"/>
          </a:solidFill>
          <a:ln/>
        </p:spPr>
      </p:sp>
      <p:sp>
        <p:nvSpPr>
          <p:cNvPr id="6" name="Text 4"/>
          <p:cNvSpPr/>
          <p:nvPr/>
        </p:nvSpPr>
        <p:spPr>
          <a:xfrm>
            <a:off x="4832350" y="3217267"/>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588742"/>
            <a:ext cx="1168896" cy="428625"/>
          </a:xfrm>
          <a:prstGeom prst="roundRect">
            <a:avLst>
              <a:gd name="adj" fmla="val 20741"/>
            </a:avLst>
          </a:prstGeom>
          <a:solidFill>
            <a:srgbClr val="FFAB19"/>
          </a:solidFill>
          <a:ln/>
        </p:spPr>
      </p:sp>
      <p:sp>
        <p:nvSpPr>
          <p:cNvPr id="8" name="Text 6"/>
          <p:cNvSpPr/>
          <p:nvPr/>
        </p:nvSpPr>
        <p:spPr>
          <a:xfrm>
            <a:off x="4832350" y="3683992"/>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10</a:t>
            </a:r>
            <a:endParaRPr lang="en-US" sz="1500" dirty="0"/>
          </a:p>
        </p:txBody>
      </p:sp>
      <p:sp>
        <p:nvSpPr>
          <p:cNvPr id="9" name="Shape 7"/>
          <p:cNvSpPr/>
          <p:nvPr/>
        </p:nvSpPr>
        <p:spPr>
          <a:xfrm>
            <a:off x="4724400" y="4055467"/>
            <a:ext cx="0" cy="895350"/>
          </a:xfrm>
          <a:prstGeom prst="line">
            <a:avLst/>
          </a:prstGeom>
          <a:noFill/>
          <a:ln w="101600">
            <a:solidFill>
              <a:srgbClr val="FFAB19"/>
            </a:solidFill>
            <a:prstDash val="solid"/>
          </a:ln>
        </p:spPr>
      </p:sp>
      <p:sp>
        <p:nvSpPr>
          <p:cNvPr id="10" name="Shape 8"/>
          <p:cNvSpPr/>
          <p:nvPr/>
        </p:nvSpPr>
        <p:spPr>
          <a:xfrm>
            <a:off x="4984750" y="4055467"/>
            <a:ext cx="3950990" cy="428625"/>
          </a:xfrm>
          <a:prstGeom prst="roundRect">
            <a:avLst>
              <a:gd name="adj" fmla="val 20741"/>
            </a:avLst>
          </a:prstGeom>
          <a:solidFill>
            <a:srgbClr val="3373CC"/>
          </a:solidFill>
          <a:ln/>
        </p:spPr>
      </p:sp>
      <p:sp>
        <p:nvSpPr>
          <p:cNvPr id="11" name="Text 9"/>
          <p:cNvSpPr/>
          <p:nvPr/>
        </p:nvSpPr>
        <p:spPr>
          <a:xfrm>
            <a:off x="5143500" y="4150717"/>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-240 to 240) y: 180</a:t>
            </a:r>
            <a:endParaRPr lang="en-US" sz="1500" dirty="0"/>
          </a:p>
        </p:txBody>
      </p:sp>
      <p:sp>
        <p:nvSpPr>
          <p:cNvPr id="12" name="Shape 10"/>
          <p:cNvSpPr/>
          <p:nvPr/>
        </p:nvSpPr>
        <p:spPr>
          <a:xfrm>
            <a:off x="4984750" y="4522192"/>
            <a:ext cx="1795463" cy="428625"/>
          </a:xfrm>
          <a:prstGeom prst="roundRect">
            <a:avLst>
              <a:gd name="adj" fmla="val 20741"/>
            </a:avLst>
          </a:prstGeom>
          <a:solidFill>
            <a:srgbClr val="FFAB19"/>
          </a:solidFill>
          <a:ln/>
        </p:spPr>
      </p:sp>
      <p:sp>
        <p:nvSpPr>
          <p:cNvPr id="13" name="Text 11"/>
          <p:cNvSpPr/>
          <p:nvPr/>
        </p:nvSpPr>
        <p:spPr>
          <a:xfrm>
            <a:off x="5143500" y="4617442"/>
            <a:ext cx="15287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0.3 seconds</a:t>
            </a:r>
            <a:endParaRPr lang="en-US" sz="1500" dirty="0"/>
          </a:p>
        </p:txBody>
      </p:sp>
      <p:sp>
        <p:nvSpPr>
          <p:cNvPr id="14" name="Shape 12"/>
          <p:cNvSpPr/>
          <p:nvPr/>
        </p:nvSpPr>
        <p:spPr>
          <a:xfrm>
            <a:off x="4673600" y="4988917"/>
            <a:ext cx="857250" cy="139700"/>
          </a:xfrm>
          <a:prstGeom prst="roundRect">
            <a:avLst>
              <a:gd name="adj" fmla="val 50000"/>
            </a:avLst>
          </a:prstGeom>
          <a:solidFill>
            <a:srgbClr val="FFAB19"/>
          </a:solidFill>
          <a:ln/>
        </p:spPr>
      </p:sp>
      <p:sp>
        <p:nvSpPr>
          <p:cNvPr id="15" name="Text 1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16535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Why is it going in one big jump?</a:t>
            </a:r>
            <a:endParaRPr lang="en-US" sz="4000" dirty="0"/>
          </a:p>
        </p:txBody>
      </p:sp>
      <p:sp>
        <p:nvSpPr>
          <p:cNvPr id="4" name="Text 2"/>
          <p:cNvSpPr/>
          <p:nvPr/>
        </p:nvSpPr>
        <p:spPr>
          <a:xfrm>
            <a:off x="812800" y="383540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It moves, but I never see it move. It's just suddenly there.</a:t>
            </a:r>
            <a:endParaRPr lang="en-US" sz="2000" dirty="0"/>
          </a:p>
        </p:txBody>
      </p:sp>
      <p:sp>
        <p:nvSpPr>
          <p:cNvPr id="5" name="Text 3"/>
          <p:cNvSpPr/>
          <p:nvPr/>
        </p:nvSpPr>
        <p:spPr>
          <a:xfrm>
            <a:off x="812800" y="464820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Look carefully at where the wait block is sitting.</a:t>
            </a:r>
            <a:endParaRPr lang="en-US" sz="1600" dirty="0"/>
          </a:p>
        </p:txBody>
      </p:sp>
      <p:sp>
        <p:nvSpPr>
          <p:cNvPr id="6" name="Shape 4"/>
          <p:cNvSpPr/>
          <p:nvPr/>
        </p:nvSpPr>
        <p:spPr>
          <a:xfrm>
            <a:off x="5054600" y="3835400"/>
            <a:ext cx="2422922" cy="428625"/>
          </a:xfrm>
          <a:prstGeom prst="roundRect">
            <a:avLst>
              <a:gd name="adj" fmla="val 40000"/>
            </a:avLst>
          </a:prstGeom>
          <a:solidFill>
            <a:srgbClr val="FFBF00"/>
          </a:solidFill>
          <a:ln/>
        </p:spPr>
      </p:sp>
      <p:sp>
        <p:nvSpPr>
          <p:cNvPr id="7" name="Text 5"/>
          <p:cNvSpPr/>
          <p:nvPr/>
        </p:nvSpPr>
        <p:spPr>
          <a:xfrm>
            <a:off x="5213350" y="393065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8" name="Shape 6"/>
          <p:cNvSpPr/>
          <p:nvPr/>
        </p:nvSpPr>
        <p:spPr>
          <a:xfrm>
            <a:off x="5054600" y="4302125"/>
            <a:ext cx="1168896" cy="428625"/>
          </a:xfrm>
          <a:prstGeom prst="roundRect">
            <a:avLst>
              <a:gd name="adj" fmla="val 20741"/>
            </a:avLst>
          </a:prstGeom>
          <a:solidFill>
            <a:srgbClr val="FFAB19"/>
          </a:solidFill>
          <a:ln/>
        </p:spPr>
      </p:sp>
      <p:sp>
        <p:nvSpPr>
          <p:cNvPr id="9" name="Text 7"/>
          <p:cNvSpPr/>
          <p:nvPr/>
        </p:nvSpPr>
        <p:spPr>
          <a:xfrm>
            <a:off x="5213350" y="4397375"/>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10</a:t>
            </a:r>
            <a:endParaRPr lang="en-US" sz="1500" dirty="0"/>
          </a:p>
        </p:txBody>
      </p:sp>
      <p:sp>
        <p:nvSpPr>
          <p:cNvPr id="10" name="Shape 8"/>
          <p:cNvSpPr/>
          <p:nvPr/>
        </p:nvSpPr>
        <p:spPr>
          <a:xfrm>
            <a:off x="5105400" y="4768850"/>
            <a:ext cx="0" cy="428625"/>
          </a:xfrm>
          <a:prstGeom prst="line">
            <a:avLst/>
          </a:prstGeom>
          <a:noFill/>
          <a:ln w="101600">
            <a:solidFill>
              <a:srgbClr val="FFAB19"/>
            </a:solidFill>
            <a:prstDash val="solid"/>
          </a:ln>
        </p:spPr>
      </p:sp>
      <p:sp>
        <p:nvSpPr>
          <p:cNvPr id="11" name="Shape 9"/>
          <p:cNvSpPr/>
          <p:nvPr/>
        </p:nvSpPr>
        <p:spPr>
          <a:xfrm>
            <a:off x="5365750" y="4768850"/>
            <a:ext cx="1600398" cy="428625"/>
          </a:xfrm>
          <a:prstGeom prst="roundRect">
            <a:avLst>
              <a:gd name="adj" fmla="val 20741"/>
            </a:avLst>
          </a:prstGeom>
          <a:solidFill>
            <a:srgbClr val="3373CC"/>
          </a:solidFill>
          <a:ln/>
        </p:spPr>
      </p:sp>
      <p:sp>
        <p:nvSpPr>
          <p:cNvPr id="12" name="Text 10"/>
          <p:cNvSpPr/>
          <p:nvPr/>
        </p:nvSpPr>
        <p:spPr>
          <a:xfrm>
            <a:off x="5524500" y="4864100"/>
            <a:ext cx="133369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move 10 steps</a:t>
            </a:r>
            <a:endParaRPr lang="en-US" sz="1500" dirty="0"/>
          </a:p>
        </p:txBody>
      </p:sp>
      <p:sp>
        <p:nvSpPr>
          <p:cNvPr id="13" name="Shape 11"/>
          <p:cNvSpPr/>
          <p:nvPr/>
        </p:nvSpPr>
        <p:spPr>
          <a:xfrm>
            <a:off x="5054600" y="5235575"/>
            <a:ext cx="857250" cy="139700"/>
          </a:xfrm>
          <a:prstGeom prst="roundRect">
            <a:avLst>
              <a:gd name="adj" fmla="val 50000"/>
            </a:avLst>
          </a:prstGeom>
          <a:solidFill>
            <a:srgbClr val="FFAB19"/>
          </a:solidFill>
          <a:ln/>
        </p:spPr>
      </p:sp>
      <p:sp>
        <p:nvSpPr>
          <p:cNvPr id="14" name="Shape 12"/>
          <p:cNvSpPr/>
          <p:nvPr/>
        </p:nvSpPr>
        <p:spPr>
          <a:xfrm>
            <a:off x="5054600" y="5413375"/>
            <a:ext cx="1795463" cy="428625"/>
          </a:xfrm>
          <a:prstGeom prst="roundRect">
            <a:avLst>
              <a:gd name="adj" fmla="val 20741"/>
            </a:avLst>
          </a:prstGeom>
          <a:solidFill>
            <a:srgbClr val="FFAB19"/>
          </a:solidFill>
          <a:ln/>
        </p:spPr>
      </p:sp>
      <p:sp>
        <p:nvSpPr>
          <p:cNvPr id="15" name="Text 13"/>
          <p:cNvSpPr/>
          <p:nvPr/>
        </p:nvSpPr>
        <p:spPr>
          <a:xfrm>
            <a:off x="5213350" y="5508625"/>
            <a:ext cx="15287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0.1 seconds</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88168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Dancing Sprite</a:t>
            </a:r>
            <a:endParaRPr lang="en-US" sz="3600" dirty="0"/>
          </a:p>
        </p:txBody>
      </p:sp>
      <p:sp>
        <p:nvSpPr>
          <p:cNvPr id="4" name="Text 2"/>
          <p:cNvSpPr/>
          <p:nvPr/>
        </p:nvSpPr>
        <p:spPr>
          <a:xfrm>
            <a:off x="812800" y="321310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Pick a sprite with several costumes — the walking ones in the library work well.</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a:r>
            <a:r>
              <a:rPr lang="en-US" sz="1700" b="1" dirty="0">
                <a:solidFill>
                  <a:srgbClr val="5C4A46"/>
                </a:solidFill>
                <a:latin typeface="Nunito Sans" pitchFamily="34" charset="0"/>
                <a:ea typeface="Nunito Sans" pitchFamily="34" charset="-122"/>
                <a:cs typeface="Nunito Sans" pitchFamily="34" charset="-120"/>
              </a:rPr>
              <a:t>tune the wait</a:t>
            </a:r>
            <a:r>
              <a:rPr lang="en-US" sz="1700" dirty="0">
                <a:solidFill>
                  <a:srgbClr val="5C4A46"/>
                </a:solidFill>
                <a:latin typeface="Nunito Sans" pitchFamily="34" charset="0"/>
                <a:ea typeface="Nunito Sans" pitchFamily="34" charset="-122"/>
                <a:cs typeface="Nunito Sans" pitchFamily="34" charset="-120"/>
              </a:rPr>
              <a:t> until the walk looks right. Add </a:t>
            </a:r>
            <a:r>
              <a:rPr lang="en-US" sz="1700" b="1" dirty="0">
                <a:solidFill>
                  <a:srgbClr val="5C4A46"/>
                </a:solidFill>
                <a:latin typeface="Nunito Sans" pitchFamily="34" charset="0"/>
                <a:ea typeface="Nunito Sans" pitchFamily="34" charset="-122"/>
                <a:cs typeface="Nunito Sans" pitchFamily="34" charset="-120"/>
              </a:rPr>
              <a:t>if on edge, bounce</a:t>
            </a:r>
            <a:r>
              <a:rPr lang="en-US" sz="1700" dirty="0">
                <a:solidFill>
                  <a:srgbClr val="5C4A46"/>
                </a:solidFill>
                <a:latin typeface="Nunito Sans" pitchFamily="34" charset="0"/>
                <a:ea typeface="Nunito Sans" pitchFamily="34" charset="-122"/>
                <a:cs typeface="Nunito Sans" pitchFamily="34" charset="-120"/>
              </a:rPr>
              <a:t> so it doesn't escape.</a:t>
            </a:r>
            <a:endParaRPr lang="en-US" sz="1700" dirty="0"/>
          </a:p>
        </p:txBody>
      </p:sp>
      <p:sp>
        <p:nvSpPr>
          <p:cNvPr id="5" name="Shape 3"/>
          <p:cNvSpPr/>
          <p:nvPr/>
        </p:nvSpPr>
        <p:spPr>
          <a:xfrm>
            <a:off x="4673600" y="3213100"/>
            <a:ext cx="2588716" cy="457200"/>
          </a:xfrm>
          <a:prstGeom prst="roundRect">
            <a:avLst>
              <a:gd name="adj" fmla="val 38889"/>
            </a:avLst>
          </a:prstGeom>
          <a:solidFill>
            <a:srgbClr val="FFBF00"/>
          </a:solidFill>
          <a:ln/>
        </p:spPr>
      </p:sp>
      <p:sp>
        <p:nvSpPr>
          <p:cNvPr id="6" name="Text 4"/>
          <p:cNvSpPr/>
          <p:nvPr/>
        </p:nvSpPr>
        <p:spPr>
          <a:xfrm>
            <a:off x="4845050" y="331470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3708400"/>
            <a:ext cx="1012726" cy="457200"/>
          </a:xfrm>
          <a:prstGeom prst="roundRect">
            <a:avLst>
              <a:gd name="adj" fmla="val 19444"/>
            </a:avLst>
          </a:prstGeom>
          <a:solidFill>
            <a:srgbClr val="FFAB19"/>
          </a:solidFill>
          <a:ln/>
        </p:spPr>
      </p:sp>
      <p:sp>
        <p:nvSpPr>
          <p:cNvPr id="8" name="Text 6"/>
          <p:cNvSpPr/>
          <p:nvPr/>
        </p:nvSpPr>
        <p:spPr>
          <a:xfrm>
            <a:off x="4845050" y="3810000"/>
            <a:ext cx="72062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forever</a:t>
            </a:r>
            <a:endParaRPr lang="en-US" sz="1600" dirty="0"/>
          </a:p>
        </p:txBody>
      </p:sp>
      <p:sp>
        <p:nvSpPr>
          <p:cNvPr id="9" name="Shape 7"/>
          <p:cNvSpPr/>
          <p:nvPr/>
        </p:nvSpPr>
        <p:spPr>
          <a:xfrm>
            <a:off x="4724400" y="4203700"/>
            <a:ext cx="0" cy="1447800"/>
          </a:xfrm>
          <a:prstGeom prst="line">
            <a:avLst/>
          </a:prstGeom>
          <a:noFill/>
          <a:ln w="101600">
            <a:solidFill>
              <a:srgbClr val="FFAB19"/>
            </a:solidFill>
            <a:prstDash val="solid"/>
          </a:ln>
        </p:spPr>
      </p:sp>
      <p:sp>
        <p:nvSpPr>
          <p:cNvPr id="10" name="Shape 8"/>
          <p:cNvSpPr/>
          <p:nvPr/>
        </p:nvSpPr>
        <p:spPr>
          <a:xfrm>
            <a:off x="4997450" y="4203700"/>
            <a:ext cx="1608237" cy="457200"/>
          </a:xfrm>
          <a:prstGeom prst="roundRect">
            <a:avLst>
              <a:gd name="adj" fmla="val 19444"/>
            </a:avLst>
          </a:prstGeom>
          <a:solidFill>
            <a:srgbClr val="774DCB"/>
          </a:solidFill>
          <a:ln/>
        </p:spPr>
      </p:sp>
      <p:sp>
        <p:nvSpPr>
          <p:cNvPr id="11" name="Text 9"/>
          <p:cNvSpPr/>
          <p:nvPr/>
        </p:nvSpPr>
        <p:spPr>
          <a:xfrm>
            <a:off x="5168900" y="4305300"/>
            <a:ext cx="131613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next costume</a:t>
            </a:r>
            <a:endParaRPr lang="en-US" sz="1600" dirty="0"/>
          </a:p>
        </p:txBody>
      </p:sp>
      <p:sp>
        <p:nvSpPr>
          <p:cNvPr id="12" name="Shape 10"/>
          <p:cNvSpPr/>
          <p:nvPr/>
        </p:nvSpPr>
        <p:spPr>
          <a:xfrm>
            <a:off x="4997450" y="4699000"/>
            <a:ext cx="1919387" cy="457200"/>
          </a:xfrm>
          <a:prstGeom prst="roundRect">
            <a:avLst>
              <a:gd name="adj" fmla="val 19444"/>
            </a:avLst>
          </a:prstGeom>
          <a:solidFill>
            <a:srgbClr val="FFAB19"/>
          </a:solidFill>
          <a:ln/>
        </p:spPr>
      </p:sp>
      <p:sp>
        <p:nvSpPr>
          <p:cNvPr id="13" name="Text 11"/>
          <p:cNvSpPr/>
          <p:nvPr/>
        </p:nvSpPr>
        <p:spPr>
          <a:xfrm>
            <a:off x="5168900" y="4800600"/>
            <a:ext cx="1627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0.2 seconds</a:t>
            </a:r>
            <a:endParaRPr lang="en-US" sz="1600" dirty="0"/>
          </a:p>
        </p:txBody>
      </p:sp>
      <p:sp>
        <p:nvSpPr>
          <p:cNvPr id="14" name="Shape 12"/>
          <p:cNvSpPr/>
          <p:nvPr/>
        </p:nvSpPr>
        <p:spPr>
          <a:xfrm>
            <a:off x="4997450" y="5194300"/>
            <a:ext cx="1589385" cy="457200"/>
          </a:xfrm>
          <a:prstGeom prst="roundRect">
            <a:avLst>
              <a:gd name="adj" fmla="val 19444"/>
            </a:avLst>
          </a:prstGeom>
          <a:solidFill>
            <a:srgbClr val="3373CC"/>
          </a:solidFill>
          <a:ln/>
        </p:spPr>
      </p:sp>
      <p:sp>
        <p:nvSpPr>
          <p:cNvPr id="15" name="Text 13"/>
          <p:cNvSpPr/>
          <p:nvPr/>
        </p:nvSpPr>
        <p:spPr>
          <a:xfrm>
            <a:off x="5168900" y="5295900"/>
            <a:ext cx="129728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move 5 steps</a:t>
            </a:r>
            <a:endParaRPr lang="en-US" sz="1600" dirty="0"/>
          </a:p>
        </p:txBody>
      </p:sp>
      <p:sp>
        <p:nvSpPr>
          <p:cNvPr id="16" name="Shape 14"/>
          <p:cNvSpPr/>
          <p:nvPr/>
        </p:nvSpPr>
        <p:spPr>
          <a:xfrm>
            <a:off x="4673600" y="5689600"/>
            <a:ext cx="914400" cy="152400"/>
          </a:xfrm>
          <a:prstGeom prst="roundRect">
            <a:avLst>
              <a:gd name="adj" fmla="val 50000"/>
            </a:avLst>
          </a:prstGeom>
          <a:solidFill>
            <a:srgbClr val="FFAB19"/>
          </a:solidFill>
          <a:ln/>
        </p:spPr>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6372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Rain</a:t>
            </a:r>
            <a:endParaRPr lang="en-US" sz="3600" dirty="0"/>
          </a:p>
        </p:txBody>
      </p:sp>
      <p:sp>
        <p:nvSpPr>
          <p:cNvPr id="4" name="Text 2"/>
          <p:cNvSpPr/>
          <p:nvPr/>
        </p:nvSpPr>
        <p:spPr>
          <a:xfrm>
            <a:off x="812800" y="272415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raindrop that appears somewhere random along the top and falls to the bottom. Forever.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a:r>
            <a:r>
              <a:rPr lang="en-US" sz="1700" b="1" dirty="0">
                <a:solidFill>
                  <a:srgbClr val="5C4A46"/>
                </a:solidFill>
                <a:latin typeface="Nunito Sans" pitchFamily="34" charset="0"/>
                <a:ea typeface="Nunito Sans" pitchFamily="34" charset="-122"/>
                <a:cs typeface="Nunito Sans" pitchFamily="34" charset="-120"/>
              </a:rPr>
              <a:t>change the numbers</a:t>
            </a:r>
            <a:r>
              <a:rPr lang="en-US" sz="1700" dirty="0">
                <a:solidFill>
                  <a:srgbClr val="5C4A46"/>
                </a:solidFill>
                <a:latin typeface="Nunito Sans" pitchFamily="34" charset="0"/>
                <a:ea typeface="Nunito Sans" pitchFamily="34" charset="-122"/>
                <a:cs typeface="Nunito Sans" pitchFamily="34" charset="-120"/>
              </a:rPr>
              <a:t>: fewer repeats and a bigger step makes a faster drop.</a:t>
            </a:r>
            <a:endParaRPr lang="en-US" sz="1700" dirty="0"/>
          </a:p>
        </p:txBody>
      </p:sp>
      <p:sp>
        <p:nvSpPr>
          <p:cNvPr id="5" name="Shape 3"/>
          <p:cNvSpPr/>
          <p:nvPr/>
        </p:nvSpPr>
        <p:spPr>
          <a:xfrm>
            <a:off x="4673600" y="2724150"/>
            <a:ext cx="2422922" cy="428625"/>
          </a:xfrm>
          <a:prstGeom prst="roundRect">
            <a:avLst>
              <a:gd name="adj" fmla="val 40000"/>
            </a:avLst>
          </a:prstGeom>
          <a:solidFill>
            <a:srgbClr val="FFBF00"/>
          </a:solidFill>
          <a:ln/>
        </p:spPr>
      </p:sp>
      <p:sp>
        <p:nvSpPr>
          <p:cNvPr id="6" name="Text 4"/>
          <p:cNvSpPr/>
          <p:nvPr/>
        </p:nvSpPr>
        <p:spPr>
          <a:xfrm>
            <a:off x="4832350" y="28194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190875"/>
            <a:ext cx="945455" cy="428625"/>
          </a:xfrm>
          <a:prstGeom prst="roundRect">
            <a:avLst>
              <a:gd name="adj" fmla="val 20741"/>
            </a:avLst>
          </a:prstGeom>
          <a:solidFill>
            <a:srgbClr val="FFAB19"/>
          </a:solidFill>
          <a:ln/>
        </p:spPr>
      </p:sp>
      <p:sp>
        <p:nvSpPr>
          <p:cNvPr id="8" name="Text 6"/>
          <p:cNvSpPr/>
          <p:nvPr/>
        </p:nvSpPr>
        <p:spPr>
          <a:xfrm>
            <a:off x="4832350" y="3286125"/>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9" name="Shape 7"/>
          <p:cNvSpPr/>
          <p:nvPr/>
        </p:nvSpPr>
        <p:spPr>
          <a:xfrm>
            <a:off x="4724400" y="3657600"/>
            <a:ext cx="0" cy="2006600"/>
          </a:xfrm>
          <a:prstGeom prst="line">
            <a:avLst/>
          </a:prstGeom>
          <a:noFill/>
          <a:ln w="101600">
            <a:solidFill>
              <a:srgbClr val="FFAB19"/>
            </a:solidFill>
            <a:prstDash val="solid"/>
          </a:ln>
        </p:spPr>
      </p:sp>
      <p:sp>
        <p:nvSpPr>
          <p:cNvPr id="10" name="Shape 8"/>
          <p:cNvSpPr/>
          <p:nvPr/>
        </p:nvSpPr>
        <p:spPr>
          <a:xfrm>
            <a:off x="4984750" y="3657600"/>
            <a:ext cx="3950990" cy="428625"/>
          </a:xfrm>
          <a:prstGeom prst="roundRect">
            <a:avLst>
              <a:gd name="adj" fmla="val 20741"/>
            </a:avLst>
          </a:prstGeom>
          <a:solidFill>
            <a:srgbClr val="3373CC"/>
          </a:solidFill>
          <a:ln/>
        </p:spPr>
      </p:sp>
      <p:sp>
        <p:nvSpPr>
          <p:cNvPr id="11" name="Text 9"/>
          <p:cNvSpPr/>
          <p:nvPr/>
        </p:nvSpPr>
        <p:spPr>
          <a:xfrm>
            <a:off x="5143500" y="3752850"/>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-240 to 240) y: 180</a:t>
            </a:r>
            <a:endParaRPr lang="en-US" sz="1500" dirty="0"/>
          </a:p>
        </p:txBody>
      </p:sp>
      <p:sp>
        <p:nvSpPr>
          <p:cNvPr id="12" name="Shape 10"/>
          <p:cNvSpPr/>
          <p:nvPr/>
        </p:nvSpPr>
        <p:spPr>
          <a:xfrm>
            <a:off x="4984750" y="4124325"/>
            <a:ext cx="1168896" cy="428625"/>
          </a:xfrm>
          <a:prstGeom prst="roundRect">
            <a:avLst>
              <a:gd name="adj" fmla="val 20741"/>
            </a:avLst>
          </a:prstGeom>
          <a:solidFill>
            <a:srgbClr val="FFAB19"/>
          </a:solidFill>
          <a:ln/>
        </p:spPr>
      </p:sp>
      <p:sp>
        <p:nvSpPr>
          <p:cNvPr id="13" name="Text 11"/>
          <p:cNvSpPr/>
          <p:nvPr/>
        </p:nvSpPr>
        <p:spPr>
          <a:xfrm>
            <a:off x="5143500" y="4219575"/>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20</a:t>
            </a:r>
            <a:endParaRPr lang="en-US" sz="1500" dirty="0"/>
          </a:p>
        </p:txBody>
      </p:sp>
      <p:sp>
        <p:nvSpPr>
          <p:cNvPr id="14" name="Shape 12"/>
          <p:cNvSpPr/>
          <p:nvPr/>
        </p:nvSpPr>
        <p:spPr>
          <a:xfrm>
            <a:off x="5035550" y="4591050"/>
            <a:ext cx="0" cy="895350"/>
          </a:xfrm>
          <a:prstGeom prst="line">
            <a:avLst/>
          </a:prstGeom>
          <a:noFill/>
          <a:ln w="101600">
            <a:solidFill>
              <a:srgbClr val="FFAB19"/>
            </a:solidFill>
            <a:prstDash val="solid"/>
          </a:ln>
        </p:spPr>
      </p:sp>
      <p:sp>
        <p:nvSpPr>
          <p:cNvPr id="15" name="Shape 13"/>
          <p:cNvSpPr/>
          <p:nvPr/>
        </p:nvSpPr>
        <p:spPr>
          <a:xfrm>
            <a:off x="5295900" y="4591050"/>
            <a:ext cx="1731268" cy="428625"/>
          </a:xfrm>
          <a:prstGeom prst="roundRect">
            <a:avLst>
              <a:gd name="adj" fmla="val 20741"/>
            </a:avLst>
          </a:prstGeom>
          <a:solidFill>
            <a:srgbClr val="3373CC"/>
          </a:solidFill>
          <a:ln/>
        </p:spPr>
      </p:sp>
      <p:sp>
        <p:nvSpPr>
          <p:cNvPr id="16" name="Text 14"/>
          <p:cNvSpPr/>
          <p:nvPr/>
        </p:nvSpPr>
        <p:spPr>
          <a:xfrm>
            <a:off x="5454650" y="4686300"/>
            <a:ext cx="146456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y by -18</a:t>
            </a:r>
            <a:endParaRPr lang="en-US" sz="1500" dirty="0"/>
          </a:p>
        </p:txBody>
      </p:sp>
      <p:sp>
        <p:nvSpPr>
          <p:cNvPr id="17" name="Shape 15"/>
          <p:cNvSpPr/>
          <p:nvPr/>
        </p:nvSpPr>
        <p:spPr>
          <a:xfrm>
            <a:off x="5295900" y="5057775"/>
            <a:ext cx="1909762" cy="428625"/>
          </a:xfrm>
          <a:prstGeom prst="roundRect">
            <a:avLst>
              <a:gd name="adj" fmla="val 20741"/>
            </a:avLst>
          </a:prstGeom>
          <a:solidFill>
            <a:srgbClr val="FFAB19"/>
          </a:solidFill>
          <a:ln/>
        </p:spPr>
      </p:sp>
      <p:sp>
        <p:nvSpPr>
          <p:cNvPr id="18" name="Text 16"/>
          <p:cNvSpPr/>
          <p:nvPr/>
        </p:nvSpPr>
        <p:spPr>
          <a:xfrm>
            <a:off x="5454650" y="5153025"/>
            <a:ext cx="16430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0.02 seconds</a:t>
            </a:r>
            <a:endParaRPr lang="en-US" sz="1500" dirty="0"/>
          </a:p>
        </p:txBody>
      </p:sp>
      <p:sp>
        <p:nvSpPr>
          <p:cNvPr id="19" name="Shape 17"/>
          <p:cNvSpPr/>
          <p:nvPr/>
        </p:nvSpPr>
        <p:spPr>
          <a:xfrm>
            <a:off x="4984750" y="5524500"/>
            <a:ext cx="857250" cy="139700"/>
          </a:xfrm>
          <a:prstGeom prst="roundRect">
            <a:avLst>
              <a:gd name="adj" fmla="val 50000"/>
            </a:avLst>
          </a:prstGeom>
          <a:solidFill>
            <a:srgbClr val="FFAB19"/>
          </a:solidFill>
          <a:ln/>
        </p:spPr>
      </p:sp>
      <p:sp>
        <p:nvSpPr>
          <p:cNvPr id="20" name="Shape 18"/>
          <p:cNvSpPr/>
          <p:nvPr/>
        </p:nvSpPr>
        <p:spPr>
          <a:xfrm>
            <a:off x="4673600" y="5702300"/>
            <a:ext cx="857250" cy="139700"/>
          </a:xfrm>
          <a:prstGeom prst="roundRect">
            <a:avLst>
              <a:gd name="adj" fmla="val 50000"/>
            </a:avLst>
          </a:prstGeom>
          <a:solidFill>
            <a:srgbClr val="FFAB19"/>
          </a:solidFill>
          <a:ln/>
        </p:spPr>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things start falling in YOUR game.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something falls from the sky in your game, over and over.</a:t>
            </a:r>
            <a:endParaRPr lang="en-US" sz="4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PROJECT BUILD · TWENTY MINUTES</a:t>
            </a:r>
            <a:endParaRPr lang="en-US" sz="1300" dirty="0"/>
          </a:p>
        </p:txBody>
      </p:sp>
      <p:sp>
        <p:nvSpPr>
          <p:cNvPr id="3" name="Text 1"/>
          <p:cNvSpPr/>
          <p:nvPr/>
        </p:nvSpPr>
        <p:spPr>
          <a:xfrm>
            <a:off x="812800" y="153392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it fall</a:t>
            </a:r>
            <a:endParaRPr lang="en-US" sz="3600" dirty="0"/>
          </a:p>
        </p:txBody>
      </p:sp>
      <p:sp>
        <p:nvSpPr>
          <p:cNvPr id="4" name="Text 2"/>
          <p:cNvSpPr/>
          <p:nvPr/>
        </p:nvSpPr>
        <p:spPr>
          <a:xfrm>
            <a:off x="812800" y="2517577"/>
            <a:ext cx="3662680" cy="334982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Add a new sprite that matches your theme — the mango, the ball, the star. Shrink it if it's huge.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build this on the </a:t>
            </a:r>
            <a:r>
              <a:rPr lang="en-US" sz="1700" b="1" dirty="0">
                <a:solidFill>
                  <a:srgbClr val="5C4A46"/>
                </a:solidFill>
                <a:latin typeface="Nunito Sans" pitchFamily="34" charset="0"/>
                <a:ea typeface="Nunito Sans" pitchFamily="34" charset="-122"/>
                <a:cs typeface="Nunito Sans" pitchFamily="34" charset="-120"/>
              </a:rPr>
              <a:t>new sprite</a:t>
            </a:r>
            <a:r>
              <a:rPr lang="en-US" sz="1700" dirty="0">
                <a:solidFill>
                  <a:srgbClr val="5C4A46"/>
                </a:solidFill>
                <a:latin typeface="Nunito Sans" pitchFamily="34" charset="0"/>
                <a:ea typeface="Nunito Sans" pitchFamily="34" charset="-122"/>
                <a:cs typeface="Nunito Sans" pitchFamily="34" charset="-120"/>
              </a:rPr>
              <a:t>, not the player.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Now </a:t>
            </a:r>
            <a:r>
              <a:rPr lang="en-US" sz="1700" b="1" dirty="0">
                <a:solidFill>
                  <a:srgbClr val="5C4A46"/>
                </a:solidFill>
                <a:latin typeface="Nunito Sans" pitchFamily="34" charset="0"/>
                <a:ea typeface="Nunito Sans" pitchFamily="34" charset="-122"/>
                <a:cs typeface="Nunito Sans" pitchFamily="34" charset="-120"/>
              </a:rPr>
              <a:t>tune the numbers</a:t>
            </a:r>
            <a:r>
              <a:rPr lang="en-US" sz="1700" dirty="0">
                <a:solidFill>
                  <a:srgbClr val="5C4A46"/>
                </a:solidFill>
                <a:latin typeface="Nunito Sans" pitchFamily="34" charset="0"/>
                <a:ea typeface="Nunito Sans" pitchFamily="34" charset="-122"/>
                <a:cs typeface="Nunito Sans" pitchFamily="34" charset="-120"/>
              </a:rPr>
              <a:t> until the speed feels playable. Too fast and next week's catching is impossible. Too slow and it's boring.</a:t>
            </a:r>
            <a:endParaRPr lang="en-US" sz="1700" dirty="0"/>
          </a:p>
        </p:txBody>
      </p:sp>
      <p:sp>
        <p:nvSpPr>
          <p:cNvPr id="5" name="Shape 3"/>
          <p:cNvSpPr/>
          <p:nvPr/>
        </p:nvSpPr>
        <p:spPr>
          <a:xfrm>
            <a:off x="4673600" y="2517577"/>
            <a:ext cx="2257227" cy="400050"/>
          </a:xfrm>
          <a:prstGeom prst="roundRect">
            <a:avLst>
              <a:gd name="adj" fmla="val 39683"/>
            </a:avLst>
          </a:prstGeom>
          <a:solidFill>
            <a:srgbClr val="FFBF00"/>
          </a:solidFill>
          <a:ln/>
        </p:spPr>
      </p:sp>
      <p:sp>
        <p:nvSpPr>
          <p:cNvPr id="6" name="Text 4"/>
          <p:cNvSpPr/>
          <p:nvPr/>
        </p:nvSpPr>
        <p:spPr>
          <a:xfrm>
            <a:off x="4819650" y="2606477"/>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2955727"/>
            <a:ext cx="878185" cy="400050"/>
          </a:xfrm>
          <a:prstGeom prst="roundRect">
            <a:avLst>
              <a:gd name="adj" fmla="val 22222"/>
            </a:avLst>
          </a:prstGeom>
          <a:solidFill>
            <a:srgbClr val="FFAB19"/>
          </a:solidFill>
          <a:ln/>
        </p:spPr>
      </p:sp>
      <p:sp>
        <p:nvSpPr>
          <p:cNvPr id="8" name="Text 6"/>
          <p:cNvSpPr/>
          <p:nvPr/>
        </p:nvSpPr>
        <p:spPr>
          <a:xfrm>
            <a:off x="4819650" y="3044627"/>
            <a:ext cx="636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forever</a:t>
            </a:r>
            <a:endParaRPr lang="en-US" sz="1400" dirty="0"/>
          </a:p>
        </p:txBody>
      </p:sp>
      <p:sp>
        <p:nvSpPr>
          <p:cNvPr id="9" name="Shape 7"/>
          <p:cNvSpPr/>
          <p:nvPr/>
        </p:nvSpPr>
        <p:spPr>
          <a:xfrm>
            <a:off x="4724400" y="3393877"/>
            <a:ext cx="0" cy="1885950"/>
          </a:xfrm>
          <a:prstGeom prst="line">
            <a:avLst/>
          </a:prstGeom>
          <a:noFill/>
          <a:ln w="101600">
            <a:solidFill>
              <a:srgbClr val="FFAB19"/>
            </a:solidFill>
            <a:prstDash val="solid"/>
          </a:ln>
        </p:spPr>
      </p:sp>
      <p:sp>
        <p:nvSpPr>
          <p:cNvPr id="10" name="Shape 8"/>
          <p:cNvSpPr/>
          <p:nvPr/>
        </p:nvSpPr>
        <p:spPr>
          <a:xfrm>
            <a:off x="4965700" y="3393877"/>
            <a:ext cx="3683298" cy="400050"/>
          </a:xfrm>
          <a:prstGeom prst="roundRect">
            <a:avLst>
              <a:gd name="adj" fmla="val 22222"/>
            </a:avLst>
          </a:prstGeom>
          <a:solidFill>
            <a:srgbClr val="3373CC"/>
          </a:solidFill>
          <a:ln/>
        </p:spPr>
      </p:sp>
      <p:sp>
        <p:nvSpPr>
          <p:cNvPr id="11" name="Text 9"/>
          <p:cNvSpPr/>
          <p:nvPr/>
        </p:nvSpPr>
        <p:spPr>
          <a:xfrm>
            <a:off x="5111750" y="3482777"/>
            <a:ext cx="349293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go to x: (pick random -220 to 220) y: 170</a:t>
            </a:r>
            <a:endParaRPr lang="en-US" sz="1400" dirty="0"/>
          </a:p>
        </p:txBody>
      </p:sp>
      <p:sp>
        <p:nvSpPr>
          <p:cNvPr id="12" name="Shape 10"/>
          <p:cNvSpPr/>
          <p:nvPr/>
        </p:nvSpPr>
        <p:spPr>
          <a:xfrm>
            <a:off x="4965700" y="3832027"/>
            <a:ext cx="1086743" cy="400050"/>
          </a:xfrm>
          <a:prstGeom prst="roundRect">
            <a:avLst>
              <a:gd name="adj" fmla="val 22222"/>
            </a:avLst>
          </a:prstGeom>
          <a:solidFill>
            <a:srgbClr val="FFAB19"/>
          </a:solidFill>
          <a:ln/>
        </p:spPr>
      </p:sp>
      <p:sp>
        <p:nvSpPr>
          <p:cNvPr id="13" name="Text 11"/>
          <p:cNvSpPr/>
          <p:nvPr/>
        </p:nvSpPr>
        <p:spPr>
          <a:xfrm>
            <a:off x="5111750" y="3920927"/>
            <a:ext cx="84544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repeat 20</a:t>
            </a:r>
            <a:endParaRPr lang="en-US" sz="1400" dirty="0"/>
          </a:p>
        </p:txBody>
      </p:sp>
      <p:sp>
        <p:nvSpPr>
          <p:cNvPr id="14" name="Shape 12"/>
          <p:cNvSpPr/>
          <p:nvPr/>
        </p:nvSpPr>
        <p:spPr>
          <a:xfrm>
            <a:off x="5016500" y="4270177"/>
            <a:ext cx="0" cy="838200"/>
          </a:xfrm>
          <a:prstGeom prst="line">
            <a:avLst/>
          </a:prstGeom>
          <a:noFill/>
          <a:ln w="101600">
            <a:solidFill>
              <a:srgbClr val="FFAB19"/>
            </a:solidFill>
            <a:prstDash val="solid"/>
          </a:ln>
        </p:spPr>
      </p:sp>
      <p:sp>
        <p:nvSpPr>
          <p:cNvPr id="15" name="Shape 13"/>
          <p:cNvSpPr/>
          <p:nvPr/>
        </p:nvSpPr>
        <p:spPr>
          <a:xfrm>
            <a:off x="5257800" y="4270177"/>
            <a:ext cx="1611610" cy="400050"/>
          </a:xfrm>
          <a:prstGeom prst="roundRect">
            <a:avLst>
              <a:gd name="adj" fmla="val 22222"/>
            </a:avLst>
          </a:prstGeom>
          <a:solidFill>
            <a:srgbClr val="3373CC"/>
          </a:solidFill>
          <a:ln/>
        </p:spPr>
      </p:sp>
      <p:sp>
        <p:nvSpPr>
          <p:cNvPr id="16" name="Text 14"/>
          <p:cNvSpPr/>
          <p:nvPr/>
        </p:nvSpPr>
        <p:spPr>
          <a:xfrm>
            <a:off x="5403850" y="4359077"/>
            <a:ext cx="13703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y by -18</a:t>
            </a:r>
            <a:endParaRPr lang="en-US" sz="1400" dirty="0"/>
          </a:p>
        </p:txBody>
      </p:sp>
      <p:sp>
        <p:nvSpPr>
          <p:cNvPr id="17" name="Shape 15"/>
          <p:cNvSpPr/>
          <p:nvPr/>
        </p:nvSpPr>
        <p:spPr>
          <a:xfrm>
            <a:off x="5257800" y="4708327"/>
            <a:ext cx="1778198" cy="400050"/>
          </a:xfrm>
          <a:prstGeom prst="roundRect">
            <a:avLst>
              <a:gd name="adj" fmla="val 22222"/>
            </a:avLst>
          </a:prstGeom>
          <a:solidFill>
            <a:srgbClr val="FFAB19"/>
          </a:solidFill>
          <a:ln/>
        </p:spPr>
      </p:sp>
      <p:sp>
        <p:nvSpPr>
          <p:cNvPr id="18" name="Text 16"/>
          <p:cNvSpPr/>
          <p:nvPr/>
        </p:nvSpPr>
        <p:spPr>
          <a:xfrm>
            <a:off x="5403850" y="4797227"/>
            <a:ext cx="153689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wait 0.02 seconds</a:t>
            </a:r>
            <a:endParaRPr lang="en-US" sz="1400" dirty="0"/>
          </a:p>
        </p:txBody>
      </p:sp>
      <p:sp>
        <p:nvSpPr>
          <p:cNvPr id="19" name="Shape 17"/>
          <p:cNvSpPr/>
          <p:nvPr/>
        </p:nvSpPr>
        <p:spPr>
          <a:xfrm>
            <a:off x="4965700" y="5146477"/>
            <a:ext cx="800100" cy="133350"/>
          </a:xfrm>
          <a:prstGeom prst="roundRect">
            <a:avLst>
              <a:gd name="adj" fmla="val 50000"/>
            </a:avLst>
          </a:prstGeom>
          <a:solidFill>
            <a:srgbClr val="FFAB19"/>
          </a:solidFill>
          <a:ln/>
        </p:spPr>
      </p:sp>
      <p:sp>
        <p:nvSpPr>
          <p:cNvPr id="20" name="Shape 18"/>
          <p:cNvSpPr/>
          <p:nvPr/>
        </p:nvSpPr>
        <p:spPr>
          <a:xfrm>
            <a:off x="4673600" y="5317927"/>
            <a:ext cx="800100" cy="133350"/>
          </a:xfrm>
          <a:prstGeom prst="roundRect">
            <a:avLst>
              <a:gd name="adj" fmla="val 50000"/>
            </a:avLst>
          </a:prstGeom>
          <a:solidFill>
            <a:srgbClr val="FFAB19"/>
          </a:solidFill>
          <a:ln/>
        </p:spPr>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flickers at the top and nothing else"</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No wait inside the falling loop, so a whole drop happens in one frame. Add wait 0.02.</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falls once and stops"</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go to and the repeat need to be wrapped in a forever.</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falls upwards"</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 wrote change y by 18. It needs to be -18. Positive y is up.</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"Scratch has frozen"</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A forever with no wait anywhere inside it. Every forever needs a wait.</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Watch it fall</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Click the flag and watch five drops before you close the lid.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 second thing to catch</a:t>
            </a:r>
            <a:endParaRPr lang="en-US" sz="2100" dirty="0"/>
          </a:p>
        </p:txBody>
      </p:sp>
      <p:sp>
        <p:nvSpPr>
          <p:cNvPr id="7" name="Text 5"/>
          <p:cNvSpPr/>
          <p:nvPr/>
        </p:nvSpPr>
        <p:spPr>
          <a:xfrm>
            <a:off x="10541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another falling sprite with a different look. Hint: right-click the first one and duplicate it — the script comes with it.</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Unpredictable speed</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Use pick random so each drop falls at a different speed. Hint: the wait inside the loop can take a random number.</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Draw a shape with repeat and turn. A square is 4 and 90. What makes a triangle? A hexagon?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the falling object spin as it falls.</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starfield — five objects falling at five different speeds.</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repeat until instead of forever, so the object stops after ten drops.</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3</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you can actually catch them.</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3 — Loops and Randomness</dc:title>
  <dc:subject>PptxGenJS Presentation</dc:subject>
  <dc:creator>PptxGenJS</dc:creator>
  <cp:lastModifiedBy>PptxGenJS</cp:lastModifiedBy>
  <cp:revision>1</cp:revision>
  <dcterms:created xsi:type="dcterms:W3CDTF">2026-09-19T12:31:03Z</dcterms:created>
  <dcterms:modified xsi:type="dcterms:W3CDTF">2026-09-19T12:31:03Z</dcterms:modified>
</cp:coreProperties>
</file>