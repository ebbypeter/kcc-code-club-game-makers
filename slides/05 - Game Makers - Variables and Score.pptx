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class: a cardboard box with SCORE written on it in marker, and a stack of number cards. Genuinely worth the two minutes it takes to make — the physical prop does more for this concept than any explanation you can give. Week 4 skeleton ready for anyone who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Halfway. Say that out loud — four boxes done, four to go, and the game already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bad-object homework specifically. Several of them will have made something very funny and it sets up today perfectly — the bad object is about to start costing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then get the box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the actual box. Put a card with 5 on it inside. set score to 12 — take the 5 out, throw it away, put 12 in. change score by 1 — leave the 12, make it 13. Make them tell you the difference back before you build anything. This distinction is the whole class, and it is where today's bugs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card is the one they will ignore and then hit. Name it now so that when their score starts at forty-seven next game, they can find it themselves. Also insist on lowercase names with no spaces that say what they hold: score, not s, not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new colour, and one new shape: the little rounded (score) reporter, which goes anywhere a number goes. Drop it into a say block to prove it. Make a variable first, on the projector, so they see where the blocks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scripts. Make the variable in front of them so they see the Make a Variable button. Then drop the (score) reporter into a say block to show that a variable can be used anywhere a number can — that generalisation is what makes variables powerful rather than just a scoreboard.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today's inoculation and you must not skip it. Build it, run it, look genuinely horrified as the number explodes, then explain: this exact bug is coming for you in twenty minutes. When it arrives in their own game they will recognise it instead of despairing.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equals operator is a week early but it is intuitive enough to use without a formal lesson — they already have if from last week. Do not explain operators properly here; that is week 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Combining the two is the payoff and several of them will realise, unprompted, that they have just built something they could drop into their real project. Let that thought land — it is the moment variables stop being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Save everything first — today's project build is the one they will most want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it keeps score they will play it obsessively, and that is when the course really takes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inside the if matters: change score, THEN go to. Let them hit the runaway-score bug rather than warning them off it — it is a great bug because the explanation is so satisfying. Position the score display top-left; right-click it for the large readout if they want. Finish with a playtest and a high-score comparison; the competitive energy this releases is the best thing that happens all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rather than tell: how many times is your computer checking whether you are touching? And how long are you touching for? They can usually assemble the answer themselves from those two questions. If they put change score AFTER the go to, or left the go to out, the score runs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be loud. Comparing scores is the single strongest motivator you will get all term and it costs you four minutes. Make a note of the top score and open Show and Tell with it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volunteer: set versus change is the whole class. When a child is stuck, do not look at their code first — ask them, do you want to replace what is in the box, or add to it? Nine times out of ten they answer correctly and then fix their own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back up, brief the homework. Note who is falling behind — there are three weeks left and the showcase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hint they need: if score &gt; highscore then set highscore to score. Point out the trap on the handout as well as saying it — putting set highscore to 0 under the green flag is the obvious move and it is exactly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one and two are genuine head starts on weeks six and seven. Anyone who gets lives working today will sail through next week and can help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Game Over does a lot of work with this age group.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B"/>
        </a:solidFill>
      </p:bgPr>
    </p:bg>
    <p:spTree>
      <p:nvGrpSpPr>
        <p:cNvPr id="1" name=""/>
        <p:cNvGrpSpPr/>
        <p:nvPr/>
      </p:nvGrpSpPr>
      <p:grpSpPr>
        <a:xfrm>
          <a:off x="0" y="0"/>
          <a:ext cx="0" cy="0"/>
          <a:chOff x="0" y="0"/>
          <a:chExt cx="0" cy="0"/>
        </a:xfrm>
      </p:grpSpPr>
      <p:pic>
        <p:nvPicPr>
          <p:cNvPr id="2" name="Image 0" descr="Kerala Cultural Club logo">    </p:cNvPr>
          <p:cNvPicPr>
            <a:picLocks noChangeAspect="1"/>
          </p:cNvPicPr>
          <p:nvPr/>
        </p:nvPicPr>
        <p:blipFill>
          <a:blip r:embed="rId1"/>
          <a:srcRect l="0" r="0" t="0" b="0"/>
          <a:stretch/>
        </p:blipFill>
        <p:spPr>
          <a:xfrm>
            <a:off x="9779000" y="952500"/>
            <a:ext cx="1460500" cy="1460500"/>
          </a:xfrm>
          <a:prstGeom prst="rect">
            <a:avLst/>
          </a:prstGeom>
        </p:spPr>
      </p:pic>
      <p:sp>
        <p:nvSpPr>
          <p:cNvPr id="3" name="Text 0"/>
          <p:cNvSpPr/>
          <p:nvPr/>
        </p:nvSpPr>
        <p:spPr>
          <a:xfrm>
            <a:off x="812800" y="131990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KCC CODE CLUB · GAME MAKERS</a:t>
            </a:r>
            <a:endParaRPr lang="en-US" sz="1300" dirty="0"/>
          </a:p>
        </p:txBody>
      </p:sp>
      <p:sp>
        <p:nvSpPr>
          <p:cNvPr id="4" name="Text 1"/>
          <p:cNvSpPr/>
          <p:nvPr/>
        </p:nvSpPr>
        <p:spPr>
          <a:xfrm>
            <a:off x="812800" y="1779588"/>
            <a:ext cx="7717790" cy="2590006"/>
          </a:xfrm>
          <a:prstGeom prst="rect">
            <a:avLst/>
          </a:prstGeom>
          <a:noFill/>
          <a:ln/>
        </p:spPr>
        <p:txBody>
          <a:bodyPr wrap="square" lIns="0" tIns="0" rIns="0" bIns="0" rtlCol="0" anchor="t">
            <a:normAutofit/>
          </a:bodyPr>
          <a:lstStyle/>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Class 5</a:t>
            </a:r>
            <a:endParaRPr lang="en-US" sz="6600" dirty="0"/>
          </a:p>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Variables and Score</a:t>
            </a:r>
            <a:endParaRPr lang="en-US" sz="6600" dirty="0"/>
          </a:p>
        </p:txBody>
      </p:sp>
      <p:sp>
        <p:nvSpPr>
          <p:cNvPr id="5" name="Shape 2"/>
          <p:cNvSpPr/>
          <p:nvPr/>
        </p:nvSpPr>
        <p:spPr>
          <a:xfrm>
            <a:off x="812800" y="4572794"/>
            <a:ext cx="1397000" cy="50800"/>
          </a:xfrm>
          <a:prstGeom prst="roundRect">
            <a:avLst>
              <a:gd name="adj" fmla="val 50000"/>
            </a:avLst>
          </a:prstGeom>
          <a:solidFill>
            <a:srgbClr val="C9A227"/>
          </a:solidFill>
          <a:ln/>
        </p:spPr>
      </p:sp>
      <p:sp>
        <p:nvSpPr>
          <p:cNvPr id="6" name="Text 3"/>
          <p:cNvSpPr/>
          <p:nvPr/>
        </p:nvSpPr>
        <p:spPr>
          <a:xfrm>
            <a:off x="812800" y="4852194"/>
            <a:ext cx="771779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49A7E"/>
                </a:solidFill>
                <a:latin typeface="Nunito Sans" pitchFamily="34" charset="0"/>
                <a:ea typeface="Nunito Sans" pitchFamily="34" charset="-122"/>
                <a:cs typeface="Nunito Sans" pitchFamily="34" charset="-120"/>
              </a:rPr>
              <a:t>A variable is a labelled box. You can put a number in it, look at what's inside, and change it while the program runs.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SKY CATCHER · WEEK 5 OF 8</a:t>
            </a:r>
            <a:endParaRPr lang="en-US" sz="1300" dirty="0"/>
          </a:p>
        </p:txBody>
      </p:sp>
      <p:sp>
        <p:nvSpPr>
          <p:cNvPr id="3" name="Text 1"/>
          <p:cNvSpPr/>
          <p:nvPr/>
        </p:nvSpPr>
        <p:spPr>
          <a:xfrm>
            <a:off x="812800" y="2102842"/>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Your game, week by week</a:t>
            </a:r>
            <a:endParaRPr lang="en-US" sz="4000" dirty="0"/>
          </a:p>
        </p:txBody>
      </p:sp>
      <p:sp>
        <p:nvSpPr>
          <p:cNvPr id="4" name="Shape 2"/>
          <p:cNvSpPr/>
          <p:nvPr/>
        </p:nvSpPr>
        <p:spPr>
          <a:xfrm>
            <a:off x="819150" y="3716734"/>
            <a:ext cx="2514600" cy="857845"/>
          </a:xfrm>
          <a:prstGeom prst="roundRect">
            <a:avLst>
              <a:gd name="adj" fmla="val 12584"/>
            </a:avLst>
          </a:prstGeom>
          <a:solidFill>
            <a:srgbClr val="FFFCF4"/>
          </a:solidFill>
          <a:ln w="12700">
            <a:solidFill>
              <a:srgbClr val="E4D7BE"/>
            </a:solidFill>
            <a:prstDash val="solid"/>
          </a:ln>
        </p:spPr>
      </p:sp>
      <p:sp>
        <p:nvSpPr>
          <p:cNvPr id="5" name="Text 3"/>
          <p:cNvSpPr/>
          <p:nvPr/>
        </p:nvSpPr>
        <p:spPr>
          <a:xfrm>
            <a:off x="9906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1 · DONE</a:t>
            </a:r>
            <a:endParaRPr lang="en-US" sz="1200" dirty="0"/>
          </a:p>
        </p:txBody>
      </p:sp>
      <p:sp>
        <p:nvSpPr>
          <p:cNvPr id="6" name="Text 4"/>
          <p:cNvSpPr/>
          <p:nvPr/>
        </p:nvSpPr>
        <p:spPr>
          <a:xfrm>
            <a:off x="9906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says hello</a:t>
            </a:r>
            <a:endParaRPr lang="en-US" sz="1500" dirty="0"/>
          </a:p>
        </p:txBody>
      </p:sp>
      <p:sp>
        <p:nvSpPr>
          <p:cNvPr id="7" name="Shape 5"/>
          <p:cNvSpPr/>
          <p:nvPr/>
        </p:nvSpPr>
        <p:spPr>
          <a:xfrm>
            <a:off x="3498850" y="3716734"/>
            <a:ext cx="2514600" cy="857845"/>
          </a:xfrm>
          <a:prstGeom prst="roundRect">
            <a:avLst>
              <a:gd name="adj" fmla="val 12584"/>
            </a:avLst>
          </a:prstGeom>
          <a:solidFill>
            <a:srgbClr val="FFFCF4"/>
          </a:solidFill>
          <a:ln w="12700">
            <a:solidFill>
              <a:srgbClr val="E4D7BE"/>
            </a:solidFill>
            <a:prstDash val="solid"/>
          </a:ln>
        </p:spPr>
      </p:sp>
      <p:sp>
        <p:nvSpPr>
          <p:cNvPr id="8" name="Text 6"/>
          <p:cNvSpPr/>
          <p:nvPr/>
        </p:nvSpPr>
        <p:spPr>
          <a:xfrm>
            <a:off x="36703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2 · DONE</a:t>
            </a:r>
            <a:endParaRPr lang="en-US" sz="1200" dirty="0"/>
          </a:p>
        </p:txBody>
      </p:sp>
      <p:sp>
        <p:nvSpPr>
          <p:cNvPr id="9" name="Text 7"/>
          <p:cNvSpPr/>
          <p:nvPr/>
        </p:nvSpPr>
        <p:spPr>
          <a:xfrm>
            <a:off x="36703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drive it</a:t>
            </a:r>
            <a:endParaRPr lang="en-US" sz="1500" dirty="0"/>
          </a:p>
        </p:txBody>
      </p:sp>
      <p:sp>
        <p:nvSpPr>
          <p:cNvPr id="10" name="Shape 8"/>
          <p:cNvSpPr/>
          <p:nvPr/>
        </p:nvSpPr>
        <p:spPr>
          <a:xfrm>
            <a:off x="6178550" y="3716734"/>
            <a:ext cx="2514600" cy="857845"/>
          </a:xfrm>
          <a:prstGeom prst="roundRect">
            <a:avLst>
              <a:gd name="adj" fmla="val 12584"/>
            </a:avLst>
          </a:prstGeom>
          <a:solidFill>
            <a:srgbClr val="FFFCF4"/>
          </a:solidFill>
          <a:ln w="12700">
            <a:solidFill>
              <a:srgbClr val="E4D7BE"/>
            </a:solidFill>
            <a:prstDash val="solid"/>
          </a:ln>
        </p:spPr>
      </p:sp>
      <p:sp>
        <p:nvSpPr>
          <p:cNvPr id="11" name="Text 9"/>
          <p:cNvSpPr/>
          <p:nvPr/>
        </p:nvSpPr>
        <p:spPr>
          <a:xfrm>
            <a:off x="63500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3 · DONE</a:t>
            </a:r>
            <a:endParaRPr lang="en-US" sz="1200" dirty="0"/>
          </a:p>
        </p:txBody>
      </p:sp>
      <p:sp>
        <p:nvSpPr>
          <p:cNvPr id="12" name="Text 10"/>
          <p:cNvSpPr/>
          <p:nvPr/>
        </p:nvSpPr>
        <p:spPr>
          <a:xfrm>
            <a:off x="63500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things fall from the sky</a:t>
            </a:r>
            <a:endParaRPr lang="en-US" sz="1500" dirty="0"/>
          </a:p>
        </p:txBody>
      </p:sp>
      <p:sp>
        <p:nvSpPr>
          <p:cNvPr id="13" name="Shape 11"/>
          <p:cNvSpPr/>
          <p:nvPr/>
        </p:nvSpPr>
        <p:spPr>
          <a:xfrm>
            <a:off x="8858250" y="3716734"/>
            <a:ext cx="2514600" cy="857845"/>
          </a:xfrm>
          <a:prstGeom prst="roundRect">
            <a:avLst>
              <a:gd name="adj" fmla="val 12584"/>
            </a:avLst>
          </a:prstGeom>
          <a:solidFill>
            <a:srgbClr val="FFFCF4"/>
          </a:solidFill>
          <a:ln w="12700">
            <a:solidFill>
              <a:srgbClr val="E4D7BE"/>
            </a:solidFill>
            <a:prstDash val="solid"/>
          </a:ln>
        </p:spPr>
      </p:sp>
      <p:sp>
        <p:nvSpPr>
          <p:cNvPr id="14" name="Text 12"/>
          <p:cNvSpPr/>
          <p:nvPr/>
        </p:nvSpPr>
        <p:spPr>
          <a:xfrm>
            <a:off x="90297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E6B3A"/>
                </a:solidFill>
                <a:latin typeface="Nunito Sans" pitchFamily="34" charset="0"/>
                <a:ea typeface="Nunito Sans" pitchFamily="34" charset="-122"/>
                <a:cs typeface="Nunito Sans" pitchFamily="34" charset="-120"/>
              </a:rPr>
              <a:t>WEEK 4 · DONE</a:t>
            </a:r>
            <a:endParaRPr lang="en-US" sz="1200" dirty="0"/>
          </a:p>
        </p:txBody>
      </p:sp>
      <p:sp>
        <p:nvSpPr>
          <p:cNvPr id="15" name="Text 13"/>
          <p:cNvSpPr/>
          <p:nvPr/>
        </p:nvSpPr>
        <p:spPr>
          <a:xfrm>
            <a:off x="90297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5C4A46"/>
                </a:solidFill>
                <a:latin typeface="Nunito Sans" pitchFamily="34" charset="0"/>
                <a:ea typeface="Nunito Sans" pitchFamily="34" charset="-122"/>
                <a:cs typeface="Nunito Sans" pitchFamily="34" charset="-120"/>
              </a:rPr>
              <a:t>you can catch them</a:t>
            </a:r>
            <a:endParaRPr lang="en-US" sz="1500" dirty="0"/>
          </a:p>
        </p:txBody>
      </p:sp>
      <p:sp>
        <p:nvSpPr>
          <p:cNvPr id="16" name="Shape 14"/>
          <p:cNvSpPr/>
          <p:nvPr/>
        </p:nvSpPr>
        <p:spPr>
          <a:xfrm>
            <a:off x="819150" y="4739680"/>
            <a:ext cx="2514600" cy="1095970"/>
          </a:xfrm>
          <a:prstGeom prst="roundRect">
            <a:avLst>
              <a:gd name="adj" fmla="val 9850"/>
            </a:avLst>
          </a:prstGeom>
          <a:solidFill>
            <a:srgbClr val="C9A227"/>
          </a:solidFill>
          <a:ln w="12700">
            <a:solidFill>
              <a:srgbClr val="A8861C"/>
            </a:solidFill>
            <a:prstDash val="solid"/>
          </a:ln>
        </p:spPr>
      </p:sp>
      <p:sp>
        <p:nvSpPr>
          <p:cNvPr id="17" name="Text 15"/>
          <p:cNvSpPr/>
          <p:nvPr/>
        </p:nvSpPr>
        <p:spPr>
          <a:xfrm>
            <a:off x="9906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A2F04"/>
                </a:solidFill>
                <a:latin typeface="Nunito Sans" pitchFamily="34" charset="0"/>
                <a:ea typeface="Nunito Sans" pitchFamily="34" charset="-122"/>
                <a:cs typeface="Nunito Sans" pitchFamily="34" charset="-120"/>
              </a:rPr>
              <a:t>WEEK 5 · TODAY</a:t>
            </a:r>
            <a:endParaRPr lang="en-US" sz="1200" dirty="0"/>
          </a:p>
        </p:txBody>
      </p:sp>
      <p:sp>
        <p:nvSpPr>
          <p:cNvPr id="18" name="Text 16"/>
          <p:cNvSpPr/>
          <p:nvPr/>
        </p:nvSpPr>
        <p:spPr>
          <a:xfrm>
            <a:off x="9906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2E1015"/>
                </a:solidFill>
                <a:latin typeface="Nunito Sans" pitchFamily="34" charset="0"/>
                <a:ea typeface="Nunito Sans" pitchFamily="34" charset="-122"/>
                <a:cs typeface="Nunito Sans" pitchFamily="34" charset="-120"/>
              </a:rPr>
              <a:t>it keeps score</a:t>
            </a:r>
            <a:endParaRPr lang="en-US" sz="1500" dirty="0"/>
          </a:p>
        </p:txBody>
      </p:sp>
      <p:sp>
        <p:nvSpPr>
          <p:cNvPr id="19" name="Shape 17"/>
          <p:cNvSpPr/>
          <p:nvPr/>
        </p:nvSpPr>
        <p:spPr>
          <a:xfrm>
            <a:off x="3498850" y="4739680"/>
            <a:ext cx="2514600" cy="1095970"/>
          </a:xfrm>
          <a:prstGeom prst="roundRect">
            <a:avLst>
              <a:gd name="adj" fmla="val 9850"/>
            </a:avLst>
          </a:prstGeom>
          <a:solidFill>
            <a:srgbClr val="F4E9D2"/>
          </a:solidFill>
          <a:ln w="12700">
            <a:solidFill>
              <a:srgbClr val="DFD0B4"/>
            </a:solidFill>
            <a:prstDash val="solid"/>
          </a:ln>
        </p:spPr>
      </p:sp>
      <p:sp>
        <p:nvSpPr>
          <p:cNvPr id="20" name="Text 18"/>
          <p:cNvSpPr/>
          <p:nvPr/>
        </p:nvSpPr>
        <p:spPr>
          <a:xfrm>
            <a:off x="36703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6</a:t>
            </a:r>
            <a:endParaRPr lang="en-US" sz="1200" dirty="0"/>
          </a:p>
        </p:txBody>
      </p:sp>
      <p:sp>
        <p:nvSpPr>
          <p:cNvPr id="21" name="Text 19"/>
          <p:cNvSpPr/>
          <p:nvPr/>
        </p:nvSpPr>
        <p:spPr>
          <a:xfrm>
            <a:off x="3670300" y="5187950"/>
            <a:ext cx="2236851"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lives, Game Over, play again</a:t>
            </a:r>
            <a:endParaRPr lang="en-US" sz="1500" dirty="0"/>
          </a:p>
        </p:txBody>
      </p:sp>
      <p:sp>
        <p:nvSpPr>
          <p:cNvPr id="22" name="Shape 20"/>
          <p:cNvSpPr/>
          <p:nvPr/>
        </p:nvSpPr>
        <p:spPr>
          <a:xfrm>
            <a:off x="6178550" y="4739680"/>
            <a:ext cx="2514600" cy="1095970"/>
          </a:xfrm>
          <a:prstGeom prst="roundRect">
            <a:avLst>
              <a:gd name="adj" fmla="val 9850"/>
            </a:avLst>
          </a:prstGeom>
          <a:solidFill>
            <a:srgbClr val="F4E9D2"/>
          </a:solidFill>
          <a:ln w="12700">
            <a:solidFill>
              <a:srgbClr val="DFD0B4"/>
            </a:solidFill>
            <a:prstDash val="solid"/>
          </a:ln>
        </p:spPr>
      </p:sp>
      <p:sp>
        <p:nvSpPr>
          <p:cNvPr id="23" name="Text 21"/>
          <p:cNvSpPr/>
          <p:nvPr/>
        </p:nvSpPr>
        <p:spPr>
          <a:xfrm>
            <a:off x="63500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7</a:t>
            </a:r>
            <a:endParaRPr lang="en-US" sz="1200" dirty="0"/>
          </a:p>
        </p:txBody>
      </p:sp>
      <p:sp>
        <p:nvSpPr>
          <p:cNvPr id="24" name="Text 22"/>
          <p:cNvSpPr/>
          <p:nvPr/>
        </p:nvSpPr>
        <p:spPr>
          <a:xfrm>
            <a:off x="63500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it gets harder</a:t>
            </a:r>
            <a:endParaRPr lang="en-US" sz="1500" dirty="0"/>
          </a:p>
        </p:txBody>
      </p:sp>
      <p:sp>
        <p:nvSpPr>
          <p:cNvPr id="25" name="Shape 23"/>
          <p:cNvSpPr/>
          <p:nvPr/>
        </p:nvSpPr>
        <p:spPr>
          <a:xfrm>
            <a:off x="8858250" y="4739680"/>
            <a:ext cx="2514600" cy="1095970"/>
          </a:xfrm>
          <a:prstGeom prst="roundRect">
            <a:avLst>
              <a:gd name="adj" fmla="val 9850"/>
            </a:avLst>
          </a:prstGeom>
          <a:solidFill>
            <a:srgbClr val="F4E9D2"/>
          </a:solidFill>
          <a:ln w="12700">
            <a:solidFill>
              <a:srgbClr val="DFD0B4"/>
            </a:solidFill>
            <a:prstDash val="solid"/>
          </a:ln>
        </p:spPr>
      </p:sp>
      <p:sp>
        <p:nvSpPr>
          <p:cNvPr id="26" name="Text 24"/>
          <p:cNvSpPr/>
          <p:nvPr/>
        </p:nvSpPr>
        <p:spPr>
          <a:xfrm>
            <a:off x="90297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8</a:t>
            </a:r>
            <a:endParaRPr lang="en-US" sz="1200" dirty="0"/>
          </a:p>
        </p:txBody>
      </p:sp>
      <p:sp>
        <p:nvSpPr>
          <p:cNvPr id="27" name="Text 25"/>
          <p:cNvSpPr/>
          <p:nvPr/>
        </p:nvSpPr>
        <p:spPr>
          <a:xfrm>
            <a:off x="90297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show your family</a:t>
            </a:r>
            <a:endParaRPr lang="en-US" sz="1500" dirty="0"/>
          </a:p>
        </p:txBody>
      </p:sp>
      <p:sp>
        <p:nvSpPr>
          <p:cNvPr id="28" name="Text 2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2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SHOW &amp;AMP; TELL · FIRST TEN MINUTES</a:t>
            </a:r>
            <a:endParaRPr lang="en-US" sz="1300" dirty="0"/>
          </a:p>
        </p:txBody>
      </p:sp>
      <p:sp>
        <p:nvSpPr>
          <p:cNvPr id="3" name="Text 1"/>
          <p:cNvSpPr/>
          <p:nvPr/>
        </p:nvSpPr>
        <p:spPr>
          <a:xfrm>
            <a:off x="812800" y="2515691"/>
            <a:ext cx="9810750" cy="683716"/>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2E1015"/>
                </a:solidFill>
                <a:latin typeface="Fredoka" pitchFamily="34" charset="0"/>
                <a:ea typeface="Fredoka" pitchFamily="34" charset="-122"/>
                <a:cs typeface="Fredoka" pitchFamily="34" charset="-120"/>
              </a:rPr>
              <a:t>Who brought something?</a:t>
            </a:r>
            <a:endParaRPr lang="en-US" sz="4800" dirty="0"/>
          </a:p>
        </p:txBody>
      </p:sp>
      <p:sp>
        <p:nvSpPr>
          <p:cNvPr id="4" name="Shape 2"/>
          <p:cNvSpPr/>
          <p:nvPr/>
        </p:nvSpPr>
        <p:spPr>
          <a:xfrm>
            <a:off x="819150" y="4652070"/>
            <a:ext cx="10553700" cy="1183580"/>
          </a:xfrm>
          <a:prstGeom prst="roundRect">
            <a:avLst>
              <a:gd name="adj" fmla="val 11267"/>
            </a:avLst>
          </a:prstGeom>
          <a:solidFill>
            <a:srgbClr val="FFFCF4"/>
          </a:solidFill>
          <a:ln w="12700">
            <a:solidFill>
              <a:srgbClr val="E4D7BE"/>
            </a:solidFill>
            <a:prstDash val="solid"/>
          </a:ln>
        </p:spPr>
      </p:sp>
      <p:sp>
        <p:nvSpPr>
          <p:cNvPr id="5" name="Text 3"/>
          <p:cNvSpPr/>
          <p:nvPr/>
        </p:nvSpPr>
        <p:spPr>
          <a:xfrm>
            <a:off x="1054100" y="4887020"/>
            <a:ext cx="103863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8C2332"/>
                </a:solidFill>
                <a:latin typeface="Fredoka" pitchFamily="34" charset="0"/>
                <a:ea typeface="Fredoka" pitchFamily="34" charset="-122"/>
                <a:cs typeface="Fredoka" pitchFamily="34" charset="-120"/>
              </a:rPr>
              <a:t>Who made a bad thing to catch? Show us the funniest one.</a:t>
            </a:r>
            <a:endParaRPr lang="en-US" sz="2200" dirty="0"/>
          </a:p>
        </p:txBody>
      </p:sp>
      <p:sp>
        <p:nvSpPr>
          <p:cNvPr id="6" name="Text 4"/>
          <p:cNvSpPr/>
          <p:nvPr/>
        </p:nvSpPr>
        <p:spPr>
          <a:xfrm>
            <a:off x="1054100" y="5298480"/>
            <a:ext cx="1038631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Come up, plug in, show us. Tell us one thing that went wrong and how you fixed it.</a:t>
            </a:r>
            <a:endParaRPr lang="en-US" sz="1700" dirty="0"/>
          </a:p>
        </p:txBody>
      </p:sp>
      <p:sp>
        <p:nvSpPr>
          <p:cNvPr id="7" name="Text 5"/>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8"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TODAY</a:t>
            </a:r>
            <a:endParaRPr lang="en-US" sz="1300" dirty="0"/>
          </a:p>
        </p:txBody>
      </p:sp>
      <p:sp>
        <p:nvSpPr>
          <p:cNvPr id="3" name="Text 1"/>
          <p:cNvSpPr/>
          <p:nvPr/>
        </p:nvSpPr>
        <p:spPr>
          <a:xfrm>
            <a:off x="812800" y="229939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Here's the plan</a:t>
            </a:r>
            <a:endParaRPr lang="en-US" sz="4000" dirty="0"/>
          </a:p>
        </p:txBody>
      </p:sp>
      <p:sp>
        <p:nvSpPr>
          <p:cNvPr id="4" name="Shape 2"/>
          <p:cNvSpPr/>
          <p:nvPr/>
        </p:nvSpPr>
        <p:spPr>
          <a:xfrm>
            <a:off x="819150" y="4109839"/>
            <a:ext cx="3373934" cy="1725811"/>
          </a:xfrm>
          <a:prstGeom prst="roundRect">
            <a:avLst>
              <a:gd name="adj" fmla="val 7727"/>
            </a:avLst>
          </a:prstGeom>
          <a:solidFill>
            <a:srgbClr val="FFFCF4"/>
          </a:solidFill>
          <a:ln w="12700">
            <a:solidFill>
              <a:srgbClr val="E4D7BE"/>
            </a:solidFill>
            <a:prstDash val="solid"/>
          </a:ln>
        </p:spPr>
      </p:sp>
      <p:sp>
        <p:nvSpPr>
          <p:cNvPr id="5" name="Text 3"/>
          <p:cNvSpPr/>
          <p:nvPr/>
        </p:nvSpPr>
        <p:spPr>
          <a:xfrm>
            <a:off x="1054100"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1</a:t>
            </a:r>
            <a:endParaRPr lang="en-US" sz="1400" dirty="0"/>
          </a:p>
        </p:txBody>
      </p:sp>
      <p:sp>
        <p:nvSpPr>
          <p:cNvPr id="6" name="Text 4"/>
          <p:cNvSpPr/>
          <p:nvPr/>
        </p:nvSpPr>
        <p:spPr>
          <a:xfrm>
            <a:off x="1054100"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A box with a label</a:t>
            </a:r>
            <a:endParaRPr lang="en-US" sz="2200" dirty="0"/>
          </a:p>
        </p:txBody>
      </p:sp>
      <p:sp>
        <p:nvSpPr>
          <p:cNvPr id="7" name="Text 5"/>
          <p:cNvSpPr/>
          <p:nvPr/>
        </p:nvSpPr>
        <p:spPr>
          <a:xfrm>
            <a:off x="1054100"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That's all a variable is. It holds a number you can change.</a:t>
            </a:r>
            <a:endParaRPr lang="en-US" sz="1500" dirty="0"/>
          </a:p>
        </p:txBody>
      </p:sp>
      <p:sp>
        <p:nvSpPr>
          <p:cNvPr id="8" name="Shape 6"/>
          <p:cNvSpPr/>
          <p:nvPr/>
        </p:nvSpPr>
        <p:spPr>
          <a:xfrm>
            <a:off x="4408984" y="4109839"/>
            <a:ext cx="3374033" cy="1725811"/>
          </a:xfrm>
          <a:prstGeom prst="roundRect">
            <a:avLst>
              <a:gd name="adj" fmla="val 7727"/>
            </a:avLst>
          </a:prstGeom>
          <a:solidFill>
            <a:srgbClr val="FFFCF4"/>
          </a:solidFill>
          <a:ln w="12700">
            <a:solidFill>
              <a:srgbClr val="E4D7BE"/>
            </a:solidFill>
            <a:prstDash val="solid"/>
          </a:ln>
        </p:spPr>
      </p:sp>
      <p:sp>
        <p:nvSpPr>
          <p:cNvPr id="9" name="Text 7"/>
          <p:cNvSpPr/>
          <p:nvPr/>
        </p:nvSpPr>
        <p:spPr>
          <a:xfrm>
            <a:off x="4643934" y="4344789"/>
            <a:ext cx="2991257"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2</a:t>
            </a:r>
            <a:endParaRPr lang="en-US" sz="1400" dirty="0"/>
          </a:p>
        </p:txBody>
      </p:sp>
      <p:sp>
        <p:nvSpPr>
          <p:cNvPr id="10" name="Text 8"/>
          <p:cNvSpPr/>
          <p:nvPr/>
        </p:nvSpPr>
        <p:spPr>
          <a:xfrm>
            <a:off x="4643934" y="4669830"/>
            <a:ext cx="299125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set and change</a:t>
            </a:r>
            <a:endParaRPr lang="en-US" sz="2200" dirty="0"/>
          </a:p>
        </p:txBody>
      </p:sp>
      <p:sp>
        <p:nvSpPr>
          <p:cNvPr id="11" name="Text 9"/>
          <p:cNvSpPr/>
          <p:nvPr/>
        </p:nvSpPr>
        <p:spPr>
          <a:xfrm>
            <a:off x="4643934" y="5067300"/>
            <a:ext cx="299125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Two ways to put something in the box. They are not the same.</a:t>
            </a:r>
            <a:endParaRPr lang="en-US" sz="1500" dirty="0"/>
          </a:p>
        </p:txBody>
      </p:sp>
      <p:sp>
        <p:nvSpPr>
          <p:cNvPr id="12" name="Shape 10"/>
          <p:cNvSpPr/>
          <p:nvPr/>
        </p:nvSpPr>
        <p:spPr>
          <a:xfrm>
            <a:off x="7998916" y="4109839"/>
            <a:ext cx="3373934" cy="1725811"/>
          </a:xfrm>
          <a:prstGeom prst="roundRect">
            <a:avLst>
              <a:gd name="adj" fmla="val 7727"/>
            </a:avLst>
          </a:prstGeom>
          <a:solidFill>
            <a:srgbClr val="FFFCF4"/>
          </a:solidFill>
          <a:ln w="12700">
            <a:solidFill>
              <a:srgbClr val="E4D7BE"/>
            </a:solidFill>
            <a:prstDash val="solid"/>
          </a:ln>
        </p:spPr>
      </p:sp>
      <p:sp>
        <p:nvSpPr>
          <p:cNvPr id="13" name="Text 11"/>
          <p:cNvSpPr/>
          <p:nvPr/>
        </p:nvSpPr>
        <p:spPr>
          <a:xfrm>
            <a:off x="8233866"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3</a:t>
            </a:r>
            <a:endParaRPr lang="en-US" sz="1400" dirty="0"/>
          </a:p>
        </p:txBody>
      </p:sp>
      <p:sp>
        <p:nvSpPr>
          <p:cNvPr id="14" name="Text 12"/>
          <p:cNvSpPr/>
          <p:nvPr/>
        </p:nvSpPr>
        <p:spPr>
          <a:xfrm>
            <a:off x="8233866"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Your game keeps score</a:t>
            </a:r>
            <a:endParaRPr lang="en-US" sz="2200" dirty="0"/>
          </a:p>
        </p:txBody>
      </p:sp>
      <p:sp>
        <p:nvSpPr>
          <p:cNvPr id="15" name="Text 13"/>
          <p:cNvSpPr/>
          <p:nvPr/>
        </p:nvSpPr>
        <p:spPr>
          <a:xfrm>
            <a:off x="8233866"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Good catches add. Bad ones take away.</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2451993"/>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911673"/>
            <a:ext cx="9810750" cy="651173"/>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A variable is a box with a label on it.</a:t>
            </a:r>
            <a:endParaRPr lang="en-US" sz="4400" dirty="0"/>
          </a:p>
        </p:txBody>
      </p:sp>
      <p:sp>
        <p:nvSpPr>
          <p:cNvPr id="4" name="Text 2"/>
          <p:cNvSpPr/>
          <p:nvPr/>
        </p:nvSpPr>
        <p:spPr>
          <a:xfrm>
            <a:off x="812800" y="3766046"/>
            <a:ext cx="8502650" cy="66536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set throws away what's inside and puts something new in. change adds to what's already there.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ONLY TWO THINGS YOU CAN DO TO A BOX</a:t>
            </a:r>
            <a:endParaRPr lang="en-US" sz="1300" dirty="0"/>
          </a:p>
        </p:txBody>
      </p:sp>
      <p:sp>
        <p:nvSpPr>
          <p:cNvPr id="3" name="Text 1"/>
          <p:cNvSpPr/>
          <p:nvPr/>
        </p:nvSpPr>
        <p:spPr>
          <a:xfrm>
            <a:off x="812800" y="223907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set, and change</a:t>
            </a:r>
            <a:endParaRPr lang="en-US" sz="4000" dirty="0"/>
          </a:p>
        </p:txBody>
      </p:sp>
      <p:sp>
        <p:nvSpPr>
          <p:cNvPr id="4" name="Shape 2"/>
          <p:cNvSpPr/>
          <p:nvPr/>
        </p:nvSpPr>
        <p:spPr>
          <a:xfrm>
            <a:off x="819150" y="3989090"/>
            <a:ext cx="3373934" cy="1846560"/>
          </a:xfrm>
          <a:prstGeom prst="roundRect">
            <a:avLst>
              <a:gd name="adj" fmla="val 7222"/>
            </a:avLst>
          </a:prstGeom>
          <a:solidFill>
            <a:srgbClr val="FFFCF4"/>
          </a:solidFill>
          <a:ln w="12700">
            <a:solidFill>
              <a:srgbClr val="E4D7BE"/>
            </a:solidFill>
            <a:prstDash val="solid"/>
          </a:ln>
        </p:spPr>
      </p:sp>
      <p:sp>
        <p:nvSpPr>
          <p:cNvPr id="5" name="Text 3"/>
          <p:cNvSpPr/>
          <p:nvPr/>
        </p:nvSpPr>
        <p:spPr>
          <a:xfrm>
            <a:off x="1054100" y="4224040"/>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set score to 0</a:t>
            </a:r>
            <a:endParaRPr lang="en-US" sz="1900" dirty="0"/>
          </a:p>
        </p:txBody>
      </p:sp>
      <p:sp>
        <p:nvSpPr>
          <p:cNvPr id="6" name="Text 4"/>
          <p:cNvSpPr/>
          <p:nvPr/>
        </p:nvSpPr>
        <p:spPr>
          <a:xfrm>
            <a:off x="1054100" y="4577655"/>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Empty the box. Put a zero in. Whatever was there is gone.</a:t>
            </a:r>
            <a:endParaRPr lang="en-US" sz="1450" dirty="0"/>
          </a:p>
        </p:txBody>
      </p:sp>
      <p:sp>
        <p:nvSpPr>
          <p:cNvPr id="7" name="Shape 5"/>
          <p:cNvSpPr/>
          <p:nvPr/>
        </p:nvSpPr>
        <p:spPr>
          <a:xfrm>
            <a:off x="4408984" y="3989090"/>
            <a:ext cx="3374033" cy="1846560"/>
          </a:xfrm>
          <a:prstGeom prst="roundRect">
            <a:avLst>
              <a:gd name="adj" fmla="val 7222"/>
            </a:avLst>
          </a:prstGeom>
          <a:solidFill>
            <a:srgbClr val="FFFCF4"/>
          </a:solidFill>
          <a:ln w="12700">
            <a:solidFill>
              <a:srgbClr val="E4D7BE"/>
            </a:solidFill>
            <a:prstDash val="solid"/>
          </a:ln>
        </p:spPr>
      </p:sp>
      <p:sp>
        <p:nvSpPr>
          <p:cNvPr id="8" name="Text 6"/>
          <p:cNvSpPr/>
          <p:nvPr/>
        </p:nvSpPr>
        <p:spPr>
          <a:xfrm>
            <a:off x="4643934" y="4224040"/>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change score by 1</a:t>
            </a:r>
            <a:endParaRPr lang="en-US" sz="1900" dirty="0"/>
          </a:p>
        </p:txBody>
      </p:sp>
      <p:sp>
        <p:nvSpPr>
          <p:cNvPr id="9" name="Text 7"/>
          <p:cNvSpPr/>
          <p:nvPr/>
        </p:nvSpPr>
        <p:spPr>
          <a:xfrm>
            <a:off x="4643934" y="4577655"/>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Leave what's in there. Add one to it.</a:t>
            </a:r>
            <a:endParaRPr lang="en-US" sz="1450" dirty="0"/>
          </a:p>
        </p:txBody>
      </p:sp>
      <p:sp>
        <p:nvSpPr>
          <p:cNvPr id="10" name="Shape 8"/>
          <p:cNvSpPr/>
          <p:nvPr/>
        </p:nvSpPr>
        <p:spPr>
          <a:xfrm>
            <a:off x="7998916" y="3989090"/>
            <a:ext cx="3373934" cy="1846560"/>
          </a:xfrm>
          <a:prstGeom prst="roundRect">
            <a:avLst>
              <a:gd name="adj" fmla="val 7222"/>
            </a:avLst>
          </a:prstGeom>
          <a:solidFill>
            <a:srgbClr val="FFFCF4"/>
          </a:solidFill>
          <a:ln w="12700">
            <a:solidFill>
              <a:srgbClr val="E4D7BE"/>
            </a:solidFill>
            <a:prstDash val="solid"/>
          </a:ln>
        </p:spPr>
      </p:sp>
      <p:sp>
        <p:nvSpPr>
          <p:cNvPr id="11" name="Text 9"/>
          <p:cNvSpPr/>
          <p:nvPr/>
        </p:nvSpPr>
        <p:spPr>
          <a:xfrm>
            <a:off x="8233866" y="4224040"/>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Every game starts by setting</a:t>
            </a:r>
            <a:endParaRPr lang="en-US" sz="1900" dirty="0"/>
          </a:p>
        </p:txBody>
      </p:sp>
      <p:sp>
        <p:nvSpPr>
          <p:cNvPr id="12" name="Text 10"/>
          <p:cNvSpPr/>
          <p:nvPr/>
        </p:nvSpPr>
        <p:spPr>
          <a:xfrm>
            <a:off x="8233866"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If you forget set score to 0, your score starts at whatever it finished on last time.</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NEW BLOCKS TODAY</a:t>
            </a:r>
            <a:endParaRPr lang="en-US" sz="1300" dirty="0"/>
          </a:p>
        </p:txBody>
      </p:sp>
      <p:sp>
        <p:nvSpPr>
          <p:cNvPr id="3" name="Text 1"/>
          <p:cNvSpPr/>
          <p:nvPr/>
        </p:nvSpPr>
        <p:spPr>
          <a:xfrm>
            <a:off x="812800" y="2188666"/>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Say hello to these</a:t>
            </a:r>
            <a:endParaRPr lang="en-US" sz="4000" dirty="0"/>
          </a:p>
        </p:txBody>
      </p:sp>
      <p:sp>
        <p:nvSpPr>
          <p:cNvPr id="4" name="Shape 2"/>
          <p:cNvSpPr/>
          <p:nvPr/>
        </p:nvSpPr>
        <p:spPr>
          <a:xfrm>
            <a:off x="812800" y="3881934"/>
            <a:ext cx="995660" cy="358080"/>
          </a:xfrm>
          <a:prstGeom prst="roundRect">
            <a:avLst>
              <a:gd name="adj" fmla="val 42560"/>
            </a:avLst>
          </a:prstGeom>
          <a:solidFill>
            <a:srgbClr val="FF8C1A"/>
          </a:solidFill>
          <a:ln/>
        </p:spPr>
      </p:sp>
      <p:sp>
        <p:nvSpPr>
          <p:cNvPr id="5" name="Text 3"/>
          <p:cNvSpPr/>
          <p:nvPr/>
        </p:nvSpPr>
        <p:spPr>
          <a:xfrm>
            <a:off x="952500" y="3945434"/>
            <a:ext cx="7670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206"/>
                </a:solidFill>
                <a:latin typeface="Nunito Sans" pitchFamily="34" charset="0"/>
                <a:ea typeface="Nunito Sans" pitchFamily="34" charset="-122"/>
                <a:cs typeface="Nunito Sans" pitchFamily="34" charset="-120"/>
              </a:rPr>
              <a:t>Variables</a:t>
            </a:r>
            <a:endParaRPr lang="en-US" sz="1300" dirty="0"/>
          </a:p>
        </p:txBody>
      </p:sp>
      <p:sp>
        <p:nvSpPr>
          <p:cNvPr id="6" name="Shape 4"/>
          <p:cNvSpPr/>
          <p:nvPr/>
        </p:nvSpPr>
        <p:spPr>
          <a:xfrm>
            <a:off x="812800" y="5384800"/>
            <a:ext cx="1750516" cy="457200"/>
          </a:xfrm>
          <a:prstGeom prst="roundRect">
            <a:avLst>
              <a:gd name="adj" fmla="val 19444"/>
            </a:avLst>
          </a:prstGeom>
          <a:solidFill>
            <a:srgbClr val="FF8C1A"/>
          </a:solidFill>
          <a:ln/>
        </p:spPr>
      </p:sp>
      <p:sp>
        <p:nvSpPr>
          <p:cNvPr id="7" name="Text 5"/>
          <p:cNvSpPr/>
          <p:nvPr/>
        </p:nvSpPr>
        <p:spPr>
          <a:xfrm>
            <a:off x="984250" y="5486400"/>
            <a:ext cx="1458416"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set [score] to 0</a:t>
            </a:r>
            <a:endParaRPr lang="en-US" sz="1600" dirty="0"/>
          </a:p>
        </p:txBody>
      </p:sp>
      <p:sp>
        <p:nvSpPr>
          <p:cNvPr id="8" name="Shape 6"/>
          <p:cNvSpPr/>
          <p:nvPr/>
        </p:nvSpPr>
        <p:spPr>
          <a:xfrm>
            <a:off x="2664916" y="5384800"/>
            <a:ext cx="2173982" cy="457200"/>
          </a:xfrm>
          <a:prstGeom prst="roundRect">
            <a:avLst>
              <a:gd name="adj" fmla="val 19444"/>
            </a:avLst>
          </a:prstGeom>
          <a:solidFill>
            <a:srgbClr val="FF8C1A"/>
          </a:solidFill>
          <a:ln/>
        </p:spPr>
      </p:sp>
      <p:sp>
        <p:nvSpPr>
          <p:cNvPr id="9" name="Text 7"/>
          <p:cNvSpPr/>
          <p:nvPr/>
        </p:nvSpPr>
        <p:spPr>
          <a:xfrm>
            <a:off x="2836366" y="5486400"/>
            <a:ext cx="188601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change [score] by 1</a:t>
            </a:r>
            <a:endParaRPr lang="en-US" sz="1600" dirty="0"/>
          </a:p>
        </p:txBody>
      </p:sp>
      <p:sp>
        <p:nvSpPr>
          <p:cNvPr id="10" name="Shape 8"/>
          <p:cNvSpPr/>
          <p:nvPr/>
        </p:nvSpPr>
        <p:spPr>
          <a:xfrm>
            <a:off x="4940498" y="5384800"/>
            <a:ext cx="2353766" cy="457200"/>
          </a:xfrm>
          <a:prstGeom prst="roundRect">
            <a:avLst>
              <a:gd name="adj" fmla="val 19444"/>
            </a:avLst>
          </a:prstGeom>
          <a:solidFill>
            <a:srgbClr val="FF8C1A"/>
          </a:solidFill>
          <a:ln/>
        </p:spPr>
      </p:sp>
      <p:sp>
        <p:nvSpPr>
          <p:cNvPr id="11" name="Text 9"/>
          <p:cNvSpPr/>
          <p:nvPr/>
        </p:nvSpPr>
        <p:spPr>
          <a:xfrm>
            <a:off x="5111948" y="5486400"/>
            <a:ext cx="207119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show variable [score]</a:t>
            </a:r>
            <a:endParaRPr lang="en-US" sz="1600" dirty="0"/>
          </a:p>
        </p:txBody>
      </p:sp>
      <p:sp>
        <p:nvSpPr>
          <p:cNvPr id="12" name="Shape 10"/>
          <p:cNvSpPr/>
          <p:nvPr/>
        </p:nvSpPr>
        <p:spPr>
          <a:xfrm>
            <a:off x="7395865" y="5384800"/>
            <a:ext cx="2250182" cy="457200"/>
          </a:xfrm>
          <a:prstGeom prst="roundRect">
            <a:avLst>
              <a:gd name="adj" fmla="val 19444"/>
            </a:avLst>
          </a:prstGeom>
          <a:solidFill>
            <a:srgbClr val="FF8C1A"/>
          </a:solidFill>
          <a:ln/>
        </p:spPr>
      </p:sp>
      <p:sp>
        <p:nvSpPr>
          <p:cNvPr id="13" name="Text 11"/>
          <p:cNvSpPr/>
          <p:nvPr/>
        </p:nvSpPr>
        <p:spPr>
          <a:xfrm>
            <a:off x="7567315" y="5486400"/>
            <a:ext cx="19645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hide variable [score]</a:t>
            </a:r>
            <a:endParaRPr lang="en-US" sz="1600" dirty="0"/>
          </a:p>
        </p:txBody>
      </p:sp>
      <p:sp>
        <p:nvSpPr>
          <p:cNvPr id="14" name="Shape 12"/>
          <p:cNvSpPr/>
          <p:nvPr/>
        </p:nvSpPr>
        <p:spPr>
          <a:xfrm>
            <a:off x="9747647" y="5384800"/>
            <a:ext cx="984647" cy="457200"/>
          </a:xfrm>
          <a:prstGeom prst="roundRect">
            <a:avLst>
              <a:gd name="adj" fmla="val 19444"/>
            </a:avLst>
          </a:prstGeom>
          <a:solidFill>
            <a:srgbClr val="FF8C1A"/>
          </a:solidFill>
          <a:ln/>
        </p:spPr>
      </p:sp>
      <p:sp>
        <p:nvSpPr>
          <p:cNvPr id="15" name="Text 13"/>
          <p:cNvSpPr/>
          <p:nvPr/>
        </p:nvSpPr>
        <p:spPr>
          <a:xfrm>
            <a:off x="9919097" y="5486400"/>
            <a:ext cx="69254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(score)</a:t>
            </a:r>
            <a:endParaRPr lang="en-US" sz="16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LIVE DEMO · MAKING A VARIABLE</a:t>
            </a:r>
            <a:endParaRPr lang="en-US" sz="1300" dirty="0"/>
          </a:p>
        </p:txBody>
      </p:sp>
      <p:sp>
        <p:nvSpPr>
          <p:cNvPr id="3" name="Text 1"/>
          <p:cNvSpPr/>
          <p:nvPr/>
        </p:nvSpPr>
        <p:spPr>
          <a:xfrm>
            <a:off x="812800" y="1987252"/>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Variables &amp;rarr; Make a Variable</a:t>
            </a:r>
            <a:endParaRPr lang="en-US" sz="3600" dirty="0"/>
          </a:p>
        </p:txBody>
      </p:sp>
      <p:sp>
        <p:nvSpPr>
          <p:cNvPr id="4" name="Text 2"/>
          <p:cNvSpPr/>
          <p:nvPr/>
        </p:nvSpPr>
        <p:spPr>
          <a:xfrm>
            <a:off x="812800" y="3424238"/>
            <a:ext cx="3662680" cy="2443163"/>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Call it </a:t>
            </a:r>
            <a:r>
              <a:rPr lang="en-US" sz="1700" b="1" dirty="0">
                <a:solidFill>
                  <a:srgbClr val="5C4A46"/>
                </a:solidFill>
                <a:latin typeface="Nunito Sans" pitchFamily="34" charset="0"/>
                <a:ea typeface="Nunito Sans" pitchFamily="34" charset="-122"/>
                <a:cs typeface="Nunito Sans" pitchFamily="34" charset="-120"/>
              </a:rPr>
              <a:t>score</a:t>
            </a:r>
            <a:r>
              <a:rPr lang="en-US" sz="1700" dirty="0">
                <a:solidFill>
                  <a:srgbClr val="5C4A46"/>
                </a:solidFill>
                <a:latin typeface="Nunito Sans" pitchFamily="34" charset="0"/>
                <a:ea typeface="Nunito Sans" pitchFamily="34" charset="-122"/>
                <a:cs typeface="Nunito Sans" pitchFamily="34" charset="-120"/>
              </a:rPr>
              <a:t>. Lower case, no spaces, and a name that says what it holds.</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It appears in a little box on the stage. Drag it somewhere sensible.</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press the space bar over and over and watch it climb.</a:t>
            </a:r>
            <a:endParaRPr lang="en-US" sz="1700" dirty="0"/>
          </a:p>
        </p:txBody>
      </p:sp>
      <p:sp>
        <p:nvSpPr>
          <p:cNvPr id="5" name="Shape 3"/>
          <p:cNvSpPr/>
          <p:nvPr/>
        </p:nvSpPr>
        <p:spPr>
          <a:xfrm>
            <a:off x="4673600" y="3424238"/>
            <a:ext cx="2588716" cy="457200"/>
          </a:xfrm>
          <a:prstGeom prst="roundRect">
            <a:avLst>
              <a:gd name="adj" fmla="val 38889"/>
            </a:avLst>
          </a:prstGeom>
          <a:solidFill>
            <a:srgbClr val="FFBF00"/>
          </a:solidFill>
          <a:ln/>
        </p:spPr>
      </p:sp>
      <p:sp>
        <p:nvSpPr>
          <p:cNvPr id="6" name="Text 4"/>
          <p:cNvSpPr/>
          <p:nvPr/>
        </p:nvSpPr>
        <p:spPr>
          <a:xfrm>
            <a:off x="4845050" y="3525838"/>
            <a:ext cx="2313191"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when green flag clicked</a:t>
            </a:r>
            <a:endParaRPr lang="en-US" sz="1600" dirty="0"/>
          </a:p>
        </p:txBody>
      </p:sp>
      <p:sp>
        <p:nvSpPr>
          <p:cNvPr id="7" name="Shape 5"/>
          <p:cNvSpPr/>
          <p:nvPr/>
        </p:nvSpPr>
        <p:spPr>
          <a:xfrm>
            <a:off x="4673600" y="3919537"/>
            <a:ext cx="1750516" cy="457200"/>
          </a:xfrm>
          <a:prstGeom prst="roundRect">
            <a:avLst>
              <a:gd name="adj" fmla="val 19444"/>
            </a:avLst>
          </a:prstGeom>
          <a:solidFill>
            <a:srgbClr val="FF8C1A"/>
          </a:solidFill>
          <a:ln/>
        </p:spPr>
      </p:sp>
      <p:sp>
        <p:nvSpPr>
          <p:cNvPr id="8" name="Text 6"/>
          <p:cNvSpPr/>
          <p:nvPr/>
        </p:nvSpPr>
        <p:spPr>
          <a:xfrm>
            <a:off x="4845050" y="4021138"/>
            <a:ext cx="1458416"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set [score] to 0</a:t>
            </a:r>
            <a:endParaRPr lang="en-US" sz="1600" dirty="0"/>
          </a:p>
        </p:txBody>
      </p:sp>
      <p:sp>
        <p:nvSpPr>
          <p:cNvPr id="9" name="Shape 7"/>
          <p:cNvSpPr/>
          <p:nvPr/>
        </p:nvSpPr>
        <p:spPr>
          <a:xfrm>
            <a:off x="4673600" y="4376738"/>
            <a:ext cx="2769592" cy="457200"/>
          </a:xfrm>
          <a:prstGeom prst="roundRect">
            <a:avLst>
              <a:gd name="adj" fmla="val 38889"/>
            </a:avLst>
          </a:prstGeom>
          <a:solidFill>
            <a:srgbClr val="FFBF00"/>
          </a:solidFill>
          <a:ln/>
        </p:spPr>
      </p:sp>
      <p:sp>
        <p:nvSpPr>
          <p:cNvPr id="10" name="Text 8"/>
          <p:cNvSpPr/>
          <p:nvPr/>
        </p:nvSpPr>
        <p:spPr>
          <a:xfrm>
            <a:off x="4845050" y="4478338"/>
            <a:ext cx="249949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when [space] key pressed</a:t>
            </a:r>
            <a:endParaRPr lang="en-US" sz="1600" dirty="0"/>
          </a:p>
        </p:txBody>
      </p:sp>
      <p:sp>
        <p:nvSpPr>
          <p:cNvPr id="11" name="Shape 9"/>
          <p:cNvSpPr/>
          <p:nvPr/>
        </p:nvSpPr>
        <p:spPr>
          <a:xfrm>
            <a:off x="4673600" y="4872038"/>
            <a:ext cx="2173982" cy="457200"/>
          </a:xfrm>
          <a:prstGeom prst="roundRect">
            <a:avLst>
              <a:gd name="adj" fmla="val 19444"/>
            </a:avLst>
          </a:prstGeom>
          <a:solidFill>
            <a:srgbClr val="FF8C1A"/>
          </a:solidFill>
          <a:ln/>
        </p:spPr>
      </p:sp>
      <p:sp>
        <p:nvSpPr>
          <p:cNvPr id="12" name="Text 10"/>
          <p:cNvSpPr/>
          <p:nvPr/>
        </p:nvSpPr>
        <p:spPr>
          <a:xfrm>
            <a:off x="4845050" y="4973638"/>
            <a:ext cx="188601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change [score] by 1</a:t>
            </a:r>
            <a:endParaRPr lang="en-US" sz="16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C2332"/>
                </a:solidFill>
                <a:latin typeface="Nunito Sans" pitchFamily="34" charset="0"/>
                <a:ea typeface="Nunito Sans" pitchFamily="34" charset="-122"/>
                <a:cs typeface="Nunito Sans" pitchFamily="34" charset="-120"/>
              </a:rPr>
              <a:t>SPOT THE MISTAKE</a:t>
            </a:r>
            <a:endParaRPr lang="en-US" sz="1300" dirty="0"/>
          </a:p>
        </p:txBody>
      </p:sp>
      <p:sp>
        <p:nvSpPr>
          <p:cNvPr id="3" name="Text 1"/>
          <p:cNvSpPr/>
          <p:nvPr/>
        </p:nvSpPr>
        <p:spPr>
          <a:xfrm>
            <a:off x="812800" y="2335609"/>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The score has gone to four thousand</a:t>
            </a:r>
            <a:endParaRPr lang="en-US" sz="4000" dirty="0"/>
          </a:p>
        </p:txBody>
      </p:sp>
      <p:sp>
        <p:nvSpPr>
          <p:cNvPr id="4" name="Text 2"/>
          <p:cNvSpPr/>
          <p:nvPr/>
        </p:nvSpPr>
        <p:spPr>
          <a:xfrm>
            <a:off x="812800" y="4175820"/>
            <a:ext cx="4055110"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E1015"/>
                </a:solidFill>
                <a:latin typeface="Nunito Sans" pitchFamily="34" charset="0"/>
                <a:ea typeface="Nunito Sans" pitchFamily="34" charset="-122"/>
                <a:cs typeface="Nunito Sans" pitchFamily="34" charset="-120"/>
              </a:rPr>
              <a:t>I only caught one thing. Why is my score in the thousands?</a:t>
            </a:r>
            <a:endParaRPr lang="en-US" sz="2000" dirty="0"/>
          </a:p>
        </p:txBody>
      </p:sp>
      <p:sp>
        <p:nvSpPr>
          <p:cNvPr id="5" name="Text 3"/>
          <p:cNvSpPr/>
          <p:nvPr/>
        </p:nvSpPr>
        <p:spPr>
          <a:xfrm>
            <a:off x="812800" y="4988620"/>
            <a:ext cx="405511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4A46"/>
                </a:solidFill>
                <a:latin typeface="Nunito Sans" pitchFamily="34" charset="0"/>
                <a:ea typeface="Nunito Sans" pitchFamily="34" charset="-122"/>
                <a:cs typeface="Nunito Sans" pitchFamily="34" charset="-120"/>
              </a:rPr>
              <a:t>There's no question being asked here. It just keeps adding, as fast as the computer can go.</a:t>
            </a:r>
            <a:endParaRPr lang="en-US" sz="1600" dirty="0"/>
          </a:p>
        </p:txBody>
      </p:sp>
      <p:sp>
        <p:nvSpPr>
          <p:cNvPr id="6" name="Shape 4"/>
          <p:cNvSpPr/>
          <p:nvPr/>
        </p:nvSpPr>
        <p:spPr>
          <a:xfrm>
            <a:off x="5054600" y="4175820"/>
            <a:ext cx="2588716" cy="457200"/>
          </a:xfrm>
          <a:prstGeom prst="roundRect">
            <a:avLst>
              <a:gd name="adj" fmla="val 38889"/>
            </a:avLst>
          </a:prstGeom>
          <a:solidFill>
            <a:srgbClr val="FFBF00"/>
          </a:solidFill>
          <a:ln/>
        </p:spPr>
      </p:sp>
      <p:sp>
        <p:nvSpPr>
          <p:cNvPr id="7" name="Text 5"/>
          <p:cNvSpPr/>
          <p:nvPr/>
        </p:nvSpPr>
        <p:spPr>
          <a:xfrm>
            <a:off x="5226050" y="4277420"/>
            <a:ext cx="2313191"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when green flag clicked</a:t>
            </a:r>
            <a:endParaRPr lang="en-US" sz="1600" dirty="0"/>
          </a:p>
        </p:txBody>
      </p:sp>
      <p:sp>
        <p:nvSpPr>
          <p:cNvPr id="8" name="Shape 6"/>
          <p:cNvSpPr/>
          <p:nvPr/>
        </p:nvSpPr>
        <p:spPr>
          <a:xfrm>
            <a:off x="5054600" y="4671120"/>
            <a:ext cx="1012726" cy="457200"/>
          </a:xfrm>
          <a:prstGeom prst="roundRect">
            <a:avLst>
              <a:gd name="adj" fmla="val 19444"/>
            </a:avLst>
          </a:prstGeom>
          <a:solidFill>
            <a:srgbClr val="FFAB19"/>
          </a:solidFill>
          <a:ln/>
        </p:spPr>
      </p:sp>
      <p:sp>
        <p:nvSpPr>
          <p:cNvPr id="9" name="Text 7"/>
          <p:cNvSpPr/>
          <p:nvPr/>
        </p:nvSpPr>
        <p:spPr>
          <a:xfrm>
            <a:off x="5226050" y="4772720"/>
            <a:ext cx="720626"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forever</a:t>
            </a:r>
            <a:endParaRPr lang="en-US" sz="1600" dirty="0"/>
          </a:p>
        </p:txBody>
      </p:sp>
      <p:sp>
        <p:nvSpPr>
          <p:cNvPr id="10" name="Shape 8"/>
          <p:cNvSpPr/>
          <p:nvPr/>
        </p:nvSpPr>
        <p:spPr>
          <a:xfrm>
            <a:off x="5105400" y="5166420"/>
            <a:ext cx="0" cy="457200"/>
          </a:xfrm>
          <a:prstGeom prst="line">
            <a:avLst/>
          </a:prstGeom>
          <a:noFill/>
          <a:ln w="101600">
            <a:solidFill>
              <a:srgbClr val="FFAB19"/>
            </a:solidFill>
            <a:prstDash val="solid"/>
          </a:ln>
        </p:spPr>
      </p:sp>
      <p:sp>
        <p:nvSpPr>
          <p:cNvPr id="11" name="Shape 9"/>
          <p:cNvSpPr/>
          <p:nvPr/>
        </p:nvSpPr>
        <p:spPr>
          <a:xfrm>
            <a:off x="5378450" y="5166420"/>
            <a:ext cx="2173982" cy="457200"/>
          </a:xfrm>
          <a:prstGeom prst="roundRect">
            <a:avLst>
              <a:gd name="adj" fmla="val 19444"/>
            </a:avLst>
          </a:prstGeom>
          <a:solidFill>
            <a:srgbClr val="FF8C1A"/>
          </a:solidFill>
          <a:ln/>
        </p:spPr>
      </p:sp>
      <p:sp>
        <p:nvSpPr>
          <p:cNvPr id="12" name="Text 10"/>
          <p:cNvSpPr/>
          <p:nvPr/>
        </p:nvSpPr>
        <p:spPr>
          <a:xfrm>
            <a:off x="5549900" y="5268020"/>
            <a:ext cx="188601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change [score] by 1</a:t>
            </a:r>
            <a:endParaRPr lang="en-US" sz="1600" dirty="0"/>
          </a:p>
        </p:txBody>
      </p:sp>
      <p:sp>
        <p:nvSpPr>
          <p:cNvPr id="13" name="Shape 11"/>
          <p:cNvSpPr/>
          <p:nvPr/>
        </p:nvSpPr>
        <p:spPr>
          <a:xfrm>
            <a:off x="5054600" y="5661720"/>
            <a:ext cx="914400" cy="152400"/>
          </a:xfrm>
          <a:prstGeom prst="roundRect">
            <a:avLst>
              <a:gd name="adj" fmla="val 50000"/>
            </a:avLst>
          </a:prstGeom>
          <a:solidFill>
            <a:srgbClr val="FFAB19"/>
          </a:solidFill>
          <a:ln/>
        </p:spPr>
      </p:sp>
      <p:sp>
        <p:nvSpPr>
          <p:cNvPr id="14" name="Text 12"/>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15"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A · TWELVE MINUTES</a:t>
            </a:r>
            <a:endParaRPr lang="en-US" sz="1300" dirty="0"/>
          </a:p>
        </p:txBody>
      </p:sp>
      <p:sp>
        <p:nvSpPr>
          <p:cNvPr id="3" name="Text 1"/>
          <p:cNvSpPr/>
          <p:nvPr/>
        </p:nvSpPr>
        <p:spPr>
          <a:xfrm>
            <a:off x="812800" y="1745159"/>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Click Counter</a:t>
            </a:r>
            <a:endParaRPr lang="en-US" sz="3600" dirty="0"/>
          </a:p>
        </p:txBody>
      </p:sp>
      <p:sp>
        <p:nvSpPr>
          <p:cNvPr id="4" name="Text 2"/>
          <p:cNvSpPr/>
          <p:nvPr/>
        </p:nvSpPr>
        <p:spPr>
          <a:xfrm>
            <a:off x="812800" y="2940050"/>
            <a:ext cx="3662680" cy="153650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Make a variable called </a:t>
            </a:r>
            <a:r>
              <a:rPr lang="en-US" sz="1700" b="1" dirty="0">
                <a:solidFill>
                  <a:srgbClr val="5C4A46"/>
                </a:solidFill>
                <a:latin typeface="Nunito Sans" pitchFamily="34" charset="0"/>
                <a:ea typeface="Nunito Sans" pitchFamily="34" charset="-122"/>
                <a:cs typeface="Nunito Sans" pitchFamily="34" charset="-120"/>
              </a:rPr>
              <a:t>clicks</a:t>
            </a:r>
            <a:r>
              <a:rPr lang="en-US" sz="1700" dirty="0">
                <a:solidFill>
                  <a:srgbClr val="5C4A46"/>
                </a:solidFill>
                <a:latin typeface="Nunito Sans" pitchFamily="34" charset="0"/>
                <a:ea typeface="Nunito Sans" pitchFamily="34" charset="-122"/>
                <a:cs typeface="Nunito Sans" pitchFamily="34" charset="-120"/>
              </a:rPr>
              <a:t>. Click the sprite over and over.</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add a little flourish: when clicks reaches ten, say </a:t>
            </a:r>
            <a:r>
              <a:rPr lang="en-US" sz="1700" b="1" dirty="0">
                <a:solidFill>
                  <a:srgbClr val="5C4A46"/>
                </a:solidFill>
                <a:latin typeface="Nunito Sans" pitchFamily="34" charset="0"/>
                <a:ea typeface="Nunito Sans" pitchFamily="34" charset="-122"/>
                <a:cs typeface="Nunito Sans" pitchFamily="34" charset="-120"/>
              </a:rPr>
              <a:t>You win!</a:t>
            </a:r>
            <a:endParaRPr lang="en-US" sz="1700" dirty="0"/>
          </a:p>
        </p:txBody>
      </p:sp>
      <p:sp>
        <p:nvSpPr>
          <p:cNvPr id="5" name="Shape 3"/>
          <p:cNvSpPr/>
          <p:nvPr/>
        </p:nvSpPr>
        <p:spPr>
          <a:xfrm>
            <a:off x="4673600" y="2940050"/>
            <a:ext cx="2422922" cy="428625"/>
          </a:xfrm>
          <a:prstGeom prst="roundRect">
            <a:avLst>
              <a:gd name="adj" fmla="val 40000"/>
            </a:avLst>
          </a:prstGeom>
          <a:solidFill>
            <a:srgbClr val="FFBF00"/>
          </a:solidFill>
          <a:ln/>
        </p:spPr>
      </p:sp>
      <p:sp>
        <p:nvSpPr>
          <p:cNvPr id="6" name="Text 4"/>
          <p:cNvSpPr/>
          <p:nvPr/>
        </p:nvSpPr>
        <p:spPr>
          <a:xfrm>
            <a:off x="4832350" y="3035300"/>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7" name="Shape 5"/>
          <p:cNvSpPr/>
          <p:nvPr/>
        </p:nvSpPr>
        <p:spPr>
          <a:xfrm>
            <a:off x="4673600" y="3406775"/>
            <a:ext cx="1652786" cy="428625"/>
          </a:xfrm>
          <a:prstGeom prst="roundRect">
            <a:avLst>
              <a:gd name="adj" fmla="val 20741"/>
            </a:avLst>
          </a:prstGeom>
          <a:solidFill>
            <a:srgbClr val="FF8C1A"/>
          </a:solidFill>
          <a:ln/>
        </p:spPr>
      </p:sp>
      <p:sp>
        <p:nvSpPr>
          <p:cNvPr id="8" name="Text 6"/>
          <p:cNvSpPr/>
          <p:nvPr/>
        </p:nvSpPr>
        <p:spPr>
          <a:xfrm>
            <a:off x="4832350" y="3502025"/>
            <a:ext cx="138608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set [clicks] to 0</a:t>
            </a:r>
            <a:endParaRPr lang="en-US" sz="1500" dirty="0"/>
          </a:p>
        </p:txBody>
      </p:sp>
      <p:sp>
        <p:nvSpPr>
          <p:cNvPr id="9" name="Shape 7"/>
          <p:cNvSpPr/>
          <p:nvPr/>
        </p:nvSpPr>
        <p:spPr>
          <a:xfrm>
            <a:off x="4673600" y="3835400"/>
            <a:ext cx="2399506" cy="428625"/>
          </a:xfrm>
          <a:prstGeom prst="roundRect">
            <a:avLst>
              <a:gd name="adj" fmla="val 40000"/>
            </a:avLst>
          </a:prstGeom>
          <a:solidFill>
            <a:srgbClr val="FFBF00"/>
          </a:solidFill>
          <a:ln/>
        </p:spPr>
      </p:sp>
      <p:sp>
        <p:nvSpPr>
          <p:cNvPr id="10" name="Text 8"/>
          <p:cNvSpPr/>
          <p:nvPr/>
        </p:nvSpPr>
        <p:spPr>
          <a:xfrm>
            <a:off x="4832350" y="3930650"/>
            <a:ext cx="214446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this sprite clicked</a:t>
            </a:r>
            <a:endParaRPr lang="en-US" sz="1500" dirty="0"/>
          </a:p>
        </p:txBody>
      </p:sp>
      <p:sp>
        <p:nvSpPr>
          <p:cNvPr id="11" name="Shape 9"/>
          <p:cNvSpPr/>
          <p:nvPr/>
        </p:nvSpPr>
        <p:spPr>
          <a:xfrm>
            <a:off x="4673600" y="4302125"/>
            <a:ext cx="2049760" cy="428625"/>
          </a:xfrm>
          <a:prstGeom prst="roundRect">
            <a:avLst>
              <a:gd name="adj" fmla="val 20741"/>
            </a:avLst>
          </a:prstGeom>
          <a:solidFill>
            <a:srgbClr val="FF8C1A"/>
          </a:solidFill>
          <a:ln/>
        </p:spPr>
      </p:sp>
      <p:sp>
        <p:nvSpPr>
          <p:cNvPr id="12" name="Text 10"/>
          <p:cNvSpPr/>
          <p:nvPr/>
        </p:nvSpPr>
        <p:spPr>
          <a:xfrm>
            <a:off x="4832350" y="4397375"/>
            <a:ext cx="178422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change [clicks] by 1</a:t>
            </a:r>
            <a:endParaRPr lang="en-US" sz="1500" dirty="0"/>
          </a:p>
        </p:txBody>
      </p:sp>
      <p:sp>
        <p:nvSpPr>
          <p:cNvPr id="13" name="Shape 11"/>
          <p:cNvSpPr/>
          <p:nvPr/>
        </p:nvSpPr>
        <p:spPr>
          <a:xfrm>
            <a:off x="4673600" y="4768850"/>
            <a:ext cx="2229247" cy="428625"/>
          </a:xfrm>
          <a:prstGeom prst="roundRect">
            <a:avLst>
              <a:gd name="adj" fmla="val 20741"/>
            </a:avLst>
          </a:prstGeom>
          <a:solidFill>
            <a:srgbClr val="FFAB19"/>
          </a:solidFill>
          <a:ln/>
        </p:spPr>
      </p:sp>
      <p:sp>
        <p:nvSpPr>
          <p:cNvPr id="14" name="Text 12"/>
          <p:cNvSpPr/>
          <p:nvPr/>
        </p:nvSpPr>
        <p:spPr>
          <a:xfrm>
            <a:off x="4832350" y="4864100"/>
            <a:ext cx="196909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if &lt;(clicks) = 10&gt; then</a:t>
            </a:r>
            <a:endParaRPr lang="en-US" sz="1500" dirty="0"/>
          </a:p>
        </p:txBody>
      </p:sp>
      <p:sp>
        <p:nvSpPr>
          <p:cNvPr id="15" name="Shape 13"/>
          <p:cNvSpPr/>
          <p:nvPr/>
        </p:nvSpPr>
        <p:spPr>
          <a:xfrm>
            <a:off x="4724400" y="5235575"/>
            <a:ext cx="0" cy="428625"/>
          </a:xfrm>
          <a:prstGeom prst="line">
            <a:avLst/>
          </a:prstGeom>
          <a:noFill/>
          <a:ln w="101600">
            <a:solidFill>
              <a:srgbClr val="FFAB19"/>
            </a:solidFill>
            <a:prstDash val="solid"/>
          </a:ln>
        </p:spPr>
      </p:sp>
      <p:sp>
        <p:nvSpPr>
          <p:cNvPr id="16" name="Shape 14"/>
          <p:cNvSpPr/>
          <p:nvPr/>
        </p:nvSpPr>
        <p:spPr>
          <a:xfrm>
            <a:off x="4984750" y="5235575"/>
            <a:ext cx="2783582" cy="428625"/>
          </a:xfrm>
          <a:prstGeom prst="roundRect">
            <a:avLst>
              <a:gd name="adj" fmla="val 20741"/>
            </a:avLst>
          </a:prstGeom>
          <a:solidFill>
            <a:srgbClr val="774DCB"/>
          </a:solidFill>
          <a:ln/>
        </p:spPr>
      </p:sp>
      <p:sp>
        <p:nvSpPr>
          <p:cNvPr id="17" name="Text 15"/>
          <p:cNvSpPr/>
          <p:nvPr/>
        </p:nvSpPr>
        <p:spPr>
          <a:xfrm>
            <a:off x="5143500" y="5330825"/>
            <a:ext cx="2540064"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say [You win!] for 2 seconds</a:t>
            </a:r>
            <a:endParaRPr lang="en-US" sz="1500" dirty="0"/>
          </a:p>
        </p:txBody>
      </p:sp>
      <p:sp>
        <p:nvSpPr>
          <p:cNvPr id="18" name="Shape 16"/>
          <p:cNvSpPr/>
          <p:nvPr/>
        </p:nvSpPr>
        <p:spPr>
          <a:xfrm>
            <a:off x="4673600" y="5702300"/>
            <a:ext cx="857250" cy="139700"/>
          </a:xfrm>
          <a:prstGeom prst="roundRect">
            <a:avLst>
              <a:gd name="adj" fmla="val 50000"/>
            </a:avLst>
          </a:prstGeom>
          <a:solidFill>
            <a:srgbClr val="FFAB19"/>
          </a:solidFill>
          <a:ln/>
        </p:spPr>
      </p:sp>
      <p:sp>
        <p:nvSpPr>
          <p:cNvPr id="19" name="Text 17"/>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20"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ACTIVITY B · EIGHTEEN MINUTES</a:t>
            </a:r>
            <a:endParaRPr lang="en-US" sz="1300" dirty="0"/>
          </a:p>
        </p:txBody>
      </p:sp>
      <p:sp>
        <p:nvSpPr>
          <p:cNvPr id="3" name="Text 1"/>
          <p:cNvSpPr/>
          <p:nvPr/>
        </p:nvSpPr>
        <p:spPr>
          <a:xfrm>
            <a:off x="812800" y="1726109"/>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Countdown Timer</a:t>
            </a:r>
            <a:endParaRPr lang="en-US" sz="3600" dirty="0"/>
          </a:p>
        </p:txBody>
      </p:sp>
      <p:sp>
        <p:nvSpPr>
          <p:cNvPr id="4" name="Text 2"/>
          <p:cNvSpPr/>
          <p:nvPr/>
        </p:nvSpPr>
        <p:spPr>
          <a:xfrm>
            <a:off x="812800" y="2901950"/>
            <a:ext cx="3662680" cy="214094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A timer that counts down from thirty and then says Time's up.</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a:t>
            </a:r>
            <a:r>
              <a:rPr lang="en-US" sz="1700" b="1" dirty="0">
                <a:solidFill>
                  <a:srgbClr val="5C4A46"/>
                </a:solidFill>
                <a:latin typeface="Nunito Sans" pitchFamily="34" charset="0"/>
                <a:ea typeface="Nunito Sans" pitchFamily="34" charset="-122"/>
                <a:cs typeface="Nunito Sans" pitchFamily="34" charset="-120"/>
              </a:rPr>
              <a:t>put the two together</a:t>
            </a:r>
            <a:r>
              <a:rPr lang="en-US" sz="1700" dirty="0">
                <a:solidFill>
                  <a:srgbClr val="5C4A46"/>
                </a:solidFill>
                <a:latin typeface="Nunito Sans" pitchFamily="34" charset="0"/>
                <a:ea typeface="Nunito Sans" pitchFamily="34" charset="-122"/>
                <a:cs typeface="Nunito Sans" pitchFamily="34" charset="-120"/>
              </a:rPr>
              <a:t>: a click counter with a thirty-second timer. That's a whole little game, built from two boxes.</a:t>
            </a:r>
            <a:endParaRPr lang="en-US" sz="1700" dirty="0"/>
          </a:p>
        </p:txBody>
      </p:sp>
      <p:sp>
        <p:nvSpPr>
          <p:cNvPr id="5" name="Shape 3"/>
          <p:cNvSpPr/>
          <p:nvPr/>
        </p:nvSpPr>
        <p:spPr>
          <a:xfrm>
            <a:off x="4673600" y="2901950"/>
            <a:ext cx="2422922" cy="428625"/>
          </a:xfrm>
          <a:prstGeom prst="roundRect">
            <a:avLst>
              <a:gd name="adj" fmla="val 40000"/>
            </a:avLst>
          </a:prstGeom>
          <a:solidFill>
            <a:srgbClr val="FFBF00"/>
          </a:solidFill>
          <a:ln/>
        </p:spPr>
      </p:sp>
      <p:sp>
        <p:nvSpPr>
          <p:cNvPr id="6" name="Text 4"/>
          <p:cNvSpPr/>
          <p:nvPr/>
        </p:nvSpPr>
        <p:spPr>
          <a:xfrm>
            <a:off x="4832350" y="2997200"/>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7" name="Shape 5"/>
          <p:cNvSpPr/>
          <p:nvPr/>
        </p:nvSpPr>
        <p:spPr>
          <a:xfrm>
            <a:off x="4673600" y="3368675"/>
            <a:ext cx="1993404" cy="428625"/>
          </a:xfrm>
          <a:prstGeom prst="roundRect">
            <a:avLst>
              <a:gd name="adj" fmla="val 20741"/>
            </a:avLst>
          </a:prstGeom>
          <a:solidFill>
            <a:srgbClr val="FF8C1A"/>
          </a:solidFill>
          <a:ln/>
        </p:spPr>
      </p:sp>
      <p:sp>
        <p:nvSpPr>
          <p:cNvPr id="8" name="Text 6"/>
          <p:cNvSpPr/>
          <p:nvPr/>
        </p:nvSpPr>
        <p:spPr>
          <a:xfrm>
            <a:off x="4832350" y="3463925"/>
            <a:ext cx="1726704"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set [timeleft] to 30</a:t>
            </a:r>
            <a:endParaRPr lang="en-US" sz="1500" dirty="0"/>
          </a:p>
        </p:txBody>
      </p:sp>
      <p:sp>
        <p:nvSpPr>
          <p:cNvPr id="9" name="Shape 7"/>
          <p:cNvSpPr/>
          <p:nvPr/>
        </p:nvSpPr>
        <p:spPr>
          <a:xfrm>
            <a:off x="4673600" y="3835400"/>
            <a:ext cx="1168896" cy="428625"/>
          </a:xfrm>
          <a:prstGeom prst="roundRect">
            <a:avLst>
              <a:gd name="adj" fmla="val 20741"/>
            </a:avLst>
          </a:prstGeom>
          <a:solidFill>
            <a:srgbClr val="FFAB19"/>
          </a:solidFill>
          <a:ln/>
        </p:spPr>
      </p:sp>
      <p:sp>
        <p:nvSpPr>
          <p:cNvPr id="10" name="Text 8"/>
          <p:cNvSpPr/>
          <p:nvPr/>
        </p:nvSpPr>
        <p:spPr>
          <a:xfrm>
            <a:off x="4832350" y="3930650"/>
            <a:ext cx="90219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repeat 30</a:t>
            </a:r>
            <a:endParaRPr lang="en-US" sz="1500" dirty="0"/>
          </a:p>
        </p:txBody>
      </p:sp>
      <p:sp>
        <p:nvSpPr>
          <p:cNvPr id="11" name="Shape 9"/>
          <p:cNvSpPr/>
          <p:nvPr/>
        </p:nvSpPr>
        <p:spPr>
          <a:xfrm>
            <a:off x="4724400" y="4302125"/>
            <a:ext cx="0" cy="895350"/>
          </a:xfrm>
          <a:prstGeom prst="line">
            <a:avLst/>
          </a:prstGeom>
          <a:noFill/>
          <a:ln w="101600">
            <a:solidFill>
              <a:srgbClr val="FFAB19"/>
            </a:solidFill>
            <a:prstDash val="solid"/>
          </a:ln>
        </p:spPr>
      </p:sp>
      <p:sp>
        <p:nvSpPr>
          <p:cNvPr id="12" name="Shape 10"/>
          <p:cNvSpPr/>
          <p:nvPr/>
        </p:nvSpPr>
        <p:spPr>
          <a:xfrm>
            <a:off x="4984750" y="4302125"/>
            <a:ext cx="1633934" cy="428625"/>
          </a:xfrm>
          <a:prstGeom prst="roundRect">
            <a:avLst>
              <a:gd name="adj" fmla="val 20741"/>
            </a:avLst>
          </a:prstGeom>
          <a:solidFill>
            <a:srgbClr val="FFAB19"/>
          </a:solidFill>
          <a:ln/>
        </p:spPr>
      </p:sp>
      <p:sp>
        <p:nvSpPr>
          <p:cNvPr id="13" name="Text 11"/>
          <p:cNvSpPr/>
          <p:nvPr/>
        </p:nvSpPr>
        <p:spPr>
          <a:xfrm>
            <a:off x="5143500" y="4397375"/>
            <a:ext cx="1367234"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wait 1 seconds</a:t>
            </a:r>
            <a:endParaRPr lang="en-US" sz="1500" dirty="0"/>
          </a:p>
        </p:txBody>
      </p:sp>
      <p:sp>
        <p:nvSpPr>
          <p:cNvPr id="14" name="Shape 12"/>
          <p:cNvSpPr/>
          <p:nvPr/>
        </p:nvSpPr>
        <p:spPr>
          <a:xfrm>
            <a:off x="4984750" y="4768850"/>
            <a:ext cx="2358727" cy="428625"/>
          </a:xfrm>
          <a:prstGeom prst="roundRect">
            <a:avLst>
              <a:gd name="adj" fmla="val 20741"/>
            </a:avLst>
          </a:prstGeom>
          <a:solidFill>
            <a:srgbClr val="FF8C1A"/>
          </a:solidFill>
          <a:ln/>
        </p:spPr>
      </p:sp>
      <p:sp>
        <p:nvSpPr>
          <p:cNvPr id="15" name="Text 13"/>
          <p:cNvSpPr/>
          <p:nvPr/>
        </p:nvSpPr>
        <p:spPr>
          <a:xfrm>
            <a:off x="5143500" y="4864100"/>
            <a:ext cx="2102464"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change [timeleft] by -1</a:t>
            </a:r>
            <a:endParaRPr lang="en-US" sz="1500" dirty="0"/>
          </a:p>
        </p:txBody>
      </p:sp>
      <p:sp>
        <p:nvSpPr>
          <p:cNvPr id="16" name="Shape 14"/>
          <p:cNvSpPr/>
          <p:nvPr/>
        </p:nvSpPr>
        <p:spPr>
          <a:xfrm>
            <a:off x="4673600" y="5235575"/>
            <a:ext cx="857250" cy="139700"/>
          </a:xfrm>
          <a:prstGeom prst="roundRect">
            <a:avLst>
              <a:gd name="adj" fmla="val 50000"/>
            </a:avLst>
          </a:prstGeom>
          <a:solidFill>
            <a:srgbClr val="FFAB19"/>
          </a:solidFill>
          <a:ln/>
        </p:spPr>
      </p:sp>
      <p:sp>
        <p:nvSpPr>
          <p:cNvPr id="17" name="Shape 15"/>
          <p:cNvSpPr/>
          <p:nvPr/>
        </p:nvSpPr>
        <p:spPr>
          <a:xfrm>
            <a:off x="4673600" y="5413375"/>
            <a:ext cx="2940943" cy="428625"/>
          </a:xfrm>
          <a:prstGeom prst="roundRect">
            <a:avLst>
              <a:gd name="adj" fmla="val 20741"/>
            </a:avLst>
          </a:prstGeom>
          <a:solidFill>
            <a:srgbClr val="774DCB"/>
          </a:solidFill>
          <a:ln/>
        </p:spPr>
      </p:sp>
      <p:sp>
        <p:nvSpPr>
          <p:cNvPr id="18" name="Text 16"/>
          <p:cNvSpPr/>
          <p:nvPr/>
        </p:nvSpPr>
        <p:spPr>
          <a:xfrm>
            <a:off x="4832350" y="5508625"/>
            <a:ext cx="270214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say [Time's up!] for 2 seconds</a:t>
            </a:r>
            <a:endParaRPr lang="en-US" sz="1500" dirty="0"/>
          </a:p>
        </p:txBody>
      </p:sp>
      <p:sp>
        <p:nvSpPr>
          <p:cNvPr id="19" name="Text 17"/>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20"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27588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E7C8"/>
                </a:solidFill>
                <a:latin typeface="Fredoka" pitchFamily="34" charset="0"/>
                <a:ea typeface="Fredoka" pitchFamily="34" charset="-122"/>
                <a:cs typeface="Fredoka" pitchFamily="34" charset="-120"/>
              </a:rPr>
              <a:t>Break</a:t>
            </a:r>
            <a:endParaRPr lang="en-US" sz="6000" dirty="0"/>
          </a:p>
        </p:txBody>
      </p:sp>
      <p:sp>
        <p:nvSpPr>
          <p:cNvPr id="3" name="Text 1"/>
          <p:cNvSpPr/>
          <p:nvPr/>
        </p:nvSpPr>
        <p:spPr>
          <a:xfrm>
            <a:off x="812800" y="3329980"/>
            <a:ext cx="78486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49A7E"/>
                </a:solidFill>
                <a:latin typeface="Nunito Sans" pitchFamily="34" charset="0"/>
                <a:ea typeface="Nunito Sans" pitchFamily="34" charset="-122"/>
                <a:cs typeface="Nunito Sans" pitchFamily="34" charset="-120"/>
              </a:rPr>
              <a:t>Ten minutes. Get up, stretch, drink some water.</a:t>
            </a:r>
            <a:endParaRPr lang="en-US" sz="2200" dirty="0"/>
          </a:p>
        </p:txBody>
      </p:sp>
      <p:sp>
        <p:nvSpPr>
          <p:cNvPr id="4" name="Shape 2"/>
          <p:cNvSpPr/>
          <p:nvPr/>
        </p:nvSpPr>
        <p:spPr>
          <a:xfrm>
            <a:off x="812800" y="3975100"/>
            <a:ext cx="1143000" cy="50800"/>
          </a:xfrm>
          <a:prstGeom prst="roundRect">
            <a:avLst>
              <a:gd name="adj" fmla="val 50000"/>
            </a:avLst>
          </a:prstGeom>
          <a:solidFill>
            <a:srgbClr val="C9A227"/>
          </a:solidFill>
          <a:ln/>
        </p:spPr>
      </p:sp>
      <p:sp>
        <p:nvSpPr>
          <p:cNvPr id="5" name="Text 3"/>
          <p:cNvSpPr/>
          <p:nvPr/>
        </p:nvSpPr>
        <p:spPr>
          <a:xfrm>
            <a:off x="812800" y="4279900"/>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After the break: your game gets a score.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55657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TODAY'S GOAL</a:t>
            </a:r>
            <a:endParaRPr lang="en-US" sz="1300" dirty="0"/>
          </a:p>
        </p:txBody>
      </p:sp>
      <p:sp>
        <p:nvSpPr>
          <p:cNvPr id="3" name="Text 1"/>
          <p:cNvSpPr/>
          <p:nvPr/>
        </p:nvSpPr>
        <p:spPr>
          <a:xfrm>
            <a:off x="812800" y="3016250"/>
            <a:ext cx="9810750" cy="1310481"/>
          </a:xfrm>
          <a:prstGeom prst="rect">
            <a:avLst/>
          </a:prstGeom>
          <a:noFill/>
          <a:ln/>
        </p:spPr>
        <p:txBody>
          <a:bodyPr wrap="square" lIns="0" tIns="0" rIns="0" bIns="0" rtlCol="0" anchor="t">
            <a:normAutofit/>
          </a:bodyPr>
          <a:lstStyle/>
          <a:p>
            <a:pPr algn="l" indent="0" marL="0">
              <a:lnSpc>
                <a:spcPts val="5060"/>
              </a:lnSpc>
              <a:buNone/>
            </a:pPr>
            <a:r>
              <a:rPr lang="en-US" sz="4600" b="1" dirty="0">
                <a:solidFill>
                  <a:srgbClr val="FFF4E8"/>
                </a:solidFill>
                <a:latin typeface="Fredoka" pitchFamily="34" charset="0"/>
                <a:ea typeface="Fredoka" pitchFamily="34" charset="-122"/>
                <a:cs typeface="Fredoka" pitchFamily="34" charset="-120"/>
              </a:rPr>
              <a:t>By the end of today your game keeps score.</a:t>
            </a:r>
            <a:endParaRPr lang="en-US" sz="4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21754"/>
          </a:xfrm>
          <a:prstGeom prst="rect">
            <a:avLst/>
          </a:prstGeom>
          <a:noFill/>
          <a:ln/>
        </p:spPr>
        <p:txBody>
          <a:bodyPr wrap="square" lIns="0" tIns="0" rIns="0" bIns="0" rtlCol="0" anchor="t">
            <a:normAutofit/>
          </a:bodyPr>
          <a:lstStyle/>
          <a:p>
            <a:pPr algn="l" indent="0" marL="0">
              <a:lnSpc>
                <a:spcPts val="1570"/>
              </a:lnSpc>
              <a:buNone/>
            </a:pPr>
            <a:r>
              <a:rPr lang="en-US" sz="1121" b="1" spc="150" kern="0" dirty="0">
                <a:solidFill>
                  <a:srgbClr val="8A6712"/>
                </a:solidFill>
                <a:latin typeface="Nunito Sans" pitchFamily="34" charset="0"/>
                <a:ea typeface="Nunito Sans" pitchFamily="34" charset="-122"/>
                <a:cs typeface="Nunito Sans" pitchFamily="34" charset="-120"/>
              </a:rPr>
              <a:t>PROJECT BUILD · TWENTY MINUTES</a:t>
            </a:r>
            <a:endParaRPr lang="en-US" sz="1121" dirty="0"/>
          </a:p>
        </p:txBody>
      </p:sp>
      <p:sp>
        <p:nvSpPr>
          <p:cNvPr id="3" name="Text 1"/>
          <p:cNvSpPr/>
          <p:nvPr/>
        </p:nvSpPr>
        <p:spPr>
          <a:xfrm>
            <a:off x="812800" y="1288554"/>
            <a:ext cx="10883392" cy="445095"/>
          </a:xfrm>
          <a:prstGeom prst="rect">
            <a:avLst/>
          </a:prstGeom>
          <a:noFill/>
          <a:ln/>
        </p:spPr>
        <p:txBody>
          <a:bodyPr wrap="square" lIns="0" tIns="0" rIns="0" bIns="0" rtlCol="0" anchor="t">
            <a:normAutofit/>
          </a:bodyPr>
          <a:lstStyle/>
          <a:p>
            <a:pPr algn="l" indent="0" marL="0">
              <a:lnSpc>
                <a:spcPts val="3317"/>
              </a:lnSpc>
              <a:buNone/>
            </a:pPr>
            <a:r>
              <a:rPr lang="en-US" sz="3071" b="1" dirty="0">
                <a:solidFill>
                  <a:srgbClr val="2E1015"/>
                </a:solidFill>
                <a:latin typeface="Fredoka" pitchFamily="34" charset="0"/>
                <a:ea typeface="Fredoka" pitchFamily="34" charset="-122"/>
                <a:cs typeface="Fredoka" pitchFamily="34" charset="-120"/>
              </a:rPr>
              <a:t>Add the score</a:t>
            </a:r>
            <a:endParaRPr lang="en-US" sz="3071" dirty="0"/>
          </a:p>
        </p:txBody>
      </p:sp>
      <p:sp>
        <p:nvSpPr>
          <p:cNvPr id="4" name="Text 2"/>
          <p:cNvSpPr/>
          <p:nvPr/>
        </p:nvSpPr>
        <p:spPr>
          <a:xfrm>
            <a:off x="812800" y="1987649"/>
            <a:ext cx="3662680" cy="3047603"/>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Make a variable called </a:t>
            </a:r>
            <a:r>
              <a:rPr lang="en-US" sz="1700" b="1" dirty="0">
                <a:solidFill>
                  <a:srgbClr val="5C4A46"/>
                </a:solidFill>
                <a:latin typeface="Nunito Sans" pitchFamily="34" charset="0"/>
                <a:ea typeface="Nunito Sans" pitchFamily="34" charset="-122"/>
                <a:cs typeface="Nunito Sans" pitchFamily="34" charset="-120"/>
              </a:rPr>
              <a:t>score</a:t>
            </a:r>
            <a:r>
              <a:rPr lang="en-US" sz="1700" dirty="0">
                <a:solidFill>
                  <a:srgbClr val="5C4A46"/>
                </a:solidFill>
                <a:latin typeface="Nunito Sans" pitchFamily="34" charset="0"/>
                <a:ea typeface="Nunito Sans" pitchFamily="34" charset="-122"/>
                <a:cs typeface="Nunito Sans" pitchFamily="34" charset="-120"/>
              </a:rPr>
              <a:t>. Put </a:t>
            </a:r>
            <a:r>
              <a:rPr lang="en-US" sz="1700" b="1" dirty="0">
                <a:solidFill>
                  <a:srgbClr val="5C4A46"/>
                </a:solidFill>
                <a:latin typeface="Nunito Sans" pitchFamily="34" charset="0"/>
                <a:ea typeface="Nunito Sans" pitchFamily="34" charset="-122"/>
                <a:cs typeface="Nunito Sans" pitchFamily="34" charset="-120"/>
              </a:rPr>
              <a:t>set score to 0</a:t>
            </a:r>
            <a:r>
              <a:rPr lang="en-US" sz="1700" dirty="0">
                <a:solidFill>
                  <a:srgbClr val="5C4A46"/>
                </a:solidFill>
                <a:latin typeface="Nunito Sans" pitchFamily="34" charset="0"/>
                <a:ea typeface="Nunito Sans" pitchFamily="34" charset="-122"/>
                <a:cs typeface="Nunito Sans" pitchFamily="34" charset="-120"/>
              </a:rPr>
              <a:t> under the green flag on your player.</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Then add </a:t>
            </a:r>
            <a:r>
              <a:rPr lang="en-US" sz="1700" b="1" dirty="0">
                <a:solidFill>
                  <a:srgbClr val="5C4A46"/>
                </a:solidFill>
                <a:latin typeface="Nunito Sans" pitchFamily="34" charset="0"/>
                <a:ea typeface="Nunito Sans" pitchFamily="34" charset="-122"/>
                <a:cs typeface="Nunito Sans" pitchFamily="34" charset="-120"/>
              </a:rPr>
              <a:t>change score by 1</a:t>
            </a:r>
            <a:r>
              <a:rPr lang="en-US" sz="1700" dirty="0">
                <a:solidFill>
                  <a:srgbClr val="5C4A46"/>
                </a:solidFill>
                <a:latin typeface="Nunito Sans" pitchFamily="34" charset="0"/>
                <a:ea typeface="Nunito Sans" pitchFamily="34" charset="-122"/>
                <a:cs typeface="Nunito Sans" pitchFamily="34" charset="-120"/>
              </a:rPr>
              <a:t> inside the catch, right here.</a:t>
            </a:r>
            <a:endParaRPr lang="en-US" sz="1700" dirty="0"/>
          </a:p>
          <a:p>
            <a:pPr algn="l" indent="0" marL="0">
              <a:lnSpc>
                <a:spcPts val="2380"/>
              </a:lnSpc>
              <a:buNone/>
            </a:pPr>
            <a:endParaRPr lang="en-US" sz="1700" dirty="0"/>
          </a:p>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Do the same on your bad object, but with </a:t>
            </a:r>
            <a:r>
              <a:rPr lang="en-US" sz="1700" b="1" dirty="0">
                <a:solidFill>
                  <a:srgbClr val="5C4A46"/>
                </a:solidFill>
                <a:latin typeface="Nunito Sans" pitchFamily="34" charset="0"/>
                <a:ea typeface="Nunito Sans" pitchFamily="34" charset="-122"/>
                <a:cs typeface="Nunito Sans" pitchFamily="34" charset="-120"/>
              </a:rPr>
              <a:t>change score by -1</a:t>
            </a:r>
            <a:r>
              <a:rPr lang="en-US" sz="1700" dirty="0">
                <a:solidFill>
                  <a:srgbClr val="5C4A46"/>
                </a:solidFill>
                <a:latin typeface="Nunito Sans" pitchFamily="34" charset="0"/>
                <a:ea typeface="Nunito Sans" pitchFamily="34" charset="-122"/>
                <a:cs typeface="Nunito Sans" pitchFamily="34" charset="-120"/>
              </a:rPr>
              <a:t> and a different sound.</a:t>
            </a:r>
            <a:endParaRPr lang="en-US" sz="1700" dirty="0"/>
          </a:p>
        </p:txBody>
      </p:sp>
      <p:sp>
        <p:nvSpPr>
          <p:cNvPr id="5" name="Shape 3"/>
          <p:cNvSpPr/>
          <p:nvPr/>
        </p:nvSpPr>
        <p:spPr>
          <a:xfrm>
            <a:off x="4673600" y="1987649"/>
            <a:ext cx="2104132" cy="371475"/>
          </a:xfrm>
          <a:prstGeom prst="roundRect">
            <a:avLst>
              <a:gd name="adj" fmla="val 39316"/>
            </a:avLst>
          </a:prstGeom>
          <a:solidFill>
            <a:srgbClr val="FFBF00"/>
          </a:solidFill>
          <a:ln/>
        </p:spPr>
      </p:sp>
      <p:sp>
        <p:nvSpPr>
          <p:cNvPr id="6" name="Text 4"/>
          <p:cNvSpPr/>
          <p:nvPr/>
        </p:nvSpPr>
        <p:spPr>
          <a:xfrm>
            <a:off x="4813300" y="2070199"/>
            <a:ext cx="187947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when green flag clicked</a:t>
            </a:r>
            <a:endParaRPr lang="en-US" sz="1300" dirty="0"/>
          </a:p>
        </p:txBody>
      </p:sp>
      <p:sp>
        <p:nvSpPr>
          <p:cNvPr id="7" name="Shape 5"/>
          <p:cNvSpPr/>
          <p:nvPr/>
        </p:nvSpPr>
        <p:spPr>
          <a:xfrm>
            <a:off x="4673600" y="2397224"/>
            <a:ext cx="823615" cy="371475"/>
          </a:xfrm>
          <a:prstGeom prst="roundRect">
            <a:avLst>
              <a:gd name="adj" fmla="val 23932"/>
            </a:avLst>
          </a:prstGeom>
          <a:solidFill>
            <a:srgbClr val="FFAB19"/>
          </a:solidFill>
          <a:ln/>
        </p:spPr>
      </p:sp>
      <p:sp>
        <p:nvSpPr>
          <p:cNvPr id="8" name="Text 6"/>
          <p:cNvSpPr/>
          <p:nvPr/>
        </p:nvSpPr>
        <p:spPr>
          <a:xfrm>
            <a:off x="4813300" y="2479774"/>
            <a:ext cx="59501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forever</a:t>
            </a:r>
            <a:endParaRPr lang="en-US" sz="1300" dirty="0"/>
          </a:p>
        </p:txBody>
      </p:sp>
      <p:sp>
        <p:nvSpPr>
          <p:cNvPr id="9" name="Shape 7"/>
          <p:cNvSpPr/>
          <p:nvPr/>
        </p:nvSpPr>
        <p:spPr>
          <a:xfrm>
            <a:off x="4724400" y="2806799"/>
            <a:ext cx="0" cy="3556000"/>
          </a:xfrm>
          <a:prstGeom prst="line">
            <a:avLst/>
          </a:prstGeom>
          <a:noFill/>
          <a:ln w="101600">
            <a:solidFill>
              <a:srgbClr val="FFAB19"/>
            </a:solidFill>
            <a:prstDash val="solid"/>
          </a:ln>
        </p:spPr>
      </p:sp>
      <p:sp>
        <p:nvSpPr>
          <p:cNvPr id="10" name="Shape 8"/>
          <p:cNvSpPr/>
          <p:nvPr/>
        </p:nvSpPr>
        <p:spPr>
          <a:xfrm>
            <a:off x="4953000" y="2806799"/>
            <a:ext cx="3428405" cy="371475"/>
          </a:xfrm>
          <a:prstGeom prst="roundRect">
            <a:avLst>
              <a:gd name="adj" fmla="val 23932"/>
            </a:avLst>
          </a:prstGeom>
          <a:solidFill>
            <a:srgbClr val="3373CC"/>
          </a:solidFill>
          <a:ln/>
        </p:spPr>
      </p:sp>
      <p:sp>
        <p:nvSpPr>
          <p:cNvPr id="11" name="Text 9"/>
          <p:cNvSpPr/>
          <p:nvPr/>
        </p:nvSpPr>
        <p:spPr>
          <a:xfrm>
            <a:off x="5092700" y="2889349"/>
            <a:ext cx="324347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go to x: (pick random -220 to 220) y: 170</a:t>
            </a:r>
            <a:endParaRPr lang="en-US" sz="1300" dirty="0"/>
          </a:p>
        </p:txBody>
      </p:sp>
      <p:sp>
        <p:nvSpPr>
          <p:cNvPr id="12" name="Shape 10"/>
          <p:cNvSpPr/>
          <p:nvPr/>
        </p:nvSpPr>
        <p:spPr>
          <a:xfrm>
            <a:off x="4953000" y="3216374"/>
            <a:ext cx="1017290" cy="371475"/>
          </a:xfrm>
          <a:prstGeom prst="roundRect">
            <a:avLst>
              <a:gd name="adj" fmla="val 23932"/>
            </a:avLst>
          </a:prstGeom>
          <a:solidFill>
            <a:srgbClr val="FFAB19"/>
          </a:solidFill>
          <a:ln/>
        </p:spPr>
      </p:sp>
      <p:sp>
        <p:nvSpPr>
          <p:cNvPr id="13" name="Text 11"/>
          <p:cNvSpPr/>
          <p:nvPr/>
        </p:nvSpPr>
        <p:spPr>
          <a:xfrm>
            <a:off x="5092700" y="3298924"/>
            <a:ext cx="78869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repeat 20</a:t>
            </a:r>
            <a:endParaRPr lang="en-US" sz="1300" dirty="0"/>
          </a:p>
        </p:txBody>
      </p:sp>
      <p:sp>
        <p:nvSpPr>
          <p:cNvPr id="14" name="Shape 12"/>
          <p:cNvSpPr/>
          <p:nvPr/>
        </p:nvSpPr>
        <p:spPr>
          <a:xfrm>
            <a:off x="5003800" y="3625949"/>
            <a:ext cx="0" cy="2578100"/>
          </a:xfrm>
          <a:prstGeom prst="line">
            <a:avLst/>
          </a:prstGeom>
          <a:noFill/>
          <a:ln w="101600">
            <a:solidFill>
              <a:srgbClr val="FFAB19"/>
            </a:solidFill>
            <a:prstDash val="solid"/>
          </a:ln>
        </p:spPr>
      </p:sp>
      <p:sp>
        <p:nvSpPr>
          <p:cNvPr id="15" name="Shape 13"/>
          <p:cNvSpPr/>
          <p:nvPr/>
        </p:nvSpPr>
        <p:spPr>
          <a:xfrm>
            <a:off x="5232400" y="3625949"/>
            <a:ext cx="1504652" cy="371475"/>
          </a:xfrm>
          <a:prstGeom prst="roundRect">
            <a:avLst>
              <a:gd name="adj" fmla="val 23932"/>
            </a:avLst>
          </a:prstGeom>
          <a:solidFill>
            <a:srgbClr val="3373CC"/>
          </a:solidFill>
          <a:ln/>
        </p:spPr>
      </p:sp>
      <p:sp>
        <p:nvSpPr>
          <p:cNvPr id="16" name="Text 14"/>
          <p:cNvSpPr/>
          <p:nvPr/>
        </p:nvSpPr>
        <p:spPr>
          <a:xfrm>
            <a:off x="5372100" y="3708499"/>
            <a:ext cx="127605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change y by -18</a:t>
            </a:r>
            <a:endParaRPr lang="en-US" sz="1300" dirty="0"/>
          </a:p>
        </p:txBody>
      </p:sp>
      <p:sp>
        <p:nvSpPr>
          <p:cNvPr id="17" name="Shape 15"/>
          <p:cNvSpPr/>
          <p:nvPr/>
        </p:nvSpPr>
        <p:spPr>
          <a:xfrm>
            <a:off x="5232400" y="4035524"/>
            <a:ext cx="1659334" cy="371475"/>
          </a:xfrm>
          <a:prstGeom prst="roundRect">
            <a:avLst>
              <a:gd name="adj" fmla="val 23932"/>
            </a:avLst>
          </a:prstGeom>
          <a:solidFill>
            <a:srgbClr val="FFAB19"/>
          </a:solidFill>
          <a:ln/>
        </p:spPr>
      </p:sp>
      <p:sp>
        <p:nvSpPr>
          <p:cNvPr id="18" name="Text 16"/>
          <p:cNvSpPr/>
          <p:nvPr/>
        </p:nvSpPr>
        <p:spPr>
          <a:xfrm>
            <a:off x="5372100" y="4118074"/>
            <a:ext cx="1430734"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wait 0.02 seconds</a:t>
            </a:r>
            <a:endParaRPr lang="en-US" sz="1300" dirty="0"/>
          </a:p>
        </p:txBody>
      </p:sp>
      <p:sp>
        <p:nvSpPr>
          <p:cNvPr id="19" name="Shape 17"/>
          <p:cNvSpPr/>
          <p:nvPr/>
        </p:nvSpPr>
        <p:spPr>
          <a:xfrm>
            <a:off x="5232400" y="4445099"/>
            <a:ext cx="2410023" cy="371475"/>
          </a:xfrm>
          <a:prstGeom prst="roundRect">
            <a:avLst>
              <a:gd name="adj" fmla="val 23932"/>
            </a:avLst>
          </a:prstGeom>
          <a:solidFill>
            <a:srgbClr val="FFAB19"/>
          </a:solidFill>
          <a:ln/>
        </p:spPr>
      </p:sp>
      <p:sp>
        <p:nvSpPr>
          <p:cNvPr id="20" name="Text 18"/>
          <p:cNvSpPr/>
          <p:nvPr/>
        </p:nvSpPr>
        <p:spPr>
          <a:xfrm>
            <a:off x="5372100" y="4527649"/>
            <a:ext cx="219454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if &lt;touching [Player]?&gt; then</a:t>
            </a:r>
            <a:endParaRPr lang="en-US" sz="1300" dirty="0"/>
          </a:p>
        </p:txBody>
      </p:sp>
      <p:sp>
        <p:nvSpPr>
          <p:cNvPr id="21" name="Shape 19"/>
          <p:cNvSpPr/>
          <p:nvPr/>
        </p:nvSpPr>
        <p:spPr>
          <a:xfrm>
            <a:off x="5283200" y="4854674"/>
            <a:ext cx="0" cy="1190625"/>
          </a:xfrm>
          <a:prstGeom prst="line">
            <a:avLst/>
          </a:prstGeom>
          <a:noFill/>
          <a:ln w="101600">
            <a:solidFill>
              <a:srgbClr val="FFAB19"/>
            </a:solidFill>
            <a:prstDash val="solid"/>
          </a:ln>
        </p:spPr>
      </p:sp>
      <p:sp>
        <p:nvSpPr>
          <p:cNvPr id="22" name="Shape 20"/>
          <p:cNvSpPr/>
          <p:nvPr/>
        </p:nvSpPr>
        <p:spPr>
          <a:xfrm>
            <a:off x="5511800" y="4854674"/>
            <a:ext cx="1614587" cy="371475"/>
          </a:xfrm>
          <a:prstGeom prst="roundRect">
            <a:avLst>
              <a:gd name="adj" fmla="val 23932"/>
            </a:avLst>
          </a:prstGeom>
          <a:solidFill>
            <a:srgbClr val="A63FA6"/>
          </a:solidFill>
          <a:ln/>
        </p:spPr>
      </p:sp>
      <p:sp>
        <p:nvSpPr>
          <p:cNvPr id="23" name="Text 21"/>
          <p:cNvSpPr/>
          <p:nvPr/>
        </p:nvSpPr>
        <p:spPr>
          <a:xfrm>
            <a:off x="5651500" y="4937224"/>
            <a:ext cx="1385987"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start sound [Pop]</a:t>
            </a:r>
            <a:endParaRPr lang="en-US" sz="1300" dirty="0"/>
          </a:p>
        </p:txBody>
      </p:sp>
      <p:sp>
        <p:nvSpPr>
          <p:cNvPr id="24" name="Shape 22"/>
          <p:cNvSpPr/>
          <p:nvPr/>
        </p:nvSpPr>
        <p:spPr>
          <a:xfrm>
            <a:off x="5511800" y="5264249"/>
            <a:ext cx="1767185" cy="371475"/>
          </a:xfrm>
          <a:prstGeom prst="roundRect">
            <a:avLst>
              <a:gd name="adj" fmla="val 23932"/>
            </a:avLst>
          </a:prstGeom>
          <a:solidFill>
            <a:srgbClr val="FF8C1A"/>
          </a:solidFill>
          <a:ln/>
        </p:spPr>
      </p:sp>
      <p:sp>
        <p:nvSpPr>
          <p:cNvPr id="25" name="Text 23"/>
          <p:cNvSpPr/>
          <p:nvPr/>
        </p:nvSpPr>
        <p:spPr>
          <a:xfrm>
            <a:off x="5651500" y="5346799"/>
            <a:ext cx="153858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1206"/>
                </a:solidFill>
                <a:latin typeface="Nunito Sans" pitchFamily="34" charset="0"/>
                <a:ea typeface="Nunito Sans" pitchFamily="34" charset="-122"/>
                <a:cs typeface="Nunito Sans" pitchFamily="34" charset="-120"/>
              </a:rPr>
              <a:t>change [score] by 1</a:t>
            </a:r>
            <a:endParaRPr lang="en-US" sz="1300" dirty="0"/>
          </a:p>
        </p:txBody>
      </p:sp>
      <p:sp>
        <p:nvSpPr>
          <p:cNvPr id="26" name="Shape 24"/>
          <p:cNvSpPr/>
          <p:nvPr/>
        </p:nvSpPr>
        <p:spPr>
          <a:xfrm>
            <a:off x="5511800" y="5673824"/>
            <a:ext cx="3428405" cy="371475"/>
          </a:xfrm>
          <a:prstGeom prst="roundRect">
            <a:avLst>
              <a:gd name="adj" fmla="val 23932"/>
            </a:avLst>
          </a:prstGeom>
          <a:solidFill>
            <a:srgbClr val="3373CC"/>
          </a:solidFill>
          <a:ln/>
        </p:spPr>
      </p:sp>
      <p:sp>
        <p:nvSpPr>
          <p:cNvPr id="27" name="Text 25"/>
          <p:cNvSpPr/>
          <p:nvPr/>
        </p:nvSpPr>
        <p:spPr>
          <a:xfrm>
            <a:off x="5651500" y="5756374"/>
            <a:ext cx="324347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FFFFFF"/>
                </a:solidFill>
                <a:latin typeface="Nunito Sans" pitchFamily="34" charset="0"/>
                <a:ea typeface="Nunito Sans" pitchFamily="34" charset="-122"/>
                <a:cs typeface="Nunito Sans" pitchFamily="34" charset="-120"/>
              </a:rPr>
              <a:t>go to x: (pick random -220 to 220) y: 170</a:t>
            </a:r>
            <a:endParaRPr lang="en-US" sz="1300" dirty="0"/>
          </a:p>
        </p:txBody>
      </p:sp>
      <p:sp>
        <p:nvSpPr>
          <p:cNvPr id="28" name="Shape 26"/>
          <p:cNvSpPr/>
          <p:nvPr/>
        </p:nvSpPr>
        <p:spPr>
          <a:xfrm>
            <a:off x="5232400" y="6083399"/>
            <a:ext cx="742950" cy="120650"/>
          </a:xfrm>
          <a:prstGeom prst="roundRect">
            <a:avLst>
              <a:gd name="adj" fmla="val 50000"/>
            </a:avLst>
          </a:prstGeom>
          <a:solidFill>
            <a:srgbClr val="FFAB19"/>
          </a:solidFill>
          <a:ln/>
        </p:spPr>
      </p:sp>
      <p:sp>
        <p:nvSpPr>
          <p:cNvPr id="29" name="Shape 27"/>
          <p:cNvSpPr/>
          <p:nvPr/>
        </p:nvSpPr>
        <p:spPr>
          <a:xfrm>
            <a:off x="4953000" y="6242149"/>
            <a:ext cx="742950" cy="120650"/>
          </a:xfrm>
          <a:prstGeom prst="roundRect">
            <a:avLst>
              <a:gd name="adj" fmla="val 50000"/>
            </a:avLst>
          </a:prstGeom>
          <a:solidFill>
            <a:srgbClr val="FFAB19"/>
          </a:solidFill>
          <a:ln/>
        </p:spPr>
      </p:sp>
      <p:sp>
        <p:nvSpPr>
          <p:cNvPr id="30" name="Shape 28"/>
          <p:cNvSpPr/>
          <p:nvPr/>
        </p:nvSpPr>
        <p:spPr>
          <a:xfrm>
            <a:off x="4673600" y="6400899"/>
            <a:ext cx="742950" cy="120650"/>
          </a:xfrm>
          <a:prstGeom prst="roundRect">
            <a:avLst>
              <a:gd name="adj" fmla="val 50000"/>
            </a:avLst>
          </a:prstGeom>
          <a:solidFill>
            <a:srgbClr val="FFAB19"/>
          </a:solidFill>
          <a:ln/>
        </p:spPr>
      </p:sp>
      <p:sp>
        <p:nvSpPr>
          <p:cNvPr id="31" name="Text 29"/>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32"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BUG THAT WILL GET ALL OF YOU</a:t>
            </a:r>
            <a:endParaRPr lang="en-US" sz="1300" dirty="0"/>
          </a:p>
        </p:txBody>
      </p:sp>
      <p:sp>
        <p:nvSpPr>
          <p:cNvPr id="3" name="Text 1"/>
          <p:cNvSpPr/>
          <p:nvPr/>
        </p:nvSpPr>
        <p:spPr>
          <a:xfrm>
            <a:off x="812800" y="237777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Why does it go up by twenty?</a:t>
            </a:r>
            <a:endParaRPr lang="en-US" sz="4000" dirty="0"/>
          </a:p>
        </p:txBody>
      </p:sp>
      <p:sp>
        <p:nvSpPr>
          <p:cNvPr id="4" name="Shape 2"/>
          <p:cNvSpPr/>
          <p:nvPr/>
        </p:nvSpPr>
        <p:spPr>
          <a:xfrm>
            <a:off x="819150" y="4266505"/>
            <a:ext cx="3373934" cy="1569145"/>
          </a:xfrm>
          <a:prstGeom prst="roundRect">
            <a:avLst>
              <a:gd name="adj" fmla="val 8498"/>
            </a:avLst>
          </a:prstGeom>
          <a:solidFill>
            <a:srgbClr val="FFFCF4"/>
          </a:solidFill>
          <a:ln w="12700">
            <a:solidFill>
              <a:srgbClr val="E4D7BE"/>
            </a:solidFill>
            <a:prstDash val="solid"/>
          </a:ln>
        </p:spPr>
      </p:sp>
      <p:sp>
        <p:nvSpPr>
          <p:cNvPr id="5" name="Text 3"/>
          <p:cNvSpPr/>
          <p:nvPr/>
        </p:nvSpPr>
        <p:spPr>
          <a:xfrm>
            <a:off x="1054100" y="4501455"/>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You're touching for a while</a:t>
            </a:r>
            <a:endParaRPr lang="en-US" sz="1900" dirty="0"/>
          </a:p>
        </p:txBody>
      </p:sp>
      <p:sp>
        <p:nvSpPr>
          <p:cNvPr id="6" name="Text 4"/>
          <p:cNvSpPr/>
          <p:nvPr/>
        </p:nvSpPr>
        <p:spPr>
          <a:xfrm>
            <a:off x="1054100" y="4855071"/>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The object overlaps you for several trips through the loop, not one instant.</a:t>
            </a:r>
            <a:endParaRPr lang="en-US" sz="1450" dirty="0"/>
          </a:p>
        </p:txBody>
      </p:sp>
      <p:sp>
        <p:nvSpPr>
          <p:cNvPr id="7" name="Shape 5"/>
          <p:cNvSpPr/>
          <p:nvPr/>
        </p:nvSpPr>
        <p:spPr>
          <a:xfrm>
            <a:off x="4408984" y="4266505"/>
            <a:ext cx="3374033" cy="1569145"/>
          </a:xfrm>
          <a:prstGeom prst="roundRect">
            <a:avLst>
              <a:gd name="adj" fmla="val 8498"/>
            </a:avLst>
          </a:prstGeom>
          <a:solidFill>
            <a:srgbClr val="FFFCF4"/>
          </a:solidFill>
          <a:ln w="12700">
            <a:solidFill>
              <a:srgbClr val="E4D7BE"/>
            </a:solidFill>
            <a:prstDash val="solid"/>
          </a:ln>
        </p:spPr>
      </p:sp>
      <p:sp>
        <p:nvSpPr>
          <p:cNvPr id="8" name="Text 6"/>
          <p:cNvSpPr/>
          <p:nvPr/>
        </p:nvSpPr>
        <p:spPr>
          <a:xfrm>
            <a:off x="4643934" y="4501455"/>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So the if is true every time</a:t>
            </a:r>
            <a:endParaRPr lang="en-US" sz="1900" dirty="0"/>
          </a:p>
        </p:txBody>
      </p:sp>
      <p:sp>
        <p:nvSpPr>
          <p:cNvPr id="9" name="Text 7"/>
          <p:cNvSpPr/>
          <p:nvPr/>
        </p:nvSpPr>
        <p:spPr>
          <a:xfrm>
            <a:off x="4643934" y="4855071"/>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And change score by 1 fires on every single one of them.</a:t>
            </a:r>
            <a:endParaRPr lang="en-US" sz="1450" dirty="0"/>
          </a:p>
        </p:txBody>
      </p:sp>
      <p:sp>
        <p:nvSpPr>
          <p:cNvPr id="10" name="Shape 8"/>
          <p:cNvSpPr/>
          <p:nvPr/>
        </p:nvSpPr>
        <p:spPr>
          <a:xfrm>
            <a:off x="7998916" y="4266505"/>
            <a:ext cx="3373934" cy="1569145"/>
          </a:xfrm>
          <a:prstGeom prst="roundRect">
            <a:avLst>
              <a:gd name="adj" fmla="val 8498"/>
            </a:avLst>
          </a:prstGeom>
          <a:solidFill>
            <a:srgbClr val="FFFCF4"/>
          </a:solidFill>
          <a:ln w="12700">
            <a:solidFill>
              <a:srgbClr val="E4D7BE"/>
            </a:solidFill>
            <a:prstDash val="solid"/>
          </a:ln>
        </p:spPr>
      </p:sp>
      <p:sp>
        <p:nvSpPr>
          <p:cNvPr id="11" name="Text 9"/>
          <p:cNvSpPr/>
          <p:nvPr/>
        </p:nvSpPr>
        <p:spPr>
          <a:xfrm>
            <a:off x="8233866" y="4501455"/>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The fix is the go to</a:t>
            </a:r>
            <a:endParaRPr lang="en-US" sz="1900" dirty="0"/>
          </a:p>
        </p:txBody>
      </p:sp>
      <p:sp>
        <p:nvSpPr>
          <p:cNvPr id="12" name="Text 10"/>
          <p:cNvSpPr/>
          <p:nvPr/>
        </p:nvSpPr>
        <p:spPr>
          <a:xfrm>
            <a:off x="8233866" y="4855071"/>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Move the object away immediately and the answer becomes no again.</a:t>
            </a:r>
            <a:endParaRPr lang="en-US" sz="145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30128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PLAYTEST · FOUR MINUTES</a:t>
            </a:r>
            <a:endParaRPr lang="en-US" sz="1300" dirty="0"/>
          </a:p>
        </p:txBody>
      </p:sp>
      <p:sp>
        <p:nvSpPr>
          <p:cNvPr id="3" name="Text 1"/>
          <p:cNvSpPr/>
          <p:nvPr/>
        </p:nvSpPr>
        <p:spPr>
          <a:xfrm>
            <a:off x="812800" y="276096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FF4E8"/>
                </a:solidFill>
                <a:latin typeface="Fredoka" pitchFamily="34" charset="0"/>
                <a:ea typeface="Fredoka" pitchFamily="34" charset="-122"/>
                <a:cs typeface="Fredoka" pitchFamily="34" charset="-120"/>
              </a:rPr>
              <a:t>Beat your own high score. Then move one seat and beat your neighbour's.</a:t>
            </a:r>
            <a:endParaRPr lang="en-US" sz="4400" dirty="0"/>
          </a:p>
        </p:txBody>
      </p:sp>
      <p:sp>
        <p:nvSpPr>
          <p:cNvPr id="4" name="Text 2"/>
          <p:cNvSpPr/>
          <p:nvPr/>
        </p:nvSpPr>
        <p:spPr>
          <a:xfrm>
            <a:off x="812800" y="4218880"/>
            <a:ext cx="8502650" cy="363141"/>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F3C9CF"/>
                </a:solidFill>
                <a:latin typeface="Nunito Sans" pitchFamily="34" charset="0"/>
                <a:ea typeface="Nunito Sans" pitchFamily="34" charset="-122"/>
                <a:cs typeface="Nunito Sans" pitchFamily="34" charset="-120"/>
              </a:rPr>
              <a:t>Shout out your best when you get one.</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DEBUGGING</a:t>
            </a:r>
            <a:endParaRPr lang="en-US" sz="1300" dirty="0"/>
          </a:p>
        </p:txBody>
      </p:sp>
      <p:sp>
        <p:nvSpPr>
          <p:cNvPr id="3" name="Text 1"/>
          <p:cNvSpPr/>
          <p:nvPr/>
        </p:nvSpPr>
        <p:spPr>
          <a:xfrm>
            <a:off x="812800" y="174754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Stuck? Check these first</a:t>
            </a:r>
            <a:endParaRPr lang="en-US" sz="4000" dirty="0"/>
          </a:p>
        </p:txBody>
      </p:sp>
      <p:sp>
        <p:nvSpPr>
          <p:cNvPr id="4" name="Shape 2"/>
          <p:cNvSpPr/>
          <p:nvPr/>
        </p:nvSpPr>
        <p:spPr>
          <a:xfrm>
            <a:off x="819150" y="3006130"/>
            <a:ext cx="5168900" cy="1319510"/>
          </a:xfrm>
          <a:prstGeom prst="roundRect">
            <a:avLst>
              <a:gd name="adj" fmla="val 10106"/>
            </a:avLst>
          </a:prstGeom>
          <a:solidFill>
            <a:srgbClr val="FFFCF4"/>
          </a:solidFill>
          <a:ln w="12700">
            <a:solidFill>
              <a:srgbClr val="E4D7BE"/>
            </a:solidFill>
            <a:prstDash val="solid"/>
          </a:ln>
        </p:spPr>
      </p:sp>
      <p:sp>
        <p:nvSpPr>
          <p:cNvPr id="5" name="Text 3"/>
          <p:cNvSpPr/>
          <p:nvPr/>
        </p:nvSpPr>
        <p:spPr>
          <a:xfrm>
            <a:off x="10541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"The score jumps by ten or twenty"</a:t>
            </a:r>
            <a:endParaRPr lang="en-US" sz="1700" dirty="0"/>
          </a:p>
        </p:txBody>
      </p:sp>
      <p:sp>
        <p:nvSpPr>
          <p:cNvPr id="6" name="Text 4"/>
          <p:cNvSpPr/>
          <p:nvPr/>
        </p:nvSpPr>
        <p:spPr>
          <a:xfrm>
            <a:off x="10541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object must move away the instant you catch it. Check the go to is inside the if.</a:t>
            </a:r>
            <a:endParaRPr lang="en-US" sz="1500" dirty="0"/>
          </a:p>
        </p:txBody>
      </p:sp>
      <p:sp>
        <p:nvSpPr>
          <p:cNvPr id="7" name="Shape 5"/>
          <p:cNvSpPr/>
          <p:nvPr/>
        </p:nvSpPr>
        <p:spPr>
          <a:xfrm>
            <a:off x="6203950" y="3006130"/>
            <a:ext cx="5168900" cy="1319510"/>
          </a:xfrm>
          <a:prstGeom prst="roundRect">
            <a:avLst>
              <a:gd name="adj" fmla="val 10106"/>
            </a:avLst>
          </a:prstGeom>
          <a:solidFill>
            <a:srgbClr val="FFFCF4"/>
          </a:solidFill>
          <a:ln w="12700">
            <a:solidFill>
              <a:srgbClr val="E4D7BE"/>
            </a:solidFill>
            <a:prstDash val="solid"/>
          </a:ln>
        </p:spPr>
      </p:sp>
      <p:sp>
        <p:nvSpPr>
          <p:cNvPr id="8" name="Text 6"/>
          <p:cNvSpPr/>
          <p:nvPr/>
        </p:nvSpPr>
        <p:spPr>
          <a:xfrm>
            <a:off x="64389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"My score starts where it finished last time"</a:t>
            </a:r>
            <a:endParaRPr lang="en-US" sz="1700" dirty="0"/>
          </a:p>
        </p:txBody>
      </p:sp>
      <p:sp>
        <p:nvSpPr>
          <p:cNvPr id="9" name="Text 7"/>
          <p:cNvSpPr/>
          <p:nvPr/>
        </p:nvSpPr>
        <p:spPr>
          <a:xfrm>
            <a:off x="6438900" y="3576340"/>
            <a:ext cx="483997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You're missing set score to 0 under the green flag.</a:t>
            </a:r>
            <a:endParaRPr lang="en-US" sz="1500" dirty="0"/>
          </a:p>
        </p:txBody>
      </p:sp>
      <p:sp>
        <p:nvSpPr>
          <p:cNvPr id="10" name="Shape 8"/>
          <p:cNvSpPr/>
          <p:nvPr/>
        </p:nvSpPr>
        <p:spPr>
          <a:xfrm>
            <a:off x="819150" y="4516140"/>
            <a:ext cx="5168900" cy="1319510"/>
          </a:xfrm>
          <a:prstGeom prst="roundRect">
            <a:avLst>
              <a:gd name="adj" fmla="val 10106"/>
            </a:avLst>
          </a:prstGeom>
          <a:solidFill>
            <a:srgbClr val="FFFCF4"/>
          </a:solidFill>
          <a:ln w="12700">
            <a:solidFill>
              <a:srgbClr val="E4D7BE"/>
            </a:solidFill>
            <a:prstDash val="solid"/>
          </a:ln>
        </p:spPr>
      </p:sp>
      <p:sp>
        <p:nvSpPr>
          <p:cNvPr id="11" name="Text 9"/>
          <p:cNvSpPr/>
          <p:nvPr/>
        </p:nvSpPr>
        <p:spPr>
          <a:xfrm>
            <a:off x="10541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"It goes up but never down"</a:t>
            </a:r>
            <a:endParaRPr lang="en-US" sz="1700" dirty="0"/>
          </a:p>
        </p:txBody>
      </p:sp>
      <p:sp>
        <p:nvSpPr>
          <p:cNvPr id="12" name="Text 10"/>
          <p:cNvSpPr/>
          <p:nvPr/>
        </p:nvSpPr>
        <p:spPr>
          <a:xfrm>
            <a:off x="10541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Your bad object's if is checking the wrong sprite, or has no change score in it.</a:t>
            </a:r>
            <a:endParaRPr lang="en-US" sz="1500" dirty="0"/>
          </a:p>
        </p:txBody>
      </p:sp>
      <p:sp>
        <p:nvSpPr>
          <p:cNvPr id="13" name="Shape 11"/>
          <p:cNvSpPr/>
          <p:nvPr/>
        </p:nvSpPr>
        <p:spPr>
          <a:xfrm>
            <a:off x="6203950" y="4516140"/>
            <a:ext cx="5168900" cy="1319510"/>
          </a:xfrm>
          <a:prstGeom prst="roundRect">
            <a:avLst>
              <a:gd name="adj" fmla="val 10106"/>
            </a:avLst>
          </a:prstGeom>
          <a:solidFill>
            <a:srgbClr val="FFFCF4"/>
          </a:solidFill>
          <a:ln w="12700">
            <a:solidFill>
              <a:srgbClr val="E4D7BE"/>
            </a:solidFill>
            <a:prstDash val="solid"/>
          </a:ln>
        </p:spPr>
      </p:sp>
      <p:sp>
        <p:nvSpPr>
          <p:cNvPr id="14" name="Text 12"/>
          <p:cNvSpPr/>
          <p:nvPr/>
        </p:nvSpPr>
        <p:spPr>
          <a:xfrm>
            <a:off x="64389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"The score box has vanished from the stage"</a:t>
            </a:r>
            <a:endParaRPr lang="en-US" sz="1700" dirty="0"/>
          </a:p>
        </p:txBody>
      </p:sp>
      <p:sp>
        <p:nvSpPr>
          <p:cNvPr id="15" name="Text 13"/>
          <p:cNvSpPr/>
          <p:nvPr/>
        </p:nvSpPr>
        <p:spPr>
          <a:xfrm>
            <a:off x="64389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Untick and re-tick it in the Variables palette. Or you used hide variable.</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BEFORE YOU GO</a:t>
            </a:r>
            <a:endParaRPr lang="en-US" sz="1300" dirty="0"/>
          </a:p>
        </p:txBody>
      </p:sp>
      <p:sp>
        <p:nvSpPr>
          <p:cNvPr id="3" name="Text 1"/>
          <p:cNvSpPr/>
          <p:nvPr/>
        </p:nvSpPr>
        <p:spPr>
          <a:xfrm>
            <a:off x="812800" y="2351088"/>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Save it. Check the name.</a:t>
            </a:r>
            <a:endParaRPr lang="en-US" sz="4000" dirty="0"/>
          </a:p>
        </p:txBody>
      </p:sp>
      <p:sp>
        <p:nvSpPr>
          <p:cNvPr id="4" name="Shape 2"/>
          <p:cNvSpPr/>
          <p:nvPr/>
        </p:nvSpPr>
        <p:spPr>
          <a:xfrm>
            <a:off x="819150" y="4213225"/>
            <a:ext cx="3373934" cy="1622425"/>
          </a:xfrm>
          <a:prstGeom prst="roundRect">
            <a:avLst>
              <a:gd name="adj" fmla="val 8219"/>
            </a:avLst>
          </a:prstGeom>
          <a:solidFill>
            <a:srgbClr val="FFFCF4"/>
          </a:solidFill>
          <a:ln w="12700">
            <a:solidFill>
              <a:srgbClr val="E4D7BE"/>
            </a:solidFill>
            <a:prstDash val="solid"/>
          </a:ln>
        </p:spPr>
      </p:sp>
      <p:sp>
        <p:nvSpPr>
          <p:cNvPr id="5" name="Text 3"/>
          <p:cNvSpPr/>
          <p:nvPr/>
        </p:nvSpPr>
        <p:spPr>
          <a:xfrm>
            <a:off x="1054100" y="4448175"/>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1 — Save now</a:t>
            </a:r>
            <a:endParaRPr lang="en-US" sz="2000" dirty="0"/>
          </a:p>
        </p:txBody>
      </p:sp>
      <p:sp>
        <p:nvSpPr>
          <p:cNvPr id="6" name="Text 4"/>
          <p:cNvSpPr/>
          <p:nvPr/>
        </p:nvSpPr>
        <p:spPr>
          <a:xfrm>
            <a:off x="1054100" y="4829175"/>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File → Save now. Watch for the message that says it saved.</a:t>
            </a:r>
            <a:endParaRPr lang="en-US" sz="1500" dirty="0"/>
          </a:p>
        </p:txBody>
      </p:sp>
      <p:sp>
        <p:nvSpPr>
          <p:cNvPr id="7" name="Shape 5"/>
          <p:cNvSpPr/>
          <p:nvPr/>
        </p:nvSpPr>
        <p:spPr>
          <a:xfrm>
            <a:off x="4408984" y="4213225"/>
            <a:ext cx="3374033" cy="1622425"/>
          </a:xfrm>
          <a:prstGeom prst="roundRect">
            <a:avLst>
              <a:gd name="adj" fmla="val 8219"/>
            </a:avLst>
          </a:prstGeom>
          <a:solidFill>
            <a:srgbClr val="FFFCF4"/>
          </a:solidFill>
          <a:ln w="12700">
            <a:solidFill>
              <a:srgbClr val="E4D7BE"/>
            </a:solidFill>
            <a:prstDash val="solid"/>
          </a:ln>
        </p:spPr>
      </p:sp>
      <p:sp>
        <p:nvSpPr>
          <p:cNvPr id="8" name="Text 6"/>
          <p:cNvSpPr/>
          <p:nvPr/>
        </p:nvSpPr>
        <p:spPr>
          <a:xfrm>
            <a:off x="4643934" y="4448175"/>
            <a:ext cx="29912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2 — Check the name</a:t>
            </a:r>
            <a:endParaRPr lang="en-US" sz="2000" dirty="0"/>
          </a:p>
        </p:txBody>
      </p:sp>
      <p:sp>
        <p:nvSpPr>
          <p:cNvPr id="9" name="Text 7"/>
          <p:cNvSpPr/>
          <p:nvPr/>
        </p:nvSpPr>
        <p:spPr>
          <a:xfrm>
            <a:off x="4643934" y="4829175"/>
            <a:ext cx="299125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name at the top should still say </a:t>
            </a:r>
            <a:r>
              <a:rPr lang="en-US" sz="1500" b="1" dirty="0">
                <a:solidFill>
                  <a:srgbClr val="5C4A46"/>
                </a:solidFill>
                <a:latin typeface="Nunito Sans" pitchFamily="34" charset="0"/>
                <a:ea typeface="Nunito Sans" pitchFamily="34" charset="-122"/>
                <a:cs typeface="Nunito Sans" pitchFamily="34" charset="-120"/>
              </a:rPr>
              <a:t>Sky Catcher — your name</a:t>
            </a:r>
            <a:r>
              <a:rPr lang="en-US" sz="1500" dirty="0">
                <a:solidFill>
                  <a:srgbClr val="5C4A46"/>
                </a:solidFill>
                <a:latin typeface="Nunito Sans" pitchFamily="34" charset="0"/>
                <a:ea typeface="Nunito Sans" pitchFamily="34" charset="-122"/>
                <a:cs typeface="Nunito Sans" pitchFamily="34" charset="-120"/>
              </a:rPr>
              <a:t>.</a:t>
            </a:r>
            <a:endParaRPr lang="en-US" sz="1500" dirty="0"/>
          </a:p>
        </p:txBody>
      </p:sp>
      <p:sp>
        <p:nvSpPr>
          <p:cNvPr id="10" name="Shape 8"/>
          <p:cNvSpPr/>
          <p:nvPr/>
        </p:nvSpPr>
        <p:spPr>
          <a:xfrm>
            <a:off x="7998916" y="4213225"/>
            <a:ext cx="3373934" cy="1622425"/>
          </a:xfrm>
          <a:prstGeom prst="roundRect">
            <a:avLst>
              <a:gd name="adj" fmla="val 8219"/>
            </a:avLst>
          </a:prstGeom>
          <a:solidFill>
            <a:srgbClr val="FFFCF4"/>
          </a:solidFill>
          <a:ln w="12700">
            <a:solidFill>
              <a:srgbClr val="E4D7BE"/>
            </a:solidFill>
            <a:prstDash val="solid"/>
          </a:ln>
        </p:spPr>
      </p:sp>
      <p:sp>
        <p:nvSpPr>
          <p:cNvPr id="11" name="Text 9"/>
          <p:cNvSpPr/>
          <p:nvPr/>
        </p:nvSpPr>
        <p:spPr>
          <a:xfrm>
            <a:off x="8233866" y="4448175"/>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3 — Note your best</a:t>
            </a:r>
            <a:endParaRPr lang="en-US" sz="2000" dirty="0"/>
          </a:p>
        </p:txBody>
      </p:sp>
      <p:sp>
        <p:nvSpPr>
          <p:cNvPr id="12" name="Text 10"/>
          <p:cNvSpPr/>
          <p:nvPr/>
        </p:nvSpPr>
        <p:spPr>
          <a:xfrm>
            <a:off x="8233866" y="4829175"/>
            <a:ext cx="2991155"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Write your high score on your handout so you can beat it next week.</a:t>
            </a:r>
            <a:endParaRPr lang="en-US" sz="15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HOMEWORK · NEVER MARKED, NEVER CHASED</a:t>
            </a:r>
            <a:endParaRPr lang="en-US" sz="1300" dirty="0"/>
          </a:p>
        </p:txBody>
      </p:sp>
      <p:sp>
        <p:nvSpPr>
          <p:cNvPr id="3" name="Text 1"/>
          <p:cNvSpPr/>
          <p:nvPr/>
        </p:nvSpPr>
        <p:spPr>
          <a:xfrm>
            <a:off x="812800" y="216445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Two things to try at home</a:t>
            </a:r>
            <a:endParaRPr lang="en-US" sz="4000" dirty="0"/>
          </a:p>
        </p:txBody>
      </p:sp>
      <p:sp>
        <p:nvSpPr>
          <p:cNvPr id="4" name="Shape 2"/>
          <p:cNvSpPr/>
          <p:nvPr/>
        </p:nvSpPr>
        <p:spPr>
          <a:xfrm>
            <a:off x="819150" y="3839865"/>
            <a:ext cx="5168900" cy="1995785"/>
          </a:xfrm>
          <a:prstGeom prst="roundRect">
            <a:avLst>
              <a:gd name="adj" fmla="val 6682"/>
            </a:avLst>
          </a:prstGeom>
          <a:solidFill>
            <a:srgbClr val="FFFCF4"/>
          </a:solidFill>
          <a:ln w="12700">
            <a:solidFill>
              <a:srgbClr val="E4D7BE"/>
            </a:solidFill>
            <a:prstDash val="solid"/>
          </a:ln>
        </p:spPr>
      </p:sp>
      <p:sp>
        <p:nvSpPr>
          <p:cNvPr id="5" name="Text 3"/>
          <p:cNvSpPr/>
          <p:nvPr/>
        </p:nvSpPr>
        <p:spPr>
          <a:xfrm>
            <a:off x="1054100" y="40748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1</a:t>
            </a:r>
            <a:endParaRPr lang="en-US" sz="1500" dirty="0"/>
          </a:p>
        </p:txBody>
      </p:sp>
      <p:sp>
        <p:nvSpPr>
          <p:cNvPr id="6" name="Text 4"/>
          <p:cNvSpPr/>
          <p:nvPr/>
        </p:nvSpPr>
        <p:spPr>
          <a:xfrm>
            <a:off x="1054100" y="44177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High score</a:t>
            </a:r>
            <a:endParaRPr lang="en-US" sz="2100" dirty="0"/>
          </a:p>
        </p:txBody>
      </p:sp>
      <p:sp>
        <p:nvSpPr>
          <p:cNvPr id="7" name="Text 5"/>
          <p:cNvSpPr/>
          <p:nvPr/>
        </p:nvSpPr>
        <p:spPr>
          <a:xfrm>
            <a:off x="1054100" y="4800600"/>
            <a:ext cx="483997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Add a second variable, highscore, that only updates when score beats it. Careful: high score must NOT be reset by the green flag, or it isn't a high score.</a:t>
            </a:r>
            <a:endParaRPr lang="en-US" sz="1500" dirty="0"/>
          </a:p>
        </p:txBody>
      </p:sp>
      <p:sp>
        <p:nvSpPr>
          <p:cNvPr id="8" name="Shape 6"/>
          <p:cNvSpPr/>
          <p:nvPr/>
        </p:nvSpPr>
        <p:spPr>
          <a:xfrm>
            <a:off x="6203950" y="3839865"/>
            <a:ext cx="5168900" cy="1995785"/>
          </a:xfrm>
          <a:prstGeom prst="roundRect">
            <a:avLst>
              <a:gd name="adj" fmla="val 6682"/>
            </a:avLst>
          </a:prstGeom>
          <a:solidFill>
            <a:srgbClr val="FFFCF4"/>
          </a:solidFill>
          <a:ln w="12700">
            <a:solidFill>
              <a:srgbClr val="E4D7BE"/>
            </a:solidFill>
            <a:prstDash val="solid"/>
          </a:ln>
        </p:spPr>
      </p:sp>
      <p:sp>
        <p:nvSpPr>
          <p:cNvPr id="9" name="Text 7"/>
          <p:cNvSpPr/>
          <p:nvPr/>
        </p:nvSpPr>
        <p:spPr>
          <a:xfrm>
            <a:off x="6438900" y="40748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2</a:t>
            </a:r>
            <a:endParaRPr lang="en-US" sz="1500" dirty="0"/>
          </a:p>
        </p:txBody>
      </p:sp>
      <p:sp>
        <p:nvSpPr>
          <p:cNvPr id="10" name="Text 8"/>
          <p:cNvSpPr/>
          <p:nvPr/>
        </p:nvSpPr>
        <p:spPr>
          <a:xfrm>
            <a:off x="6438900" y="44177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Make it look good</a:t>
            </a:r>
            <a:endParaRPr lang="en-US" sz="2100" dirty="0"/>
          </a:p>
        </p:txBody>
      </p:sp>
      <p:sp>
        <p:nvSpPr>
          <p:cNvPr id="11" name="Text 9"/>
          <p:cNvSpPr/>
          <p:nvPr/>
        </p:nvSpPr>
        <p:spPr>
          <a:xfrm>
            <a:off x="6438900" y="4800600"/>
            <a:ext cx="483997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Position your score display sensibly, try the large readout, and hide any variables the player doesn't need to see.</a:t>
            </a:r>
            <a:endParaRPr lang="en-US" sz="1500" dirty="0"/>
          </a:p>
        </p:txBody>
      </p:sp>
      <p:sp>
        <p:nvSpPr>
          <p:cNvPr id="12" name="Text 10"/>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13"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BONUS CHALLENGES · NOBODY HAS TO FINISH THESE</a:t>
            </a:r>
            <a:endParaRPr lang="en-US" sz="1300" dirty="0"/>
          </a:p>
        </p:txBody>
      </p:sp>
      <p:sp>
        <p:nvSpPr>
          <p:cNvPr id="3" name="Text 1"/>
          <p:cNvSpPr/>
          <p:nvPr/>
        </p:nvSpPr>
        <p:spPr>
          <a:xfrm>
            <a:off x="812800" y="2457549"/>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If you race ahead</a:t>
            </a:r>
            <a:endParaRPr lang="en-US" sz="4000" dirty="0"/>
          </a:p>
        </p:txBody>
      </p:sp>
      <p:sp>
        <p:nvSpPr>
          <p:cNvPr id="4" name="Text 2"/>
          <p:cNvSpPr/>
          <p:nvPr/>
        </p:nvSpPr>
        <p:spPr>
          <a:xfrm>
            <a:off x="1117600" y="4419699"/>
            <a:ext cx="10569448" cy="144770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Make the game get faster as your score rises — use score inside the wait. Careful: waits can't be negative.</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Add a lives variable that starts at 3 and goes down when you catch a bad object. What should happen at zero?</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Ask the player their name at the start and greet them with it. Look in Sensing for ask and wait.</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Add a level variable that goes up every ten points, and show it on the stage.</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5</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14124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NEXT WEEK</a:t>
            </a:r>
            <a:endParaRPr lang="en-US" sz="1300" dirty="0"/>
          </a:p>
        </p:txBody>
      </p:sp>
      <p:sp>
        <p:nvSpPr>
          <p:cNvPr id="3" name="Text 1"/>
          <p:cNvSpPr/>
          <p:nvPr/>
        </p:nvSpPr>
        <p:spPr>
          <a:xfrm>
            <a:off x="812800" y="2626320"/>
            <a:ext cx="9483725"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E7C8"/>
                </a:solidFill>
                <a:latin typeface="Fredoka" pitchFamily="34" charset="0"/>
                <a:ea typeface="Fredoka" pitchFamily="34" charset="-122"/>
                <a:cs typeface="Fredoka" pitchFamily="34" charset="-120"/>
              </a:rPr>
              <a:t>Next week: a start screen, lives, and Game Over.</a:t>
            </a:r>
            <a:endParaRPr lang="en-US" sz="4400" dirty="0"/>
          </a:p>
        </p:txBody>
      </p:sp>
      <p:sp>
        <p:nvSpPr>
          <p:cNvPr id="4" name="Shape 2"/>
          <p:cNvSpPr/>
          <p:nvPr/>
        </p:nvSpPr>
        <p:spPr>
          <a:xfrm>
            <a:off x="812800" y="4109641"/>
            <a:ext cx="1143000" cy="50800"/>
          </a:xfrm>
          <a:prstGeom prst="roundRect">
            <a:avLst>
              <a:gd name="adj" fmla="val 50000"/>
            </a:avLst>
          </a:prstGeom>
          <a:solidFill>
            <a:srgbClr val="C9A227"/>
          </a:solidFill>
          <a:ln/>
        </p:spPr>
      </p:sp>
      <p:sp>
        <p:nvSpPr>
          <p:cNvPr id="5" name="Text 3"/>
          <p:cNvSpPr/>
          <p:nvPr/>
        </p:nvSpPr>
        <p:spPr>
          <a:xfrm>
            <a:off x="812800" y="4414441"/>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Save your game. Check the name at the top of the screen.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Makers 5 — Variables and Score</dc:title>
  <dc:subject>PptxGenJS Presentation</dc:subject>
  <dc:creator>PptxGenJS</dc:creator>
  <cp:lastModifiedBy>PptxGenJS</cp:lastModifiedBy>
  <cp:revision>1</cp:revision>
  <dcterms:created xsi:type="dcterms:W3CDTF">2026-09-19T12:31:33Z</dcterms:created>
  <dcterms:modified xsi:type="dcterms:W3CDTF">2026-09-19T12:31:33Z</dcterms:modified>
</cp:coreProperties>
</file>