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class has the most moving parts of any in the course — read the plan twice before you run it. If time is short, do lives and game over and push the title screen into homework. Week 5 skeleton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seconds. Three weeks left and the showcase box is now visibly close. That is deliberate; it is what gets the last of the homework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high scores specifically. Get two or three on the projector and let the class have a go at beating them. Five minutes of competitive play is well worth it — it is the clearest signal all term that they have built something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the game gets a beginning and an end. Say that — it is a bigger deal to them than any of the individual 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shouting metaphor does nearly all the work here. Lean on it all lesson: who shouts this, and who is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names are typed by hand, which means typos, and two near-identical names in the dropdown is the most common failure today. Warn them now and they will still do it, but they will recognise it when they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 receive is a hat block, same family as the green flag — point that out, because it means a broadcast can start a script from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both, click the wand, and let the reaction land. Emphasise that the wand has no idea the frog exists. Then add a third listener, which is the moment the idea really lands: one shout, three reactions. Then show stop all, and stop this script, and the difference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similarly-named messages in the dropdown, or a plain typo. Build it, click it, be confused, then open the dropdown and find the two near-identical entries together. Teach them to always pick from the dropdown rather than retyping the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steps aloud first. Then set the real task: add a SECOND message called undo, on a different key, that puts everything back. Making both directions work is what forces them to think about state, and it is the part that prepares them for the title screen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script is on the stage, the second on a sprite. This is the first time they build something where the sequence ACROSS sprites is the interesting bit, and it is exactly the skill the project build needs after the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Today's build is bigger than usual and they will need the reset.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time is short, do lives and game over and push the title screen to homework. Say so up front rather than running out of time and leaving half of them with a broken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check is less-than-one, not equals-zero. Explain why out loud: an exact equality check only catches one specific instant, and if the script blinks past it the game never ends and lives goes to minus three. This is a real lesson in defensive programming delivered at exactly the right moment, and they can feel why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wait 0.1 before stop all is the ordering trap made safe. stop all really does stop everything, including the hide scripts that were just about to run, so without the wait the falling objects freeze mid-air on the game over screen. Let them find it first if you have time — it is a lovely real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last move is conceptually significant and they will feel it: the game now has states. Say it out loud — the green flag starts the title screen, and the title screen starts the game. If you are short of time, this is the bit that becomes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volunteer: today's debugging is different in kind. The code is usually correct in each sprite and the INTERACTION between sprites is wrong. Teach them to trace the message — who shouts this, and who is listening? Getting a child to draw the sprites on paper with arrows between them works remarkably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 and back up. Today's project has more scripts spread across more sprites than any previous week, and a lost file now costs real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Warn them about restart: stop all really does stop everything, including a restart script, so the restart has to hang off a when-key-pressed hat, which still fires. That hint is on the handout and worth saying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broadcast-and-wait one is a genuinely good question: it does not move on until every receiver has finished. Anyone who works that out on their own has understood message passing properly.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tell them plainly: week eight is the showcase, families are coming, and next week is the last week for adding anything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A121B"/>
        </a:solidFill>
      </p:bgPr>
    </p:bg>
    <p:spTree>
      <p:nvGrpSpPr>
        <p:cNvPr id="1" name=""/>
        <p:cNvGrpSpPr/>
        <p:nvPr/>
      </p:nvGrpSpPr>
      <p:grpSpPr>
        <a:xfrm>
          <a:off x="0" y="0"/>
          <a:ext cx="0" cy="0"/>
          <a:chOff x="0" y="0"/>
          <a:chExt cx="0" cy="0"/>
        </a:xfrm>
      </p:grpSpPr>
      <p:pic>
        <p:nvPicPr>
          <p:cNvPr id="2" name="Image 0" descr="Kerala Cultural Club logo">    </p:cNvPr>
          <p:cNvPicPr>
            <a:picLocks noChangeAspect="1"/>
          </p:cNvPicPr>
          <p:nvPr/>
        </p:nvPicPr>
        <p:blipFill>
          <a:blip r:embed="rId1"/>
          <a:srcRect l="0" r="0" t="0" b="0"/>
          <a:stretch/>
        </p:blipFill>
        <p:spPr>
          <a:xfrm>
            <a:off x="9779000" y="952500"/>
            <a:ext cx="1460500" cy="1460500"/>
          </a:xfrm>
          <a:prstGeom prst="rect">
            <a:avLst/>
          </a:prstGeom>
        </p:spPr>
      </p:pic>
      <p:sp>
        <p:nvSpPr>
          <p:cNvPr id="3" name="Text 0"/>
          <p:cNvSpPr/>
          <p:nvPr/>
        </p:nvSpPr>
        <p:spPr>
          <a:xfrm>
            <a:off x="812800" y="1319907"/>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9A227"/>
                </a:solidFill>
                <a:latin typeface="Nunito Sans" pitchFamily="34" charset="0"/>
                <a:ea typeface="Nunito Sans" pitchFamily="34" charset="-122"/>
                <a:cs typeface="Nunito Sans" pitchFamily="34" charset="-120"/>
              </a:rPr>
              <a:t>KCC CODE CLUB · GAME MAKERS</a:t>
            </a:r>
            <a:endParaRPr lang="en-US" sz="1300" dirty="0"/>
          </a:p>
        </p:txBody>
      </p:sp>
      <p:sp>
        <p:nvSpPr>
          <p:cNvPr id="4" name="Text 1"/>
          <p:cNvSpPr/>
          <p:nvPr/>
        </p:nvSpPr>
        <p:spPr>
          <a:xfrm>
            <a:off x="812800" y="1779588"/>
            <a:ext cx="7717790" cy="2590006"/>
          </a:xfrm>
          <a:prstGeom prst="rect">
            <a:avLst/>
          </a:prstGeom>
          <a:noFill/>
          <a:ln/>
        </p:spPr>
        <p:txBody>
          <a:bodyPr wrap="square" lIns="0" tIns="0" rIns="0" bIns="0" rtlCol="0" anchor="t">
            <a:normAutofit/>
          </a:bodyPr>
          <a:lstStyle/>
          <a:p>
            <a:pPr algn="l" indent="0" marL="0">
              <a:lnSpc>
                <a:spcPts val="6732"/>
              </a:lnSpc>
              <a:buNone/>
            </a:pPr>
            <a:r>
              <a:rPr lang="en-US" sz="6600" b="1" dirty="0">
                <a:solidFill>
                  <a:srgbClr val="F6E7C8"/>
                </a:solidFill>
                <a:latin typeface="Fredoka" pitchFamily="34" charset="0"/>
                <a:ea typeface="Fredoka" pitchFamily="34" charset="-122"/>
                <a:cs typeface="Fredoka" pitchFamily="34" charset="-120"/>
              </a:rPr>
              <a:t>Class 6</a:t>
            </a:r>
            <a:endParaRPr lang="en-US" sz="6600" dirty="0"/>
          </a:p>
          <a:p>
            <a:pPr algn="l" indent="0" marL="0">
              <a:lnSpc>
                <a:spcPts val="6732"/>
              </a:lnSpc>
              <a:buNone/>
            </a:pPr>
            <a:r>
              <a:rPr lang="en-US" sz="6600" b="1" dirty="0">
                <a:solidFill>
                  <a:srgbClr val="F6E7C8"/>
                </a:solidFill>
                <a:latin typeface="Fredoka" pitchFamily="34" charset="0"/>
                <a:ea typeface="Fredoka" pitchFamily="34" charset="-122"/>
                <a:cs typeface="Fredoka" pitchFamily="34" charset="-120"/>
              </a:rPr>
              <a:t>Broadcasts and Game Over</a:t>
            </a:r>
            <a:endParaRPr lang="en-US" sz="6600" dirty="0"/>
          </a:p>
        </p:txBody>
      </p:sp>
      <p:sp>
        <p:nvSpPr>
          <p:cNvPr id="5" name="Shape 2"/>
          <p:cNvSpPr/>
          <p:nvPr/>
        </p:nvSpPr>
        <p:spPr>
          <a:xfrm>
            <a:off x="812800" y="4572794"/>
            <a:ext cx="1397000" cy="50800"/>
          </a:xfrm>
          <a:prstGeom prst="roundRect">
            <a:avLst>
              <a:gd name="adj" fmla="val 50000"/>
            </a:avLst>
          </a:prstGeom>
          <a:solidFill>
            <a:srgbClr val="C9A227"/>
          </a:solidFill>
          <a:ln/>
        </p:spPr>
      </p:sp>
      <p:sp>
        <p:nvSpPr>
          <p:cNvPr id="6" name="Text 3"/>
          <p:cNvSpPr/>
          <p:nvPr/>
        </p:nvSpPr>
        <p:spPr>
          <a:xfrm>
            <a:off x="812800" y="4852194"/>
            <a:ext cx="771779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49A7E"/>
                </a:solidFill>
                <a:latin typeface="Nunito Sans" pitchFamily="34" charset="0"/>
                <a:ea typeface="Nunito Sans" pitchFamily="34" charset="-122"/>
                <a:cs typeface="Nunito Sans" pitchFamily="34" charset="-120"/>
              </a:rPr>
              <a:t>Sprites can't see each other's code. But they can shout a message that everyone hears.</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SKY CATCHER · WEEK 6 OF 8</a:t>
            </a:r>
            <a:endParaRPr lang="en-US" sz="1300" dirty="0"/>
          </a:p>
        </p:txBody>
      </p:sp>
      <p:sp>
        <p:nvSpPr>
          <p:cNvPr id="3" name="Text 1"/>
          <p:cNvSpPr/>
          <p:nvPr/>
        </p:nvSpPr>
        <p:spPr>
          <a:xfrm>
            <a:off x="812800" y="2102842"/>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Your game, week by week</a:t>
            </a:r>
            <a:endParaRPr lang="en-US" sz="4000" dirty="0"/>
          </a:p>
        </p:txBody>
      </p:sp>
      <p:sp>
        <p:nvSpPr>
          <p:cNvPr id="4" name="Shape 2"/>
          <p:cNvSpPr/>
          <p:nvPr/>
        </p:nvSpPr>
        <p:spPr>
          <a:xfrm>
            <a:off x="819150" y="3716734"/>
            <a:ext cx="2514600" cy="857845"/>
          </a:xfrm>
          <a:prstGeom prst="roundRect">
            <a:avLst>
              <a:gd name="adj" fmla="val 12584"/>
            </a:avLst>
          </a:prstGeom>
          <a:solidFill>
            <a:srgbClr val="FFFCF4"/>
          </a:solidFill>
          <a:ln w="12700">
            <a:solidFill>
              <a:srgbClr val="E4D7BE"/>
            </a:solidFill>
            <a:prstDash val="solid"/>
          </a:ln>
        </p:spPr>
      </p:sp>
      <p:sp>
        <p:nvSpPr>
          <p:cNvPr id="5" name="Text 3"/>
          <p:cNvSpPr/>
          <p:nvPr/>
        </p:nvSpPr>
        <p:spPr>
          <a:xfrm>
            <a:off x="9906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1 · DONE</a:t>
            </a:r>
            <a:endParaRPr lang="en-US" sz="1200" dirty="0"/>
          </a:p>
        </p:txBody>
      </p:sp>
      <p:sp>
        <p:nvSpPr>
          <p:cNvPr id="6" name="Text 4"/>
          <p:cNvSpPr/>
          <p:nvPr/>
        </p:nvSpPr>
        <p:spPr>
          <a:xfrm>
            <a:off x="9906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says hello</a:t>
            </a:r>
            <a:endParaRPr lang="en-US" sz="1500" dirty="0"/>
          </a:p>
        </p:txBody>
      </p:sp>
      <p:sp>
        <p:nvSpPr>
          <p:cNvPr id="7" name="Shape 5"/>
          <p:cNvSpPr/>
          <p:nvPr/>
        </p:nvSpPr>
        <p:spPr>
          <a:xfrm>
            <a:off x="3498850" y="3716734"/>
            <a:ext cx="2514600" cy="857845"/>
          </a:xfrm>
          <a:prstGeom prst="roundRect">
            <a:avLst>
              <a:gd name="adj" fmla="val 12584"/>
            </a:avLst>
          </a:prstGeom>
          <a:solidFill>
            <a:srgbClr val="FFFCF4"/>
          </a:solidFill>
          <a:ln w="12700">
            <a:solidFill>
              <a:srgbClr val="E4D7BE"/>
            </a:solidFill>
            <a:prstDash val="solid"/>
          </a:ln>
        </p:spPr>
      </p:sp>
      <p:sp>
        <p:nvSpPr>
          <p:cNvPr id="8" name="Text 6"/>
          <p:cNvSpPr/>
          <p:nvPr/>
        </p:nvSpPr>
        <p:spPr>
          <a:xfrm>
            <a:off x="36703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2 · DONE</a:t>
            </a:r>
            <a:endParaRPr lang="en-US" sz="1200" dirty="0"/>
          </a:p>
        </p:txBody>
      </p:sp>
      <p:sp>
        <p:nvSpPr>
          <p:cNvPr id="9" name="Text 7"/>
          <p:cNvSpPr/>
          <p:nvPr/>
        </p:nvSpPr>
        <p:spPr>
          <a:xfrm>
            <a:off x="36703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you can drive it</a:t>
            </a:r>
            <a:endParaRPr lang="en-US" sz="1500" dirty="0"/>
          </a:p>
        </p:txBody>
      </p:sp>
      <p:sp>
        <p:nvSpPr>
          <p:cNvPr id="10" name="Shape 8"/>
          <p:cNvSpPr/>
          <p:nvPr/>
        </p:nvSpPr>
        <p:spPr>
          <a:xfrm>
            <a:off x="6178550" y="3716734"/>
            <a:ext cx="2514600" cy="857845"/>
          </a:xfrm>
          <a:prstGeom prst="roundRect">
            <a:avLst>
              <a:gd name="adj" fmla="val 12584"/>
            </a:avLst>
          </a:prstGeom>
          <a:solidFill>
            <a:srgbClr val="FFFCF4"/>
          </a:solidFill>
          <a:ln w="12700">
            <a:solidFill>
              <a:srgbClr val="E4D7BE"/>
            </a:solidFill>
            <a:prstDash val="solid"/>
          </a:ln>
        </p:spPr>
      </p:sp>
      <p:sp>
        <p:nvSpPr>
          <p:cNvPr id="11" name="Text 9"/>
          <p:cNvSpPr/>
          <p:nvPr/>
        </p:nvSpPr>
        <p:spPr>
          <a:xfrm>
            <a:off x="63500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3 · DONE</a:t>
            </a:r>
            <a:endParaRPr lang="en-US" sz="1200" dirty="0"/>
          </a:p>
        </p:txBody>
      </p:sp>
      <p:sp>
        <p:nvSpPr>
          <p:cNvPr id="12" name="Text 10"/>
          <p:cNvSpPr/>
          <p:nvPr/>
        </p:nvSpPr>
        <p:spPr>
          <a:xfrm>
            <a:off x="63500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things fall from the sky</a:t>
            </a:r>
            <a:endParaRPr lang="en-US" sz="1500" dirty="0"/>
          </a:p>
        </p:txBody>
      </p:sp>
      <p:sp>
        <p:nvSpPr>
          <p:cNvPr id="13" name="Shape 11"/>
          <p:cNvSpPr/>
          <p:nvPr/>
        </p:nvSpPr>
        <p:spPr>
          <a:xfrm>
            <a:off x="8858250" y="3716734"/>
            <a:ext cx="2514600" cy="857845"/>
          </a:xfrm>
          <a:prstGeom prst="roundRect">
            <a:avLst>
              <a:gd name="adj" fmla="val 12584"/>
            </a:avLst>
          </a:prstGeom>
          <a:solidFill>
            <a:srgbClr val="FFFCF4"/>
          </a:solidFill>
          <a:ln w="12700">
            <a:solidFill>
              <a:srgbClr val="E4D7BE"/>
            </a:solidFill>
            <a:prstDash val="solid"/>
          </a:ln>
        </p:spPr>
      </p:sp>
      <p:sp>
        <p:nvSpPr>
          <p:cNvPr id="14" name="Text 12"/>
          <p:cNvSpPr/>
          <p:nvPr/>
        </p:nvSpPr>
        <p:spPr>
          <a:xfrm>
            <a:off x="90297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4 · DONE</a:t>
            </a:r>
            <a:endParaRPr lang="en-US" sz="1200" dirty="0"/>
          </a:p>
        </p:txBody>
      </p:sp>
      <p:sp>
        <p:nvSpPr>
          <p:cNvPr id="15" name="Text 13"/>
          <p:cNvSpPr/>
          <p:nvPr/>
        </p:nvSpPr>
        <p:spPr>
          <a:xfrm>
            <a:off x="90297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you can catch them</a:t>
            </a:r>
            <a:endParaRPr lang="en-US" sz="1500" dirty="0"/>
          </a:p>
        </p:txBody>
      </p:sp>
      <p:sp>
        <p:nvSpPr>
          <p:cNvPr id="16" name="Shape 14"/>
          <p:cNvSpPr/>
          <p:nvPr/>
        </p:nvSpPr>
        <p:spPr>
          <a:xfrm>
            <a:off x="819150" y="4739680"/>
            <a:ext cx="2514600" cy="1095970"/>
          </a:xfrm>
          <a:prstGeom prst="roundRect">
            <a:avLst>
              <a:gd name="adj" fmla="val 9850"/>
            </a:avLst>
          </a:prstGeom>
          <a:solidFill>
            <a:srgbClr val="FFFCF4"/>
          </a:solidFill>
          <a:ln w="12700">
            <a:solidFill>
              <a:srgbClr val="E4D7BE"/>
            </a:solidFill>
            <a:prstDash val="solid"/>
          </a:ln>
        </p:spPr>
      </p:sp>
      <p:sp>
        <p:nvSpPr>
          <p:cNvPr id="17" name="Text 15"/>
          <p:cNvSpPr/>
          <p:nvPr/>
        </p:nvSpPr>
        <p:spPr>
          <a:xfrm>
            <a:off x="9906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5 · DONE</a:t>
            </a:r>
            <a:endParaRPr lang="en-US" sz="1200" dirty="0"/>
          </a:p>
        </p:txBody>
      </p:sp>
      <p:sp>
        <p:nvSpPr>
          <p:cNvPr id="18" name="Text 16"/>
          <p:cNvSpPr/>
          <p:nvPr/>
        </p:nvSpPr>
        <p:spPr>
          <a:xfrm>
            <a:off x="9906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it keeps score</a:t>
            </a:r>
            <a:endParaRPr lang="en-US" sz="1500" dirty="0"/>
          </a:p>
        </p:txBody>
      </p:sp>
      <p:sp>
        <p:nvSpPr>
          <p:cNvPr id="19" name="Shape 17"/>
          <p:cNvSpPr/>
          <p:nvPr/>
        </p:nvSpPr>
        <p:spPr>
          <a:xfrm>
            <a:off x="3498850" y="4739680"/>
            <a:ext cx="2514600" cy="1095970"/>
          </a:xfrm>
          <a:prstGeom prst="roundRect">
            <a:avLst>
              <a:gd name="adj" fmla="val 9850"/>
            </a:avLst>
          </a:prstGeom>
          <a:solidFill>
            <a:srgbClr val="C9A227"/>
          </a:solidFill>
          <a:ln w="12700">
            <a:solidFill>
              <a:srgbClr val="A8861C"/>
            </a:solidFill>
            <a:prstDash val="solid"/>
          </a:ln>
        </p:spPr>
      </p:sp>
      <p:sp>
        <p:nvSpPr>
          <p:cNvPr id="20" name="Text 18"/>
          <p:cNvSpPr/>
          <p:nvPr/>
        </p:nvSpPr>
        <p:spPr>
          <a:xfrm>
            <a:off x="36703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3A2F04"/>
                </a:solidFill>
                <a:latin typeface="Nunito Sans" pitchFamily="34" charset="0"/>
                <a:ea typeface="Nunito Sans" pitchFamily="34" charset="-122"/>
                <a:cs typeface="Nunito Sans" pitchFamily="34" charset="-120"/>
              </a:rPr>
              <a:t>WEEK 6 · TODAY</a:t>
            </a:r>
            <a:endParaRPr lang="en-US" sz="1200" dirty="0"/>
          </a:p>
        </p:txBody>
      </p:sp>
      <p:sp>
        <p:nvSpPr>
          <p:cNvPr id="21" name="Text 19"/>
          <p:cNvSpPr/>
          <p:nvPr/>
        </p:nvSpPr>
        <p:spPr>
          <a:xfrm>
            <a:off x="3670300" y="5187950"/>
            <a:ext cx="2236851" cy="501650"/>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2E1015"/>
                </a:solidFill>
                <a:latin typeface="Nunito Sans" pitchFamily="34" charset="0"/>
                <a:ea typeface="Nunito Sans" pitchFamily="34" charset="-122"/>
                <a:cs typeface="Nunito Sans" pitchFamily="34" charset="-120"/>
              </a:rPr>
              <a:t>lives, Game Over, play again</a:t>
            </a:r>
            <a:endParaRPr lang="en-US" sz="1500" dirty="0"/>
          </a:p>
        </p:txBody>
      </p:sp>
      <p:sp>
        <p:nvSpPr>
          <p:cNvPr id="22" name="Shape 20"/>
          <p:cNvSpPr/>
          <p:nvPr/>
        </p:nvSpPr>
        <p:spPr>
          <a:xfrm>
            <a:off x="6178550" y="4739680"/>
            <a:ext cx="2514600" cy="1095970"/>
          </a:xfrm>
          <a:prstGeom prst="roundRect">
            <a:avLst>
              <a:gd name="adj" fmla="val 9850"/>
            </a:avLst>
          </a:prstGeom>
          <a:solidFill>
            <a:srgbClr val="F4E9D2"/>
          </a:solidFill>
          <a:ln w="12700">
            <a:solidFill>
              <a:srgbClr val="DFD0B4"/>
            </a:solidFill>
            <a:prstDash val="solid"/>
          </a:ln>
        </p:spPr>
      </p:sp>
      <p:sp>
        <p:nvSpPr>
          <p:cNvPr id="23" name="Text 21"/>
          <p:cNvSpPr/>
          <p:nvPr/>
        </p:nvSpPr>
        <p:spPr>
          <a:xfrm>
            <a:off x="63500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7</a:t>
            </a:r>
            <a:endParaRPr lang="en-US" sz="1200" dirty="0"/>
          </a:p>
        </p:txBody>
      </p:sp>
      <p:sp>
        <p:nvSpPr>
          <p:cNvPr id="24" name="Text 22"/>
          <p:cNvSpPr/>
          <p:nvPr/>
        </p:nvSpPr>
        <p:spPr>
          <a:xfrm>
            <a:off x="63500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it gets harder</a:t>
            </a:r>
            <a:endParaRPr lang="en-US" sz="1500" dirty="0"/>
          </a:p>
        </p:txBody>
      </p:sp>
      <p:sp>
        <p:nvSpPr>
          <p:cNvPr id="25" name="Shape 23"/>
          <p:cNvSpPr/>
          <p:nvPr/>
        </p:nvSpPr>
        <p:spPr>
          <a:xfrm>
            <a:off x="8858250" y="4739680"/>
            <a:ext cx="2514600" cy="1095970"/>
          </a:xfrm>
          <a:prstGeom prst="roundRect">
            <a:avLst>
              <a:gd name="adj" fmla="val 9850"/>
            </a:avLst>
          </a:prstGeom>
          <a:solidFill>
            <a:srgbClr val="F4E9D2"/>
          </a:solidFill>
          <a:ln w="12700">
            <a:solidFill>
              <a:srgbClr val="DFD0B4"/>
            </a:solidFill>
            <a:prstDash val="solid"/>
          </a:ln>
        </p:spPr>
      </p:sp>
      <p:sp>
        <p:nvSpPr>
          <p:cNvPr id="26" name="Text 24"/>
          <p:cNvSpPr/>
          <p:nvPr/>
        </p:nvSpPr>
        <p:spPr>
          <a:xfrm>
            <a:off x="90297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8</a:t>
            </a:r>
            <a:endParaRPr lang="en-US" sz="1200" dirty="0"/>
          </a:p>
        </p:txBody>
      </p:sp>
      <p:sp>
        <p:nvSpPr>
          <p:cNvPr id="27" name="Text 25"/>
          <p:cNvSpPr/>
          <p:nvPr/>
        </p:nvSpPr>
        <p:spPr>
          <a:xfrm>
            <a:off x="90297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you show your family</a:t>
            </a:r>
            <a:endParaRPr lang="en-US" sz="1500" dirty="0"/>
          </a:p>
        </p:txBody>
      </p:sp>
      <p:sp>
        <p:nvSpPr>
          <p:cNvPr id="28" name="Text 26"/>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6</a:t>
            </a:r>
            <a:endParaRPr lang="en-US" sz="1200" dirty="0"/>
          </a:p>
        </p:txBody>
      </p:sp>
      <p:pic>
        <p:nvPicPr>
          <p:cNvPr id="29"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SHOW &amp;AMP; TELL · FIRST TEN MINUTES</a:t>
            </a:r>
            <a:endParaRPr lang="en-US" sz="1300" dirty="0"/>
          </a:p>
        </p:txBody>
      </p:sp>
      <p:sp>
        <p:nvSpPr>
          <p:cNvPr id="3" name="Text 1"/>
          <p:cNvSpPr/>
          <p:nvPr/>
        </p:nvSpPr>
        <p:spPr>
          <a:xfrm>
            <a:off x="812800" y="2515691"/>
            <a:ext cx="9810750" cy="683716"/>
          </a:xfrm>
          <a:prstGeom prst="rect">
            <a:avLst/>
          </a:prstGeom>
          <a:noFill/>
          <a:ln/>
        </p:spPr>
        <p:txBody>
          <a:bodyPr wrap="square" lIns="0" tIns="0" rIns="0" bIns="0" rtlCol="0" anchor="t">
            <a:normAutofit/>
          </a:bodyPr>
          <a:lstStyle/>
          <a:p>
            <a:pPr algn="l" indent="0" marL="0">
              <a:lnSpc>
                <a:spcPts val="5184"/>
              </a:lnSpc>
              <a:buNone/>
            </a:pPr>
            <a:r>
              <a:rPr lang="en-US" sz="4800" b="1" dirty="0">
                <a:solidFill>
                  <a:srgbClr val="2E1015"/>
                </a:solidFill>
                <a:latin typeface="Fredoka" pitchFamily="34" charset="0"/>
                <a:ea typeface="Fredoka" pitchFamily="34" charset="-122"/>
                <a:cs typeface="Fredoka" pitchFamily="34" charset="-120"/>
              </a:rPr>
              <a:t>Who brought something?</a:t>
            </a:r>
            <a:endParaRPr lang="en-US" sz="4800" dirty="0"/>
          </a:p>
        </p:txBody>
      </p:sp>
      <p:sp>
        <p:nvSpPr>
          <p:cNvPr id="4" name="Shape 2"/>
          <p:cNvSpPr/>
          <p:nvPr/>
        </p:nvSpPr>
        <p:spPr>
          <a:xfrm>
            <a:off x="819150" y="4652070"/>
            <a:ext cx="10553700" cy="1183580"/>
          </a:xfrm>
          <a:prstGeom prst="roundRect">
            <a:avLst>
              <a:gd name="adj" fmla="val 11267"/>
            </a:avLst>
          </a:prstGeom>
          <a:solidFill>
            <a:srgbClr val="FFFCF4"/>
          </a:solidFill>
          <a:ln w="12700">
            <a:solidFill>
              <a:srgbClr val="E4D7BE"/>
            </a:solidFill>
            <a:prstDash val="solid"/>
          </a:ln>
        </p:spPr>
      </p:sp>
      <p:sp>
        <p:nvSpPr>
          <p:cNvPr id="5" name="Text 3"/>
          <p:cNvSpPr/>
          <p:nvPr/>
        </p:nvSpPr>
        <p:spPr>
          <a:xfrm>
            <a:off x="1054100" y="4887020"/>
            <a:ext cx="1038631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8C2332"/>
                </a:solidFill>
                <a:latin typeface="Fredoka" pitchFamily="34" charset="0"/>
                <a:ea typeface="Fredoka" pitchFamily="34" charset="-122"/>
                <a:cs typeface="Fredoka" pitchFamily="34" charset="-120"/>
              </a:rPr>
              <a:t>High scores. Put yours up and let us try to beat it.</a:t>
            </a:r>
            <a:endParaRPr lang="en-US" sz="2200" dirty="0"/>
          </a:p>
        </p:txBody>
      </p:sp>
      <p:sp>
        <p:nvSpPr>
          <p:cNvPr id="6" name="Text 4"/>
          <p:cNvSpPr/>
          <p:nvPr/>
        </p:nvSpPr>
        <p:spPr>
          <a:xfrm>
            <a:off x="1054100" y="5298480"/>
            <a:ext cx="1038631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Come up, plug in, show us. Tell us one thing that went wrong and how you fixed it.</a:t>
            </a:r>
            <a:endParaRPr lang="en-US" sz="1700" dirty="0"/>
          </a:p>
        </p:txBody>
      </p:sp>
      <p:sp>
        <p:nvSpPr>
          <p:cNvPr id="7" name="Text 5"/>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6</a:t>
            </a:r>
            <a:endParaRPr lang="en-US" sz="1200" dirty="0"/>
          </a:p>
        </p:txBody>
      </p:sp>
      <p:pic>
        <p:nvPicPr>
          <p:cNvPr id="8"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TODAY</a:t>
            </a:r>
            <a:endParaRPr lang="en-US" sz="1300" dirty="0"/>
          </a:p>
        </p:txBody>
      </p:sp>
      <p:sp>
        <p:nvSpPr>
          <p:cNvPr id="3" name="Text 1"/>
          <p:cNvSpPr/>
          <p:nvPr/>
        </p:nvSpPr>
        <p:spPr>
          <a:xfrm>
            <a:off x="812800" y="2299395"/>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Here's the plan</a:t>
            </a:r>
            <a:endParaRPr lang="en-US" sz="4000" dirty="0"/>
          </a:p>
        </p:txBody>
      </p:sp>
      <p:sp>
        <p:nvSpPr>
          <p:cNvPr id="4" name="Shape 2"/>
          <p:cNvSpPr/>
          <p:nvPr/>
        </p:nvSpPr>
        <p:spPr>
          <a:xfrm>
            <a:off x="819150" y="4109839"/>
            <a:ext cx="3373934" cy="1725811"/>
          </a:xfrm>
          <a:prstGeom prst="roundRect">
            <a:avLst>
              <a:gd name="adj" fmla="val 7727"/>
            </a:avLst>
          </a:prstGeom>
          <a:solidFill>
            <a:srgbClr val="FFFCF4"/>
          </a:solidFill>
          <a:ln w="12700">
            <a:solidFill>
              <a:srgbClr val="E4D7BE"/>
            </a:solidFill>
            <a:prstDash val="solid"/>
          </a:ln>
        </p:spPr>
      </p:sp>
      <p:sp>
        <p:nvSpPr>
          <p:cNvPr id="5" name="Text 3"/>
          <p:cNvSpPr/>
          <p:nvPr/>
        </p:nvSpPr>
        <p:spPr>
          <a:xfrm>
            <a:off x="1054100" y="4344789"/>
            <a:ext cx="2991155"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1</a:t>
            </a:r>
            <a:endParaRPr lang="en-US" sz="1400" dirty="0"/>
          </a:p>
        </p:txBody>
      </p:sp>
      <p:sp>
        <p:nvSpPr>
          <p:cNvPr id="6" name="Text 4"/>
          <p:cNvSpPr/>
          <p:nvPr/>
        </p:nvSpPr>
        <p:spPr>
          <a:xfrm>
            <a:off x="1054100" y="4669830"/>
            <a:ext cx="2991155"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Shouting</a:t>
            </a:r>
            <a:endParaRPr lang="en-US" sz="2200" dirty="0"/>
          </a:p>
        </p:txBody>
      </p:sp>
      <p:sp>
        <p:nvSpPr>
          <p:cNvPr id="7" name="Text 5"/>
          <p:cNvSpPr/>
          <p:nvPr/>
        </p:nvSpPr>
        <p:spPr>
          <a:xfrm>
            <a:off x="1054100" y="5067300"/>
            <a:ext cx="299115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One sprite shouts a message. Any sprite can listen for it.</a:t>
            </a:r>
            <a:endParaRPr lang="en-US" sz="1500" dirty="0"/>
          </a:p>
        </p:txBody>
      </p:sp>
      <p:sp>
        <p:nvSpPr>
          <p:cNvPr id="8" name="Shape 6"/>
          <p:cNvSpPr/>
          <p:nvPr/>
        </p:nvSpPr>
        <p:spPr>
          <a:xfrm>
            <a:off x="4408984" y="4109839"/>
            <a:ext cx="3374033" cy="1725811"/>
          </a:xfrm>
          <a:prstGeom prst="roundRect">
            <a:avLst>
              <a:gd name="adj" fmla="val 7727"/>
            </a:avLst>
          </a:prstGeom>
          <a:solidFill>
            <a:srgbClr val="FFFCF4"/>
          </a:solidFill>
          <a:ln w="12700">
            <a:solidFill>
              <a:srgbClr val="E4D7BE"/>
            </a:solidFill>
            <a:prstDash val="solid"/>
          </a:ln>
        </p:spPr>
      </p:sp>
      <p:sp>
        <p:nvSpPr>
          <p:cNvPr id="9" name="Text 7"/>
          <p:cNvSpPr/>
          <p:nvPr/>
        </p:nvSpPr>
        <p:spPr>
          <a:xfrm>
            <a:off x="4643934" y="4344789"/>
            <a:ext cx="2991257"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2</a:t>
            </a:r>
            <a:endParaRPr lang="en-US" sz="1400" dirty="0"/>
          </a:p>
        </p:txBody>
      </p:sp>
      <p:sp>
        <p:nvSpPr>
          <p:cNvPr id="10" name="Text 8"/>
          <p:cNvSpPr/>
          <p:nvPr/>
        </p:nvSpPr>
        <p:spPr>
          <a:xfrm>
            <a:off x="4643934" y="4669830"/>
            <a:ext cx="2991257"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Lives</a:t>
            </a:r>
            <a:endParaRPr lang="en-US" sz="2200" dirty="0"/>
          </a:p>
        </p:txBody>
      </p:sp>
      <p:sp>
        <p:nvSpPr>
          <p:cNvPr id="11" name="Text 9"/>
          <p:cNvSpPr/>
          <p:nvPr/>
        </p:nvSpPr>
        <p:spPr>
          <a:xfrm>
            <a:off x="4643934" y="5067300"/>
            <a:ext cx="299125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Three of them. Catch a bad thing and you lose one.</a:t>
            </a:r>
            <a:endParaRPr lang="en-US" sz="1500" dirty="0"/>
          </a:p>
        </p:txBody>
      </p:sp>
      <p:sp>
        <p:nvSpPr>
          <p:cNvPr id="12" name="Shape 10"/>
          <p:cNvSpPr/>
          <p:nvPr/>
        </p:nvSpPr>
        <p:spPr>
          <a:xfrm>
            <a:off x="7998916" y="4109839"/>
            <a:ext cx="3373934" cy="1725811"/>
          </a:xfrm>
          <a:prstGeom prst="roundRect">
            <a:avLst>
              <a:gd name="adj" fmla="val 7727"/>
            </a:avLst>
          </a:prstGeom>
          <a:solidFill>
            <a:srgbClr val="FFFCF4"/>
          </a:solidFill>
          <a:ln w="12700">
            <a:solidFill>
              <a:srgbClr val="E4D7BE"/>
            </a:solidFill>
            <a:prstDash val="solid"/>
          </a:ln>
        </p:spPr>
      </p:sp>
      <p:sp>
        <p:nvSpPr>
          <p:cNvPr id="13" name="Text 11"/>
          <p:cNvSpPr/>
          <p:nvPr/>
        </p:nvSpPr>
        <p:spPr>
          <a:xfrm>
            <a:off x="8233866" y="4344789"/>
            <a:ext cx="2991155"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3</a:t>
            </a:r>
            <a:endParaRPr lang="en-US" sz="1400" dirty="0"/>
          </a:p>
        </p:txBody>
      </p:sp>
      <p:sp>
        <p:nvSpPr>
          <p:cNvPr id="14" name="Text 12"/>
          <p:cNvSpPr/>
          <p:nvPr/>
        </p:nvSpPr>
        <p:spPr>
          <a:xfrm>
            <a:off x="8233866" y="4669830"/>
            <a:ext cx="2991155"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Game Over</a:t>
            </a:r>
            <a:endParaRPr lang="en-US" sz="2200" dirty="0"/>
          </a:p>
        </p:txBody>
      </p:sp>
      <p:sp>
        <p:nvSpPr>
          <p:cNvPr id="15" name="Text 13"/>
          <p:cNvSpPr/>
          <p:nvPr/>
        </p:nvSpPr>
        <p:spPr>
          <a:xfrm>
            <a:off x="8233866" y="5067300"/>
            <a:ext cx="299115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A start screen, an ending, and a way to play again.</a:t>
            </a:r>
            <a:endParaRPr lang="en-US" sz="150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6</a:t>
            </a:r>
            <a:endParaRPr lang="en-US" sz="1200" dirty="0"/>
          </a:p>
        </p:txBody>
      </p:sp>
      <p:pic>
        <p:nvPicPr>
          <p:cNvPr id="1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C9A227"/>
        </a:solidFill>
      </p:bgPr>
    </p:bg>
    <p:spTree>
      <p:nvGrpSpPr>
        <p:cNvPr id="1" name=""/>
        <p:cNvGrpSpPr/>
        <p:nvPr/>
      </p:nvGrpSpPr>
      <p:grpSpPr>
        <a:xfrm>
          <a:off x="0" y="0"/>
          <a:ext cx="0" cy="0"/>
          <a:chOff x="0" y="0"/>
          <a:chExt cx="0" cy="0"/>
        </a:xfrm>
      </p:grpSpPr>
      <p:sp>
        <p:nvSpPr>
          <p:cNvPr id="2" name="Text 0"/>
          <p:cNvSpPr/>
          <p:nvPr/>
        </p:nvSpPr>
        <p:spPr>
          <a:xfrm>
            <a:off x="812800" y="1986161"/>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5A4A08"/>
                </a:solidFill>
                <a:latin typeface="Nunito Sans" pitchFamily="34" charset="0"/>
                <a:ea typeface="Nunito Sans" pitchFamily="34" charset="-122"/>
                <a:cs typeface="Nunito Sans" pitchFamily="34" charset="-120"/>
              </a:rPr>
              <a:t>THE BIG IDEA</a:t>
            </a:r>
            <a:endParaRPr lang="en-US" sz="1300" dirty="0"/>
          </a:p>
        </p:txBody>
      </p:sp>
      <p:sp>
        <p:nvSpPr>
          <p:cNvPr id="3" name="Text 1"/>
          <p:cNvSpPr/>
          <p:nvPr/>
        </p:nvSpPr>
        <p:spPr>
          <a:xfrm>
            <a:off x="812800" y="2445841"/>
            <a:ext cx="9810750" cy="1902718"/>
          </a:xfrm>
          <a:prstGeom prst="rect">
            <a:avLst/>
          </a:prstGeom>
          <a:noFill/>
          <a:ln/>
        </p:spPr>
        <p:txBody>
          <a:bodyPr wrap="square" lIns="0" tIns="0" rIns="0" bIns="0" rtlCol="0" anchor="t">
            <a:normAutofit/>
          </a:bodyPr>
          <a:lstStyle/>
          <a:p>
            <a:pPr algn="l" indent="0" marL="0">
              <a:lnSpc>
                <a:spcPts val="4928"/>
              </a:lnSpc>
              <a:buNone/>
            </a:pPr>
            <a:r>
              <a:rPr lang="en-US" sz="4400" b="1" dirty="0">
                <a:solidFill>
                  <a:srgbClr val="2E1015"/>
                </a:solidFill>
                <a:latin typeface="Fredoka" pitchFamily="34" charset="0"/>
                <a:ea typeface="Fredoka" pitchFamily="34" charset="-122"/>
                <a:cs typeface="Fredoka" pitchFamily="34" charset="-120"/>
              </a:rPr>
              <a:t>Sprites can't see each other's code. But they can shout a message that everyone hears.</a:t>
            </a:r>
            <a:endParaRPr lang="en-US" sz="4400" dirty="0"/>
          </a:p>
        </p:txBody>
      </p:sp>
      <p:sp>
        <p:nvSpPr>
          <p:cNvPr id="4" name="Text 2"/>
          <p:cNvSpPr/>
          <p:nvPr/>
        </p:nvSpPr>
        <p:spPr>
          <a:xfrm>
            <a:off x="812800" y="4551759"/>
            <a:ext cx="850265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5A4A08"/>
                </a:solidFill>
                <a:latin typeface="Nunito Sans" pitchFamily="34" charset="0"/>
                <a:ea typeface="Nunito Sans" pitchFamily="34" charset="-122"/>
                <a:cs typeface="Nunito Sans" pitchFamily="34" charset="-120"/>
              </a:rPr>
              <a:t>That's how the different parts of one program work together.</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HOW A BROADCAST WORKS</a:t>
            </a:r>
            <a:endParaRPr lang="en-US" sz="1300" dirty="0"/>
          </a:p>
        </p:txBody>
      </p:sp>
      <p:sp>
        <p:nvSpPr>
          <p:cNvPr id="3" name="Text 1"/>
          <p:cNvSpPr/>
          <p:nvPr/>
        </p:nvSpPr>
        <p:spPr>
          <a:xfrm>
            <a:off x="812800" y="2363291"/>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One shout, any number of listeners</a:t>
            </a:r>
            <a:endParaRPr lang="en-US" sz="4000" dirty="0"/>
          </a:p>
        </p:txBody>
      </p:sp>
      <p:sp>
        <p:nvSpPr>
          <p:cNvPr id="4" name="Shape 2"/>
          <p:cNvSpPr/>
          <p:nvPr/>
        </p:nvSpPr>
        <p:spPr>
          <a:xfrm>
            <a:off x="819150" y="4237633"/>
            <a:ext cx="3373934" cy="1598017"/>
          </a:xfrm>
          <a:prstGeom prst="roundRect">
            <a:avLst>
              <a:gd name="adj" fmla="val 8345"/>
            </a:avLst>
          </a:prstGeom>
          <a:solidFill>
            <a:srgbClr val="FFFCF4"/>
          </a:solidFill>
          <a:ln w="12700">
            <a:solidFill>
              <a:srgbClr val="E4D7BE"/>
            </a:solidFill>
            <a:prstDash val="solid"/>
          </a:ln>
        </p:spPr>
      </p:sp>
      <p:sp>
        <p:nvSpPr>
          <p:cNvPr id="5" name="Text 3"/>
          <p:cNvSpPr/>
          <p:nvPr/>
        </p:nvSpPr>
        <p:spPr>
          <a:xfrm>
            <a:off x="1054100" y="4472583"/>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One sprite shouts</a:t>
            </a:r>
            <a:endParaRPr lang="en-US" sz="1900" dirty="0"/>
          </a:p>
        </p:txBody>
      </p:sp>
      <p:sp>
        <p:nvSpPr>
          <p:cNvPr id="6" name="Text 4"/>
          <p:cNvSpPr/>
          <p:nvPr/>
        </p:nvSpPr>
        <p:spPr>
          <a:xfrm>
            <a:off x="1054100" y="4826198"/>
            <a:ext cx="2991155"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broadcast [gameover]. It has no idea who is out there.</a:t>
            </a:r>
            <a:endParaRPr lang="en-US" sz="1450" dirty="0"/>
          </a:p>
        </p:txBody>
      </p:sp>
      <p:sp>
        <p:nvSpPr>
          <p:cNvPr id="7" name="Shape 5"/>
          <p:cNvSpPr/>
          <p:nvPr/>
        </p:nvSpPr>
        <p:spPr>
          <a:xfrm>
            <a:off x="4408984" y="4237633"/>
            <a:ext cx="3374033" cy="1598017"/>
          </a:xfrm>
          <a:prstGeom prst="roundRect">
            <a:avLst>
              <a:gd name="adj" fmla="val 8345"/>
            </a:avLst>
          </a:prstGeom>
          <a:solidFill>
            <a:srgbClr val="FFFCF4"/>
          </a:solidFill>
          <a:ln w="12700">
            <a:solidFill>
              <a:srgbClr val="E4D7BE"/>
            </a:solidFill>
            <a:prstDash val="solid"/>
          </a:ln>
        </p:spPr>
      </p:sp>
      <p:sp>
        <p:nvSpPr>
          <p:cNvPr id="8" name="Text 6"/>
          <p:cNvSpPr/>
          <p:nvPr/>
        </p:nvSpPr>
        <p:spPr>
          <a:xfrm>
            <a:off x="4643934" y="4472583"/>
            <a:ext cx="2991257"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Every listener reacts</a:t>
            </a:r>
            <a:endParaRPr lang="en-US" sz="1900" dirty="0"/>
          </a:p>
        </p:txBody>
      </p:sp>
      <p:sp>
        <p:nvSpPr>
          <p:cNvPr id="9" name="Text 7"/>
          <p:cNvSpPr/>
          <p:nvPr/>
        </p:nvSpPr>
        <p:spPr>
          <a:xfrm>
            <a:off x="4643934" y="4826198"/>
            <a:ext cx="2991257"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when I receive [gameover]. Each sprite does its own thing.</a:t>
            </a:r>
            <a:endParaRPr lang="en-US" sz="1450" dirty="0"/>
          </a:p>
        </p:txBody>
      </p:sp>
      <p:sp>
        <p:nvSpPr>
          <p:cNvPr id="10" name="Shape 8"/>
          <p:cNvSpPr/>
          <p:nvPr/>
        </p:nvSpPr>
        <p:spPr>
          <a:xfrm>
            <a:off x="7998916" y="4237633"/>
            <a:ext cx="3373934" cy="1598017"/>
          </a:xfrm>
          <a:prstGeom prst="roundRect">
            <a:avLst>
              <a:gd name="adj" fmla="val 8345"/>
            </a:avLst>
          </a:prstGeom>
          <a:solidFill>
            <a:srgbClr val="FFFCF4"/>
          </a:solidFill>
          <a:ln w="12700">
            <a:solidFill>
              <a:srgbClr val="E4D7BE"/>
            </a:solidFill>
            <a:prstDash val="solid"/>
          </a:ln>
        </p:spPr>
      </p:sp>
      <p:sp>
        <p:nvSpPr>
          <p:cNvPr id="11" name="Text 9"/>
          <p:cNvSpPr/>
          <p:nvPr/>
        </p:nvSpPr>
        <p:spPr>
          <a:xfrm>
            <a:off x="8233866" y="4472583"/>
            <a:ext cx="2991155"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Nobody listening? Nothing happens</a:t>
            </a:r>
            <a:endParaRPr lang="en-US" sz="1900" dirty="0"/>
          </a:p>
        </p:txBody>
      </p:sp>
      <p:sp>
        <p:nvSpPr>
          <p:cNvPr id="12" name="Text 10"/>
          <p:cNvSpPr/>
          <p:nvPr/>
        </p:nvSpPr>
        <p:spPr>
          <a:xfrm>
            <a:off x="8233866" y="5103614"/>
            <a:ext cx="2991155"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And Scratch will not warn you. That's today's classic bug.</a:t>
            </a:r>
            <a:endParaRPr lang="en-US" sz="145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6</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NEW BLOCKS TODAY</a:t>
            </a:r>
            <a:endParaRPr lang="en-US" sz="1300" dirty="0"/>
          </a:p>
        </p:txBody>
      </p:sp>
      <p:sp>
        <p:nvSpPr>
          <p:cNvPr id="3" name="Text 1"/>
          <p:cNvSpPr/>
          <p:nvPr/>
        </p:nvSpPr>
        <p:spPr>
          <a:xfrm>
            <a:off x="812800" y="2040434"/>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Say hello to these</a:t>
            </a:r>
            <a:endParaRPr lang="en-US" sz="4000" dirty="0"/>
          </a:p>
        </p:txBody>
      </p:sp>
      <p:sp>
        <p:nvSpPr>
          <p:cNvPr id="4" name="Shape 2"/>
          <p:cNvSpPr/>
          <p:nvPr/>
        </p:nvSpPr>
        <p:spPr>
          <a:xfrm>
            <a:off x="812800" y="3585666"/>
            <a:ext cx="792063" cy="358080"/>
          </a:xfrm>
          <a:prstGeom prst="roundRect">
            <a:avLst>
              <a:gd name="adj" fmla="val 42560"/>
            </a:avLst>
          </a:prstGeom>
          <a:solidFill>
            <a:srgbClr val="FFBF00"/>
          </a:solidFill>
          <a:ln/>
        </p:spPr>
      </p:sp>
      <p:sp>
        <p:nvSpPr>
          <p:cNvPr id="5" name="Text 3"/>
          <p:cNvSpPr/>
          <p:nvPr/>
        </p:nvSpPr>
        <p:spPr>
          <a:xfrm>
            <a:off x="952500" y="3649166"/>
            <a:ext cx="56346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A1206"/>
                </a:solidFill>
                <a:latin typeface="Nunito Sans" pitchFamily="34" charset="0"/>
                <a:ea typeface="Nunito Sans" pitchFamily="34" charset="-122"/>
                <a:cs typeface="Nunito Sans" pitchFamily="34" charset="-120"/>
              </a:rPr>
              <a:t>Events</a:t>
            </a:r>
            <a:endParaRPr lang="en-US" sz="1300" dirty="0"/>
          </a:p>
        </p:txBody>
      </p:sp>
      <p:sp>
        <p:nvSpPr>
          <p:cNvPr id="6" name="Shape 4"/>
          <p:cNvSpPr/>
          <p:nvPr/>
        </p:nvSpPr>
        <p:spPr>
          <a:xfrm>
            <a:off x="1693763" y="3585666"/>
            <a:ext cx="729357" cy="358080"/>
          </a:xfrm>
          <a:prstGeom prst="roundRect">
            <a:avLst>
              <a:gd name="adj" fmla="val 42560"/>
            </a:avLst>
          </a:prstGeom>
          <a:solidFill>
            <a:srgbClr val="774DCB"/>
          </a:solidFill>
          <a:ln/>
        </p:spPr>
      </p:sp>
      <p:sp>
        <p:nvSpPr>
          <p:cNvPr id="7" name="Text 5"/>
          <p:cNvSpPr/>
          <p:nvPr/>
        </p:nvSpPr>
        <p:spPr>
          <a:xfrm>
            <a:off x="1833463" y="3649166"/>
            <a:ext cx="500757"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Nunito Sans" pitchFamily="34" charset="0"/>
                <a:ea typeface="Nunito Sans" pitchFamily="34" charset="-122"/>
                <a:cs typeface="Nunito Sans" pitchFamily="34" charset="-120"/>
              </a:rPr>
              <a:t>Looks</a:t>
            </a:r>
            <a:endParaRPr lang="en-US" sz="1300" dirty="0"/>
          </a:p>
        </p:txBody>
      </p:sp>
      <p:sp>
        <p:nvSpPr>
          <p:cNvPr id="8" name="Shape 6"/>
          <p:cNvSpPr/>
          <p:nvPr/>
        </p:nvSpPr>
        <p:spPr>
          <a:xfrm>
            <a:off x="2512020" y="3585666"/>
            <a:ext cx="851991" cy="358080"/>
          </a:xfrm>
          <a:prstGeom prst="roundRect">
            <a:avLst>
              <a:gd name="adj" fmla="val 42560"/>
            </a:avLst>
          </a:prstGeom>
          <a:solidFill>
            <a:srgbClr val="FFAB19"/>
          </a:solidFill>
          <a:ln/>
        </p:spPr>
      </p:sp>
      <p:sp>
        <p:nvSpPr>
          <p:cNvPr id="9" name="Text 7"/>
          <p:cNvSpPr/>
          <p:nvPr/>
        </p:nvSpPr>
        <p:spPr>
          <a:xfrm>
            <a:off x="2651720" y="3649166"/>
            <a:ext cx="623391"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A1206"/>
                </a:solidFill>
                <a:latin typeface="Nunito Sans" pitchFamily="34" charset="0"/>
                <a:ea typeface="Nunito Sans" pitchFamily="34" charset="-122"/>
                <a:cs typeface="Nunito Sans" pitchFamily="34" charset="-120"/>
              </a:rPr>
              <a:t>Control</a:t>
            </a:r>
            <a:endParaRPr lang="en-US" sz="1300" dirty="0"/>
          </a:p>
        </p:txBody>
      </p:sp>
      <p:sp>
        <p:nvSpPr>
          <p:cNvPr id="10" name="Shape 8"/>
          <p:cNvSpPr/>
          <p:nvPr/>
        </p:nvSpPr>
        <p:spPr>
          <a:xfrm>
            <a:off x="812800" y="4940300"/>
            <a:ext cx="2007195" cy="400050"/>
          </a:xfrm>
          <a:prstGeom prst="roundRect">
            <a:avLst>
              <a:gd name="adj" fmla="val 22222"/>
            </a:avLst>
          </a:prstGeom>
          <a:solidFill>
            <a:srgbClr val="FFBF00"/>
          </a:solidFill>
          <a:ln/>
        </p:spPr>
      </p:sp>
      <p:sp>
        <p:nvSpPr>
          <p:cNvPr id="11" name="Text 9"/>
          <p:cNvSpPr/>
          <p:nvPr/>
        </p:nvSpPr>
        <p:spPr>
          <a:xfrm>
            <a:off x="958850" y="5029200"/>
            <a:ext cx="1766548"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broadcast [message]</a:t>
            </a:r>
            <a:endParaRPr lang="en-US" sz="1400" dirty="0"/>
          </a:p>
        </p:txBody>
      </p:sp>
      <p:sp>
        <p:nvSpPr>
          <p:cNvPr id="12" name="Shape 10"/>
          <p:cNvSpPr/>
          <p:nvPr/>
        </p:nvSpPr>
        <p:spPr>
          <a:xfrm>
            <a:off x="2921595" y="4940300"/>
            <a:ext cx="2771973" cy="400050"/>
          </a:xfrm>
          <a:prstGeom prst="roundRect">
            <a:avLst>
              <a:gd name="adj" fmla="val 22222"/>
            </a:avLst>
          </a:prstGeom>
          <a:solidFill>
            <a:srgbClr val="FFBF00"/>
          </a:solidFill>
          <a:ln/>
        </p:spPr>
      </p:sp>
      <p:sp>
        <p:nvSpPr>
          <p:cNvPr id="13" name="Text 11"/>
          <p:cNvSpPr/>
          <p:nvPr/>
        </p:nvSpPr>
        <p:spPr>
          <a:xfrm>
            <a:off x="3067645" y="5029200"/>
            <a:ext cx="255427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broadcast [message] and wait</a:t>
            </a:r>
            <a:endParaRPr lang="en-US" sz="1400" dirty="0"/>
          </a:p>
        </p:txBody>
      </p:sp>
      <p:sp>
        <p:nvSpPr>
          <p:cNvPr id="14" name="Shape 12"/>
          <p:cNvSpPr/>
          <p:nvPr/>
        </p:nvSpPr>
        <p:spPr>
          <a:xfrm>
            <a:off x="5795169" y="4940300"/>
            <a:ext cx="2369939" cy="400050"/>
          </a:xfrm>
          <a:prstGeom prst="roundRect">
            <a:avLst>
              <a:gd name="adj" fmla="val 22222"/>
            </a:avLst>
          </a:prstGeom>
          <a:solidFill>
            <a:srgbClr val="FFBF00"/>
          </a:solidFill>
          <a:ln/>
        </p:spPr>
      </p:sp>
      <p:sp>
        <p:nvSpPr>
          <p:cNvPr id="15" name="Text 13"/>
          <p:cNvSpPr/>
          <p:nvPr/>
        </p:nvSpPr>
        <p:spPr>
          <a:xfrm>
            <a:off x="5941219" y="5029200"/>
            <a:ext cx="2140174"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when I receive [message]</a:t>
            </a:r>
            <a:endParaRPr lang="en-US" sz="1400" dirty="0"/>
          </a:p>
        </p:txBody>
      </p:sp>
      <p:sp>
        <p:nvSpPr>
          <p:cNvPr id="16" name="Shape 14"/>
          <p:cNvSpPr/>
          <p:nvPr/>
        </p:nvSpPr>
        <p:spPr>
          <a:xfrm>
            <a:off x="8266708" y="4940300"/>
            <a:ext cx="2082602" cy="400050"/>
          </a:xfrm>
          <a:prstGeom prst="roundRect">
            <a:avLst>
              <a:gd name="adj" fmla="val 22222"/>
            </a:avLst>
          </a:prstGeom>
          <a:solidFill>
            <a:srgbClr val="774DCB"/>
          </a:solidFill>
          <a:ln/>
        </p:spPr>
      </p:sp>
      <p:sp>
        <p:nvSpPr>
          <p:cNvPr id="17" name="Text 15"/>
          <p:cNvSpPr/>
          <p:nvPr/>
        </p:nvSpPr>
        <p:spPr>
          <a:xfrm>
            <a:off x="8412758" y="5029200"/>
            <a:ext cx="1844217"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Nunito Sans" pitchFamily="34" charset="0"/>
                <a:ea typeface="Nunito Sans" pitchFamily="34" charset="-122"/>
                <a:cs typeface="Nunito Sans" pitchFamily="34" charset="-120"/>
              </a:rPr>
              <a:t>switch backdrop to [ ]</a:t>
            </a:r>
            <a:endParaRPr lang="en-US" sz="1400" dirty="0"/>
          </a:p>
        </p:txBody>
      </p:sp>
      <p:sp>
        <p:nvSpPr>
          <p:cNvPr id="18" name="Shape 16"/>
          <p:cNvSpPr/>
          <p:nvPr/>
        </p:nvSpPr>
        <p:spPr>
          <a:xfrm>
            <a:off x="10450909" y="4940300"/>
            <a:ext cx="735211" cy="400050"/>
          </a:xfrm>
          <a:prstGeom prst="roundRect">
            <a:avLst>
              <a:gd name="adj" fmla="val 22222"/>
            </a:avLst>
          </a:prstGeom>
          <a:solidFill>
            <a:srgbClr val="774DCB"/>
          </a:solidFill>
          <a:ln/>
        </p:spPr>
      </p:sp>
      <p:sp>
        <p:nvSpPr>
          <p:cNvPr id="19" name="Text 17"/>
          <p:cNvSpPr/>
          <p:nvPr/>
        </p:nvSpPr>
        <p:spPr>
          <a:xfrm>
            <a:off x="10596959" y="5029200"/>
            <a:ext cx="493911"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Nunito Sans" pitchFamily="34" charset="0"/>
                <a:ea typeface="Nunito Sans" pitchFamily="34" charset="-122"/>
                <a:cs typeface="Nunito Sans" pitchFamily="34" charset="-120"/>
              </a:rPr>
              <a:t>show</a:t>
            </a:r>
            <a:endParaRPr lang="en-US" sz="1400" dirty="0"/>
          </a:p>
        </p:txBody>
      </p:sp>
      <p:sp>
        <p:nvSpPr>
          <p:cNvPr id="20" name="Shape 18"/>
          <p:cNvSpPr/>
          <p:nvPr/>
        </p:nvSpPr>
        <p:spPr>
          <a:xfrm>
            <a:off x="812800" y="5441950"/>
            <a:ext cx="644525" cy="400050"/>
          </a:xfrm>
          <a:prstGeom prst="roundRect">
            <a:avLst>
              <a:gd name="adj" fmla="val 22222"/>
            </a:avLst>
          </a:prstGeom>
          <a:solidFill>
            <a:srgbClr val="774DCB"/>
          </a:solidFill>
          <a:ln/>
        </p:spPr>
      </p:sp>
      <p:sp>
        <p:nvSpPr>
          <p:cNvPr id="21" name="Text 19"/>
          <p:cNvSpPr/>
          <p:nvPr/>
        </p:nvSpPr>
        <p:spPr>
          <a:xfrm>
            <a:off x="958850" y="5530850"/>
            <a:ext cx="40322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Nunito Sans" pitchFamily="34" charset="0"/>
                <a:ea typeface="Nunito Sans" pitchFamily="34" charset="-122"/>
                <a:cs typeface="Nunito Sans" pitchFamily="34" charset="-120"/>
              </a:rPr>
              <a:t>hide</a:t>
            </a:r>
            <a:endParaRPr lang="en-US" sz="1400" dirty="0"/>
          </a:p>
        </p:txBody>
      </p:sp>
      <p:sp>
        <p:nvSpPr>
          <p:cNvPr id="22" name="Shape 20"/>
          <p:cNvSpPr/>
          <p:nvPr/>
        </p:nvSpPr>
        <p:spPr>
          <a:xfrm>
            <a:off x="1558925" y="5441950"/>
            <a:ext cx="1050627" cy="400050"/>
          </a:xfrm>
          <a:prstGeom prst="roundRect">
            <a:avLst>
              <a:gd name="adj" fmla="val 22222"/>
            </a:avLst>
          </a:prstGeom>
          <a:solidFill>
            <a:srgbClr val="FFAB19"/>
          </a:solidFill>
          <a:ln/>
        </p:spPr>
      </p:sp>
      <p:sp>
        <p:nvSpPr>
          <p:cNvPr id="23" name="Text 21"/>
          <p:cNvSpPr/>
          <p:nvPr/>
        </p:nvSpPr>
        <p:spPr>
          <a:xfrm>
            <a:off x="1704975" y="5530850"/>
            <a:ext cx="809327"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stop [all]</a:t>
            </a:r>
            <a:endParaRPr lang="en-US" sz="1400" dirty="0"/>
          </a:p>
        </p:txBody>
      </p:sp>
      <p:sp>
        <p:nvSpPr>
          <p:cNvPr id="24" name="Shape 22"/>
          <p:cNvSpPr/>
          <p:nvPr/>
        </p:nvSpPr>
        <p:spPr>
          <a:xfrm>
            <a:off x="2711152" y="5441950"/>
            <a:ext cx="1654770" cy="400050"/>
          </a:xfrm>
          <a:prstGeom prst="roundRect">
            <a:avLst>
              <a:gd name="adj" fmla="val 22222"/>
            </a:avLst>
          </a:prstGeom>
          <a:solidFill>
            <a:srgbClr val="FFAB19"/>
          </a:solidFill>
          <a:ln/>
        </p:spPr>
      </p:sp>
      <p:sp>
        <p:nvSpPr>
          <p:cNvPr id="25" name="Text 23"/>
          <p:cNvSpPr/>
          <p:nvPr/>
        </p:nvSpPr>
        <p:spPr>
          <a:xfrm>
            <a:off x="2857202" y="5530850"/>
            <a:ext cx="141347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stop [this script]</a:t>
            </a:r>
            <a:endParaRPr lang="en-US" sz="1400" dirty="0"/>
          </a:p>
        </p:txBody>
      </p:sp>
      <p:sp>
        <p:nvSpPr>
          <p:cNvPr id="26" name="Text 2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6</a:t>
            </a:r>
            <a:endParaRPr lang="en-US" sz="1200" dirty="0"/>
          </a:p>
        </p:txBody>
      </p:sp>
      <p:pic>
        <p:nvPicPr>
          <p:cNvPr id="2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LIVE DEMO · SHOUT AND LISTEN</a:t>
            </a:r>
            <a:endParaRPr lang="en-US" sz="1300" dirty="0"/>
          </a:p>
        </p:txBody>
      </p:sp>
      <p:sp>
        <p:nvSpPr>
          <p:cNvPr id="3" name="Text 1"/>
          <p:cNvSpPr/>
          <p:nvPr/>
        </p:nvSpPr>
        <p:spPr>
          <a:xfrm>
            <a:off x="812800" y="1978620"/>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Two sprites, one message</a:t>
            </a:r>
            <a:endParaRPr lang="en-US" sz="3600" dirty="0"/>
          </a:p>
        </p:txBody>
      </p:sp>
      <p:sp>
        <p:nvSpPr>
          <p:cNvPr id="4" name="Shape 2"/>
          <p:cNvSpPr/>
          <p:nvPr/>
        </p:nvSpPr>
        <p:spPr>
          <a:xfrm>
            <a:off x="819150" y="3413323"/>
            <a:ext cx="5194300" cy="2422327"/>
          </a:xfrm>
          <a:prstGeom prst="roundRect">
            <a:avLst>
              <a:gd name="adj" fmla="val 5505"/>
            </a:avLst>
          </a:prstGeom>
          <a:solidFill>
            <a:srgbClr val="FFFCF4"/>
          </a:solidFill>
          <a:ln w="12700">
            <a:solidFill>
              <a:srgbClr val="E4D7BE"/>
            </a:solidFill>
            <a:prstDash val="solid"/>
          </a:ln>
        </p:spPr>
      </p:sp>
      <p:sp>
        <p:nvSpPr>
          <p:cNvPr id="5" name="Text 3"/>
          <p:cNvSpPr/>
          <p:nvPr/>
        </p:nvSpPr>
        <p:spPr>
          <a:xfrm>
            <a:off x="1003300" y="3597473"/>
            <a:ext cx="4970780"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On the wand: shout</a:t>
            </a:r>
            <a:endParaRPr lang="en-US" sz="1700" dirty="0"/>
          </a:p>
        </p:txBody>
      </p:sp>
      <p:sp>
        <p:nvSpPr>
          <p:cNvPr id="6" name="Shape 4"/>
          <p:cNvSpPr/>
          <p:nvPr/>
        </p:nvSpPr>
        <p:spPr>
          <a:xfrm>
            <a:off x="1003300" y="3921919"/>
            <a:ext cx="2083792" cy="371475"/>
          </a:xfrm>
          <a:prstGeom prst="roundRect">
            <a:avLst>
              <a:gd name="adj" fmla="val 39316"/>
            </a:avLst>
          </a:prstGeom>
          <a:solidFill>
            <a:srgbClr val="FFBF00"/>
          </a:solidFill>
          <a:ln/>
        </p:spPr>
      </p:sp>
      <p:sp>
        <p:nvSpPr>
          <p:cNvPr id="7" name="Text 5"/>
          <p:cNvSpPr/>
          <p:nvPr/>
        </p:nvSpPr>
        <p:spPr>
          <a:xfrm>
            <a:off x="1143000" y="4004469"/>
            <a:ext cx="1858524"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when this sprite clicked</a:t>
            </a:r>
            <a:endParaRPr lang="en-US" sz="1300" dirty="0"/>
          </a:p>
        </p:txBody>
      </p:sp>
      <p:sp>
        <p:nvSpPr>
          <p:cNvPr id="8" name="Shape 6"/>
          <p:cNvSpPr/>
          <p:nvPr/>
        </p:nvSpPr>
        <p:spPr>
          <a:xfrm>
            <a:off x="1003300" y="4331494"/>
            <a:ext cx="1955998" cy="371475"/>
          </a:xfrm>
          <a:prstGeom prst="roundRect">
            <a:avLst>
              <a:gd name="adj" fmla="val 23932"/>
            </a:avLst>
          </a:prstGeom>
          <a:solidFill>
            <a:srgbClr val="FFBF00"/>
          </a:solidFill>
          <a:ln/>
        </p:spPr>
      </p:sp>
      <p:sp>
        <p:nvSpPr>
          <p:cNvPr id="9" name="Text 7"/>
          <p:cNvSpPr/>
          <p:nvPr/>
        </p:nvSpPr>
        <p:spPr>
          <a:xfrm>
            <a:off x="1143000" y="4414044"/>
            <a:ext cx="1727398"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broadcast [transform]</a:t>
            </a:r>
            <a:endParaRPr lang="en-US" sz="1300" dirty="0"/>
          </a:p>
        </p:txBody>
      </p:sp>
      <p:sp>
        <p:nvSpPr>
          <p:cNvPr id="10" name="Text 8"/>
          <p:cNvSpPr/>
          <p:nvPr/>
        </p:nvSpPr>
        <p:spPr>
          <a:xfrm>
            <a:off x="1003300" y="4779169"/>
            <a:ext cx="4970780" cy="25677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5C4A46"/>
                </a:solidFill>
                <a:latin typeface="Nunito Sans" pitchFamily="34" charset="0"/>
                <a:ea typeface="Nunito Sans" pitchFamily="34" charset="-122"/>
                <a:cs typeface="Nunito Sans" pitchFamily="34" charset="-120"/>
              </a:rPr>
              <a:t>That's all the wand does. It doesn't know anyone is out there.</a:t>
            </a:r>
            <a:endParaRPr lang="en-US" sz="1350" dirty="0"/>
          </a:p>
        </p:txBody>
      </p:sp>
      <p:sp>
        <p:nvSpPr>
          <p:cNvPr id="11" name="Shape 9"/>
          <p:cNvSpPr/>
          <p:nvPr/>
        </p:nvSpPr>
        <p:spPr>
          <a:xfrm>
            <a:off x="6178550" y="3413323"/>
            <a:ext cx="5194300" cy="2422327"/>
          </a:xfrm>
          <a:prstGeom prst="roundRect">
            <a:avLst>
              <a:gd name="adj" fmla="val 5505"/>
            </a:avLst>
          </a:prstGeom>
          <a:solidFill>
            <a:srgbClr val="FFFCF4"/>
          </a:solidFill>
          <a:ln w="12700">
            <a:solidFill>
              <a:srgbClr val="E4D7BE"/>
            </a:solidFill>
            <a:prstDash val="solid"/>
          </a:ln>
        </p:spPr>
      </p:sp>
      <p:sp>
        <p:nvSpPr>
          <p:cNvPr id="12" name="Text 10"/>
          <p:cNvSpPr/>
          <p:nvPr/>
        </p:nvSpPr>
        <p:spPr>
          <a:xfrm>
            <a:off x="6362700" y="3597473"/>
            <a:ext cx="4970780"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On the frog: listen</a:t>
            </a:r>
            <a:endParaRPr lang="en-US" sz="1700" dirty="0"/>
          </a:p>
        </p:txBody>
      </p:sp>
      <p:sp>
        <p:nvSpPr>
          <p:cNvPr id="13" name="Shape 11"/>
          <p:cNvSpPr/>
          <p:nvPr/>
        </p:nvSpPr>
        <p:spPr>
          <a:xfrm>
            <a:off x="6362700" y="3921919"/>
            <a:ext cx="2292846" cy="371475"/>
          </a:xfrm>
          <a:prstGeom prst="roundRect">
            <a:avLst>
              <a:gd name="adj" fmla="val 39316"/>
            </a:avLst>
          </a:prstGeom>
          <a:solidFill>
            <a:srgbClr val="FFBF00"/>
          </a:solidFill>
          <a:ln/>
        </p:spPr>
      </p:sp>
      <p:sp>
        <p:nvSpPr>
          <p:cNvPr id="14" name="Text 12"/>
          <p:cNvSpPr/>
          <p:nvPr/>
        </p:nvSpPr>
        <p:spPr>
          <a:xfrm>
            <a:off x="6502400" y="4004469"/>
            <a:ext cx="2073849"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when I receive [transform]</a:t>
            </a:r>
            <a:endParaRPr lang="en-US" sz="1300" dirty="0"/>
          </a:p>
        </p:txBody>
      </p:sp>
      <p:sp>
        <p:nvSpPr>
          <p:cNvPr id="15" name="Shape 13"/>
          <p:cNvSpPr/>
          <p:nvPr/>
        </p:nvSpPr>
        <p:spPr>
          <a:xfrm>
            <a:off x="6362700" y="4331494"/>
            <a:ext cx="2178050" cy="371475"/>
          </a:xfrm>
          <a:prstGeom prst="roundRect">
            <a:avLst>
              <a:gd name="adj" fmla="val 23932"/>
            </a:avLst>
          </a:prstGeom>
          <a:solidFill>
            <a:srgbClr val="774DCB"/>
          </a:solidFill>
          <a:ln/>
        </p:spPr>
      </p:sp>
      <p:sp>
        <p:nvSpPr>
          <p:cNvPr id="16" name="Text 14"/>
          <p:cNvSpPr/>
          <p:nvPr/>
        </p:nvSpPr>
        <p:spPr>
          <a:xfrm>
            <a:off x="6502400" y="4414044"/>
            <a:ext cx="195561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switch costume to [toad]</a:t>
            </a:r>
            <a:endParaRPr lang="en-US" sz="1300" dirty="0"/>
          </a:p>
        </p:txBody>
      </p:sp>
      <p:sp>
        <p:nvSpPr>
          <p:cNvPr id="17" name="Shape 15"/>
          <p:cNvSpPr/>
          <p:nvPr/>
        </p:nvSpPr>
        <p:spPr>
          <a:xfrm>
            <a:off x="6362700" y="4741069"/>
            <a:ext cx="1634927" cy="371475"/>
          </a:xfrm>
          <a:prstGeom prst="roundRect">
            <a:avLst>
              <a:gd name="adj" fmla="val 23932"/>
            </a:avLst>
          </a:prstGeom>
          <a:solidFill>
            <a:srgbClr val="774DCB"/>
          </a:solidFill>
          <a:ln/>
        </p:spPr>
      </p:sp>
      <p:sp>
        <p:nvSpPr>
          <p:cNvPr id="18" name="Text 16"/>
          <p:cNvSpPr/>
          <p:nvPr/>
        </p:nvSpPr>
        <p:spPr>
          <a:xfrm>
            <a:off x="6502400" y="4823619"/>
            <a:ext cx="1406327"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change size by 50</a:t>
            </a:r>
            <a:endParaRPr lang="en-US" sz="1300" dirty="0"/>
          </a:p>
        </p:txBody>
      </p:sp>
      <p:sp>
        <p:nvSpPr>
          <p:cNvPr id="19" name="Text 17"/>
          <p:cNvSpPr/>
          <p:nvPr/>
        </p:nvSpPr>
        <p:spPr>
          <a:xfrm>
            <a:off x="6362700" y="5188744"/>
            <a:ext cx="4970780" cy="488156"/>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5C4A46"/>
                </a:solidFill>
                <a:latin typeface="Nunito Sans" pitchFamily="34" charset="0"/>
                <a:ea typeface="Nunito Sans" pitchFamily="34" charset="-122"/>
                <a:cs typeface="Nunito Sans" pitchFamily="34" charset="-120"/>
              </a:rPr>
              <a:t>Now add a THIRD sprite that listens for the same message and does something different.</a:t>
            </a:r>
            <a:endParaRPr lang="en-US" sz="1350" dirty="0"/>
          </a:p>
        </p:txBody>
      </p:sp>
      <p:sp>
        <p:nvSpPr>
          <p:cNvPr id="20" name="Text 18"/>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6</a:t>
            </a:r>
            <a:endParaRPr lang="en-US" sz="1200" dirty="0"/>
          </a:p>
        </p:txBody>
      </p:sp>
      <p:pic>
        <p:nvPicPr>
          <p:cNvPr id="21"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C2332"/>
                </a:solidFill>
                <a:latin typeface="Nunito Sans" pitchFamily="34" charset="0"/>
                <a:ea typeface="Nunito Sans" pitchFamily="34" charset="-122"/>
                <a:cs typeface="Nunito Sans" pitchFamily="34" charset="-120"/>
              </a:rPr>
              <a:t>SPOT THE MISTAKE</a:t>
            </a:r>
            <a:endParaRPr lang="en-US" sz="1300" dirty="0"/>
          </a:p>
        </p:txBody>
      </p:sp>
      <p:sp>
        <p:nvSpPr>
          <p:cNvPr id="3" name="Text 1"/>
          <p:cNvSpPr/>
          <p:nvPr/>
        </p:nvSpPr>
        <p:spPr>
          <a:xfrm>
            <a:off x="812800" y="227330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I click it and absolutely nothing happens</a:t>
            </a:r>
            <a:endParaRPr lang="en-US" sz="4000" dirty="0"/>
          </a:p>
        </p:txBody>
      </p:sp>
      <p:sp>
        <p:nvSpPr>
          <p:cNvPr id="4" name="Text 2"/>
          <p:cNvSpPr/>
          <p:nvPr/>
        </p:nvSpPr>
        <p:spPr>
          <a:xfrm>
            <a:off x="812800" y="4051300"/>
            <a:ext cx="4055110" cy="6858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2E1015"/>
                </a:solidFill>
                <a:latin typeface="Nunito Sans" pitchFamily="34" charset="0"/>
                <a:ea typeface="Nunito Sans" pitchFamily="34" charset="-122"/>
                <a:cs typeface="Nunito Sans" pitchFamily="34" charset="-120"/>
              </a:rPr>
              <a:t>The wand shouts gameover. The frog is listening for game over.</a:t>
            </a:r>
            <a:endParaRPr lang="en-US" sz="2000" dirty="0"/>
          </a:p>
        </p:txBody>
      </p:sp>
      <p:sp>
        <p:nvSpPr>
          <p:cNvPr id="5" name="Text 3"/>
          <p:cNvSpPr/>
          <p:nvPr/>
        </p:nvSpPr>
        <p:spPr>
          <a:xfrm>
            <a:off x="812800" y="4864100"/>
            <a:ext cx="405511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C4A46"/>
                </a:solidFill>
                <a:latin typeface="Nunito Sans" pitchFamily="34" charset="0"/>
                <a:ea typeface="Nunito Sans" pitchFamily="34" charset="-122"/>
                <a:cs typeface="Nunito Sans" pitchFamily="34" charset="-120"/>
              </a:rPr>
              <a:t>Read both message names out loud, slowly.</a:t>
            </a:r>
            <a:endParaRPr lang="en-US" sz="1600" dirty="0"/>
          </a:p>
        </p:txBody>
      </p:sp>
      <p:sp>
        <p:nvSpPr>
          <p:cNvPr id="6" name="Shape 4"/>
          <p:cNvSpPr/>
          <p:nvPr/>
        </p:nvSpPr>
        <p:spPr>
          <a:xfrm>
            <a:off x="5054600" y="4051300"/>
            <a:ext cx="2399506" cy="428625"/>
          </a:xfrm>
          <a:prstGeom prst="roundRect">
            <a:avLst>
              <a:gd name="adj" fmla="val 40000"/>
            </a:avLst>
          </a:prstGeom>
          <a:solidFill>
            <a:srgbClr val="FFBF00"/>
          </a:solidFill>
          <a:ln/>
        </p:spPr>
      </p:sp>
      <p:sp>
        <p:nvSpPr>
          <p:cNvPr id="7" name="Text 5"/>
          <p:cNvSpPr/>
          <p:nvPr/>
        </p:nvSpPr>
        <p:spPr>
          <a:xfrm>
            <a:off x="5213350" y="4146550"/>
            <a:ext cx="2144466"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when this sprite clicked</a:t>
            </a:r>
            <a:endParaRPr lang="en-US" sz="1500" dirty="0"/>
          </a:p>
        </p:txBody>
      </p:sp>
      <p:sp>
        <p:nvSpPr>
          <p:cNvPr id="8" name="Shape 6"/>
          <p:cNvSpPr/>
          <p:nvPr/>
        </p:nvSpPr>
        <p:spPr>
          <a:xfrm>
            <a:off x="5054600" y="4518025"/>
            <a:ext cx="2253059" cy="428625"/>
          </a:xfrm>
          <a:prstGeom prst="roundRect">
            <a:avLst>
              <a:gd name="adj" fmla="val 20741"/>
            </a:avLst>
          </a:prstGeom>
          <a:solidFill>
            <a:srgbClr val="FFBF00"/>
          </a:solidFill>
          <a:ln/>
        </p:spPr>
      </p:sp>
      <p:sp>
        <p:nvSpPr>
          <p:cNvPr id="9" name="Text 7"/>
          <p:cNvSpPr/>
          <p:nvPr/>
        </p:nvSpPr>
        <p:spPr>
          <a:xfrm>
            <a:off x="5213350" y="4613275"/>
            <a:ext cx="1993626"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broadcast [gameover]</a:t>
            </a:r>
            <a:endParaRPr lang="en-US" sz="1500" dirty="0"/>
          </a:p>
        </p:txBody>
      </p:sp>
      <p:sp>
        <p:nvSpPr>
          <p:cNvPr id="10" name="Shape 8"/>
          <p:cNvSpPr/>
          <p:nvPr/>
        </p:nvSpPr>
        <p:spPr>
          <a:xfrm>
            <a:off x="5054600" y="4946650"/>
            <a:ext cx="2693095" cy="428625"/>
          </a:xfrm>
          <a:prstGeom prst="roundRect">
            <a:avLst>
              <a:gd name="adj" fmla="val 40000"/>
            </a:avLst>
          </a:prstGeom>
          <a:solidFill>
            <a:srgbClr val="FFBF00"/>
          </a:solidFill>
          <a:ln/>
        </p:spPr>
      </p:sp>
      <p:sp>
        <p:nvSpPr>
          <p:cNvPr id="11" name="Text 9"/>
          <p:cNvSpPr/>
          <p:nvPr/>
        </p:nvSpPr>
        <p:spPr>
          <a:xfrm>
            <a:off x="5213350" y="5041900"/>
            <a:ext cx="2446862"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when I receive [game over]</a:t>
            </a:r>
            <a:endParaRPr lang="en-US" sz="1500" dirty="0"/>
          </a:p>
        </p:txBody>
      </p:sp>
      <p:sp>
        <p:nvSpPr>
          <p:cNvPr id="12" name="Shape 10"/>
          <p:cNvSpPr/>
          <p:nvPr/>
        </p:nvSpPr>
        <p:spPr>
          <a:xfrm>
            <a:off x="5054600" y="5413375"/>
            <a:ext cx="695127" cy="428625"/>
          </a:xfrm>
          <a:prstGeom prst="roundRect">
            <a:avLst>
              <a:gd name="adj" fmla="val 20741"/>
            </a:avLst>
          </a:prstGeom>
          <a:solidFill>
            <a:srgbClr val="774DCB"/>
          </a:solidFill>
          <a:ln/>
        </p:spPr>
      </p:sp>
      <p:sp>
        <p:nvSpPr>
          <p:cNvPr id="13" name="Text 11"/>
          <p:cNvSpPr/>
          <p:nvPr/>
        </p:nvSpPr>
        <p:spPr>
          <a:xfrm>
            <a:off x="5213350" y="5508625"/>
            <a:ext cx="428427"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hide</a:t>
            </a:r>
            <a:endParaRPr lang="en-US" sz="1500" dirty="0"/>
          </a:p>
        </p:txBody>
      </p:sp>
      <p:sp>
        <p:nvSpPr>
          <p:cNvPr id="14" name="Text 12"/>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6</a:t>
            </a:r>
            <a:endParaRPr lang="en-US" sz="1200" dirty="0"/>
          </a:p>
        </p:txBody>
      </p:sp>
      <p:pic>
        <p:nvPicPr>
          <p:cNvPr id="15"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ACTIVITY A · FOURTEEN MINUTES</a:t>
            </a:r>
            <a:endParaRPr lang="en-US" sz="1300" dirty="0"/>
          </a:p>
        </p:txBody>
      </p:sp>
      <p:sp>
        <p:nvSpPr>
          <p:cNvPr id="3" name="Text 1"/>
          <p:cNvSpPr/>
          <p:nvPr/>
        </p:nvSpPr>
        <p:spPr>
          <a:xfrm>
            <a:off x="812800" y="1774527"/>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Magic Wand</a:t>
            </a:r>
            <a:endParaRPr lang="en-US" sz="3600" dirty="0"/>
          </a:p>
        </p:txBody>
      </p:sp>
      <p:sp>
        <p:nvSpPr>
          <p:cNvPr id="4" name="Text 2"/>
          <p:cNvSpPr/>
          <p:nvPr/>
        </p:nvSpPr>
        <p:spPr>
          <a:xfrm>
            <a:off x="812800" y="2998788"/>
            <a:ext cx="9483725"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A wand and two victims. Then add an </a:t>
            </a:r>
            <a:r>
              <a:rPr lang="en-US" sz="1700" b="1" dirty="0">
                <a:solidFill>
                  <a:srgbClr val="5C4A46"/>
                </a:solidFill>
                <a:latin typeface="Nunito Sans" pitchFamily="34" charset="0"/>
                <a:ea typeface="Nunito Sans" pitchFamily="34" charset="-122"/>
                <a:cs typeface="Nunito Sans" pitchFamily="34" charset="-120"/>
              </a:rPr>
              <a:t>undo</a:t>
            </a:r>
            <a:r>
              <a:rPr lang="en-US" sz="1700" dirty="0">
                <a:solidFill>
                  <a:srgbClr val="5C4A46"/>
                </a:solidFill>
                <a:latin typeface="Nunito Sans" pitchFamily="34" charset="0"/>
                <a:ea typeface="Nunito Sans" pitchFamily="34" charset="-122"/>
                <a:cs typeface="Nunito Sans" pitchFamily="34" charset="-120"/>
              </a:rPr>
              <a:t> message on another key that puts everything back.</a:t>
            </a:r>
            <a:endParaRPr lang="en-US" sz="1700" dirty="0"/>
          </a:p>
        </p:txBody>
      </p:sp>
      <p:sp>
        <p:nvSpPr>
          <p:cNvPr id="5" name="Shape 3"/>
          <p:cNvSpPr/>
          <p:nvPr/>
        </p:nvSpPr>
        <p:spPr>
          <a:xfrm>
            <a:off x="819150" y="4038005"/>
            <a:ext cx="3407767" cy="1797645"/>
          </a:xfrm>
          <a:prstGeom prst="roundRect">
            <a:avLst>
              <a:gd name="adj" fmla="val 7418"/>
            </a:avLst>
          </a:prstGeom>
          <a:solidFill>
            <a:srgbClr val="FFFCF4"/>
          </a:solidFill>
          <a:ln w="12700">
            <a:solidFill>
              <a:srgbClr val="E4D7BE"/>
            </a:solidFill>
            <a:prstDash val="solid"/>
          </a:ln>
        </p:spPr>
      </p:sp>
      <p:sp>
        <p:nvSpPr>
          <p:cNvPr id="6" name="Text 4"/>
          <p:cNvSpPr/>
          <p:nvPr/>
        </p:nvSpPr>
        <p:spPr>
          <a:xfrm>
            <a:off x="1003300" y="4222155"/>
            <a:ext cx="3130651"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Wand</a:t>
            </a:r>
            <a:endParaRPr lang="en-US" sz="1700" dirty="0"/>
          </a:p>
        </p:txBody>
      </p:sp>
      <p:sp>
        <p:nvSpPr>
          <p:cNvPr id="7" name="Shape 5"/>
          <p:cNvSpPr/>
          <p:nvPr/>
        </p:nvSpPr>
        <p:spPr>
          <a:xfrm>
            <a:off x="1003300" y="4546600"/>
            <a:ext cx="1919585" cy="342900"/>
          </a:xfrm>
          <a:prstGeom prst="roundRect">
            <a:avLst>
              <a:gd name="adj" fmla="val 38889"/>
            </a:avLst>
          </a:prstGeom>
          <a:solidFill>
            <a:srgbClr val="FFBF00"/>
          </a:solidFill>
          <a:ln/>
        </p:spPr>
      </p:sp>
      <p:sp>
        <p:nvSpPr>
          <p:cNvPr id="8" name="Text 6"/>
          <p:cNvSpPr/>
          <p:nvPr/>
        </p:nvSpPr>
        <p:spPr>
          <a:xfrm>
            <a:off x="1130300" y="4622800"/>
            <a:ext cx="171638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1206"/>
                </a:solidFill>
                <a:latin typeface="Nunito Sans" pitchFamily="34" charset="0"/>
                <a:ea typeface="Nunito Sans" pitchFamily="34" charset="-122"/>
                <a:cs typeface="Nunito Sans" pitchFamily="34" charset="-120"/>
              </a:rPr>
              <a:t>when this sprite clicked</a:t>
            </a:r>
            <a:endParaRPr lang="en-US" sz="1200" dirty="0"/>
          </a:p>
        </p:txBody>
      </p:sp>
      <p:sp>
        <p:nvSpPr>
          <p:cNvPr id="9" name="Shape 7"/>
          <p:cNvSpPr/>
          <p:nvPr/>
        </p:nvSpPr>
        <p:spPr>
          <a:xfrm>
            <a:off x="1003300" y="4927600"/>
            <a:ext cx="1347391" cy="342900"/>
          </a:xfrm>
          <a:prstGeom prst="roundRect">
            <a:avLst>
              <a:gd name="adj" fmla="val 25926"/>
            </a:avLst>
          </a:prstGeom>
          <a:solidFill>
            <a:srgbClr val="FFBF00"/>
          </a:solidFill>
          <a:ln/>
        </p:spPr>
      </p:sp>
      <p:sp>
        <p:nvSpPr>
          <p:cNvPr id="10" name="Text 8"/>
          <p:cNvSpPr/>
          <p:nvPr/>
        </p:nvSpPr>
        <p:spPr>
          <a:xfrm>
            <a:off x="1130300" y="5003800"/>
            <a:ext cx="1144191"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1206"/>
                </a:solidFill>
                <a:latin typeface="Nunito Sans" pitchFamily="34" charset="0"/>
                <a:ea typeface="Nunito Sans" pitchFamily="34" charset="-122"/>
                <a:cs typeface="Nunito Sans" pitchFamily="34" charset="-120"/>
              </a:rPr>
              <a:t>broadcast [zap]</a:t>
            </a:r>
            <a:endParaRPr lang="en-US" sz="1200" dirty="0"/>
          </a:p>
        </p:txBody>
      </p:sp>
      <p:sp>
        <p:nvSpPr>
          <p:cNvPr id="11" name="Shape 9"/>
          <p:cNvSpPr/>
          <p:nvPr/>
        </p:nvSpPr>
        <p:spPr>
          <a:xfrm>
            <a:off x="4392017" y="4038005"/>
            <a:ext cx="3407866" cy="1797645"/>
          </a:xfrm>
          <a:prstGeom prst="roundRect">
            <a:avLst>
              <a:gd name="adj" fmla="val 7418"/>
            </a:avLst>
          </a:prstGeom>
          <a:solidFill>
            <a:srgbClr val="FFFCF4"/>
          </a:solidFill>
          <a:ln w="12700">
            <a:solidFill>
              <a:srgbClr val="E4D7BE"/>
            </a:solidFill>
            <a:prstDash val="solid"/>
          </a:ln>
        </p:spPr>
      </p:sp>
      <p:sp>
        <p:nvSpPr>
          <p:cNvPr id="12" name="Text 10"/>
          <p:cNvSpPr/>
          <p:nvPr/>
        </p:nvSpPr>
        <p:spPr>
          <a:xfrm>
            <a:off x="4576167" y="4222155"/>
            <a:ext cx="3130753"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Frog</a:t>
            </a:r>
            <a:endParaRPr lang="en-US" sz="1700" dirty="0"/>
          </a:p>
        </p:txBody>
      </p:sp>
      <p:sp>
        <p:nvSpPr>
          <p:cNvPr id="13" name="Shape 11"/>
          <p:cNvSpPr/>
          <p:nvPr/>
        </p:nvSpPr>
        <p:spPr>
          <a:xfrm>
            <a:off x="4576167" y="4546600"/>
            <a:ext cx="1658243" cy="342900"/>
          </a:xfrm>
          <a:prstGeom prst="roundRect">
            <a:avLst>
              <a:gd name="adj" fmla="val 38889"/>
            </a:avLst>
          </a:prstGeom>
          <a:solidFill>
            <a:srgbClr val="FFBF00"/>
          </a:solidFill>
          <a:ln/>
        </p:spPr>
      </p:sp>
      <p:sp>
        <p:nvSpPr>
          <p:cNvPr id="14" name="Text 12"/>
          <p:cNvSpPr/>
          <p:nvPr/>
        </p:nvSpPr>
        <p:spPr>
          <a:xfrm>
            <a:off x="4703167" y="4622800"/>
            <a:ext cx="1455043"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1206"/>
                </a:solidFill>
                <a:latin typeface="Nunito Sans" pitchFamily="34" charset="0"/>
                <a:ea typeface="Nunito Sans" pitchFamily="34" charset="-122"/>
                <a:cs typeface="Nunito Sans" pitchFamily="34" charset="-120"/>
              </a:rPr>
              <a:t>when I receive [zap]</a:t>
            </a:r>
            <a:endParaRPr lang="en-US" sz="1200" dirty="0"/>
          </a:p>
        </p:txBody>
      </p:sp>
      <p:sp>
        <p:nvSpPr>
          <p:cNvPr id="15" name="Shape 13"/>
          <p:cNvSpPr/>
          <p:nvPr/>
        </p:nvSpPr>
        <p:spPr>
          <a:xfrm>
            <a:off x="4576167" y="4927600"/>
            <a:ext cx="2006600" cy="342900"/>
          </a:xfrm>
          <a:prstGeom prst="roundRect">
            <a:avLst>
              <a:gd name="adj" fmla="val 25926"/>
            </a:avLst>
          </a:prstGeom>
          <a:solidFill>
            <a:srgbClr val="774DCB"/>
          </a:solidFill>
          <a:ln/>
        </p:spPr>
      </p:sp>
      <p:sp>
        <p:nvSpPr>
          <p:cNvPr id="16" name="Text 14"/>
          <p:cNvSpPr/>
          <p:nvPr/>
        </p:nvSpPr>
        <p:spPr>
          <a:xfrm>
            <a:off x="4703167" y="5003800"/>
            <a:ext cx="180517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Nunito Sans" pitchFamily="34" charset="0"/>
                <a:ea typeface="Nunito Sans" pitchFamily="34" charset="-122"/>
                <a:cs typeface="Nunito Sans" pitchFamily="34" charset="-120"/>
              </a:rPr>
              <a:t>switch costume to [toad]</a:t>
            </a:r>
            <a:endParaRPr lang="en-US" sz="1200" dirty="0"/>
          </a:p>
        </p:txBody>
      </p:sp>
      <p:sp>
        <p:nvSpPr>
          <p:cNvPr id="17" name="Shape 15"/>
          <p:cNvSpPr/>
          <p:nvPr/>
        </p:nvSpPr>
        <p:spPr>
          <a:xfrm>
            <a:off x="4576167" y="5308600"/>
            <a:ext cx="2017316" cy="342900"/>
          </a:xfrm>
          <a:prstGeom prst="roundRect">
            <a:avLst>
              <a:gd name="adj" fmla="val 25926"/>
            </a:avLst>
          </a:prstGeom>
          <a:solidFill>
            <a:srgbClr val="774DCB"/>
          </a:solidFill>
          <a:ln/>
        </p:spPr>
      </p:sp>
      <p:sp>
        <p:nvSpPr>
          <p:cNvPr id="18" name="Text 16"/>
          <p:cNvSpPr/>
          <p:nvPr/>
        </p:nvSpPr>
        <p:spPr>
          <a:xfrm>
            <a:off x="4703167" y="5384800"/>
            <a:ext cx="181621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Nunito Sans" pitchFamily="34" charset="0"/>
                <a:ea typeface="Nunito Sans" pitchFamily="34" charset="-122"/>
                <a:cs typeface="Nunito Sans" pitchFamily="34" charset="-120"/>
              </a:rPr>
              <a:t>say [ribbit] for 1 seconds</a:t>
            </a:r>
            <a:endParaRPr lang="en-US" sz="1200" dirty="0"/>
          </a:p>
        </p:txBody>
      </p:sp>
      <p:sp>
        <p:nvSpPr>
          <p:cNvPr id="19" name="Shape 17"/>
          <p:cNvSpPr/>
          <p:nvPr/>
        </p:nvSpPr>
        <p:spPr>
          <a:xfrm>
            <a:off x="7964984" y="4038005"/>
            <a:ext cx="3407866" cy="1797645"/>
          </a:xfrm>
          <a:prstGeom prst="roundRect">
            <a:avLst>
              <a:gd name="adj" fmla="val 7418"/>
            </a:avLst>
          </a:prstGeom>
          <a:solidFill>
            <a:srgbClr val="FFFCF4"/>
          </a:solidFill>
          <a:ln w="12700">
            <a:solidFill>
              <a:srgbClr val="E4D7BE"/>
            </a:solidFill>
            <a:prstDash val="solid"/>
          </a:ln>
        </p:spPr>
      </p:sp>
      <p:sp>
        <p:nvSpPr>
          <p:cNvPr id="20" name="Text 18"/>
          <p:cNvSpPr/>
          <p:nvPr/>
        </p:nvSpPr>
        <p:spPr>
          <a:xfrm>
            <a:off x="8149134" y="4222155"/>
            <a:ext cx="3130753"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2E1015"/>
                </a:solidFill>
                <a:latin typeface="Fredoka" pitchFamily="34" charset="0"/>
                <a:ea typeface="Fredoka" pitchFamily="34" charset="-122"/>
                <a:cs typeface="Fredoka" pitchFamily="34" charset="-120"/>
              </a:rPr>
              <a:t>Tree</a:t>
            </a:r>
            <a:endParaRPr lang="en-US" sz="1700" dirty="0"/>
          </a:p>
        </p:txBody>
      </p:sp>
      <p:sp>
        <p:nvSpPr>
          <p:cNvPr id="21" name="Shape 19"/>
          <p:cNvSpPr/>
          <p:nvPr/>
        </p:nvSpPr>
        <p:spPr>
          <a:xfrm>
            <a:off x="8149134" y="4546600"/>
            <a:ext cx="1658243" cy="342900"/>
          </a:xfrm>
          <a:prstGeom prst="roundRect">
            <a:avLst>
              <a:gd name="adj" fmla="val 38889"/>
            </a:avLst>
          </a:prstGeom>
          <a:solidFill>
            <a:srgbClr val="FFBF00"/>
          </a:solidFill>
          <a:ln/>
        </p:spPr>
      </p:sp>
      <p:sp>
        <p:nvSpPr>
          <p:cNvPr id="22" name="Text 20"/>
          <p:cNvSpPr/>
          <p:nvPr/>
        </p:nvSpPr>
        <p:spPr>
          <a:xfrm>
            <a:off x="8276134" y="4622800"/>
            <a:ext cx="1455043"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1206"/>
                </a:solidFill>
                <a:latin typeface="Nunito Sans" pitchFamily="34" charset="0"/>
                <a:ea typeface="Nunito Sans" pitchFamily="34" charset="-122"/>
                <a:cs typeface="Nunito Sans" pitchFamily="34" charset="-120"/>
              </a:rPr>
              <a:t>when I receive [zap]</a:t>
            </a:r>
            <a:endParaRPr lang="en-US" sz="1200" dirty="0"/>
          </a:p>
        </p:txBody>
      </p:sp>
      <p:sp>
        <p:nvSpPr>
          <p:cNvPr id="23" name="Shape 21"/>
          <p:cNvSpPr/>
          <p:nvPr/>
        </p:nvSpPr>
        <p:spPr>
          <a:xfrm>
            <a:off x="8149134" y="4927600"/>
            <a:ext cx="1505248" cy="342900"/>
          </a:xfrm>
          <a:prstGeom prst="roundRect">
            <a:avLst>
              <a:gd name="adj" fmla="val 25926"/>
            </a:avLst>
          </a:prstGeom>
          <a:solidFill>
            <a:srgbClr val="774DCB"/>
          </a:solidFill>
          <a:ln/>
        </p:spPr>
      </p:sp>
      <p:sp>
        <p:nvSpPr>
          <p:cNvPr id="24" name="Text 22"/>
          <p:cNvSpPr/>
          <p:nvPr/>
        </p:nvSpPr>
        <p:spPr>
          <a:xfrm>
            <a:off x="8276134" y="5003800"/>
            <a:ext cx="1302048"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Nunito Sans" pitchFamily="34" charset="0"/>
                <a:ea typeface="Nunito Sans" pitchFamily="34" charset="-122"/>
                <a:cs typeface="Nunito Sans" pitchFamily="34" charset="-120"/>
              </a:rPr>
              <a:t>change size by 25</a:t>
            </a:r>
            <a:endParaRPr lang="en-US" sz="1200" dirty="0"/>
          </a:p>
        </p:txBody>
      </p:sp>
      <p:sp>
        <p:nvSpPr>
          <p:cNvPr id="25" name="Text 23"/>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6</a:t>
            </a:r>
            <a:endParaRPr lang="en-US" sz="1200" dirty="0"/>
          </a:p>
        </p:txBody>
      </p:sp>
      <p:pic>
        <p:nvPicPr>
          <p:cNvPr id="2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ACTIVITY B · SIXTEEN MINUTES</a:t>
            </a:r>
            <a:endParaRPr lang="en-US" sz="1300" dirty="0"/>
          </a:p>
        </p:txBody>
      </p:sp>
      <p:sp>
        <p:nvSpPr>
          <p:cNvPr id="3" name="Text 1"/>
          <p:cNvSpPr/>
          <p:nvPr/>
        </p:nvSpPr>
        <p:spPr>
          <a:xfrm>
            <a:off x="812800" y="1919784"/>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Two-Scene Story</a:t>
            </a:r>
            <a:endParaRPr lang="en-US" sz="3600" dirty="0"/>
          </a:p>
        </p:txBody>
      </p:sp>
      <p:sp>
        <p:nvSpPr>
          <p:cNvPr id="4" name="Text 2"/>
          <p:cNvSpPr/>
          <p:nvPr/>
        </p:nvSpPr>
        <p:spPr>
          <a:xfrm>
            <a:off x="812800" y="3289300"/>
            <a:ext cx="3662680" cy="1838722"/>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Two backdrops, two sprites, and a story that runs itself.</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The interesting part isn't any one script. It's the </a:t>
            </a:r>
            <a:r>
              <a:rPr lang="en-US" sz="1700" b="1" dirty="0">
                <a:solidFill>
                  <a:srgbClr val="5C4A46"/>
                </a:solidFill>
                <a:latin typeface="Nunito Sans" pitchFamily="34" charset="0"/>
                <a:ea typeface="Nunito Sans" pitchFamily="34" charset="-122"/>
                <a:cs typeface="Nunito Sans" pitchFamily="34" charset="-120"/>
              </a:rPr>
              <a:t>order things happen across different sprites</a:t>
            </a:r>
            <a:r>
              <a:rPr lang="en-US" sz="1700" dirty="0">
                <a:solidFill>
                  <a:srgbClr val="5C4A46"/>
                </a:solidFill>
                <a:latin typeface="Nunito Sans" pitchFamily="34" charset="0"/>
                <a:ea typeface="Nunito Sans" pitchFamily="34" charset="-122"/>
                <a:cs typeface="Nunito Sans" pitchFamily="34" charset="-120"/>
              </a:rPr>
              <a:t>.</a:t>
            </a:r>
            <a:endParaRPr lang="en-US" sz="1700" dirty="0"/>
          </a:p>
        </p:txBody>
      </p:sp>
      <p:sp>
        <p:nvSpPr>
          <p:cNvPr id="5" name="Shape 3"/>
          <p:cNvSpPr/>
          <p:nvPr/>
        </p:nvSpPr>
        <p:spPr>
          <a:xfrm>
            <a:off x="4673600" y="3289300"/>
            <a:ext cx="2257227" cy="400050"/>
          </a:xfrm>
          <a:prstGeom prst="roundRect">
            <a:avLst>
              <a:gd name="adj" fmla="val 39683"/>
            </a:avLst>
          </a:prstGeom>
          <a:solidFill>
            <a:srgbClr val="FFBF00"/>
          </a:solidFill>
          <a:ln/>
        </p:spPr>
      </p:sp>
      <p:sp>
        <p:nvSpPr>
          <p:cNvPr id="6" name="Text 4"/>
          <p:cNvSpPr/>
          <p:nvPr/>
        </p:nvSpPr>
        <p:spPr>
          <a:xfrm>
            <a:off x="4819650" y="3378200"/>
            <a:ext cx="202408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when green flag clicked</a:t>
            </a:r>
            <a:endParaRPr lang="en-US" sz="1400" dirty="0"/>
          </a:p>
        </p:txBody>
      </p:sp>
      <p:sp>
        <p:nvSpPr>
          <p:cNvPr id="7" name="Shape 5"/>
          <p:cNvSpPr/>
          <p:nvPr/>
        </p:nvSpPr>
        <p:spPr>
          <a:xfrm>
            <a:off x="4673600" y="3727450"/>
            <a:ext cx="2606973" cy="400050"/>
          </a:xfrm>
          <a:prstGeom prst="roundRect">
            <a:avLst>
              <a:gd name="adj" fmla="val 22222"/>
            </a:avLst>
          </a:prstGeom>
          <a:solidFill>
            <a:srgbClr val="774DCB"/>
          </a:solidFill>
          <a:ln/>
        </p:spPr>
      </p:sp>
      <p:sp>
        <p:nvSpPr>
          <p:cNvPr id="8" name="Text 6"/>
          <p:cNvSpPr/>
          <p:nvPr/>
        </p:nvSpPr>
        <p:spPr>
          <a:xfrm>
            <a:off x="4819650" y="3816350"/>
            <a:ext cx="2384319"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Nunito Sans" pitchFamily="34" charset="0"/>
                <a:ea typeface="Nunito Sans" pitchFamily="34" charset="-122"/>
                <a:cs typeface="Nunito Sans" pitchFamily="34" charset="-120"/>
              </a:rPr>
              <a:t>switch backdrop to [scene1]</a:t>
            </a:r>
            <a:endParaRPr lang="en-US" sz="1400" dirty="0"/>
          </a:p>
        </p:txBody>
      </p:sp>
      <p:sp>
        <p:nvSpPr>
          <p:cNvPr id="9" name="Shape 7"/>
          <p:cNvSpPr/>
          <p:nvPr/>
        </p:nvSpPr>
        <p:spPr>
          <a:xfrm>
            <a:off x="4673600" y="4165600"/>
            <a:ext cx="2263080" cy="400050"/>
          </a:xfrm>
          <a:prstGeom prst="roundRect">
            <a:avLst>
              <a:gd name="adj" fmla="val 22222"/>
            </a:avLst>
          </a:prstGeom>
          <a:solidFill>
            <a:srgbClr val="FFBF00"/>
          </a:solidFill>
          <a:ln/>
        </p:spPr>
      </p:sp>
      <p:sp>
        <p:nvSpPr>
          <p:cNvPr id="10" name="Text 8"/>
          <p:cNvSpPr/>
          <p:nvPr/>
        </p:nvSpPr>
        <p:spPr>
          <a:xfrm>
            <a:off x="4819650" y="4254500"/>
            <a:ext cx="203011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broadcast [scene1start]</a:t>
            </a:r>
            <a:endParaRPr lang="en-US" sz="1400" dirty="0"/>
          </a:p>
        </p:txBody>
      </p:sp>
      <p:sp>
        <p:nvSpPr>
          <p:cNvPr id="11" name="Shape 9"/>
          <p:cNvSpPr/>
          <p:nvPr/>
        </p:nvSpPr>
        <p:spPr>
          <a:xfrm>
            <a:off x="4673600" y="4565650"/>
            <a:ext cx="2625725" cy="400050"/>
          </a:xfrm>
          <a:prstGeom prst="roundRect">
            <a:avLst>
              <a:gd name="adj" fmla="val 39683"/>
            </a:avLst>
          </a:prstGeom>
          <a:solidFill>
            <a:srgbClr val="FFBF00"/>
          </a:solidFill>
          <a:ln/>
        </p:spPr>
      </p:sp>
      <p:sp>
        <p:nvSpPr>
          <p:cNvPr id="12" name="Text 10"/>
          <p:cNvSpPr/>
          <p:nvPr/>
        </p:nvSpPr>
        <p:spPr>
          <a:xfrm>
            <a:off x="4819650" y="4654550"/>
            <a:ext cx="2403634"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when I receive [scene1start]</a:t>
            </a:r>
            <a:endParaRPr lang="en-US" sz="1400" dirty="0"/>
          </a:p>
        </p:txBody>
      </p:sp>
      <p:sp>
        <p:nvSpPr>
          <p:cNvPr id="13" name="Shape 11"/>
          <p:cNvSpPr/>
          <p:nvPr/>
        </p:nvSpPr>
        <p:spPr>
          <a:xfrm>
            <a:off x="4673600" y="5003800"/>
            <a:ext cx="3469283" cy="400050"/>
          </a:xfrm>
          <a:prstGeom prst="roundRect">
            <a:avLst>
              <a:gd name="adj" fmla="val 22222"/>
            </a:avLst>
          </a:prstGeom>
          <a:solidFill>
            <a:srgbClr val="774DCB"/>
          </a:solidFill>
          <a:ln/>
        </p:spPr>
      </p:sp>
      <p:sp>
        <p:nvSpPr>
          <p:cNvPr id="14" name="Text 12"/>
          <p:cNvSpPr/>
          <p:nvPr/>
        </p:nvSpPr>
        <p:spPr>
          <a:xfrm>
            <a:off x="4819650" y="5092700"/>
            <a:ext cx="3272498"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Nunito Sans" pitchFamily="34" charset="0"/>
                <a:ea typeface="Nunito Sans" pitchFamily="34" charset="-122"/>
                <a:cs typeface="Nunito Sans" pitchFamily="34" charset="-120"/>
              </a:rPr>
              <a:t>say [Once upon a time...] for 2 seconds</a:t>
            </a:r>
            <a:endParaRPr lang="en-US" sz="1400" dirty="0"/>
          </a:p>
        </p:txBody>
      </p:sp>
      <p:sp>
        <p:nvSpPr>
          <p:cNvPr id="15" name="Shape 13"/>
          <p:cNvSpPr/>
          <p:nvPr/>
        </p:nvSpPr>
        <p:spPr>
          <a:xfrm>
            <a:off x="4673600" y="5441950"/>
            <a:ext cx="2263080" cy="400050"/>
          </a:xfrm>
          <a:prstGeom prst="roundRect">
            <a:avLst>
              <a:gd name="adj" fmla="val 22222"/>
            </a:avLst>
          </a:prstGeom>
          <a:solidFill>
            <a:srgbClr val="FFBF00"/>
          </a:solidFill>
          <a:ln/>
        </p:spPr>
      </p:sp>
      <p:sp>
        <p:nvSpPr>
          <p:cNvPr id="16" name="Text 14"/>
          <p:cNvSpPr/>
          <p:nvPr/>
        </p:nvSpPr>
        <p:spPr>
          <a:xfrm>
            <a:off x="4819650" y="5530850"/>
            <a:ext cx="203011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broadcast [scene2start]</a:t>
            </a:r>
            <a:endParaRPr lang="en-US" sz="1400" dirty="0"/>
          </a:p>
        </p:txBody>
      </p:sp>
      <p:sp>
        <p:nvSpPr>
          <p:cNvPr id="17" name="Text 15"/>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6</a:t>
            </a:r>
            <a:endParaRPr lang="en-US" sz="1200" dirty="0"/>
          </a:p>
        </p:txBody>
      </p:sp>
      <p:pic>
        <p:nvPicPr>
          <p:cNvPr id="18"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3A121B"/>
        </a:solidFill>
      </p:bgPr>
    </p:bg>
    <p:spTree>
      <p:nvGrpSpPr>
        <p:cNvPr id="1" name=""/>
        <p:cNvGrpSpPr/>
        <p:nvPr/>
      </p:nvGrpSpPr>
      <p:grpSpPr>
        <a:xfrm>
          <a:off x="0" y="0"/>
          <a:ext cx="0" cy="0"/>
          <a:chOff x="0" y="0"/>
          <a:chExt cx="0" cy="0"/>
        </a:xfrm>
      </p:grpSpPr>
      <p:sp>
        <p:nvSpPr>
          <p:cNvPr id="2" name="Text 0"/>
          <p:cNvSpPr/>
          <p:nvPr/>
        </p:nvSpPr>
        <p:spPr>
          <a:xfrm>
            <a:off x="812800" y="227588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6E7C8"/>
                </a:solidFill>
                <a:latin typeface="Fredoka" pitchFamily="34" charset="0"/>
                <a:ea typeface="Fredoka" pitchFamily="34" charset="-122"/>
                <a:cs typeface="Fredoka" pitchFamily="34" charset="-120"/>
              </a:rPr>
              <a:t>Break</a:t>
            </a:r>
            <a:endParaRPr lang="en-US" sz="6000" dirty="0"/>
          </a:p>
        </p:txBody>
      </p:sp>
      <p:sp>
        <p:nvSpPr>
          <p:cNvPr id="3" name="Text 1"/>
          <p:cNvSpPr/>
          <p:nvPr/>
        </p:nvSpPr>
        <p:spPr>
          <a:xfrm>
            <a:off x="812800" y="3329980"/>
            <a:ext cx="784860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C49A7E"/>
                </a:solidFill>
                <a:latin typeface="Nunito Sans" pitchFamily="34" charset="0"/>
                <a:ea typeface="Nunito Sans" pitchFamily="34" charset="-122"/>
                <a:cs typeface="Nunito Sans" pitchFamily="34" charset="-120"/>
              </a:rPr>
              <a:t>Ten minutes. Get up, stretch, drink some water.</a:t>
            </a:r>
            <a:endParaRPr lang="en-US" sz="2200" dirty="0"/>
          </a:p>
        </p:txBody>
      </p:sp>
      <p:sp>
        <p:nvSpPr>
          <p:cNvPr id="4" name="Shape 2"/>
          <p:cNvSpPr/>
          <p:nvPr/>
        </p:nvSpPr>
        <p:spPr>
          <a:xfrm>
            <a:off x="812800" y="3975100"/>
            <a:ext cx="1143000" cy="50800"/>
          </a:xfrm>
          <a:prstGeom prst="roundRect">
            <a:avLst>
              <a:gd name="adj" fmla="val 50000"/>
            </a:avLst>
          </a:prstGeom>
          <a:solidFill>
            <a:srgbClr val="C9A227"/>
          </a:solidFill>
          <a:ln/>
        </p:spPr>
      </p:sp>
      <p:sp>
        <p:nvSpPr>
          <p:cNvPr id="5" name="Text 3"/>
          <p:cNvSpPr/>
          <p:nvPr/>
        </p:nvSpPr>
        <p:spPr>
          <a:xfrm>
            <a:off x="812800" y="4279900"/>
            <a:ext cx="78486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49A7E"/>
                </a:solidFill>
                <a:latin typeface="Nunito Sans" pitchFamily="34" charset="0"/>
                <a:ea typeface="Nunito Sans" pitchFamily="34" charset="-122"/>
                <a:cs typeface="Nunito Sans" pitchFamily="34" charset="-120"/>
              </a:rPr>
              <a:t>After the break: lives, Game Over, and a start screen.</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8C2332"/>
        </a:solidFill>
      </p:bgPr>
    </p:bg>
    <p:spTree>
      <p:nvGrpSpPr>
        <p:cNvPr id="1" name=""/>
        <p:cNvGrpSpPr/>
        <p:nvPr/>
      </p:nvGrpSpPr>
      <p:grpSpPr>
        <a:xfrm>
          <a:off x="0" y="0"/>
          <a:ext cx="0" cy="0"/>
          <a:chOff x="0" y="0"/>
          <a:chExt cx="0" cy="0"/>
        </a:xfrm>
      </p:grpSpPr>
      <p:sp>
        <p:nvSpPr>
          <p:cNvPr id="2" name="Text 0"/>
          <p:cNvSpPr/>
          <p:nvPr/>
        </p:nvSpPr>
        <p:spPr>
          <a:xfrm>
            <a:off x="812800" y="2235299"/>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3C9CF"/>
                </a:solidFill>
                <a:latin typeface="Nunito Sans" pitchFamily="34" charset="0"/>
                <a:ea typeface="Nunito Sans" pitchFamily="34" charset="-122"/>
                <a:cs typeface="Nunito Sans" pitchFamily="34" charset="-120"/>
              </a:rPr>
              <a:t>TODAY'S GOAL</a:t>
            </a:r>
            <a:endParaRPr lang="en-US" sz="1300" dirty="0"/>
          </a:p>
        </p:txBody>
      </p:sp>
      <p:sp>
        <p:nvSpPr>
          <p:cNvPr id="3" name="Text 1"/>
          <p:cNvSpPr/>
          <p:nvPr/>
        </p:nvSpPr>
        <p:spPr>
          <a:xfrm>
            <a:off x="812800" y="2694980"/>
            <a:ext cx="9810750" cy="1953022"/>
          </a:xfrm>
          <a:prstGeom prst="rect">
            <a:avLst/>
          </a:prstGeom>
          <a:noFill/>
          <a:ln/>
        </p:spPr>
        <p:txBody>
          <a:bodyPr wrap="square" lIns="0" tIns="0" rIns="0" bIns="0" rtlCol="0" anchor="t">
            <a:normAutofit/>
          </a:bodyPr>
          <a:lstStyle/>
          <a:p>
            <a:pPr algn="l" indent="0" marL="0">
              <a:lnSpc>
                <a:spcPts val="5060"/>
              </a:lnSpc>
              <a:buNone/>
            </a:pPr>
            <a:r>
              <a:rPr lang="en-US" sz="4600" b="1" dirty="0">
                <a:solidFill>
                  <a:srgbClr val="FFF4E8"/>
                </a:solidFill>
                <a:latin typeface="Fredoka" pitchFamily="34" charset="0"/>
                <a:ea typeface="Fredoka" pitchFamily="34" charset="-122"/>
                <a:cs typeface="Fredoka" pitchFamily="34" charset="-120"/>
              </a:rPr>
              <a:t>By the end of today your game has three lives, an ending, and a way to start again.</a:t>
            </a:r>
            <a:endParaRPr lang="en-US" sz="4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BUILD STEP 1 · LIVES</a:t>
            </a:r>
            <a:endParaRPr lang="en-US" sz="1300" dirty="0"/>
          </a:p>
        </p:txBody>
      </p:sp>
      <p:sp>
        <p:nvSpPr>
          <p:cNvPr id="3" name="Text 1"/>
          <p:cNvSpPr/>
          <p:nvPr/>
        </p:nvSpPr>
        <p:spPr>
          <a:xfrm>
            <a:off x="812800" y="1510209"/>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Three lives, then it's over</a:t>
            </a:r>
            <a:endParaRPr lang="en-US" sz="3600" dirty="0"/>
          </a:p>
        </p:txBody>
      </p:sp>
      <p:sp>
        <p:nvSpPr>
          <p:cNvPr id="4" name="Text 2"/>
          <p:cNvSpPr/>
          <p:nvPr/>
        </p:nvSpPr>
        <p:spPr>
          <a:xfrm>
            <a:off x="812800" y="2470150"/>
            <a:ext cx="3662680" cy="2140942"/>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Make a variable called </a:t>
            </a:r>
            <a:r>
              <a:rPr lang="en-US" sz="1700" b="1" dirty="0">
                <a:solidFill>
                  <a:srgbClr val="5C4A46"/>
                </a:solidFill>
                <a:latin typeface="Nunito Sans" pitchFamily="34" charset="0"/>
                <a:ea typeface="Nunito Sans" pitchFamily="34" charset="-122"/>
                <a:cs typeface="Nunito Sans" pitchFamily="34" charset="-120"/>
              </a:rPr>
              <a:t>lives</a:t>
            </a:r>
            <a:r>
              <a:rPr lang="en-US" sz="1700" dirty="0">
                <a:solidFill>
                  <a:srgbClr val="5C4A46"/>
                </a:solidFill>
                <a:latin typeface="Nunito Sans" pitchFamily="34" charset="0"/>
                <a:ea typeface="Nunito Sans" pitchFamily="34" charset="-122"/>
                <a:cs typeface="Nunito Sans" pitchFamily="34" charset="-120"/>
              </a:rPr>
              <a:t> and </a:t>
            </a:r>
            <a:r>
              <a:rPr lang="en-US" sz="1700" b="1" dirty="0">
                <a:solidFill>
                  <a:srgbClr val="5C4A46"/>
                </a:solidFill>
                <a:latin typeface="Nunito Sans" pitchFamily="34" charset="0"/>
                <a:ea typeface="Nunito Sans" pitchFamily="34" charset="-122"/>
                <a:cs typeface="Nunito Sans" pitchFamily="34" charset="-120"/>
              </a:rPr>
              <a:t>set lives to 3</a:t>
            </a:r>
            <a:r>
              <a:rPr lang="en-US" sz="1700" dirty="0">
                <a:solidFill>
                  <a:srgbClr val="5C4A46"/>
                </a:solidFill>
                <a:latin typeface="Nunito Sans" pitchFamily="34" charset="0"/>
                <a:ea typeface="Nunito Sans" pitchFamily="34" charset="-122"/>
                <a:cs typeface="Nunito Sans" pitchFamily="34" charset="-120"/>
              </a:rPr>
              <a:t> under the green flag.</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On your bad object, inside the catch, add </a:t>
            </a:r>
            <a:r>
              <a:rPr lang="en-US" sz="1700" b="1" dirty="0">
                <a:solidFill>
                  <a:srgbClr val="5C4A46"/>
                </a:solidFill>
                <a:latin typeface="Nunito Sans" pitchFamily="34" charset="0"/>
                <a:ea typeface="Nunito Sans" pitchFamily="34" charset="-122"/>
                <a:cs typeface="Nunito Sans" pitchFamily="34" charset="-120"/>
              </a:rPr>
              <a:t>change lives by -1</a:t>
            </a:r>
            <a:r>
              <a:rPr lang="en-US" sz="1700" dirty="0">
                <a:solidFill>
                  <a:srgbClr val="5C4A46"/>
                </a:solidFill>
                <a:latin typeface="Nunito Sans" pitchFamily="34" charset="0"/>
                <a:ea typeface="Nunito Sans" pitchFamily="34" charset="-122"/>
                <a:cs typeface="Nunito Sans" pitchFamily="34" charset="-120"/>
              </a:rPr>
              <a:t>.</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Then, on the player, watch for zero.</a:t>
            </a:r>
            <a:endParaRPr lang="en-US" sz="1700" dirty="0"/>
          </a:p>
        </p:txBody>
      </p:sp>
      <p:sp>
        <p:nvSpPr>
          <p:cNvPr id="5" name="Shape 3"/>
          <p:cNvSpPr/>
          <p:nvPr/>
        </p:nvSpPr>
        <p:spPr>
          <a:xfrm>
            <a:off x="4673600" y="2470150"/>
            <a:ext cx="2257227" cy="400050"/>
          </a:xfrm>
          <a:prstGeom prst="roundRect">
            <a:avLst>
              <a:gd name="adj" fmla="val 39683"/>
            </a:avLst>
          </a:prstGeom>
          <a:solidFill>
            <a:srgbClr val="FFBF00"/>
          </a:solidFill>
          <a:ln/>
        </p:spPr>
      </p:sp>
      <p:sp>
        <p:nvSpPr>
          <p:cNvPr id="6" name="Text 4"/>
          <p:cNvSpPr/>
          <p:nvPr/>
        </p:nvSpPr>
        <p:spPr>
          <a:xfrm>
            <a:off x="4819650" y="2559050"/>
            <a:ext cx="202408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when green flag clicked</a:t>
            </a:r>
            <a:endParaRPr lang="en-US" sz="1400" dirty="0"/>
          </a:p>
        </p:txBody>
      </p:sp>
      <p:sp>
        <p:nvSpPr>
          <p:cNvPr id="7" name="Shape 5"/>
          <p:cNvSpPr/>
          <p:nvPr/>
        </p:nvSpPr>
        <p:spPr>
          <a:xfrm>
            <a:off x="4673600" y="2908300"/>
            <a:ext cx="1466652" cy="400050"/>
          </a:xfrm>
          <a:prstGeom prst="roundRect">
            <a:avLst>
              <a:gd name="adj" fmla="val 22222"/>
            </a:avLst>
          </a:prstGeom>
          <a:solidFill>
            <a:srgbClr val="FF8C1A"/>
          </a:solidFill>
          <a:ln/>
        </p:spPr>
      </p:sp>
      <p:sp>
        <p:nvSpPr>
          <p:cNvPr id="8" name="Text 6"/>
          <p:cNvSpPr/>
          <p:nvPr/>
        </p:nvSpPr>
        <p:spPr>
          <a:xfrm>
            <a:off x="4819650" y="2997200"/>
            <a:ext cx="1225352"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set [lives] to 3</a:t>
            </a:r>
            <a:endParaRPr lang="en-US" sz="1400" dirty="0"/>
          </a:p>
        </p:txBody>
      </p:sp>
      <p:sp>
        <p:nvSpPr>
          <p:cNvPr id="9" name="Shape 7"/>
          <p:cNvSpPr/>
          <p:nvPr/>
        </p:nvSpPr>
        <p:spPr>
          <a:xfrm>
            <a:off x="4673600" y="3346450"/>
            <a:ext cx="878185" cy="400050"/>
          </a:xfrm>
          <a:prstGeom prst="roundRect">
            <a:avLst>
              <a:gd name="adj" fmla="val 22222"/>
            </a:avLst>
          </a:prstGeom>
          <a:solidFill>
            <a:srgbClr val="FFAB19"/>
          </a:solidFill>
          <a:ln/>
        </p:spPr>
      </p:sp>
      <p:sp>
        <p:nvSpPr>
          <p:cNvPr id="10" name="Text 8"/>
          <p:cNvSpPr/>
          <p:nvPr/>
        </p:nvSpPr>
        <p:spPr>
          <a:xfrm>
            <a:off x="4819650" y="3435350"/>
            <a:ext cx="63688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forever</a:t>
            </a:r>
            <a:endParaRPr lang="en-US" sz="1400" dirty="0"/>
          </a:p>
        </p:txBody>
      </p:sp>
      <p:sp>
        <p:nvSpPr>
          <p:cNvPr id="11" name="Shape 9"/>
          <p:cNvSpPr/>
          <p:nvPr/>
        </p:nvSpPr>
        <p:spPr>
          <a:xfrm>
            <a:off x="4724400" y="3784600"/>
            <a:ext cx="0" cy="1885950"/>
          </a:xfrm>
          <a:prstGeom prst="line">
            <a:avLst/>
          </a:prstGeom>
          <a:noFill/>
          <a:ln w="101600">
            <a:solidFill>
              <a:srgbClr val="FFAB19"/>
            </a:solidFill>
            <a:prstDash val="solid"/>
          </a:ln>
        </p:spPr>
      </p:sp>
      <p:sp>
        <p:nvSpPr>
          <p:cNvPr id="12" name="Shape 10"/>
          <p:cNvSpPr/>
          <p:nvPr/>
        </p:nvSpPr>
        <p:spPr>
          <a:xfrm>
            <a:off x="4965700" y="3784600"/>
            <a:ext cx="1898055" cy="400050"/>
          </a:xfrm>
          <a:prstGeom prst="roundRect">
            <a:avLst>
              <a:gd name="adj" fmla="val 22222"/>
            </a:avLst>
          </a:prstGeom>
          <a:solidFill>
            <a:srgbClr val="FFAB19"/>
          </a:solidFill>
          <a:ln/>
        </p:spPr>
      </p:sp>
      <p:sp>
        <p:nvSpPr>
          <p:cNvPr id="13" name="Text 11"/>
          <p:cNvSpPr/>
          <p:nvPr/>
        </p:nvSpPr>
        <p:spPr>
          <a:xfrm>
            <a:off x="5111750" y="3873500"/>
            <a:ext cx="165675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if &lt;(lives) &lt; 1&gt; then</a:t>
            </a:r>
            <a:endParaRPr lang="en-US" sz="1400" dirty="0"/>
          </a:p>
        </p:txBody>
      </p:sp>
      <p:sp>
        <p:nvSpPr>
          <p:cNvPr id="14" name="Shape 12"/>
          <p:cNvSpPr/>
          <p:nvPr/>
        </p:nvSpPr>
        <p:spPr>
          <a:xfrm>
            <a:off x="5016500" y="4222750"/>
            <a:ext cx="0" cy="838200"/>
          </a:xfrm>
          <a:prstGeom prst="line">
            <a:avLst/>
          </a:prstGeom>
          <a:noFill/>
          <a:ln w="101600">
            <a:solidFill>
              <a:srgbClr val="FFAB19"/>
            </a:solidFill>
            <a:prstDash val="solid"/>
          </a:ln>
        </p:spPr>
      </p:sp>
      <p:sp>
        <p:nvSpPr>
          <p:cNvPr id="15" name="Shape 13"/>
          <p:cNvSpPr/>
          <p:nvPr/>
        </p:nvSpPr>
        <p:spPr>
          <a:xfrm>
            <a:off x="5257800" y="4222750"/>
            <a:ext cx="2098576" cy="400050"/>
          </a:xfrm>
          <a:prstGeom prst="roundRect">
            <a:avLst>
              <a:gd name="adj" fmla="val 22222"/>
            </a:avLst>
          </a:prstGeom>
          <a:solidFill>
            <a:srgbClr val="FFBF00"/>
          </a:solidFill>
          <a:ln/>
        </p:spPr>
      </p:sp>
      <p:sp>
        <p:nvSpPr>
          <p:cNvPr id="16" name="Text 14"/>
          <p:cNvSpPr/>
          <p:nvPr/>
        </p:nvSpPr>
        <p:spPr>
          <a:xfrm>
            <a:off x="5403850" y="4311650"/>
            <a:ext cx="186067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broadcast [gameover]</a:t>
            </a:r>
            <a:endParaRPr lang="en-US" sz="1400" dirty="0"/>
          </a:p>
        </p:txBody>
      </p:sp>
      <p:sp>
        <p:nvSpPr>
          <p:cNvPr id="17" name="Shape 15"/>
          <p:cNvSpPr/>
          <p:nvPr/>
        </p:nvSpPr>
        <p:spPr>
          <a:xfrm>
            <a:off x="5257800" y="4660900"/>
            <a:ext cx="1654770" cy="400050"/>
          </a:xfrm>
          <a:prstGeom prst="roundRect">
            <a:avLst>
              <a:gd name="adj" fmla="val 22222"/>
            </a:avLst>
          </a:prstGeom>
          <a:solidFill>
            <a:srgbClr val="FFAB19"/>
          </a:solidFill>
          <a:ln/>
        </p:spPr>
      </p:sp>
      <p:sp>
        <p:nvSpPr>
          <p:cNvPr id="18" name="Text 16"/>
          <p:cNvSpPr/>
          <p:nvPr/>
        </p:nvSpPr>
        <p:spPr>
          <a:xfrm>
            <a:off x="5403850" y="4749800"/>
            <a:ext cx="141347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stop [this script]</a:t>
            </a:r>
            <a:endParaRPr lang="en-US" sz="1400" dirty="0"/>
          </a:p>
        </p:txBody>
      </p:sp>
      <p:sp>
        <p:nvSpPr>
          <p:cNvPr id="19" name="Shape 17"/>
          <p:cNvSpPr/>
          <p:nvPr/>
        </p:nvSpPr>
        <p:spPr>
          <a:xfrm>
            <a:off x="4965700" y="5099050"/>
            <a:ext cx="800100" cy="133350"/>
          </a:xfrm>
          <a:prstGeom prst="roundRect">
            <a:avLst>
              <a:gd name="adj" fmla="val 50000"/>
            </a:avLst>
          </a:prstGeom>
          <a:solidFill>
            <a:srgbClr val="FFAB19"/>
          </a:solidFill>
          <a:ln/>
        </p:spPr>
      </p:sp>
      <p:sp>
        <p:nvSpPr>
          <p:cNvPr id="20" name="Shape 18"/>
          <p:cNvSpPr/>
          <p:nvPr/>
        </p:nvSpPr>
        <p:spPr>
          <a:xfrm>
            <a:off x="4965700" y="5270500"/>
            <a:ext cx="1671538" cy="400050"/>
          </a:xfrm>
          <a:prstGeom prst="roundRect">
            <a:avLst>
              <a:gd name="adj" fmla="val 22222"/>
            </a:avLst>
          </a:prstGeom>
          <a:solidFill>
            <a:srgbClr val="FFAB19"/>
          </a:solidFill>
          <a:ln/>
        </p:spPr>
      </p:sp>
      <p:sp>
        <p:nvSpPr>
          <p:cNvPr id="21" name="Text 19"/>
          <p:cNvSpPr/>
          <p:nvPr/>
        </p:nvSpPr>
        <p:spPr>
          <a:xfrm>
            <a:off x="5111750" y="5359400"/>
            <a:ext cx="1430238"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wait 0.1 seconds</a:t>
            </a:r>
            <a:endParaRPr lang="en-US" sz="1400" dirty="0"/>
          </a:p>
        </p:txBody>
      </p:sp>
      <p:sp>
        <p:nvSpPr>
          <p:cNvPr id="22" name="Shape 20"/>
          <p:cNvSpPr/>
          <p:nvPr/>
        </p:nvSpPr>
        <p:spPr>
          <a:xfrm>
            <a:off x="4673600" y="5708650"/>
            <a:ext cx="800100" cy="133350"/>
          </a:xfrm>
          <a:prstGeom prst="roundRect">
            <a:avLst>
              <a:gd name="adj" fmla="val 50000"/>
            </a:avLst>
          </a:prstGeom>
          <a:solidFill>
            <a:srgbClr val="FFAB19"/>
          </a:solidFill>
          <a:ln/>
        </p:spPr>
      </p:sp>
      <p:sp>
        <p:nvSpPr>
          <p:cNvPr id="23" name="Text 2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6</a:t>
            </a:r>
            <a:endParaRPr lang="en-US" sz="1200" dirty="0"/>
          </a:p>
        </p:txBody>
      </p:sp>
      <p:pic>
        <p:nvPicPr>
          <p:cNvPr id="2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BUILD STEP 2 · GAME OVER</a:t>
            </a:r>
            <a:endParaRPr lang="en-US" sz="1300" dirty="0"/>
          </a:p>
        </p:txBody>
      </p:sp>
      <p:sp>
        <p:nvSpPr>
          <p:cNvPr id="3" name="Text 1"/>
          <p:cNvSpPr/>
          <p:nvPr/>
        </p:nvSpPr>
        <p:spPr>
          <a:xfrm>
            <a:off x="812800" y="1834059"/>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An ending</a:t>
            </a:r>
            <a:endParaRPr lang="en-US" sz="3600" dirty="0"/>
          </a:p>
        </p:txBody>
      </p:sp>
      <p:sp>
        <p:nvSpPr>
          <p:cNvPr id="4" name="Text 2"/>
          <p:cNvSpPr/>
          <p:nvPr/>
        </p:nvSpPr>
        <p:spPr>
          <a:xfrm>
            <a:off x="812800" y="3117850"/>
            <a:ext cx="3662680" cy="1838722"/>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Paint a </a:t>
            </a:r>
            <a:r>
              <a:rPr lang="en-US" sz="1700" b="1" dirty="0">
                <a:solidFill>
                  <a:srgbClr val="5C4A46"/>
                </a:solidFill>
                <a:latin typeface="Nunito Sans" pitchFamily="34" charset="0"/>
                <a:ea typeface="Nunito Sans" pitchFamily="34" charset="-122"/>
                <a:cs typeface="Nunito Sans" pitchFamily="34" charset="-120"/>
              </a:rPr>
              <a:t>Game Over</a:t>
            </a:r>
            <a:r>
              <a:rPr lang="en-US" sz="1700" dirty="0">
                <a:solidFill>
                  <a:srgbClr val="5C4A46"/>
                </a:solidFill>
                <a:latin typeface="Nunito Sans" pitchFamily="34" charset="0"/>
                <a:ea typeface="Nunito Sans" pitchFamily="34" charset="-122"/>
                <a:cs typeface="Nunito Sans" pitchFamily="34" charset="-120"/>
              </a:rPr>
              <a:t> backdrop with some text on it.</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On the stage, listen for the message. On each falling object, listen too and </a:t>
            </a:r>
            <a:r>
              <a:rPr lang="en-US" sz="1700" b="1" dirty="0">
                <a:solidFill>
                  <a:srgbClr val="5C4A46"/>
                </a:solidFill>
                <a:latin typeface="Nunito Sans" pitchFamily="34" charset="0"/>
                <a:ea typeface="Nunito Sans" pitchFamily="34" charset="-122"/>
                <a:cs typeface="Nunito Sans" pitchFamily="34" charset="-120"/>
              </a:rPr>
              <a:t>hide</a:t>
            </a:r>
            <a:r>
              <a:rPr lang="en-US" sz="1700" dirty="0">
                <a:solidFill>
                  <a:srgbClr val="5C4A46"/>
                </a:solidFill>
                <a:latin typeface="Nunito Sans" pitchFamily="34" charset="0"/>
                <a:ea typeface="Nunito Sans" pitchFamily="34" charset="-122"/>
                <a:cs typeface="Nunito Sans" pitchFamily="34" charset="-120"/>
              </a:rPr>
              <a:t>.</a:t>
            </a:r>
            <a:endParaRPr lang="en-US" sz="1700" dirty="0"/>
          </a:p>
        </p:txBody>
      </p:sp>
      <p:sp>
        <p:nvSpPr>
          <p:cNvPr id="5" name="Shape 3"/>
          <p:cNvSpPr/>
          <p:nvPr/>
        </p:nvSpPr>
        <p:spPr>
          <a:xfrm>
            <a:off x="4673600" y="3117850"/>
            <a:ext cx="2641600" cy="428625"/>
          </a:xfrm>
          <a:prstGeom prst="roundRect">
            <a:avLst>
              <a:gd name="adj" fmla="val 40000"/>
            </a:avLst>
          </a:prstGeom>
          <a:solidFill>
            <a:srgbClr val="FFBF00"/>
          </a:solidFill>
          <a:ln/>
        </p:spPr>
      </p:sp>
      <p:sp>
        <p:nvSpPr>
          <p:cNvPr id="6" name="Text 4"/>
          <p:cNvSpPr/>
          <p:nvPr/>
        </p:nvSpPr>
        <p:spPr>
          <a:xfrm>
            <a:off x="4832350" y="3213100"/>
            <a:ext cx="2393823"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when I receive [gameover]</a:t>
            </a:r>
            <a:endParaRPr lang="en-US" sz="1500" dirty="0"/>
          </a:p>
        </p:txBody>
      </p:sp>
      <p:sp>
        <p:nvSpPr>
          <p:cNvPr id="7" name="Shape 5"/>
          <p:cNvSpPr/>
          <p:nvPr/>
        </p:nvSpPr>
        <p:spPr>
          <a:xfrm>
            <a:off x="4673600" y="3584575"/>
            <a:ext cx="3177877" cy="428625"/>
          </a:xfrm>
          <a:prstGeom prst="roundRect">
            <a:avLst>
              <a:gd name="adj" fmla="val 20741"/>
            </a:avLst>
          </a:prstGeom>
          <a:solidFill>
            <a:srgbClr val="774DCB"/>
          </a:solidFill>
          <a:ln/>
        </p:spPr>
      </p:sp>
      <p:sp>
        <p:nvSpPr>
          <p:cNvPr id="8" name="Text 6"/>
          <p:cNvSpPr/>
          <p:nvPr/>
        </p:nvSpPr>
        <p:spPr>
          <a:xfrm>
            <a:off x="4832350" y="3679825"/>
            <a:ext cx="2946189"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switch backdrop to [Game Over]</a:t>
            </a:r>
            <a:endParaRPr lang="en-US" sz="1500" dirty="0"/>
          </a:p>
        </p:txBody>
      </p:sp>
      <p:sp>
        <p:nvSpPr>
          <p:cNvPr id="9" name="Shape 7"/>
          <p:cNvSpPr/>
          <p:nvPr/>
        </p:nvSpPr>
        <p:spPr>
          <a:xfrm>
            <a:off x="4673600" y="4051300"/>
            <a:ext cx="1795463" cy="428625"/>
          </a:xfrm>
          <a:prstGeom prst="roundRect">
            <a:avLst>
              <a:gd name="adj" fmla="val 20741"/>
            </a:avLst>
          </a:prstGeom>
          <a:solidFill>
            <a:srgbClr val="FFAB19"/>
          </a:solidFill>
          <a:ln/>
        </p:spPr>
      </p:sp>
      <p:sp>
        <p:nvSpPr>
          <p:cNvPr id="10" name="Text 8"/>
          <p:cNvSpPr/>
          <p:nvPr/>
        </p:nvSpPr>
        <p:spPr>
          <a:xfrm>
            <a:off x="4832350" y="4146550"/>
            <a:ext cx="1528763"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wait 0.1 seconds</a:t>
            </a:r>
            <a:endParaRPr lang="en-US" sz="1500" dirty="0"/>
          </a:p>
        </p:txBody>
      </p:sp>
      <p:sp>
        <p:nvSpPr>
          <p:cNvPr id="11" name="Shape 9"/>
          <p:cNvSpPr/>
          <p:nvPr/>
        </p:nvSpPr>
        <p:spPr>
          <a:xfrm>
            <a:off x="4673600" y="4518025"/>
            <a:ext cx="1130201" cy="428625"/>
          </a:xfrm>
          <a:prstGeom prst="roundRect">
            <a:avLst>
              <a:gd name="adj" fmla="val 20741"/>
            </a:avLst>
          </a:prstGeom>
          <a:solidFill>
            <a:srgbClr val="FFAB19"/>
          </a:solidFill>
          <a:ln/>
        </p:spPr>
      </p:sp>
      <p:sp>
        <p:nvSpPr>
          <p:cNvPr id="12" name="Text 10"/>
          <p:cNvSpPr/>
          <p:nvPr/>
        </p:nvSpPr>
        <p:spPr>
          <a:xfrm>
            <a:off x="4832350" y="4613275"/>
            <a:ext cx="86350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stop [all]</a:t>
            </a:r>
            <a:endParaRPr lang="en-US" sz="1500" dirty="0"/>
          </a:p>
        </p:txBody>
      </p:sp>
      <p:sp>
        <p:nvSpPr>
          <p:cNvPr id="13" name="Shape 11"/>
          <p:cNvSpPr/>
          <p:nvPr/>
        </p:nvSpPr>
        <p:spPr>
          <a:xfrm>
            <a:off x="4673600" y="4946650"/>
            <a:ext cx="2641600" cy="428625"/>
          </a:xfrm>
          <a:prstGeom prst="roundRect">
            <a:avLst>
              <a:gd name="adj" fmla="val 40000"/>
            </a:avLst>
          </a:prstGeom>
          <a:solidFill>
            <a:srgbClr val="FFBF00"/>
          </a:solidFill>
          <a:ln/>
        </p:spPr>
      </p:sp>
      <p:sp>
        <p:nvSpPr>
          <p:cNvPr id="14" name="Text 12"/>
          <p:cNvSpPr/>
          <p:nvPr/>
        </p:nvSpPr>
        <p:spPr>
          <a:xfrm>
            <a:off x="4832350" y="5041900"/>
            <a:ext cx="2393823"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when I receive [gameover]</a:t>
            </a:r>
            <a:endParaRPr lang="en-US" sz="1500" dirty="0"/>
          </a:p>
        </p:txBody>
      </p:sp>
      <p:sp>
        <p:nvSpPr>
          <p:cNvPr id="15" name="Shape 13"/>
          <p:cNvSpPr/>
          <p:nvPr/>
        </p:nvSpPr>
        <p:spPr>
          <a:xfrm>
            <a:off x="4673600" y="5413375"/>
            <a:ext cx="695127" cy="428625"/>
          </a:xfrm>
          <a:prstGeom prst="roundRect">
            <a:avLst>
              <a:gd name="adj" fmla="val 20741"/>
            </a:avLst>
          </a:prstGeom>
          <a:solidFill>
            <a:srgbClr val="774DCB"/>
          </a:solidFill>
          <a:ln/>
        </p:spPr>
      </p:sp>
      <p:sp>
        <p:nvSpPr>
          <p:cNvPr id="16" name="Text 14"/>
          <p:cNvSpPr/>
          <p:nvPr/>
        </p:nvSpPr>
        <p:spPr>
          <a:xfrm>
            <a:off x="4832350" y="5508625"/>
            <a:ext cx="428427"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hide</a:t>
            </a:r>
            <a:endParaRPr lang="en-US" sz="1500" dirty="0"/>
          </a:p>
        </p:txBody>
      </p:sp>
      <p:sp>
        <p:nvSpPr>
          <p:cNvPr id="17" name="Text 15"/>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6</a:t>
            </a:r>
            <a:endParaRPr lang="en-US" sz="1200" dirty="0"/>
          </a:p>
        </p:txBody>
      </p:sp>
      <p:pic>
        <p:nvPicPr>
          <p:cNvPr id="18"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BUILD STEP 3 · IF THERE'S TIME</a:t>
            </a:r>
            <a:endParaRPr lang="en-US" sz="1300" dirty="0"/>
          </a:p>
        </p:txBody>
      </p:sp>
      <p:sp>
        <p:nvSpPr>
          <p:cNvPr id="3" name="Text 1"/>
          <p:cNvSpPr/>
          <p:nvPr/>
        </p:nvSpPr>
        <p:spPr>
          <a:xfrm>
            <a:off x="812800" y="1685032"/>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A start screen</a:t>
            </a:r>
            <a:endParaRPr lang="en-US" sz="3600" dirty="0"/>
          </a:p>
        </p:txBody>
      </p:sp>
      <p:sp>
        <p:nvSpPr>
          <p:cNvPr id="4" name="Text 2"/>
          <p:cNvSpPr/>
          <p:nvPr/>
        </p:nvSpPr>
        <p:spPr>
          <a:xfrm>
            <a:off x="812800" y="2819797"/>
            <a:ext cx="3662680" cy="3047603"/>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Paint a </a:t>
            </a:r>
            <a:r>
              <a:rPr lang="en-US" sz="1700" b="1" dirty="0">
                <a:solidFill>
                  <a:srgbClr val="5C4A46"/>
                </a:solidFill>
                <a:latin typeface="Nunito Sans" pitchFamily="34" charset="0"/>
                <a:ea typeface="Nunito Sans" pitchFamily="34" charset="-122"/>
                <a:cs typeface="Nunito Sans" pitchFamily="34" charset="-120"/>
              </a:rPr>
              <a:t>Title</a:t>
            </a:r>
            <a:r>
              <a:rPr lang="en-US" sz="1700" dirty="0">
                <a:solidFill>
                  <a:srgbClr val="5C4A46"/>
                </a:solidFill>
                <a:latin typeface="Nunito Sans" pitchFamily="34" charset="0"/>
                <a:ea typeface="Nunito Sans" pitchFamily="34" charset="-122"/>
                <a:cs typeface="Nunito Sans" pitchFamily="34" charset="-120"/>
              </a:rPr>
              <a:t> backdrop with your game's name on it.</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Then move everything that was under </a:t>
            </a:r>
            <a:r>
              <a:rPr lang="en-US" sz="1700" b="1" dirty="0">
                <a:solidFill>
                  <a:srgbClr val="5C4A46"/>
                </a:solidFill>
                <a:latin typeface="Nunito Sans" pitchFamily="34" charset="0"/>
                <a:ea typeface="Nunito Sans" pitchFamily="34" charset="-122"/>
                <a:cs typeface="Nunito Sans" pitchFamily="34" charset="-120"/>
              </a:rPr>
              <a:t>when green flag clicked</a:t>
            </a:r>
            <a:r>
              <a:rPr lang="en-US" sz="1700" dirty="0">
                <a:solidFill>
                  <a:srgbClr val="5C4A46"/>
                </a:solidFill>
                <a:latin typeface="Nunito Sans" pitchFamily="34" charset="0"/>
                <a:ea typeface="Nunito Sans" pitchFamily="34" charset="-122"/>
                <a:cs typeface="Nunito Sans" pitchFamily="34" charset="-120"/>
              </a:rPr>
              <a:t> so it sits under </a:t>
            </a:r>
            <a:r>
              <a:rPr lang="en-US" sz="1700" b="1" dirty="0">
                <a:solidFill>
                  <a:srgbClr val="5C4A46"/>
                </a:solidFill>
                <a:latin typeface="Nunito Sans" pitchFamily="34" charset="0"/>
                <a:ea typeface="Nunito Sans" pitchFamily="34" charset="-122"/>
                <a:cs typeface="Nunito Sans" pitchFamily="34" charset="-120"/>
              </a:rPr>
              <a:t>when I receive [startgame]</a:t>
            </a:r>
            <a:r>
              <a:rPr lang="en-US" sz="1700" dirty="0">
                <a:solidFill>
                  <a:srgbClr val="5C4A46"/>
                </a:solidFill>
                <a:latin typeface="Nunito Sans" pitchFamily="34" charset="0"/>
                <a:ea typeface="Nunito Sans" pitchFamily="34" charset="-122"/>
                <a:cs typeface="Nunito Sans" pitchFamily="34" charset="-120"/>
              </a:rPr>
              <a:t> instead.</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The green flag no longer starts your game. It starts your </a:t>
            </a:r>
            <a:r>
              <a:rPr lang="en-US" sz="1700" b="1" dirty="0">
                <a:solidFill>
                  <a:srgbClr val="5C4A46"/>
                </a:solidFill>
                <a:latin typeface="Nunito Sans" pitchFamily="34" charset="0"/>
                <a:ea typeface="Nunito Sans" pitchFamily="34" charset="-122"/>
                <a:cs typeface="Nunito Sans" pitchFamily="34" charset="-120"/>
              </a:rPr>
              <a:t>title screen</a:t>
            </a:r>
            <a:r>
              <a:rPr lang="en-US" sz="1700" dirty="0">
                <a:solidFill>
                  <a:srgbClr val="5C4A46"/>
                </a:solidFill>
                <a:latin typeface="Nunito Sans" pitchFamily="34" charset="0"/>
                <a:ea typeface="Nunito Sans" pitchFamily="34" charset="-122"/>
                <a:cs typeface="Nunito Sans" pitchFamily="34" charset="-120"/>
              </a:rPr>
              <a:t>.</a:t>
            </a:r>
            <a:endParaRPr lang="en-US" sz="1700" dirty="0"/>
          </a:p>
        </p:txBody>
      </p:sp>
      <p:sp>
        <p:nvSpPr>
          <p:cNvPr id="5" name="Shape 3"/>
          <p:cNvSpPr/>
          <p:nvPr/>
        </p:nvSpPr>
        <p:spPr>
          <a:xfrm>
            <a:off x="4673600" y="2819797"/>
            <a:ext cx="2257227" cy="400050"/>
          </a:xfrm>
          <a:prstGeom prst="roundRect">
            <a:avLst>
              <a:gd name="adj" fmla="val 39683"/>
            </a:avLst>
          </a:prstGeom>
          <a:solidFill>
            <a:srgbClr val="FFBF00"/>
          </a:solidFill>
          <a:ln/>
        </p:spPr>
      </p:sp>
      <p:sp>
        <p:nvSpPr>
          <p:cNvPr id="6" name="Text 4"/>
          <p:cNvSpPr/>
          <p:nvPr/>
        </p:nvSpPr>
        <p:spPr>
          <a:xfrm>
            <a:off x="4819650" y="2908697"/>
            <a:ext cx="202408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when green flag clicked</a:t>
            </a:r>
            <a:endParaRPr lang="en-US" sz="1400" dirty="0"/>
          </a:p>
        </p:txBody>
      </p:sp>
      <p:sp>
        <p:nvSpPr>
          <p:cNvPr id="7" name="Shape 5"/>
          <p:cNvSpPr/>
          <p:nvPr/>
        </p:nvSpPr>
        <p:spPr>
          <a:xfrm>
            <a:off x="4673600" y="3257947"/>
            <a:ext cx="2416175" cy="400050"/>
          </a:xfrm>
          <a:prstGeom prst="roundRect">
            <a:avLst>
              <a:gd name="adj" fmla="val 22222"/>
            </a:avLst>
          </a:prstGeom>
          <a:solidFill>
            <a:srgbClr val="774DCB"/>
          </a:solidFill>
          <a:ln/>
        </p:spPr>
      </p:sp>
      <p:sp>
        <p:nvSpPr>
          <p:cNvPr id="8" name="Text 6"/>
          <p:cNvSpPr/>
          <p:nvPr/>
        </p:nvSpPr>
        <p:spPr>
          <a:xfrm>
            <a:off x="4819650" y="3346847"/>
            <a:ext cx="2187797"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Nunito Sans" pitchFamily="34" charset="0"/>
                <a:ea typeface="Nunito Sans" pitchFamily="34" charset="-122"/>
                <a:cs typeface="Nunito Sans" pitchFamily="34" charset="-120"/>
              </a:rPr>
              <a:t>switch backdrop to [Title]</a:t>
            </a:r>
            <a:endParaRPr lang="en-US" sz="1400" dirty="0"/>
          </a:p>
        </p:txBody>
      </p:sp>
      <p:sp>
        <p:nvSpPr>
          <p:cNvPr id="9" name="Shape 7"/>
          <p:cNvSpPr/>
          <p:nvPr/>
        </p:nvSpPr>
        <p:spPr>
          <a:xfrm>
            <a:off x="4673600" y="3696097"/>
            <a:ext cx="2029619" cy="400050"/>
          </a:xfrm>
          <a:prstGeom prst="roundRect">
            <a:avLst>
              <a:gd name="adj" fmla="val 22222"/>
            </a:avLst>
          </a:prstGeom>
          <a:solidFill>
            <a:srgbClr val="774DCB"/>
          </a:solidFill>
          <a:ln/>
        </p:spPr>
      </p:sp>
      <p:sp>
        <p:nvSpPr>
          <p:cNvPr id="10" name="Text 8"/>
          <p:cNvSpPr/>
          <p:nvPr/>
        </p:nvSpPr>
        <p:spPr>
          <a:xfrm>
            <a:off x="4819650" y="3784997"/>
            <a:ext cx="1789644"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FFFFF"/>
                </a:solidFill>
                <a:latin typeface="Nunito Sans" pitchFamily="34" charset="0"/>
                <a:ea typeface="Nunito Sans" pitchFamily="34" charset="-122"/>
                <a:cs typeface="Nunito Sans" pitchFamily="34" charset="-120"/>
              </a:rPr>
              <a:t>say [Press S to start]</a:t>
            </a:r>
            <a:endParaRPr lang="en-US" sz="1400" dirty="0"/>
          </a:p>
        </p:txBody>
      </p:sp>
      <p:sp>
        <p:nvSpPr>
          <p:cNvPr id="11" name="Shape 9"/>
          <p:cNvSpPr/>
          <p:nvPr/>
        </p:nvSpPr>
        <p:spPr>
          <a:xfrm>
            <a:off x="4673600" y="4096147"/>
            <a:ext cx="2034778" cy="400050"/>
          </a:xfrm>
          <a:prstGeom prst="roundRect">
            <a:avLst>
              <a:gd name="adj" fmla="val 39683"/>
            </a:avLst>
          </a:prstGeom>
          <a:solidFill>
            <a:srgbClr val="FFBF00"/>
          </a:solidFill>
          <a:ln/>
        </p:spPr>
      </p:sp>
      <p:sp>
        <p:nvSpPr>
          <p:cNvPr id="12" name="Text 10"/>
          <p:cNvSpPr/>
          <p:nvPr/>
        </p:nvSpPr>
        <p:spPr>
          <a:xfrm>
            <a:off x="4819650" y="4185047"/>
            <a:ext cx="1794958"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when [s] key pressed</a:t>
            </a:r>
            <a:endParaRPr lang="en-US" sz="1400" dirty="0"/>
          </a:p>
        </p:txBody>
      </p:sp>
      <p:sp>
        <p:nvSpPr>
          <p:cNvPr id="13" name="Shape 11"/>
          <p:cNvSpPr/>
          <p:nvPr/>
        </p:nvSpPr>
        <p:spPr>
          <a:xfrm>
            <a:off x="4673600" y="4534297"/>
            <a:ext cx="2130822" cy="400050"/>
          </a:xfrm>
          <a:prstGeom prst="roundRect">
            <a:avLst>
              <a:gd name="adj" fmla="val 22222"/>
            </a:avLst>
          </a:prstGeom>
          <a:solidFill>
            <a:srgbClr val="FFBF00"/>
          </a:solidFill>
          <a:ln/>
        </p:spPr>
      </p:sp>
      <p:sp>
        <p:nvSpPr>
          <p:cNvPr id="14" name="Text 12"/>
          <p:cNvSpPr/>
          <p:nvPr/>
        </p:nvSpPr>
        <p:spPr>
          <a:xfrm>
            <a:off x="4819650" y="4623197"/>
            <a:ext cx="1893884"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A1206"/>
                </a:solidFill>
                <a:latin typeface="Nunito Sans" pitchFamily="34" charset="0"/>
                <a:ea typeface="Nunito Sans" pitchFamily="34" charset="-122"/>
                <a:cs typeface="Nunito Sans" pitchFamily="34" charset="-120"/>
              </a:rPr>
              <a:t>broadcast [startgame]</a:t>
            </a:r>
            <a:endParaRPr lang="en-US" sz="1400" dirty="0"/>
          </a:p>
        </p:txBody>
      </p:sp>
      <p:sp>
        <p:nvSpPr>
          <p:cNvPr id="15" name="Text 13"/>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6</a:t>
            </a:r>
            <a:endParaRPr lang="en-US" sz="1200" dirty="0"/>
          </a:p>
        </p:txBody>
      </p:sp>
      <p:pic>
        <p:nvPicPr>
          <p:cNvPr id="1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DEBUGGING</a:t>
            </a:r>
            <a:endParaRPr lang="en-US" sz="1300" dirty="0"/>
          </a:p>
        </p:txBody>
      </p:sp>
      <p:sp>
        <p:nvSpPr>
          <p:cNvPr id="3" name="Text 1"/>
          <p:cNvSpPr/>
          <p:nvPr/>
        </p:nvSpPr>
        <p:spPr>
          <a:xfrm>
            <a:off x="812800" y="1618059"/>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Stuck? Check these first</a:t>
            </a:r>
            <a:endParaRPr lang="en-US" sz="4000" dirty="0"/>
          </a:p>
        </p:txBody>
      </p:sp>
      <p:sp>
        <p:nvSpPr>
          <p:cNvPr id="4" name="Shape 2"/>
          <p:cNvSpPr/>
          <p:nvPr/>
        </p:nvSpPr>
        <p:spPr>
          <a:xfrm>
            <a:off x="819150" y="2747070"/>
            <a:ext cx="5168900" cy="1578570"/>
          </a:xfrm>
          <a:prstGeom prst="roundRect">
            <a:avLst>
              <a:gd name="adj" fmla="val 8448"/>
            </a:avLst>
          </a:prstGeom>
          <a:solidFill>
            <a:srgbClr val="FFFCF4"/>
          </a:solidFill>
          <a:ln w="12700">
            <a:solidFill>
              <a:srgbClr val="E4D7BE"/>
            </a:solidFill>
            <a:prstDash val="solid"/>
          </a:ln>
        </p:spPr>
      </p:sp>
      <p:sp>
        <p:nvSpPr>
          <p:cNvPr id="5" name="Text 3"/>
          <p:cNvSpPr/>
          <p:nvPr/>
        </p:nvSpPr>
        <p:spPr>
          <a:xfrm>
            <a:off x="1054100" y="298202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"My broadcast does nothing"</a:t>
            </a:r>
            <a:endParaRPr lang="en-US" sz="1700" dirty="0"/>
          </a:p>
        </p:txBody>
      </p:sp>
      <p:sp>
        <p:nvSpPr>
          <p:cNvPr id="6" name="Text 4"/>
          <p:cNvSpPr/>
          <p:nvPr/>
        </p:nvSpPr>
        <p:spPr>
          <a:xfrm>
            <a:off x="1054100" y="331728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Message name typo, or two near-identical messages in the dropdown. Always pick from the dropdown.</a:t>
            </a:r>
            <a:endParaRPr lang="en-US" sz="1500" dirty="0"/>
          </a:p>
        </p:txBody>
      </p:sp>
      <p:sp>
        <p:nvSpPr>
          <p:cNvPr id="7" name="Shape 5"/>
          <p:cNvSpPr/>
          <p:nvPr/>
        </p:nvSpPr>
        <p:spPr>
          <a:xfrm>
            <a:off x="6203950" y="2747070"/>
            <a:ext cx="5168900" cy="1578570"/>
          </a:xfrm>
          <a:prstGeom prst="roundRect">
            <a:avLst>
              <a:gd name="adj" fmla="val 8448"/>
            </a:avLst>
          </a:prstGeom>
          <a:solidFill>
            <a:srgbClr val="FFFCF4"/>
          </a:solidFill>
          <a:ln w="12700">
            <a:solidFill>
              <a:srgbClr val="E4D7BE"/>
            </a:solidFill>
            <a:prstDash val="solid"/>
          </a:ln>
        </p:spPr>
      </p:sp>
      <p:sp>
        <p:nvSpPr>
          <p:cNvPr id="8" name="Text 6"/>
          <p:cNvSpPr/>
          <p:nvPr/>
        </p:nvSpPr>
        <p:spPr>
          <a:xfrm>
            <a:off x="6438900" y="2982020"/>
            <a:ext cx="4839970" cy="54352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"My sprites are frozen on the Game Over screen"</a:t>
            </a:r>
            <a:endParaRPr lang="en-US" sz="1700" dirty="0"/>
          </a:p>
        </p:txBody>
      </p:sp>
      <p:sp>
        <p:nvSpPr>
          <p:cNvPr id="9" name="Text 7"/>
          <p:cNvSpPr/>
          <p:nvPr/>
        </p:nvSpPr>
        <p:spPr>
          <a:xfrm>
            <a:off x="6438900" y="357634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stop all ran before the hide scripts did. Put a wait 0.1 before the stop all.</a:t>
            </a:r>
            <a:endParaRPr lang="en-US" sz="1500" dirty="0"/>
          </a:p>
        </p:txBody>
      </p:sp>
      <p:sp>
        <p:nvSpPr>
          <p:cNvPr id="10" name="Shape 8"/>
          <p:cNvSpPr/>
          <p:nvPr/>
        </p:nvSpPr>
        <p:spPr>
          <a:xfrm>
            <a:off x="819150" y="4516140"/>
            <a:ext cx="5168900" cy="1319510"/>
          </a:xfrm>
          <a:prstGeom prst="roundRect">
            <a:avLst>
              <a:gd name="adj" fmla="val 10106"/>
            </a:avLst>
          </a:prstGeom>
          <a:solidFill>
            <a:srgbClr val="FFFCF4"/>
          </a:solidFill>
          <a:ln w="12700">
            <a:solidFill>
              <a:srgbClr val="E4D7BE"/>
            </a:solidFill>
            <a:prstDash val="solid"/>
          </a:ln>
        </p:spPr>
      </p:sp>
      <p:sp>
        <p:nvSpPr>
          <p:cNvPr id="11" name="Text 9"/>
          <p:cNvSpPr/>
          <p:nvPr/>
        </p:nvSpPr>
        <p:spPr>
          <a:xfrm>
            <a:off x="1054100" y="475109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"Everything is invisible when I restart"</a:t>
            </a:r>
            <a:endParaRPr lang="en-US" sz="1700" dirty="0"/>
          </a:p>
        </p:txBody>
      </p:sp>
      <p:sp>
        <p:nvSpPr>
          <p:cNvPr id="12" name="Text 10"/>
          <p:cNvSpPr/>
          <p:nvPr/>
        </p:nvSpPr>
        <p:spPr>
          <a:xfrm>
            <a:off x="1054100" y="508635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They were hidden at game over and never shown again. Add show under the start.</a:t>
            </a:r>
            <a:endParaRPr lang="en-US" sz="1500" dirty="0"/>
          </a:p>
        </p:txBody>
      </p:sp>
      <p:sp>
        <p:nvSpPr>
          <p:cNvPr id="13" name="Shape 11"/>
          <p:cNvSpPr/>
          <p:nvPr/>
        </p:nvSpPr>
        <p:spPr>
          <a:xfrm>
            <a:off x="6203950" y="4516140"/>
            <a:ext cx="5168900" cy="1319510"/>
          </a:xfrm>
          <a:prstGeom prst="roundRect">
            <a:avLst>
              <a:gd name="adj" fmla="val 10106"/>
            </a:avLst>
          </a:prstGeom>
          <a:solidFill>
            <a:srgbClr val="FFFCF4"/>
          </a:solidFill>
          <a:ln w="12700">
            <a:solidFill>
              <a:srgbClr val="E4D7BE"/>
            </a:solidFill>
            <a:prstDash val="solid"/>
          </a:ln>
        </p:spPr>
      </p:sp>
      <p:sp>
        <p:nvSpPr>
          <p:cNvPr id="14" name="Text 12"/>
          <p:cNvSpPr/>
          <p:nvPr/>
        </p:nvSpPr>
        <p:spPr>
          <a:xfrm>
            <a:off x="6438900" y="475109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"Lives goes to minus one, minus two..."</a:t>
            </a:r>
            <a:endParaRPr lang="en-US" sz="1700" dirty="0"/>
          </a:p>
        </p:txBody>
      </p:sp>
      <p:sp>
        <p:nvSpPr>
          <p:cNvPr id="15" name="Text 13"/>
          <p:cNvSpPr/>
          <p:nvPr/>
        </p:nvSpPr>
        <p:spPr>
          <a:xfrm>
            <a:off x="6438900" y="508635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if lives = 0 missed the exact moment. Use if lives &lt; 1 instead.</a:t>
            </a:r>
            <a:endParaRPr lang="en-US" sz="150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6</a:t>
            </a:r>
            <a:endParaRPr lang="en-US" sz="1200" dirty="0"/>
          </a:p>
        </p:txBody>
      </p:sp>
      <p:pic>
        <p:nvPicPr>
          <p:cNvPr id="1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BEFORE YOU GO</a:t>
            </a:r>
            <a:endParaRPr lang="en-US" sz="1300" dirty="0"/>
          </a:p>
        </p:txBody>
      </p:sp>
      <p:sp>
        <p:nvSpPr>
          <p:cNvPr id="3" name="Text 1"/>
          <p:cNvSpPr/>
          <p:nvPr/>
        </p:nvSpPr>
        <p:spPr>
          <a:xfrm>
            <a:off x="812800" y="2479675"/>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Save it. Check the name.</a:t>
            </a:r>
            <a:endParaRPr lang="en-US" sz="4000" dirty="0"/>
          </a:p>
        </p:txBody>
      </p:sp>
      <p:sp>
        <p:nvSpPr>
          <p:cNvPr id="4" name="Shape 2"/>
          <p:cNvSpPr/>
          <p:nvPr/>
        </p:nvSpPr>
        <p:spPr>
          <a:xfrm>
            <a:off x="819150" y="4470400"/>
            <a:ext cx="3373934" cy="1365250"/>
          </a:xfrm>
          <a:prstGeom prst="roundRect">
            <a:avLst>
              <a:gd name="adj" fmla="val 9767"/>
            </a:avLst>
          </a:prstGeom>
          <a:solidFill>
            <a:srgbClr val="FFFCF4"/>
          </a:solidFill>
          <a:ln w="12700">
            <a:solidFill>
              <a:srgbClr val="E4D7BE"/>
            </a:solidFill>
            <a:prstDash val="solid"/>
          </a:ln>
        </p:spPr>
      </p:sp>
      <p:sp>
        <p:nvSpPr>
          <p:cNvPr id="5" name="Text 3"/>
          <p:cNvSpPr/>
          <p:nvPr/>
        </p:nvSpPr>
        <p:spPr>
          <a:xfrm>
            <a:off x="1054100" y="4705350"/>
            <a:ext cx="299115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B3A"/>
                </a:solidFill>
                <a:latin typeface="Fredoka" pitchFamily="34" charset="0"/>
                <a:ea typeface="Fredoka" pitchFamily="34" charset="-122"/>
                <a:cs typeface="Fredoka" pitchFamily="34" charset="-120"/>
              </a:rPr>
              <a:t>1 — Save now</a:t>
            </a:r>
            <a:endParaRPr lang="en-US" sz="2000" dirty="0"/>
          </a:p>
        </p:txBody>
      </p:sp>
      <p:sp>
        <p:nvSpPr>
          <p:cNvPr id="6" name="Text 4"/>
          <p:cNvSpPr/>
          <p:nvPr/>
        </p:nvSpPr>
        <p:spPr>
          <a:xfrm>
            <a:off x="1054100" y="5086350"/>
            <a:ext cx="2991155"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File → Save now. Watch for the message that says it saved.</a:t>
            </a:r>
            <a:endParaRPr lang="en-US" sz="1500" dirty="0"/>
          </a:p>
        </p:txBody>
      </p:sp>
      <p:sp>
        <p:nvSpPr>
          <p:cNvPr id="7" name="Shape 5"/>
          <p:cNvSpPr/>
          <p:nvPr/>
        </p:nvSpPr>
        <p:spPr>
          <a:xfrm>
            <a:off x="4408984" y="4470400"/>
            <a:ext cx="3374033" cy="1365250"/>
          </a:xfrm>
          <a:prstGeom prst="roundRect">
            <a:avLst>
              <a:gd name="adj" fmla="val 9767"/>
            </a:avLst>
          </a:prstGeom>
          <a:solidFill>
            <a:srgbClr val="FFFCF4"/>
          </a:solidFill>
          <a:ln w="12700">
            <a:solidFill>
              <a:srgbClr val="E4D7BE"/>
            </a:solidFill>
            <a:prstDash val="solid"/>
          </a:ln>
        </p:spPr>
      </p:sp>
      <p:sp>
        <p:nvSpPr>
          <p:cNvPr id="8" name="Text 6"/>
          <p:cNvSpPr/>
          <p:nvPr/>
        </p:nvSpPr>
        <p:spPr>
          <a:xfrm>
            <a:off x="4643934" y="4705350"/>
            <a:ext cx="299125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B3A"/>
                </a:solidFill>
                <a:latin typeface="Fredoka" pitchFamily="34" charset="0"/>
                <a:ea typeface="Fredoka" pitchFamily="34" charset="-122"/>
                <a:cs typeface="Fredoka" pitchFamily="34" charset="-120"/>
              </a:rPr>
              <a:t>2 — Check the name</a:t>
            </a:r>
            <a:endParaRPr lang="en-US" sz="2000" dirty="0"/>
          </a:p>
        </p:txBody>
      </p:sp>
      <p:sp>
        <p:nvSpPr>
          <p:cNvPr id="9" name="Text 7"/>
          <p:cNvSpPr/>
          <p:nvPr/>
        </p:nvSpPr>
        <p:spPr>
          <a:xfrm>
            <a:off x="4643934" y="5086350"/>
            <a:ext cx="299125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The name at the top should still say </a:t>
            </a:r>
            <a:r>
              <a:rPr lang="en-US" sz="1500" b="1" dirty="0">
                <a:solidFill>
                  <a:srgbClr val="5C4A46"/>
                </a:solidFill>
                <a:latin typeface="Nunito Sans" pitchFamily="34" charset="0"/>
                <a:ea typeface="Nunito Sans" pitchFamily="34" charset="-122"/>
                <a:cs typeface="Nunito Sans" pitchFamily="34" charset="-120"/>
              </a:rPr>
              <a:t>Sky Catcher — your name</a:t>
            </a:r>
            <a:r>
              <a:rPr lang="en-US" sz="1500" dirty="0">
                <a:solidFill>
                  <a:srgbClr val="5C4A46"/>
                </a:solidFill>
                <a:latin typeface="Nunito Sans" pitchFamily="34" charset="0"/>
                <a:ea typeface="Nunito Sans" pitchFamily="34" charset="-122"/>
                <a:cs typeface="Nunito Sans" pitchFamily="34" charset="-120"/>
              </a:rPr>
              <a:t>.</a:t>
            </a:r>
            <a:endParaRPr lang="en-US" sz="1500" dirty="0"/>
          </a:p>
        </p:txBody>
      </p:sp>
      <p:sp>
        <p:nvSpPr>
          <p:cNvPr id="10" name="Shape 8"/>
          <p:cNvSpPr/>
          <p:nvPr/>
        </p:nvSpPr>
        <p:spPr>
          <a:xfrm>
            <a:off x="7998916" y="4470400"/>
            <a:ext cx="3373934" cy="1365250"/>
          </a:xfrm>
          <a:prstGeom prst="roundRect">
            <a:avLst>
              <a:gd name="adj" fmla="val 9767"/>
            </a:avLst>
          </a:prstGeom>
          <a:solidFill>
            <a:srgbClr val="FFFCF4"/>
          </a:solidFill>
          <a:ln w="12700">
            <a:solidFill>
              <a:srgbClr val="E4D7BE"/>
            </a:solidFill>
            <a:prstDash val="solid"/>
          </a:ln>
        </p:spPr>
      </p:sp>
      <p:sp>
        <p:nvSpPr>
          <p:cNvPr id="11" name="Text 9"/>
          <p:cNvSpPr/>
          <p:nvPr/>
        </p:nvSpPr>
        <p:spPr>
          <a:xfrm>
            <a:off x="8233866" y="4705350"/>
            <a:ext cx="299115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B3A"/>
                </a:solidFill>
                <a:latin typeface="Fredoka" pitchFamily="34" charset="0"/>
                <a:ea typeface="Fredoka" pitchFamily="34" charset="-122"/>
                <a:cs typeface="Fredoka" pitchFamily="34" charset="-120"/>
              </a:rPr>
              <a:t>3 — Play a whole game</a:t>
            </a:r>
            <a:endParaRPr lang="en-US" sz="2000" dirty="0"/>
          </a:p>
        </p:txBody>
      </p:sp>
      <p:sp>
        <p:nvSpPr>
          <p:cNvPr id="12" name="Text 10"/>
          <p:cNvSpPr/>
          <p:nvPr/>
        </p:nvSpPr>
        <p:spPr>
          <a:xfrm>
            <a:off x="8233866" y="5086350"/>
            <a:ext cx="2991155"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Start to game over, once through, before you close the lid.</a:t>
            </a:r>
            <a:endParaRPr lang="en-US" sz="150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6</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HOMEWORK · NEVER MARKED, NEVER CHASED</a:t>
            </a:r>
            <a:endParaRPr lang="en-US" sz="1300" dirty="0"/>
          </a:p>
        </p:txBody>
      </p:sp>
      <p:sp>
        <p:nvSpPr>
          <p:cNvPr id="3" name="Text 1"/>
          <p:cNvSpPr/>
          <p:nvPr/>
        </p:nvSpPr>
        <p:spPr>
          <a:xfrm>
            <a:off x="812800" y="2164457"/>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Two things to try at home</a:t>
            </a:r>
            <a:endParaRPr lang="en-US" sz="4000" dirty="0"/>
          </a:p>
        </p:txBody>
      </p:sp>
      <p:sp>
        <p:nvSpPr>
          <p:cNvPr id="4" name="Shape 2"/>
          <p:cNvSpPr/>
          <p:nvPr/>
        </p:nvSpPr>
        <p:spPr>
          <a:xfrm>
            <a:off x="819150" y="3839865"/>
            <a:ext cx="5168900" cy="1995785"/>
          </a:xfrm>
          <a:prstGeom prst="roundRect">
            <a:avLst>
              <a:gd name="adj" fmla="val 6682"/>
            </a:avLst>
          </a:prstGeom>
          <a:solidFill>
            <a:srgbClr val="FFFCF4"/>
          </a:solidFill>
          <a:ln w="12700">
            <a:solidFill>
              <a:srgbClr val="E4D7BE"/>
            </a:solidFill>
            <a:prstDash val="solid"/>
          </a:ln>
        </p:spPr>
      </p:sp>
      <p:sp>
        <p:nvSpPr>
          <p:cNvPr id="5" name="Text 3"/>
          <p:cNvSpPr/>
          <p:nvPr/>
        </p:nvSpPr>
        <p:spPr>
          <a:xfrm>
            <a:off x="1054100" y="4074815"/>
            <a:ext cx="4839970"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8A6712"/>
                </a:solidFill>
                <a:latin typeface="Nunito Sans" pitchFamily="34" charset="0"/>
                <a:ea typeface="Nunito Sans" pitchFamily="34" charset="-122"/>
                <a:cs typeface="Nunito Sans" pitchFamily="34" charset="-120"/>
              </a:rPr>
              <a:t>1</a:t>
            </a:r>
            <a:endParaRPr lang="en-US" sz="1500" dirty="0"/>
          </a:p>
        </p:txBody>
      </p:sp>
      <p:sp>
        <p:nvSpPr>
          <p:cNvPr id="6" name="Text 4"/>
          <p:cNvSpPr/>
          <p:nvPr/>
        </p:nvSpPr>
        <p:spPr>
          <a:xfrm>
            <a:off x="1054100" y="4417715"/>
            <a:ext cx="4839970" cy="332085"/>
          </a:xfrm>
          <a:prstGeom prst="rect">
            <a:avLst/>
          </a:prstGeom>
          <a:noFill/>
          <a:ln/>
        </p:spPr>
        <p:txBody>
          <a:bodyPr wrap="square" lIns="0" tIns="0" rIns="0" bIns="0" rtlCol="0" anchor="t">
            <a:normAutofit/>
          </a:bodyPr>
          <a:lstStyle/>
          <a:p>
            <a:pPr algn="l" indent="0" marL="0">
              <a:lnSpc>
                <a:spcPts val="2415"/>
              </a:lnSpc>
              <a:buNone/>
            </a:pPr>
            <a:r>
              <a:rPr lang="en-US" sz="2100" b="1" dirty="0">
                <a:solidFill>
                  <a:srgbClr val="2E1015"/>
                </a:solidFill>
                <a:latin typeface="Fredoka" pitchFamily="34" charset="0"/>
                <a:ea typeface="Fredoka" pitchFamily="34" charset="-122"/>
                <a:cs typeface="Fredoka" pitchFamily="34" charset="-120"/>
              </a:rPr>
              <a:t>A way to win</a:t>
            </a:r>
            <a:endParaRPr lang="en-US" sz="2100" dirty="0"/>
          </a:p>
        </p:txBody>
      </p:sp>
      <p:sp>
        <p:nvSpPr>
          <p:cNvPr id="7" name="Text 5"/>
          <p:cNvSpPr/>
          <p:nvPr/>
        </p:nvSpPr>
        <p:spPr>
          <a:xfrm>
            <a:off x="1054100" y="4800600"/>
            <a:ext cx="483997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Pick a target score and broadcast a youwin message when the player reaches it, with its own backdrop.</a:t>
            </a:r>
            <a:endParaRPr lang="en-US" sz="1500" dirty="0"/>
          </a:p>
        </p:txBody>
      </p:sp>
      <p:sp>
        <p:nvSpPr>
          <p:cNvPr id="8" name="Shape 6"/>
          <p:cNvSpPr/>
          <p:nvPr/>
        </p:nvSpPr>
        <p:spPr>
          <a:xfrm>
            <a:off x="6203950" y="3839865"/>
            <a:ext cx="5168900" cy="1995785"/>
          </a:xfrm>
          <a:prstGeom prst="roundRect">
            <a:avLst>
              <a:gd name="adj" fmla="val 6682"/>
            </a:avLst>
          </a:prstGeom>
          <a:solidFill>
            <a:srgbClr val="FFFCF4"/>
          </a:solidFill>
          <a:ln w="12700">
            <a:solidFill>
              <a:srgbClr val="E4D7BE"/>
            </a:solidFill>
            <a:prstDash val="solid"/>
          </a:ln>
        </p:spPr>
      </p:sp>
      <p:sp>
        <p:nvSpPr>
          <p:cNvPr id="9" name="Text 7"/>
          <p:cNvSpPr/>
          <p:nvPr/>
        </p:nvSpPr>
        <p:spPr>
          <a:xfrm>
            <a:off x="6438900" y="4074815"/>
            <a:ext cx="4839970"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8A6712"/>
                </a:solidFill>
                <a:latin typeface="Nunito Sans" pitchFamily="34" charset="0"/>
                <a:ea typeface="Nunito Sans" pitchFamily="34" charset="-122"/>
                <a:cs typeface="Nunito Sans" pitchFamily="34" charset="-120"/>
              </a:rPr>
              <a:t>2</a:t>
            </a:r>
            <a:endParaRPr lang="en-US" sz="1500" dirty="0"/>
          </a:p>
        </p:txBody>
      </p:sp>
      <p:sp>
        <p:nvSpPr>
          <p:cNvPr id="10" name="Text 8"/>
          <p:cNvSpPr/>
          <p:nvPr/>
        </p:nvSpPr>
        <p:spPr>
          <a:xfrm>
            <a:off x="6438900" y="4417715"/>
            <a:ext cx="4839970" cy="332085"/>
          </a:xfrm>
          <a:prstGeom prst="rect">
            <a:avLst/>
          </a:prstGeom>
          <a:noFill/>
          <a:ln/>
        </p:spPr>
        <p:txBody>
          <a:bodyPr wrap="square" lIns="0" tIns="0" rIns="0" bIns="0" rtlCol="0" anchor="t">
            <a:normAutofit/>
          </a:bodyPr>
          <a:lstStyle/>
          <a:p>
            <a:pPr algn="l" indent="0" marL="0">
              <a:lnSpc>
                <a:spcPts val="2415"/>
              </a:lnSpc>
              <a:buNone/>
            </a:pPr>
            <a:r>
              <a:rPr lang="en-US" sz="2100" b="1" dirty="0">
                <a:solidFill>
                  <a:srgbClr val="2E1015"/>
                </a:solidFill>
                <a:latin typeface="Fredoka" pitchFamily="34" charset="0"/>
                <a:ea typeface="Fredoka" pitchFamily="34" charset="-122"/>
                <a:cs typeface="Fredoka" pitchFamily="34" charset="-120"/>
              </a:rPr>
              <a:t>Restart</a:t>
            </a:r>
            <a:endParaRPr lang="en-US" sz="2100" dirty="0"/>
          </a:p>
        </p:txBody>
      </p:sp>
      <p:sp>
        <p:nvSpPr>
          <p:cNvPr id="11" name="Text 9"/>
          <p:cNvSpPr/>
          <p:nvPr/>
        </p:nvSpPr>
        <p:spPr>
          <a:xfrm>
            <a:off x="6438900" y="4800600"/>
            <a:ext cx="483997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Add a way to play again without clicking the green flag — a key press or a clickable button that resets the variables and broadcasts startgame.</a:t>
            </a:r>
            <a:endParaRPr lang="en-US" sz="1500" dirty="0"/>
          </a:p>
        </p:txBody>
      </p:sp>
      <p:sp>
        <p:nvSpPr>
          <p:cNvPr id="12" name="Text 10"/>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6</a:t>
            </a:r>
            <a:endParaRPr lang="en-US" sz="1200" dirty="0"/>
          </a:p>
        </p:txBody>
      </p:sp>
      <p:pic>
        <p:nvPicPr>
          <p:cNvPr id="13"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BONUS CHALLENGES · NOBODY HAS TO FINISH THESE</a:t>
            </a:r>
            <a:endParaRPr lang="en-US" sz="1300" dirty="0"/>
          </a:p>
        </p:txBody>
      </p:sp>
      <p:sp>
        <p:nvSpPr>
          <p:cNvPr id="3" name="Text 1"/>
          <p:cNvSpPr/>
          <p:nvPr/>
        </p:nvSpPr>
        <p:spPr>
          <a:xfrm>
            <a:off x="812800" y="259973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If you race ahead</a:t>
            </a:r>
            <a:endParaRPr lang="en-US" sz="4000" dirty="0"/>
          </a:p>
        </p:txBody>
      </p:sp>
      <p:sp>
        <p:nvSpPr>
          <p:cNvPr id="4" name="Text 2"/>
          <p:cNvSpPr/>
          <p:nvPr/>
        </p:nvSpPr>
        <p:spPr>
          <a:xfrm>
            <a:off x="1117600" y="4704159"/>
            <a:ext cx="10569448" cy="1163241"/>
          </a:xfrm>
          <a:prstGeom prst="rect">
            <a:avLst/>
          </a:prstGeom>
          <a:noFill/>
          <a:ln/>
        </p:spPr>
        <p:txBody>
          <a:bodyPr wrap="square" lIns="0" tIns="0" rIns="0" bIns="0" rtlCol="0" anchor="t">
            <a:normAutofit/>
          </a:bodyPr>
          <a:lstStyle/>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Add a 3 — 2 — 1 — GO! countdown between the title screen and the game starting.</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Give each backdrop its own music, starting and stopping on the right broadcasts.</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Add a boss object that only appears once the score passes twenty.</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Try broadcast and wait instead of broadcast somewhere, and work out what's different.</a:t>
            </a:r>
            <a:endParaRPr lang="en-US" sz="1600" dirty="0"/>
          </a:p>
        </p:txBody>
      </p:sp>
      <p:sp>
        <p:nvSpPr>
          <p:cNvPr id="5" name="Text 3"/>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6</a:t>
            </a:r>
            <a:endParaRPr lang="en-US" sz="1200" dirty="0"/>
          </a:p>
        </p:txBody>
      </p:sp>
      <p:pic>
        <p:nvPicPr>
          <p:cNvPr id="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3A121B"/>
        </a:solidFill>
      </p:bgPr>
    </p:bg>
    <p:spTree>
      <p:nvGrpSpPr>
        <p:cNvPr id="1" name=""/>
        <p:cNvGrpSpPr/>
        <p:nvPr/>
      </p:nvGrpSpPr>
      <p:grpSpPr>
        <a:xfrm>
          <a:off x="0" y="0"/>
          <a:ext cx="0" cy="0"/>
          <a:chOff x="0" y="0"/>
          <a:chExt cx="0" cy="0"/>
        </a:xfrm>
      </p:grpSpPr>
      <p:sp>
        <p:nvSpPr>
          <p:cNvPr id="2" name="Text 0"/>
          <p:cNvSpPr/>
          <p:nvPr/>
        </p:nvSpPr>
        <p:spPr>
          <a:xfrm>
            <a:off x="812800" y="214124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9A227"/>
                </a:solidFill>
                <a:latin typeface="Nunito Sans" pitchFamily="34" charset="0"/>
                <a:ea typeface="Nunito Sans" pitchFamily="34" charset="-122"/>
                <a:cs typeface="Nunito Sans" pitchFamily="34" charset="-120"/>
              </a:rPr>
              <a:t>NEXT WEEK</a:t>
            </a:r>
            <a:endParaRPr lang="en-US" sz="1300" dirty="0"/>
          </a:p>
        </p:txBody>
      </p:sp>
      <p:sp>
        <p:nvSpPr>
          <p:cNvPr id="3" name="Text 1"/>
          <p:cNvSpPr/>
          <p:nvPr/>
        </p:nvSpPr>
        <p:spPr>
          <a:xfrm>
            <a:off x="812800" y="2626320"/>
            <a:ext cx="9483725" cy="125472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6E7C8"/>
                </a:solidFill>
                <a:latin typeface="Fredoka" pitchFamily="34" charset="0"/>
                <a:ea typeface="Fredoka" pitchFamily="34" charset="-122"/>
                <a:cs typeface="Fredoka" pitchFamily="34" charset="-120"/>
              </a:rPr>
              <a:t>Next week: it gets harder the better you get.</a:t>
            </a:r>
            <a:endParaRPr lang="en-US" sz="4400" dirty="0"/>
          </a:p>
        </p:txBody>
      </p:sp>
      <p:sp>
        <p:nvSpPr>
          <p:cNvPr id="4" name="Shape 2"/>
          <p:cNvSpPr/>
          <p:nvPr/>
        </p:nvSpPr>
        <p:spPr>
          <a:xfrm>
            <a:off x="812800" y="4109641"/>
            <a:ext cx="1143000" cy="50800"/>
          </a:xfrm>
          <a:prstGeom prst="roundRect">
            <a:avLst>
              <a:gd name="adj" fmla="val 50000"/>
            </a:avLst>
          </a:prstGeom>
          <a:solidFill>
            <a:srgbClr val="C9A227"/>
          </a:solidFill>
          <a:ln/>
        </p:spPr>
      </p:sp>
      <p:sp>
        <p:nvSpPr>
          <p:cNvPr id="5" name="Text 3"/>
          <p:cNvSpPr/>
          <p:nvPr/>
        </p:nvSpPr>
        <p:spPr>
          <a:xfrm>
            <a:off x="812800" y="4414441"/>
            <a:ext cx="78486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49A7E"/>
                </a:solidFill>
                <a:latin typeface="Nunito Sans" pitchFamily="34" charset="0"/>
                <a:ea typeface="Nunito Sans" pitchFamily="34" charset="-122"/>
                <a:cs typeface="Nunito Sans" pitchFamily="34" charset="-120"/>
              </a:rPr>
              <a:t>Save your game. Check the name at the top of the screen.</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Game Makers 6 — Broadcasts and Game Over</dc:title>
  <dc:subject>PptxGenJS Presentation</dc:subject>
  <dc:creator>PptxGenJS</dc:creator>
  <cp:lastModifiedBy>PptxGenJS</cp:lastModifiedBy>
  <cp:revision>1</cp:revision>
  <dcterms:created xsi:type="dcterms:W3CDTF">2026-09-19T12:31:46Z</dcterms:created>
  <dcterms:modified xsi:type="dcterms:W3CDTF">2026-09-19T12:31:46Z</dcterms:modified>
</cp:coreProperties>
</file>