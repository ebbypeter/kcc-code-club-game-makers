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weeks left. Start watching today for anyone whose project is far enough behind that the showcase is at risk, and plan to spend extra floor time with them today and next week. Week 6 skeleton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Last week of building. Point at week 8 and say plainly that next week is polishing, not adding — the grid makes that land better than a sentence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who got the 3-2-1-GO countdown bonus working should definitely present — it is visually satisfying and it will make three more people attempt a bonus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today is the last week for adding anything new. Next week is polishing.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 demo goes next and does the explaining for you. Do not define abstraction — let a nine-year-old arrive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for real with their answers on the board, and wait for someone to say 'do MAKE TEA four times'. Somebody always does, usually within a minute. That is abstraction, arrived at by a nine-year-old, and it beats any definition you could give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shapes, one colour. Green ROUNDED blocks produce a value and go in number holes. Green POINTY blocks ask a question and go in if holes. Point at both on the slide — shape is meaning, same rule as week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build a nested condition: score greater than 10 AND lives greater than 1. Build the whole thing in an empty part of the code area FIRST and then drag the finished assembly into the if — dropping blocks into a tiny slot is fiddly motor work and doing it that way removes most of the frustration. Show them that trick explicitly; it is worth more than the operator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new block in TWO places, then change the definition — 170 to 160 — and show both places changing at once. That is the payoff and they need to see it explicitly, not be told about it. One edit, two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puzzled first, then explain. This catches everyone in the project build, because every falling sprite wants the same reset object block. Show the drag-a-sprite-onto-a-sprite copying trick — it is genuinely useful and most of them have never seen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say at the end is the else arm — in Scratch it sits in the lower mouth of the same orange if/else block, so point at yours on screen. Leave the three questions deliberately ugly and repetitive. Do not tidy it. Activity B is the punchline and it only works if the mess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name their own blocks; it is genuinely the most enjoyable part of the lesson for this age group and a well-named block is a real programming skill. Anyone who finishes early can start making My Blocks in their actual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Last break before the showcase week — mention that if you haven't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after the break, and a fourth if there is time. If someone is badly behind, spend your floor time on them rather than on the difficulty ramp — a working simple game beats a broken ambitious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for speed going so low the game freezes. If they hit it, add a floor: if speed &lt; 0.005 then set speed to 0.005. The condition uses level rather than a fixed number precisely so it only fires once per level — worth pointing out to anyone whose level counter shoots into the hundreds.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show goes in the if, the hide in the else arm of the same orange block — point at yours on screen. If it never appears, check the show and hide are not the wrong way round, which is the usual cause. This is the most popular thing in the whole lesson; several of them will spend the rest of the term tuning the odds.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time they refactor working code purely to make it nicer, which is a real habit worth starting. Be honest that nothing visible changes — the payoff is next time they want to adjust the spawn height. Remember My Blocks belong to one sprite, so each falling sprite needs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volunteer: nesting operator blocks is fiddly MOTOR work, not hard thinking. Children who understand perfectly well will fail to drop a block into a small slot five times and quietly conclude they do not get it. Watch for frustration that is really a mouse problem, and teach the assemble-in-open-space trick.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and back up. Tell them plainly: next week is the showcase, families are coming, and next week is about polishing rather than adding. If there is something they have been meaning to add, this week's homework is the last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third thing, which is not on the homework card but matters more: think about what you will SAY at the showcase. One sentence about what your game is, one about the hardest thing you fixed. Say it out loud to them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clones one is harder than anything else in the course and should be framed that way — create clone of myself, when I start as a clone, delete this clone. Point anyone who wants it at the Raspberry Pi Foundation's Further Scratch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that. It is real, it is soon, and it is the thing that gets them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14845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1608138"/>
            <a:ext cx="7717790" cy="2590006"/>
          </a:xfrm>
          <a:prstGeom prst="rect">
            <a:avLst/>
          </a:prstGeom>
          <a:noFill/>
          <a:ln/>
        </p:spPr>
        <p:txBody>
          <a:bodyPr wrap="square" lIns="0" tIns="0" rIns="0" bIns="0" rtlCol="0" anchor="t">
            <a:normAutofit/>
          </a:bodyPr>
          <a:lstStyle/>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Class 7</a:t>
            </a:r>
            <a:endParaRPr lang="en-US" sz="6600" dirty="0"/>
          </a:p>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Operators, My Blocks and Levels</a:t>
            </a:r>
            <a:endParaRPr lang="en-US" sz="6600" dirty="0"/>
          </a:p>
        </p:txBody>
      </p:sp>
      <p:sp>
        <p:nvSpPr>
          <p:cNvPr id="5" name="Shape 2"/>
          <p:cNvSpPr/>
          <p:nvPr/>
        </p:nvSpPr>
        <p:spPr>
          <a:xfrm>
            <a:off x="812800" y="4401344"/>
            <a:ext cx="1397000" cy="50800"/>
          </a:xfrm>
          <a:prstGeom prst="roundRect">
            <a:avLst>
              <a:gd name="adj" fmla="val 50000"/>
            </a:avLst>
          </a:prstGeom>
          <a:solidFill>
            <a:srgbClr val="C9A227"/>
          </a:solidFill>
          <a:ln/>
        </p:spPr>
      </p:sp>
      <p:sp>
        <p:nvSpPr>
          <p:cNvPr id="6" name="Text 3"/>
          <p:cNvSpPr/>
          <p:nvPr/>
        </p:nvSpPr>
        <p:spPr>
          <a:xfrm>
            <a:off x="812800" y="4680744"/>
            <a:ext cx="7717790" cy="10541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9A7E"/>
                </a:solidFill>
                <a:latin typeface="Nunito Sans" pitchFamily="34" charset="0"/>
                <a:ea typeface="Nunito Sans" pitchFamily="34" charset="-122"/>
                <a:cs typeface="Nunito Sans" pitchFamily="34" charset="-120"/>
              </a:rPr>
              <a:t>You can do maths and ask complicated questions with operators. And when you've written the same blocks three times, you can give that group a name.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SKY CATCHER · WEEK 7 OF 8</a:t>
            </a:r>
            <a:endParaRPr lang="en-US" sz="1300" dirty="0"/>
          </a:p>
        </p:txBody>
      </p:sp>
      <p:sp>
        <p:nvSpPr>
          <p:cNvPr id="3" name="Text 1"/>
          <p:cNvSpPr/>
          <p:nvPr/>
        </p:nvSpPr>
        <p:spPr>
          <a:xfrm>
            <a:off x="812800" y="2102842"/>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Your game, week by week</a:t>
            </a:r>
            <a:endParaRPr lang="en-US" sz="4000" dirty="0"/>
          </a:p>
        </p:txBody>
      </p:sp>
      <p:sp>
        <p:nvSpPr>
          <p:cNvPr id="4" name="Shape 2"/>
          <p:cNvSpPr/>
          <p:nvPr/>
        </p:nvSpPr>
        <p:spPr>
          <a:xfrm>
            <a:off x="819150" y="3716734"/>
            <a:ext cx="2514600" cy="857845"/>
          </a:xfrm>
          <a:prstGeom prst="roundRect">
            <a:avLst>
              <a:gd name="adj" fmla="val 12584"/>
            </a:avLst>
          </a:prstGeom>
          <a:solidFill>
            <a:srgbClr val="FFFCF4"/>
          </a:solidFill>
          <a:ln w="12700">
            <a:solidFill>
              <a:srgbClr val="E4D7BE"/>
            </a:solidFill>
            <a:prstDash val="solid"/>
          </a:ln>
        </p:spPr>
      </p:sp>
      <p:sp>
        <p:nvSpPr>
          <p:cNvPr id="5" name="Text 3"/>
          <p:cNvSpPr/>
          <p:nvPr/>
        </p:nvSpPr>
        <p:spPr>
          <a:xfrm>
            <a:off x="9906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1 · DONE</a:t>
            </a:r>
            <a:endParaRPr lang="en-US" sz="1200" dirty="0"/>
          </a:p>
        </p:txBody>
      </p:sp>
      <p:sp>
        <p:nvSpPr>
          <p:cNvPr id="6" name="Text 4"/>
          <p:cNvSpPr/>
          <p:nvPr/>
        </p:nvSpPr>
        <p:spPr>
          <a:xfrm>
            <a:off x="9906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says hello</a:t>
            </a:r>
            <a:endParaRPr lang="en-US" sz="1500" dirty="0"/>
          </a:p>
        </p:txBody>
      </p:sp>
      <p:sp>
        <p:nvSpPr>
          <p:cNvPr id="7" name="Shape 5"/>
          <p:cNvSpPr/>
          <p:nvPr/>
        </p:nvSpPr>
        <p:spPr>
          <a:xfrm>
            <a:off x="3498850" y="3716734"/>
            <a:ext cx="2514600" cy="857845"/>
          </a:xfrm>
          <a:prstGeom prst="roundRect">
            <a:avLst>
              <a:gd name="adj" fmla="val 12584"/>
            </a:avLst>
          </a:prstGeom>
          <a:solidFill>
            <a:srgbClr val="FFFCF4"/>
          </a:solidFill>
          <a:ln w="12700">
            <a:solidFill>
              <a:srgbClr val="E4D7BE"/>
            </a:solidFill>
            <a:prstDash val="solid"/>
          </a:ln>
        </p:spPr>
      </p:sp>
      <p:sp>
        <p:nvSpPr>
          <p:cNvPr id="8" name="Text 6"/>
          <p:cNvSpPr/>
          <p:nvPr/>
        </p:nvSpPr>
        <p:spPr>
          <a:xfrm>
            <a:off x="36703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2 · DONE</a:t>
            </a:r>
            <a:endParaRPr lang="en-US" sz="1200" dirty="0"/>
          </a:p>
        </p:txBody>
      </p:sp>
      <p:sp>
        <p:nvSpPr>
          <p:cNvPr id="9" name="Text 7"/>
          <p:cNvSpPr/>
          <p:nvPr/>
        </p:nvSpPr>
        <p:spPr>
          <a:xfrm>
            <a:off x="36703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drive it</a:t>
            </a:r>
            <a:endParaRPr lang="en-US" sz="1500" dirty="0"/>
          </a:p>
        </p:txBody>
      </p:sp>
      <p:sp>
        <p:nvSpPr>
          <p:cNvPr id="10" name="Shape 8"/>
          <p:cNvSpPr/>
          <p:nvPr/>
        </p:nvSpPr>
        <p:spPr>
          <a:xfrm>
            <a:off x="6178550" y="3716734"/>
            <a:ext cx="2514600" cy="857845"/>
          </a:xfrm>
          <a:prstGeom prst="roundRect">
            <a:avLst>
              <a:gd name="adj" fmla="val 12584"/>
            </a:avLst>
          </a:prstGeom>
          <a:solidFill>
            <a:srgbClr val="FFFCF4"/>
          </a:solidFill>
          <a:ln w="12700">
            <a:solidFill>
              <a:srgbClr val="E4D7BE"/>
            </a:solidFill>
            <a:prstDash val="solid"/>
          </a:ln>
        </p:spPr>
      </p:sp>
      <p:sp>
        <p:nvSpPr>
          <p:cNvPr id="11" name="Text 9"/>
          <p:cNvSpPr/>
          <p:nvPr/>
        </p:nvSpPr>
        <p:spPr>
          <a:xfrm>
            <a:off x="63500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3 · DONE</a:t>
            </a:r>
            <a:endParaRPr lang="en-US" sz="1200" dirty="0"/>
          </a:p>
        </p:txBody>
      </p:sp>
      <p:sp>
        <p:nvSpPr>
          <p:cNvPr id="12" name="Text 10"/>
          <p:cNvSpPr/>
          <p:nvPr/>
        </p:nvSpPr>
        <p:spPr>
          <a:xfrm>
            <a:off x="63500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things fall from the sky</a:t>
            </a:r>
            <a:endParaRPr lang="en-US" sz="1500" dirty="0"/>
          </a:p>
        </p:txBody>
      </p:sp>
      <p:sp>
        <p:nvSpPr>
          <p:cNvPr id="13" name="Shape 11"/>
          <p:cNvSpPr/>
          <p:nvPr/>
        </p:nvSpPr>
        <p:spPr>
          <a:xfrm>
            <a:off x="8858250" y="3716734"/>
            <a:ext cx="2514600" cy="857845"/>
          </a:xfrm>
          <a:prstGeom prst="roundRect">
            <a:avLst>
              <a:gd name="adj" fmla="val 12584"/>
            </a:avLst>
          </a:prstGeom>
          <a:solidFill>
            <a:srgbClr val="FFFCF4"/>
          </a:solidFill>
          <a:ln w="12700">
            <a:solidFill>
              <a:srgbClr val="E4D7BE"/>
            </a:solidFill>
            <a:prstDash val="solid"/>
          </a:ln>
        </p:spPr>
      </p:sp>
      <p:sp>
        <p:nvSpPr>
          <p:cNvPr id="14" name="Text 12"/>
          <p:cNvSpPr/>
          <p:nvPr/>
        </p:nvSpPr>
        <p:spPr>
          <a:xfrm>
            <a:off x="90297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4 · DONE</a:t>
            </a:r>
            <a:endParaRPr lang="en-US" sz="1200" dirty="0"/>
          </a:p>
        </p:txBody>
      </p:sp>
      <p:sp>
        <p:nvSpPr>
          <p:cNvPr id="15" name="Text 13"/>
          <p:cNvSpPr/>
          <p:nvPr/>
        </p:nvSpPr>
        <p:spPr>
          <a:xfrm>
            <a:off x="90297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catch them</a:t>
            </a:r>
            <a:endParaRPr lang="en-US" sz="1500" dirty="0"/>
          </a:p>
        </p:txBody>
      </p:sp>
      <p:sp>
        <p:nvSpPr>
          <p:cNvPr id="16" name="Shape 14"/>
          <p:cNvSpPr/>
          <p:nvPr/>
        </p:nvSpPr>
        <p:spPr>
          <a:xfrm>
            <a:off x="819150" y="4739680"/>
            <a:ext cx="2514600" cy="1095970"/>
          </a:xfrm>
          <a:prstGeom prst="roundRect">
            <a:avLst>
              <a:gd name="adj" fmla="val 9850"/>
            </a:avLst>
          </a:prstGeom>
          <a:solidFill>
            <a:srgbClr val="FFFCF4"/>
          </a:solidFill>
          <a:ln w="12700">
            <a:solidFill>
              <a:srgbClr val="E4D7BE"/>
            </a:solidFill>
            <a:prstDash val="solid"/>
          </a:ln>
        </p:spPr>
      </p:sp>
      <p:sp>
        <p:nvSpPr>
          <p:cNvPr id="17" name="Text 15"/>
          <p:cNvSpPr/>
          <p:nvPr/>
        </p:nvSpPr>
        <p:spPr>
          <a:xfrm>
            <a:off x="9906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5 · DONE</a:t>
            </a:r>
            <a:endParaRPr lang="en-US" sz="1200" dirty="0"/>
          </a:p>
        </p:txBody>
      </p:sp>
      <p:sp>
        <p:nvSpPr>
          <p:cNvPr id="18" name="Text 16"/>
          <p:cNvSpPr/>
          <p:nvPr/>
        </p:nvSpPr>
        <p:spPr>
          <a:xfrm>
            <a:off x="9906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it keeps score</a:t>
            </a:r>
            <a:endParaRPr lang="en-US" sz="1500" dirty="0"/>
          </a:p>
        </p:txBody>
      </p:sp>
      <p:sp>
        <p:nvSpPr>
          <p:cNvPr id="19" name="Shape 17"/>
          <p:cNvSpPr/>
          <p:nvPr/>
        </p:nvSpPr>
        <p:spPr>
          <a:xfrm>
            <a:off x="3498850" y="4739680"/>
            <a:ext cx="2514600" cy="1095970"/>
          </a:xfrm>
          <a:prstGeom prst="roundRect">
            <a:avLst>
              <a:gd name="adj" fmla="val 9850"/>
            </a:avLst>
          </a:prstGeom>
          <a:solidFill>
            <a:srgbClr val="FFFCF4"/>
          </a:solidFill>
          <a:ln w="12700">
            <a:solidFill>
              <a:srgbClr val="E4D7BE"/>
            </a:solidFill>
            <a:prstDash val="solid"/>
          </a:ln>
        </p:spPr>
      </p:sp>
      <p:sp>
        <p:nvSpPr>
          <p:cNvPr id="20" name="Text 18"/>
          <p:cNvSpPr/>
          <p:nvPr/>
        </p:nvSpPr>
        <p:spPr>
          <a:xfrm>
            <a:off x="36703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6 · DONE</a:t>
            </a:r>
            <a:endParaRPr lang="en-US" sz="1200" dirty="0"/>
          </a:p>
        </p:txBody>
      </p:sp>
      <p:sp>
        <p:nvSpPr>
          <p:cNvPr id="21" name="Text 19"/>
          <p:cNvSpPr/>
          <p:nvPr/>
        </p:nvSpPr>
        <p:spPr>
          <a:xfrm>
            <a:off x="3670300" y="5187950"/>
            <a:ext cx="2236851"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lives, Game Over, play again</a:t>
            </a:r>
            <a:endParaRPr lang="en-US" sz="1500" dirty="0"/>
          </a:p>
        </p:txBody>
      </p:sp>
      <p:sp>
        <p:nvSpPr>
          <p:cNvPr id="22" name="Shape 20"/>
          <p:cNvSpPr/>
          <p:nvPr/>
        </p:nvSpPr>
        <p:spPr>
          <a:xfrm>
            <a:off x="6178550" y="4739680"/>
            <a:ext cx="2514600" cy="1095970"/>
          </a:xfrm>
          <a:prstGeom prst="roundRect">
            <a:avLst>
              <a:gd name="adj" fmla="val 9850"/>
            </a:avLst>
          </a:prstGeom>
          <a:solidFill>
            <a:srgbClr val="C9A227"/>
          </a:solidFill>
          <a:ln w="12700">
            <a:solidFill>
              <a:srgbClr val="A8861C"/>
            </a:solidFill>
            <a:prstDash val="solid"/>
          </a:ln>
        </p:spPr>
      </p:sp>
      <p:sp>
        <p:nvSpPr>
          <p:cNvPr id="23" name="Text 21"/>
          <p:cNvSpPr/>
          <p:nvPr/>
        </p:nvSpPr>
        <p:spPr>
          <a:xfrm>
            <a:off x="63500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2F04"/>
                </a:solidFill>
                <a:latin typeface="Nunito Sans" pitchFamily="34" charset="0"/>
                <a:ea typeface="Nunito Sans" pitchFamily="34" charset="-122"/>
                <a:cs typeface="Nunito Sans" pitchFamily="34" charset="-120"/>
              </a:rPr>
              <a:t>WEEK 7 · TODAY</a:t>
            </a:r>
            <a:endParaRPr lang="en-US" sz="1200" dirty="0"/>
          </a:p>
        </p:txBody>
      </p:sp>
      <p:sp>
        <p:nvSpPr>
          <p:cNvPr id="24" name="Text 22"/>
          <p:cNvSpPr/>
          <p:nvPr/>
        </p:nvSpPr>
        <p:spPr>
          <a:xfrm>
            <a:off x="63500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2E1015"/>
                </a:solidFill>
                <a:latin typeface="Nunito Sans" pitchFamily="34" charset="0"/>
                <a:ea typeface="Nunito Sans" pitchFamily="34" charset="-122"/>
                <a:cs typeface="Nunito Sans" pitchFamily="34" charset="-120"/>
              </a:rPr>
              <a:t>it gets harder</a:t>
            </a:r>
            <a:endParaRPr lang="en-US" sz="1500" dirty="0"/>
          </a:p>
        </p:txBody>
      </p:sp>
      <p:sp>
        <p:nvSpPr>
          <p:cNvPr id="25" name="Shape 23"/>
          <p:cNvSpPr/>
          <p:nvPr/>
        </p:nvSpPr>
        <p:spPr>
          <a:xfrm>
            <a:off x="8858250" y="4739680"/>
            <a:ext cx="2514600" cy="1095970"/>
          </a:xfrm>
          <a:prstGeom prst="roundRect">
            <a:avLst>
              <a:gd name="adj" fmla="val 9850"/>
            </a:avLst>
          </a:prstGeom>
          <a:solidFill>
            <a:srgbClr val="F4E9D2"/>
          </a:solidFill>
          <a:ln w="12700">
            <a:solidFill>
              <a:srgbClr val="DFD0B4"/>
            </a:solidFill>
            <a:prstDash val="solid"/>
          </a:ln>
        </p:spPr>
      </p:sp>
      <p:sp>
        <p:nvSpPr>
          <p:cNvPr id="26" name="Text 24"/>
          <p:cNvSpPr/>
          <p:nvPr/>
        </p:nvSpPr>
        <p:spPr>
          <a:xfrm>
            <a:off x="90297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8</a:t>
            </a:r>
            <a:endParaRPr lang="en-US" sz="1200" dirty="0"/>
          </a:p>
        </p:txBody>
      </p:sp>
      <p:sp>
        <p:nvSpPr>
          <p:cNvPr id="27" name="Text 25"/>
          <p:cNvSpPr/>
          <p:nvPr/>
        </p:nvSpPr>
        <p:spPr>
          <a:xfrm>
            <a:off x="90297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show your family</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2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SHOW &amp;AMP; TELL · FIRST TEN MINUTES</a:t>
            </a:r>
            <a:endParaRPr lang="en-US" sz="1300" dirty="0"/>
          </a:p>
        </p:txBody>
      </p:sp>
      <p:sp>
        <p:nvSpPr>
          <p:cNvPr id="3" name="Text 1"/>
          <p:cNvSpPr/>
          <p:nvPr/>
        </p:nvSpPr>
        <p:spPr>
          <a:xfrm>
            <a:off x="812800" y="2515691"/>
            <a:ext cx="9810750"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2E1015"/>
                </a:solidFill>
                <a:latin typeface="Fredoka" pitchFamily="34" charset="0"/>
                <a:ea typeface="Fredoka" pitchFamily="34" charset="-122"/>
                <a:cs typeface="Fredoka" pitchFamily="34" charset="-120"/>
              </a:rPr>
              <a:t>Who brought something?</a:t>
            </a:r>
            <a:endParaRPr lang="en-US" sz="4800" dirty="0"/>
          </a:p>
        </p:txBody>
      </p:sp>
      <p:sp>
        <p:nvSpPr>
          <p:cNvPr id="4" name="Shape 2"/>
          <p:cNvSpPr/>
          <p:nvPr/>
        </p:nvSpPr>
        <p:spPr>
          <a:xfrm>
            <a:off x="819150" y="4652070"/>
            <a:ext cx="10553700" cy="1183580"/>
          </a:xfrm>
          <a:prstGeom prst="roundRect">
            <a:avLst>
              <a:gd name="adj" fmla="val 11267"/>
            </a:avLst>
          </a:prstGeom>
          <a:solidFill>
            <a:srgbClr val="FFFCF4"/>
          </a:solidFill>
          <a:ln w="12700">
            <a:solidFill>
              <a:srgbClr val="E4D7BE"/>
            </a:solidFill>
            <a:prstDash val="solid"/>
          </a:ln>
        </p:spPr>
      </p:sp>
      <p:sp>
        <p:nvSpPr>
          <p:cNvPr id="5" name="Text 3"/>
          <p:cNvSpPr/>
          <p:nvPr/>
        </p:nvSpPr>
        <p:spPr>
          <a:xfrm>
            <a:off x="1054100" y="4887020"/>
            <a:ext cx="103863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C2332"/>
                </a:solidFill>
                <a:latin typeface="Fredoka" pitchFamily="34" charset="0"/>
                <a:ea typeface="Fredoka" pitchFamily="34" charset="-122"/>
                <a:cs typeface="Fredoka" pitchFamily="34" charset="-120"/>
              </a:rPr>
              <a:t>Win screens and restarts. Anyone get the countdown working?</a:t>
            </a:r>
            <a:endParaRPr lang="en-US" sz="2200" dirty="0"/>
          </a:p>
        </p:txBody>
      </p:sp>
      <p:sp>
        <p:nvSpPr>
          <p:cNvPr id="6" name="Text 4"/>
          <p:cNvSpPr/>
          <p:nvPr/>
        </p:nvSpPr>
        <p:spPr>
          <a:xfrm>
            <a:off x="1054100" y="5298480"/>
            <a:ext cx="1038631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Come up, plug in, show us. Tell us one thing that went wrong and how you fixed it.</a:t>
            </a:r>
            <a:endParaRPr lang="en-US" sz="1700" dirty="0"/>
          </a:p>
        </p:txBody>
      </p:sp>
      <p:sp>
        <p:nvSpPr>
          <p:cNvPr id="7" name="Text 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TODAY</a:t>
            </a:r>
            <a:endParaRPr lang="en-US" sz="1300" dirty="0"/>
          </a:p>
        </p:txBody>
      </p:sp>
      <p:sp>
        <p:nvSpPr>
          <p:cNvPr id="3" name="Text 1"/>
          <p:cNvSpPr/>
          <p:nvPr/>
        </p:nvSpPr>
        <p:spPr>
          <a:xfrm>
            <a:off x="812800" y="229939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Here's the plan</a:t>
            </a:r>
            <a:endParaRPr lang="en-US" sz="4000" dirty="0"/>
          </a:p>
        </p:txBody>
      </p:sp>
      <p:sp>
        <p:nvSpPr>
          <p:cNvPr id="4" name="Shape 2"/>
          <p:cNvSpPr/>
          <p:nvPr/>
        </p:nvSpPr>
        <p:spPr>
          <a:xfrm>
            <a:off x="819150" y="4109839"/>
            <a:ext cx="3373934" cy="1725811"/>
          </a:xfrm>
          <a:prstGeom prst="roundRect">
            <a:avLst>
              <a:gd name="adj" fmla="val 7727"/>
            </a:avLst>
          </a:prstGeom>
          <a:solidFill>
            <a:srgbClr val="FFFCF4"/>
          </a:solidFill>
          <a:ln w="12700">
            <a:solidFill>
              <a:srgbClr val="E4D7BE"/>
            </a:solidFill>
            <a:prstDash val="solid"/>
          </a:ln>
        </p:spPr>
      </p:sp>
      <p:sp>
        <p:nvSpPr>
          <p:cNvPr id="5" name="Text 3"/>
          <p:cNvSpPr/>
          <p:nvPr/>
        </p:nvSpPr>
        <p:spPr>
          <a:xfrm>
            <a:off x="1054100"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54100"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Operators</a:t>
            </a:r>
            <a:endParaRPr lang="en-US" sz="2200" dirty="0"/>
          </a:p>
        </p:txBody>
      </p:sp>
      <p:sp>
        <p:nvSpPr>
          <p:cNvPr id="7" name="Text 5"/>
          <p:cNvSpPr/>
          <p:nvPr/>
        </p:nvSpPr>
        <p:spPr>
          <a:xfrm>
            <a:off x="1054100"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Maths, comparisons, and joining words to numbers.</a:t>
            </a:r>
            <a:endParaRPr lang="en-US" sz="1500" dirty="0"/>
          </a:p>
        </p:txBody>
      </p:sp>
      <p:sp>
        <p:nvSpPr>
          <p:cNvPr id="8" name="Shape 6"/>
          <p:cNvSpPr/>
          <p:nvPr/>
        </p:nvSpPr>
        <p:spPr>
          <a:xfrm>
            <a:off x="4408984" y="4109839"/>
            <a:ext cx="3374033" cy="1725811"/>
          </a:xfrm>
          <a:prstGeom prst="roundRect">
            <a:avLst>
              <a:gd name="adj" fmla="val 7727"/>
            </a:avLst>
          </a:prstGeom>
          <a:solidFill>
            <a:srgbClr val="FFFCF4"/>
          </a:solidFill>
          <a:ln w="12700">
            <a:solidFill>
              <a:srgbClr val="E4D7BE"/>
            </a:solidFill>
            <a:prstDash val="solid"/>
          </a:ln>
        </p:spPr>
      </p:sp>
      <p:sp>
        <p:nvSpPr>
          <p:cNvPr id="9" name="Text 7"/>
          <p:cNvSpPr/>
          <p:nvPr/>
        </p:nvSpPr>
        <p:spPr>
          <a:xfrm>
            <a:off x="4643934" y="4344789"/>
            <a:ext cx="299125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4643934" y="4669830"/>
            <a:ext cx="299125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My Blocks</a:t>
            </a:r>
            <a:endParaRPr lang="en-US" sz="2200" dirty="0"/>
          </a:p>
        </p:txBody>
      </p:sp>
      <p:sp>
        <p:nvSpPr>
          <p:cNvPr id="11" name="Text 9"/>
          <p:cNvSpPr/>
          <p:nvPr/>
        </p:nvSpPr>
        <p:spPr>
          <a:xfrm>
            <a:off x="4643934" y="5067300"/>
            <a:ext cx="299125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Write it once, give it a name, use it everywhere.</a:t>
            </a:r>
            <a:endParaRPr lang="en-US" sz="1500" dirty="0"/>
          </a:p>
        </p:txBody>
      </p:sp>
      <p:sp>
        <p:nvSpPr>
          <p:cNvPr id="12" name="Shape 10"/>
          <p:cNvSpPr/>
          <p:nvPr/>
        </p:nvSpPr>
        <p:spPr>
          <a:xfrm>
            <a:off x="7998916" y="4109839"/>
            <a:ext cx="3373934" cy="1725811"/>
          </a:xfrm>
          <a:prstGeom prst="roundRect">
            <a:avLst>
              <a:gd name="adj" fmla="val 7727"/>
            </a:avLst>
          </a:prstGeom>
          <a:solidFill>
            <a:srgbClr val="FFFCF4"/>
          </a:solidFill>
          <a:ln w="12700">
            <a:solidFill>
              <a:srgbClr val="E4D7BE"/>
            </a:solidFill>
            <a:prstDash val="solid"/>
          </a:ln>
        </p:spPr>
      </p:sp>
      <p:sp>
        <p:nvSpPr>
          <p:cNvPr id="13" name="Text 11"/>
          <p:cNvSpPr/>
          <p:nvPr/>
        </p:nvSpPr>
        <p:spPr>
          <a:xfrm>
            <a:off x="8233866"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8233866"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Levels</a:t>
            </a:r>
            <a:endParaRPr lang="en-US" sz="2200" dirty="0"/>
          </a:p>
        </p:txBody>
      </p:sp>
      <p:sp>
        <p:nvSpPr>
          <p:cNvPr id="15" name="Text 13"/>
          <p:cNvSpPr/>
          <p:nvPr/>
        </p:nvSpPr>
        <p:spPr>
          <a:xfrm>
            <a:off x="8233866"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Your game gets harder the better you get at it.</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18262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285901"/>
            <a:ext cx="9810750" cy="1902718"/>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When you've written the same few blocks three times, give that group a name.</a:t>
            </a:r>
            <a:endParaRPr lang="en-US" sz="4400" dirty="0"/>
          </a:p>
        </p:txBody>
      </p:sp>
      <p:sp>
        <p:nvSpPr>
          <p:cNvPr id="4" name="Text 2"/>
          <p:cNvSpPr/>
          <p:nvPr/>
        </p:nvSpPr>
        <p:spPr>
          <a:xfrm>
            <a:off x="812800" y="4391819"/>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Then you have a block of your own. Change it once, and it changes everywhere you used it.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WE TOUCH A KEYBOARD</a:t>
            </a:r>
            <a:endParaRPr lang="en-US" sz="1300" dirty="0"/>
          </a:p>
        </p:txBody>
      </p:sp>
      <p:sp>
        <p:nvSpPr>
          <p:cNvPr id="3" name="Text 1"/>
          <p:cNvSpPr/>
          <p:nvPr/>
        </p:nvSpPr>
        <p:spPr>
          <a:xfrm>
            <a:off x="812800" y="223907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How do you make a cup of tea?</a:t>
            </a:r>
            <a:endParaRPr lang="en-US" sz="4000" dirty="0"/>
          </a:p>
        </p:txBody>
      </p:sp>
      <p:sp>
        <p:nvSpPr>
          <p:cNvPr id="4" name="Shape 2"/>
          <p:cNvSpPr/>
          <p:nvPr/>
        </p:nvSpPr>
        <p:spPr>
          <a:xfrm>
            <a:off x="819150" y="3989090"/>
            <a:ext cx="3373934" cy="1846560"/>
          </a:xfrm>
          <a:prstGeom prst="roundRect">
            <a:avLst>
              <a:gd name="adj" fmla="val 7222"/>
            </a:avLst>
          </a:prstGeom>
          <a:solidFill>
            <a:srgbClr val="FFFCF4"/>
          </a:solidFill>
          <a:ln w="12700">
            <a:solidFill>
              <a:srgbClr val="E4D7BE"/>
            </a:solidFill>
            <a:prstDash val="solid"/>
          </a:ln>
        </p:spPr>
      </p:sp>
      <p:sp>
        <p:nvSpPr>
          <p:cNvPr id="5" name="Text 3"/>
          <p:cNvSpPr/>
          <p:nvPr/>
        </p:nvSpPr>
        <p:spPr>
          <a:xfrm>
            <a:off x="1054100" y="4224040"/>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You give me seven steps</a:t>
            </a:r>
            <a:endParaRPr lang="en-US" sz="1900" dirty="0"/>
          </a:p>
        </p:txBody>
      </p:sp>
      <p:sp>
        <p:nvSpPr>
          <p:cNvPr id="6" name="Text 4"/>
          <p:cNvSpPr/>
          <p:nvPr/>
        </p:nvSpPr>
        <p:spPr>
          <a:xfrm>
            <a:off x="1054100" y="4577655"/>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Fill the kettle. Boil it. Get a cup. Teabag in. Pour. Wait. Milk.</a:t>
            </a:r>
            <a:endParaRPr lang="en-US" sz="1450" dirty="0"/>
          </a:p>
        </p:txBody>
      </p:sp>
      <p:sp>
        <p:nvSpPr>
          <p:cNvPr id="7" name="Shape 5"/>
          <p:cNvSpPr/>
          <p:nvPr/>
        </p:nvSpPr>
        <p:spPr>
          <a:xfrm>
            <a:off x="4408984" y="3989090"/>
            <a:ext cx="3374033" cy="1846560"/>
          </a:xfrm>
          <a:prstGeom prst="roundRect">
            <a:avLst>
              <a:gd name="adj" fmla="val 7222"/>
            </a:avLst>
          </a:prstGeom>
          <a:solidFill>
            <a:srgbClr val="FFFCF4"/>
          </a:solidFill>
          <a:ln w="12700">
            <a:solidFill>
              <a:srgbClr val="E4D7BE"/>
            </a:solidFill>
            <a:prstDash val="solid"/>
          </a:ln>
        </p:spPr>
      </p:sp>
      <p:sp>
        <p:nvSpPr>
          <p:cNvPr id="8" name="Text 6"/>
          <p:cNvSpPr/>
          <p:nvPr/>
        </p:nvSpPr>
        <p:spPr>
          <a:xfrm>
            <a:off x="4643934" y="4224040"/>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I draw a box round them</a:t>
            </a:r>
            <a:endParaRPr lang="en-US" sz="1900" dirty="0"/>
          </a:p>
        </p:txBody>
      </p:sp>
      <p:sp>
        <p:nvSpPr>
          <p:cNvPr id="9" name="Text 7"/>
          <p:cNvSpPr/>
          <p:nvPr/>
        </p:nvSpPr>
        <p:spPr>
          <a:xfrm>
            <a:off x="4643934" y="4577655"/>
            <a:ext cx="2991257" cy="273943"/>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And write MAKE TEA on the box.</a:t>
            </a:r>
            <a:endParaRPr lang="en-US" sz="1450" dirty="0"/>
          </a:p>
        </p:txBody>
      </p:sp>
      <p:sp>
        <p:nvSpPr>
          <p:cNvPr id="10" name="Shape 8"/>
          <p:cNvSpPr/>
          <p:nvPr/>
        </p:nvSpPr>
        <p:spPr>
          <a:xfrm>
            <a:off x="7998916" y="3989090"/>
            <a:ext cx="3373934" cy="1846560"/>
          </a:xfrm>
          <a:prstGeom prst="roundRect">
            <a:avLst>
              <a:gd name="adj" fmla="val 7222"/>
            </a:avLst>
          </a:prstGeom>
          <a:solidFill>
            <a:srgbClr val="FFFCF4"/>
          </a:solidFill>
          <a:ln w="12700">
            <a:solidFill>
              <a:srgbClr val="E4D7BE"/>
            </a:solidFill>
            <a:prstDash val="solid"/>
          </a:ln>
        </p:spPr>
      </p:sp>
      <p:sp>
        <p:nvSpPr>
          <p:cNvPr id="11" name="Text 9"/>
          <p:cNvSpPr/>
          <p:nvPr/>
        </p:nvSpPr>
        <p:spPr>
          <a:xfrm>
            <a:off x="8233866" y="4224040"/>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Now make tea for four people</a:t>
            </a:r>
            <a:endParaRPr lang="en-US" sz="1900" dirty="0"/>
          </a:p>
        </p:txBody>
      </p:sp>
      <p:sp>
        <p:nvSpPr>
          <p:cNvPr id="12" name="Text 10"/>
          <p:cNvSpPr/>
          <p:nvPr/>
        </p:nvSpPr>
        <p:spPr>
          <a:xfrm>
            <a:off x="8233866"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Somebody will say: do MAKE TEA four times. Not twenty-eight steps. Four.</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NEW BLOCKS TODAY</a:t>
            </a:r>
            <a:endParaRPr lang="en-US" sz="1300" dirty="0"/>
          </a:p>
        </p:txBody>
      </p:sp>
      <p:sp>
        <p:nvSpPr>
          <p:cNvPr id="3" name="Text 1"/>
          <p:cNvSpPr/>
          <p:nvPr/>
        </p:nvSpPr>
        <p:spPr>
          <a:xfrm>
            <a:off x="812800" y="2059484"/>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Say hello to these</a:t>
            </a:r>
            <a:endParaRPr lang="en-US" sz="4000" dirty="0"/>
          </a:p>
        </p:txBody>
      </p:sp>
      <p:sp>
        <p:nvSpPr>
          <p:cNvPr id="4" name="Shape 2"/>
          <p:cNvSpPr/>
          <p:nvPr/>
        </p:nvSpPr>
        <p:spPr>
          <a:xfrm>
            <a:off x="812800" y="3623766"/>
            <a:ext cx="1053902" cy="358080"/>
          </a:xfrm>
          <a:prstGeom prst="roundRect">
            <a:avLst>
              <a:gd name="adj" fmla="val 42560"/>
            </a:avLst>
          </a:prstGeom>
          <a:solidFill>
            <a:srgbClr val="389438"/>
          </a:solidFill>
          <a:ln/>
        </p:spPr>
      </p:sp>
      <p:sp>
        <p:nvSpPr>
          <p:cNvPr id="5" name="Text 3"/>
          <p:cNvSpPr/>
          <p:nvPr/>
        </p:nvSpPr>
        <p:spPr>
          <a:xfrm>
            <a:off x="952500" y="3687266"/>
            <a:ext cx="82530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Operators</a:t>
            </a:r>
            <a:endParaRPr lang="en-US" sz="1300" dirty="0"/>
          </a:p>
        </p:txBody>
      </p:sp>
      <p:sp>
        <p:nvSpPr>
          <p:cNvPr id="6" name="Shape 4"/>
          <p:cNvSpPr/>
          <p:nvPr/>
        </p:nvSpPr>
        <p:spPr>
          <a:xfrm>
            <a:off x="1955602" y="3623766"/>
            <a:ext cx="888702" cy="358080"/>
          </a:xfrm>
          <a:prstGeom prst="roundRect">
            <a:avLst>
              <a:gd name="adj" fmla="val 42560"/>
            </a:avLst>
          </a:prstGeom>
          <a:solidFill>
            <a:srgbClr val="2A7FA3"/>
          </a:solidFill>
          <a:ln/>
        </p:spPr>
      </p:sp>
      <p:sp>
        <p:nvSpPr>
          <p:cNvPr id="7" name="Text 5"/>
          <p:cNvSpPr/>
          <p:nvPr/>
        </p:nvSpPr>
        <p:spPr>
          <a:xfrm>
            <a:off x="2095302" y="3687266"/>
            <a:ext cx="66010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Sensing</a:t>
            </a:r>
            <a:endParaRPr lang="en-US" sz="1300" dirty="0"/>
          </a:p>
        </p:txBody>
      </p:sp>
      <p:sp>
        <p:nvSpPr>
          <p:cNvPr id="8" name="Shape 6"/>
          <p:cNvSpPr/>
          <p:nvPr/>
        </p:nvSpPr>
        <p:spPr>
          <a:xfrm>
            <a:off x="2933204" y="3623766"/>
            <a:ext cx="1060351" cy="358080"/>
          </a:xfrm>
          <a:prstGeom prst="roundRect">
            <a:avLst>
              <a:gd name="adj" fmla="val 42560"/>
            </a:avLst>
          </a:prstGeom>
          <a:solidFill>
            <a:srgbClr val="CC4C7A"/>
          </a:solidFill>
          <a:ln/>
        </p:spPr>
      </p:sp>
      <p:sp>
        <p:nvSpPr>
          <p:cNvPr id="9" name="Text 7"/>
          <p:cNvSpPr/>
          <p:nvPr/>
        </p:nvSpPr>
        <p:spPr>
          <a:xfrm>
            <a:off x="3072904" y="3687266"/>
            <a:ext cx="83175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My Blocks</a:t>
            </a:r>
            <a:endParaRPr lang="en-US" sz="1300" dirty="0"/>
          </a:p>
        </p:txBody>
      </p:sp>
      <p:sp>
        <p:nvSpPr>
          <p:cNvPr id="10" name="Shape 8"/>
          <p:cNvSpPr/>
          <p:nvPr/>
        </p:nvSpPr>
        <p:spPr>
          <a:xfrm>
            <a:off x="812800" y="4997450"/>
            <a:ext cx="793254" cy="371475"/>
          </a:xfrm>
          <a:prstGeom prst="roundRect">
            <a:avLst>
              <a:gd name="adj" fmla="val 23932"/>
            </a:avLst>
          </a:prstGeom>
          <a:solidFill>
            <a:srgbClr val="389438"/>
          </a:solidFill>
          <a:ln/>
        </p:spPr>
      </p:sp>
      <p:sp>
        <p:nvSpPr>
          <p:cNvPr id="11" name="Text 9"/>
          <p:cNvSpPr/>
          <p:nvPr/>
        </p:nvSpPr>
        <p:spPr>
          <a:xfrm>
            <a:off x="952500" y="5080000"/>
            <a:ext cx="56465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 ) + ( )</a:t>
            </a:r>
            <a:endParaRPr lang="en-US" sz="1300" dirty="0"/>
          </a:p>
        </p:txBody>
      </p:sp>
      <p:sp>
        <p:nvSpPr>
          <p:cNvPr id="12" name="Shape 10"/>
          <p:cNvSpPr/>
          <p:nvPr/>
        </p:nvSpPr>
        <p:spPr>
          <a:xfrm>
            <a:off x="1707654" y="4997450"/>
            <a:ext cx="768846" cy="371475"/>
          </a:xfrm>
          <a:prstGeom prst="roundRect">
            <a:avLst>
              <a:gd name="adj" fmla="val 23932"/>
            </a:avLst>
          </a:prstGeom>
          <a:solidFill>
            <a:srgbClr val="389438"/>
          </a:solidFill>
          <a:ln/>
        </p:spPr>
      </p:sp>
      <p:sp>
        <p:nvSpPr>
          <p:cNvPr id="13" name="Text 11"/>
          <p:cNvSpPr/>
          <p:nvPr/>
        </p:nvSpPr>
        <p:spPr>
          <a:xfrm>
            <a:off x="1847354" y="5080000"/>
            <a:ext cx="54024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 ) * ( )</a:t>
            </a:r>
            <a:endParaRPr lang="en-US" sz="1300" dirty="0"/>
          </a:p>
        </p:txBody>
      </p:sp>
      <p:sp>
        <p:nvSpPr>
          <p:cNvPr id="14" name="Shape 12"/>
          <p:cNvSpPr/>
          <p:nvPr/>
        </p:nvSpPr>
        <p:spPr>
          <a:xfrm>
            <a:off x="2578100" y="4997450"/>
            <a:ext cx="1080492" cy="371475"/>
          </a:xfrm>
          <a:prstGeom prst="roundRect">
            <a:avLst>
              <a:gd name="adj" fmla="val 23932"/>
            </a:avLst>
          </a:prstGeom>
          <a:solidFill>
            <a:srgbClr val="389438"/>
          </a:solidFill>
          <a:ln/>
        </p:spPr>
      </p:sp>
      <p:sp>
        <p:nvSpPr>
          <p:cNvPr id="15" name="Text 13"/>
          <p:cNvSpPr/>
          <p:nvPr/>
        </p:nvSpPr>
        <p:spPr>
          <a:xfrm>
            <a:off x="2717800" y="5080000"/>
            <a:ext cx="85189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&lt; ( ) &gt; ( ) &gt;</a:t>
            </a:r>
            <a:endParaRPr lang="en-US" sz="1300" dirty="0"/>
          </a:p>
        </p:txBody>
      </p:sp>
      <p:sp>
        <p:nvSpPr>
          <p:cNvPr id="16" name="Shape 14"/>
          <p:cNvSpPr/>
          <p:nvPr/>
        </p:nvSpPr>
        <p:spPr>
          <a:xfrm>
            <a:off x="3760192" y="4997450"/>
            <a:ext cx="1080492" cy="371475"/>
          </a:xfrm>
          <a:prstGeom prst="roundRect">
            <a:avLst>
              <a:gd name="adj" fmla="val 23932"/>
            </a:avLst>
          </a:prstGeom>
          <a:solidFill>
            <a:srgbClr val="389438"/>
          </a:solidFill>
          <a:ln/>
        </p:spPr>
      </p:sp>
      <p:sp>
        <p:nvSpPr>
          <p:cNvPr id="17" name="Text 15"/>
          <p:cNvSpPr/>
          <p:nvPr/>
        </p:nvSpPr>
        <p:spPr>
          <a:xfrm>
            <a:off x="3899892" y="5080000"/>
            <a:ext cx="85189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&lt; ( ) = ( ) &gt;</a:t>
            </a:r>
            <a:endParaRPr lang="en-US" sz="1300" dirty="0"/>
          </a:p>
        </p:txBody>
      </p:sp>
      <p:sp>
        <p:nvSpPr>
          <p:cNvPr id="18" name="Shape 16"/>
          <p:cNvSpPr/>
          <p:nvPr/>
        </p:nvSpPr>
        <p:spPr>
          <a:xfrm>
            <a:off x="4942284" y="4997450"/>
            <a:ext cx="1427262" cy="371475"/>
          </a:xfrm>
          <a:prstGeom prst="roundRect">
            <a:avLst>
              <a:gd name="adj" fmla="val 23932"/>
            </a:avLst>
          </a:prstGeom>
          <a:solidFill>
            <a:srgbClr val="389438"/>
          </a:solidFill>
          <a:ln/>
        </p:spPr>
      </p:sp>
      <p:sp>
        <p:nvSpPr>
          <p:cNvPr id="19" name="Text 17"/>
          <p:cNvSpPr/>
          <p:nvPr/>
        </p:nvSpPr>
        <p:spPr>
          <a:xfrm>
            <a:off x="5081984" y="5080000"/>
            <a:ext cx="119866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&lt; &lt; &gt; and &lt; &gt; &gt;</a:t>
            </a:r>
            <a:endParaRPr lang="en-US" sz="1300" dirty="0"/>
          </a:p>
        </p:txBody>
      </p:sp>
      <p:sp>
        <p:nvSpPr>
          <p:cNvPr id="20" name="Shape 18"/>
          <p:cNvSpPr/>
          <p:nvPr/>
        </p:nvSpPr>
        <p:spPr>
          <a:xfrm>
            <a:off x="6471146" y="4997450"/>
            <a:ext cx="1108273" cy="371475"/>
          </a:xfrm>
          <a:prstGeom prst="roundRect">
            <a:avLst>
              <a:gd name="adj" fmla="val 23932"/>
            </a:avLst>
          </a:prstGeom>
          <a:solidFill>
            <a:srgbClr val="389438"/>
          </a:solidFill>
          <a:ln/>
        </p:spPr>
      </p:sp>
      <p:sp>
        <p:nvSpPr>
          <p:cNvPr id="21" name="Text 19"/>
          <p:cNvSpPr/>
          <p:nvPr/>
        </p:nvSpPr>
        <p:spPr>
          <a:xfrm>
            <a:off x="6610846" y="5080000"/>
            <a:ext cx="879673"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&lt; not &lt; &gt; &gt;</a:t>
            </a:r>
            <a:endParaRPr lang="en-US" sz="1300" dirty="0"/>
          </a:p>
        </p:txBody>
      </p:sp>
      <p:sp>
        <p:nvSpPr>
          <p:cNvPr id="22" name="Shape 20"/>
          <p:cNvSpPr/>
          <p:nvPr/>
        </p:nvSpPr>
        <p:spPr>
          <a:xfrm>
            <a:off x="7681020" y="4997450"/>
            <a:ext cx="1377057" cy="371475"/>
          </a:xfrm>
          <a:prstGeom prst="roundRect">
            <a:avLst>
              <a:gd name="adj" fmla="val 23932"/>
            </a:avLst>
          </a:prstGeom>
          <a:solidFill>
            <a:srgbClr val="389438"/>
          </a:solidFill>
          <a:ln/>
        </p:spPr>
      </p:sp>
      <p:sp>
        <p:nvSpPr>
          <p:cNvPr id="23" name="Text 21"/>
          <p:cNvSpPr/>
          <p:nvPr/>
        </p:nvSpPr>
        <p:spPr>
          <a:xfrm>
            <a:off x="7820720" y="5080000"/>
            <a:ext cx="1148457"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join [Level ] ( )</a:t>
            </a:r>
            <a:endParaRPr lang="en-US" sz="1300" dirty="0"/>
          </a:p>
        </p:txBody>
      </p:sp>
      <p:sp>
        <p:nvSpPr>
          <p:cNvPr id="24" name="Shape 22"/>
          <p:cNvSpPr/>
          <p:nvPr/>
        </p:nvSpPr>
        <p:spPr>
          <a:xfrm>
            <a:off x="812800" y="5470525"/>
            <a:ext cx="2896493" cy="371475"/>
          </a:xfrm>
          <a:prstGeom prst="roundRect">
            <a:avLst>
              <a:gd name="adj" fmla="val 23932"/>
            </a:avLst>
          </a:prstGeom>
          <a:solidFill>
            <a:srgbClr val="2A7FA3"/>
          </a:solidFill>
          <a:ln/>
        </p:spPr>
      </p:sp>
      <p:sp>
        <p:nvSpPr>
          <p:cNvPr id="25" name="Text 23"/>
          <p:cNvSpPr/>
          <p:nvPr/>
        </p:nvSpPr>
        <p:spPr>
          <a:xfrm>
            <a:off x="952500" y="5553075"/>
            <a:ext cx="26956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ask [What's your name?] and wait</a:t>
            </a:r>
            <a:endParaRPr lang="en-US" sz="1300" dirty="0"/>
          </a:p>
        </p:txBody>
      </p:sp>
      <p:sp>
        <p:nvSpPr>
          <p:cNvPr id="26" name="Shape 24"/>
          <p:cNvSpPr/>
          <p:nvPr/>
        </p:nvSpPr>
        <p:spPr>
          <a:xfrm>
            <a:off x="3810893" y="5470525"/>
            <a:ext cx="959346" cy="371475"/>
          </a:xfrm>
          <a:prstGeom prst="roundRect">
            <a:avLst>
              <a:gd name="adj" fmla="val 23932"/>
            </a:avLst>
          </a:prstGeom>
          <a:solidFill>
            <a:srgbClr val="2A7FA3"/>
          </a:solidFill>
          <a:ln/>
        </p:spPr>
      </p:sp>
      <p:sp>
        <p:nvSpPr>
          <p:cNvPr id="27" name="Text 25"/>
          <p:cNvSpPr/>
          <p:nvPr/>
        </p:nvSpPr>
        <p:spPr>
          <a:xfrm>
            <a:off x="3950593" y="5553075"/>
            <a:ext cx="73074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(answer)</a:t>
            </a:r>
            <a:endParaRPr lang="en-US" sz="1300" dirty="0"/>
          </a:p>
        </p:txBody>
      </p:sp>
      <p:sp>
        <p:nvSpPr>
          <p:cNvPr id="28" name="Shape 26"/>
          <p:cNvSpPr/>
          <p:nvPr/>
        </p:nvSpPr>
        <p:spPr>
          <a:xfrm>
            <a:off x="4871839" y="5470525"/>
            <a:ext cx="1603871" cy="371475"/>
          </a:xfrm>
          <a:prstGeom prst="roundRect">
            <a:avLst>
              <a:gd name="adj" fmla="val 23932"/>
            </a:avLst>
          </a:prstGeom>
          <a:solidFill>
            <a:srgbClr val="CC4C7A"/>
          </a:solidFill>
          <a:ln/>
        </p:spPr>
      </p:sp>
      <p:sp>
        <p:nvSpPr>
          <p:cNvPr id="29" name="Text 27"/>
          <p:cNvSpPr/>
          <p:nvPr/>
        </p:nvSpPr>
        <p:spPr>
          <a:xfrm>
            <a:off x="5011539" y="5553075"/>
            <a:ext cx="1375271"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define [my block]</a:t>
            </a:r>
            <a:endParaRPr lang="en-US" sz="1300" dirty="0"/>
          </a:p>
        </p:txBody>
      </p:sp>
      <p:sp>
        <p:nvSpPr>
          <p:cNvPr id="30" name="Text 28"/>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31"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LIVE DEMO · OPERATORS</a:t>
            </a:r>
            <a:endParaRPr lang="en-US" sz="1300" dirty="0"/>
          </a:p>
        </p:txBody>
      </p:sp>
      <p:sp>
        <p:nvSpPr>
          <p:cNvPr id="3" name="Text 1"/>
          <p:cNvSpPr/>
          <p:nvPr/>
        </p:nvSpPr>
        <p:spPr>
          <a:xfrm>
            <a:off x="812800" y="225147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Maths, questions, and joining</a:t>
            </a:r>
            <a:endParaRPr lang="en-US" sz="3600" dirty="0"/>
          </a:p>
        </p:txBody>
      </p:sp>
      <p:sp>
        <p:nvSpPr>
          <p:cNvPr id="4" name="Shape 2"/>
          <p:cNvSpPr/>
          <p:nvPr/>
        </p:nvSpPr>
        <p:spPr>
          <a:xfrm>
            <a:off x="819150" y="3959027"/>
            <a:ext cx="3407767" cy="1876623"/>
          </a:xfrm>
          <a:prstGeom prst="roundRect">
            <a:avLst>
              <a:gd name="adj" fmla="val 7106"/>
            </a:avLst>
          </a:prstGeom>
          <a:solidFill>
            <a:srgbClr val="FFFCF4"/>
          </a:solidFill>
          <a:ln w="12700">
            <a:solidFill>
              <a:srgbClr val="E4D7BE"/>
            </a:solidFill>
            <a:prstDash val="solid"/>
          </a:ln>
        </p:spPr>
      </p:sp>
      <p:sp>
        <p:nvSpPr>
          <p:cNvPr id="5" name="Text 3"/>
          <p:cNvSpPr/>
          <p:nvPr/>
        </p:nvSpPr>
        <p:spPr>
          <a:xfrm>
            <a:off x="1003300" y="4143177"/>
            <a:ext cx="3130651"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Maths goes in number holes</a:t>
            </a:r>
            <a:endParaRPr lang="en-US" sz="1700" dirty="0"/>
          </a:p>
        </p:txBody>
      </p:sp>
      <p:sp>
        <p:nvSpPr>
          <p:cNvPr id="6" name="Shape 4"/>
          <p:cNvSpPr/>
          <p:nvPr/>
        </p:nvSpPr>
        <p:spPr>
          <a:xfrm>
            <a:off x="1003300" y="4467622"/>
            <a:ext cx="1938337" cy="342900"/>
          </a:xfrm>
          <a:prstGeom prst="roundRect">
            <a:avLst>
              <a:gd name="adj" fmla="val 38889"/>
            </a:avLst>
          </a:prstGeom>
          <a:solidFill>
            <a:srgbClr val="FFBF00"/>
          </a:solidFill>
          <a:ln/>
        </p:spPr>
      </p:sp>
      <p:sp>
        <p:nvSpPr>
          <p:cNvPr id="7" name="Text 5"/>
          <p:cNvSpPr/>
          <p:nvPr/>
        </p:nvSpPr>
        <p:spPr>
          <a:xfrm>
            <a:off x="1130300" y="4543822"/>
            <a:ext cx="173513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green flag clicked</a:t>
            </a:r>
            <a:endParaRPr lang="en-US" sz="1200" dirty="0"/>
          </a:p>
        </p:txBody>
      </p:sp>
      <p:sp>
        <p:nvSpPr>
          <p:cNvPr id="8" name="Shape 6"/>
          <p:cNvSpPr/>
          <p:nvPr/>
        </p:nvSpPr>
        <p:spPr>
          <a:xfrm>
            <a:off x="1003300" y="4848622"/>
            <a:ext cx="1588492" cy="342900"/>
          </a:xfrm>
          <a:prstGeom prst="roundRect">
            <a:avLst>
              <a:gd name="adj" fmla="val 25926"/>
            </a:avLst>
          </a:prstGeom>
          <a:solidFill>
            <a:srgbClr val="774DCB"/>
          </a:solidFill>
          <a:ln/>
        </p:spPr>
      </p:sp>
      <p:sp>
        <p:nvSpPr>
          <p:cNvPr id="9" name="Text 7"/>
          <p:cNvSpPr/>
          <p:nvPr/>
        </p:nvSpPr>
        <p:spPr>
          <a:xfrm>
            <a:off x="1130300" y="4924822"/>
            <a:ext cx="1385292"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say ((score) + (10))</a:t>
            </a:r>
            <a:endParaRPr lang="en-US" sz="1200" dirty="0"/>
          </a:p>
        </p:txBody>
      </p:sp>
      <p:sp>
        <p:nvSpPr>
          <p:cNvPr id="10" name="Text 8"/>
          <p:cNvSpPr/>
          <p:nvPr/>
        </p:nvSpPr>
        <p:spPr>
          <a:xfrm>
            <a:off x="1003300" y="5267722"/>
            <a:ext cx="3130651"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Variables drop into operator slots too.</a:t>
            </a:r>
            <a:endParaRPr lang="en-US" sz="1350" dirty="0"/>
          </a:p>
        </p:txBody>
      </p:sp>
      <p:sp>
        <p:nvSpPr>
          <p:cNvPr id="11" name="Shape 9"/>
          <p:cNvSpPr/>
          <p:nvPr/>
        </p:nvSpPr>
        <p:spPr>
          <a:xfrm>
            <a:off x="4392017" y="3959027"/>
            <a:ext cx="3407866" cy="1876623"/>
          </a:xfrm>
          <a:prstGeom prst="roundRect">
            <a:avLst>
              <a:gd name="adj" fmla="val 7106"/>
            </a:avLst>
          </a:prstGeom>
          <a:solidFill>
            <a:srgbClr val="FFFCF4"/>
          </a:solidFill>
          <a:ln w="12700">
            <a:solidFill>
              <a:srgbClr val="E4D7BE"/>
            </a:solidFill>
            <a:prstDash val="solid"/>
          </a:ln>
        </p:spPr>
      </p:sp>
      <p:sp>
        <p:nvSpPr>
          <p:cNvPr id="12" name="Text 10"/>
          <p:cNvSpPr/>
          <p:nvPr/>
        </p:nvSpPr>
        <p:spPr>
          <a:xfrm>
            <a:off x="4576167" y="4143177"/>
            <a:ext cx="3130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Questions go in if holes</a:t>
            </a:r>
            <a:endParaRPr lang="en-US" sz="1700" dirty="0"/>
          </a:p>
        </p:txBody>
      </p:sp>
      <p:sp>
        <p:nvSpPr>
          <p:cNvPr id="13" name="Shape 11"/>
          <p:cNvSpPr/>
          <p:nvPr/>
        </p:nvSpPr>
        <p:spPr>
          <a:xfrm>
            <a:off x="4576167" y="4467622"/>
            <a:ext cx="1879997" cy="342900"/>
          </a:xfrm>
          <a:prstGeom prst="roundRect">
            <a:avLst>
              <a:gd name="adj" fmla="val 25926"/>
            </a:avLst>
          </a:prstGeom>
          <a:solidFill>
            <a:srgbClr val="FFAB19"/>
          </a:solidFill>
          <a:ln/>
        </p:spPr>
      </p:sp>
      <p:sp>
        <p:nvSpPr>
          <p:cNvPr id="14" name="Text 12"/>
          <p:cNvSpPr/>
          <p:nvPr/>
        </p:nvSpPr>
        <p:spPr>
          <a:xfrm>
            <a:off x="4703167" y="4543822"/>
            <a:ext cx="1676797"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if &lt;(score) &gt; (10)&gt; then</a:t>
            </a:r>
            <a:endParaRPr lang="en-US" sz="1200" dirty="0"/>
          </a:p>
        </p:txBody>
      </p:sp>
      <p:sp>
        <p:nvSpPr>
          <p:cNvPr id="15" name="Shape 13"/>
          <p:cNvSpPr/>
          <p:nvPr/>
        </p:nvSpPr>
        <p:spPr>
          <a:xfrm>
            <a:off x="4626967" y="4848622"/>
            <a:ext cx="0" cy="342900"/>
          </a:xfrm>
          <a:prstGeom prst="line">
            <a:avLst/>
          </a:prstGeom>
          <a:noFill/>
          <a:ln w="101600">
            <a:solidFill>
              <a:srgbClr val="FFAB19"/>
            </a:solidFill>
            <a:prstDash val="solid"/>
          </a:ln>
        </p:spPr>
      </p:sp>
      <p:sp>
        <p:nvSpPr>
          <p:cNvPr id="16" name="Shape 14"/>
          <p:cNvSpPr/>
          <p:nvPr/>
        </p:nvSpPr>
        <p:spPr>
          <a:xfrm>
            <a:off x="4842867" y="4848622"/>
            <a:ext cx="1452265" cy="342900"/>
          </a:xfrm>
          <a:prstGeom prst="roundRect">
            <a:avLst>
              <a:gd name="adj" fmla="val 25926"/>
            </a:avLst>
          </a:prstGeom>
          <a:solidFill>
            <a:srgbClr val="774DCB"/>
          </a:solidFill>
          <a:ln/>
        </p:spPr>
      </p:sp>
      <p:sp>
        <p:nvSpPr>
          <p:cNvPr id="17" name="Text 15"/>
          <p:cNvSpPr/>
          <p:nvPr/>
        </p:nvSpPr>
        <p:spPr>
          <a:xfrm>
            <a:off x="4969867" y="4924822"/>
            <a:ext cx="124906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say [Doing well!]</a:t>
            </a:r>
            <a:endParaRPr lang="en-US" sz="1200" dirty="0"/>
          </a:p>
        </p:txBody>
      </p:sp>
      <p:sp>
        <p:nvSpPr>
          <p:cNvPr id="18" name="Shape 16"/>
          <p:cNvSpPr/>
          <p:nvPr/>
        </p:nvSpPr>
        <p:spPr>
          <a:xfrm>
            <a:off x="4576167" y="5229622"/>
            <a:ext cx="685800" cy="114300"/>
          </a:xfrm>
          <a:prstGeom prst="roundRect">
            <a:avLst>
              <a:gd name="adj" fmla="val 50000"/>
            </a:avLst>
          </a:prstGeom>
          <a:solidFill>
            <a:srgbClr val="FFAB19"/>
          </a:solidFill>
          <a:ln/>
        </p:spPr>
      </p:sp>
      <p:sp>
        <p:nvSpPr>
          <p:cNvPr id="19" name="Text 17"/>
          <p:cNvSpPr/>
          <p:nvPr/>
        </p:nvSpPr>
        <p:spPr>
          <a:xfrm>
            <a:off x="4576167" y="5420122"/>
            <a:ext cx="3130753"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Pointy block, pointy hole.</a:t>
            </a:r>
            <a:endParaRPr lang="en-US" sz="1350" dirty="0"/>
          </a:p>
        </p:txBody>
      </p:sp>
      <p:sp>
        <p:nvSpPr>
          <p:cNvPr id="20" name="Shape 18"/>
          <p:cNvSpPr/>
          <p:nvPr/>
        </p:nvSpPr>
        <p:spPr>
          <a:xfrm>
            <a:off x="7964984" y="3959027"/>
            <a:ext cx="3407866" cy="1876623"/>
          </a:xfrm>
          <a:prstGeom prst="roundRect">
            <a:avLst>
              <a:gd name="adj" fmla="val 7106"/>
            </a:avLst>
          </a:prstGeom>
          <a:solidFill>
            <a:srgbClr val="FFFCF4"/>
          </a:solidFill>
          <a:ln w="12700">
            <a:solidFill>
              <a:srgbClr val="E4D7BE"/>
            </a:solidFill>
            <a:prstDash val="solid"/>
          </a:ln>
        </p:spPr>
      </p:sp>
      <p:sp>
        <p:nvSpPr>
          <p:cNvPr id="21" name="Text 19"/>
          <p:cNvSpPr/>
          <p:nvPr/>
        </p:nvSpPr>
        <p:spPr>
          <a:xfrm>
            <a:off x="8149134" y="4143177"/>
            <a:ext cx="3130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join sticks words to numbers</a:t>
            </a:r>
            <a:endParaRPr lang="en-US" sz="1700" dirty="0"/>
          </a:p>
        </p:txBody>
      </p:sp>
      <p:sp>
        <p:nvSpPr>
          <p:cNvPr id="22" name="Shape 20"/>
          <p:cNvSpPr/>
          <p:nvPr/>
        </p:nvSpPr>
        <p:spPr>
          <a:xfrm>
            <a:off x="8149134" y="4467622"/>
            <a:ext cx="1974751" cy="342900"/>
          </a:xfrm>
          <a:prstGeom prst="roundRect">
            <a:avLst>
              <a:gd name="adj" fmla="val 25926"/>
            </a:avLst>
          </a:prstGeom>
          <a:solidFill>
            <a:srgbClr val="774DCB"/>
          </a:solidFill>
          <a:ln/>
        </p:spPr>
      </p:sp>
      <p:sp>
        <p:nvSpPr>
          <p:cNvPr id="23" name="Text 21"/>
          <p:cNvSpPr/>
          <p:nvPr/>
        </p:nvSpPr>
        <p:spPr>
          <a:xfrm>
            <a:off x="8276134" y="4543822"/>
            <a:ext cx="177237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say (join [Level ] (level))</a:t>
            </a:r>
            <a:endParaRPr lang="en-US" sz="1200" dirty="0"/>
          </a:p>
        </p:txBody>
      </p:sp>
      <p:sp>
        <p:nvSpPr>
          <p:cNvPr id="24" name="Text 22"/>
          <p:cNvSpPr/>
          <p:nvPr/>
        </p:nvSpPr>
        <p:spPr>
          <a:xfrm>
            <a:off x="8149134" y="4886722"/>
            <a:ext cx="3130753"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Now your messages can include a number.</a:t>
            </a:r>
            <a:endParaRPr lang="en-US" sz="1350" dirty="0"/>
          </a:p>
        </p:txBody>
      </p:sp>
      <p:sp>
        <p:nvSpPr>
          <p:cNvPr id="25" name="Text 2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2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LIVE DEMO · MY BLOCKS</a:t>
            </a:r>
            <a:endParaRPr lang="en-US" sz="1300" dirty="0"/>
          </a:p>
        </p:txBody>
      </p:sp>
      <p:sp>
        <p:nvSpPr>
          <p:cNvPr id="3" name="Text 1"/>
          <p:cNvSpPr/>
          <p:nvPr/>
        </p:nvSpPr>
        <p:spPr>
          <a:xfrm>
            <a:off x="812800" y="1422896"/>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Make a block of your own</a:t>
            </a:r>
            <a:endParaRPr lang="en-US" sz="3600" dirty="0"/>
          </a:p>
        </p:txBody>
      </p:sp>
      <p:sp>
        <p:nvSpPr>
          <p:cNvPr id="4" name="Text 2"/>
          <p:cNvSpPr/>
          <p:nvPr/>
        </p:nvSpPr>
        <p:spPr>
          <a:xfrm>
            <a:off x="812800" y="2295525"/>
            <a:ext cx="3662680" cy="304760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My Blocks → </a:t>
            </a:r>
            <a:r>
              <a:rPr lang="en-US" sz="1700" b="1" dirty="0">
                <a:solidFill>
                  <a:srgbClr val="5C4A46"/>
                </a:solidFill>
                <a:latin typeface="Nunito Sans" pitchFamily="34" charset="0"/>
                <a:ea typeface="Nunito Sans" pitchFamily="34" charset="-122"/>
                <a:cs typeface="Nunito Sans" pitchFamily="34" charset="-120"/>
              </a:rPr>
              <a:t>Make a Block</a:t>
            </a:r>
            <a:r>
              <a:rPr lang="en-US" sz="1700" dirty="0">
                <a:solidFill>
                  <a:srgbClr val="5C4A46"/>
                </a:solidFill>
                <a:latin typeface="Nunito Sans" pitchFamily="34" charset="0"/>
                <a:ea typeface="Nunito Sans" pitchFamily="34" charset="-122"/>
                <a:cs typeface="Nunito Sans" pitchFamily="34" charset="-120"/>
              </a:rPr>
              <a:t>. Call it </a:t>
            </a:r>
            <a:r>
              <a:rPr lang="en-US" sz="1700" b="1" dirty="0">
                <a:solidFill>
                  <a:srgbClr val="5C4A46"/>
                </a:solidFill>
                <a:latin typeface="Nunito Sans" pitchFamily="34" charset="0"/>
                <a:ea typeface="Nunito Sans" pitchFamily="34" charset="-122"/>
                <a:cs typeface="Nunito Sans" pitchFamily="34" charset="-120"/>
              </a:rPr>
              <a:t>reset object</a:t>
            </a:r>
            <a:r>
              <a:rPr lang="en-US" sz="1700" dirty="0">
                <a:solidFill>
                  <a:srgbClr val="5C4A46"/>
                </a:solidFill>
                <a:latin typeface="Nunito Sans" pitchFamily="34" charset="0"/>
                <a:ea typeface="Nunito Sans" pitchFamily="34" charset="-122"/>
                <a:cs typeface="Nunito Sans" pitchFamily="34" charset="-120"/>
              </a:rPr>
              <a:t>.</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A </a:t>
            </a:r>
            <a:r>
              <a:rPr lang="en-US" sz="1700" b="1" dirty="0">
                <a:solidFill>
                  <a:srgbClr val="5C4A46"/>
                </a:solidFill>
                <a:latin typeface="Nunito Sans" pitchFamily="34" charset="0"/>
                <a:ea typeface="Nunito Sans" pitchFamily="34" charset="-122"/>
                <a:cs typeface="Nunito Sans" pitchFamily="34" charset="-120"/>
              </a:rPr>
              <a:t>define</a:t>
            </a:r>
            <a:r>
              <a:rPr lang="en-US" sz="1700" dirty="0">
                <a:solidFill>
                  <a:srgbClr val="5C4A46"/>
                </a:solidFill>
                <a:latin typeface="Nunito Sans" pitchFamily="34" charset="0"/>
                <a:ea typeface="Nunito Sans" pitchFamily="34" charset="-122"/>
                <a:cs typeface="Nunito Sans" pitchFamily="34" charset="-120"/>
              </a:rPr>
              <a:t> hat appears. Put the blocks inside it.</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Now </a:t>
            </a:r>
            <a:r>
              <a:rPr lang="en-US" sz="1700" b="1" dirty="0">
                <a:solidFill>
                  <a:srgbClr val="5C4A46"/>
                </a:solidFill>
                <a:latin typeface="Nunito Sans" pitchFamily="34" charset="0"/>
                <a:ea typeface="Nunito Sans" pitchFamily="34" charset="-122"/>
                <a:cs typeface="Nunito Sans" pitchFamily="34" charset="-120"/>
              </a:rPr>
              <a:t>reset object</a:t>
            </a:r>
            <a:r>
              <a:rPr lang="en-US" sz="1700" dirty="0">
                <a:solidFill>
                  <a:srgbClr val="5C4A46"/>
                </a:solidFill>
                <a:latin typeface="Nunito Sans" pitchFamily="34" charset="0"/>
                <a:ea typeface="Nunito Sans" pitchFamily="34" charset="-122"/>
                <a:cs typeface="Nunito Sans" pitchFamily="34" charset="-120"/>
              </a:rPr>
              <a:t> is in your palette, and you can use it anywhere. Change the definition once and every place you used it changes too.</a:t>
            </a:r>
            <a:endParaRPr lang="en-US" sz="1700" dirty="0"/>
          </a:p>
        </p:txBody>
      </p:sp>
      <p:sp>
        <p:nvSpPr>
          <p:cNvPr id="5" name="Shape 3"/>
          <p:cNvSpPr/>
          <p:nvPr/>
        </p:nvSpPr>
        <p:spPr>
          <a:xfrm>
            <a:off x="4673600" y="2295525"/>
            <a:ext cx="1954113" cy="428625"/>
          </a:xfrm>
          <a:prstGeom prst="roundRect">
            <a:avLst>
              <a:gd name="adj" fmla="val 40000"/>
            </a:avLst>
          </a:prstGeom>
          <a:solidFill>
            <a:srgbClr val="CC4C7A"/>
          </a:solidFill>
          <a:ln/>
        </p:spPr>
      </p:sp>
      <p:sp>
        <p:nvSpPr>
          <p:cNvPr id="6" name="Text 4"/>
          <p:cNvSpPr/>
          <p:nvPr/>
        </p:nvSpPr>
        <p:spPr>
          <a:xfrm>
            <a:off x="4832350" y="2390775"/>
            <a:ext cx="168741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define reset object</a:t>
            </a:r>
            <a:endParaRPr lang="en-US" sz="1500" dirty="0"/>
          </a:p>
        </p:txBody>
      </p:sp>
      <p:sp>
        <p:nvSpPr>
          <p:cNvPr id="7" name="Shape 5"/>
          <p:cNvSpPr/>
          <p:nvPr/>
        </p:nvSpPr>
        <p:spPr>
          <a:xfrm>
            <a:off x="4673600" y="2762250"/>
            <a:ext cx="3950990" cy="428625"/>
          </a:xfrm>
          <a:prstGeom prst="roundRect">
            <a:avLst>
              <a:gd name="adj" fmla="val 20741"/>
            </a:avLst>
          </a:prstGeom>
          <a:solidFill>
            <a:srgbClr val="3373CC"/>
          </a:solidFill>
          <a:ln/>
        </p:spPr>
      </p:sp>
      <p:sp>
        <p:nvSpPr>
          <p:cNvPr id="8" name="Text 6"/>
          <p:cNvSpPr/>
          <p:nvPr/>
        </p:nvSpPr>
        <p:spPr>
          <a:xfrm>
            <a:off x="4832350" y="2857500"/>
            <a:ext cx="374249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go to x: (pick random -220 to 220) y: 170</a:t>
            </a:r>
            <a:endParaRPr lang="en-US" sz="1500" dirty="0"/>
          </a:p>
        </p:txBody>
      </p:sp>
      <p:sp>
        <p:nvSpPr>
          <p:cNvPr id="9" name="Shape 7"/>
          <p:cNvSpPr/>
          <p:nvPr/>
        </p:nvSpPr>
        <p:spPr>
          <a:xfrm>
            <a:off x="4673600" y="3190875"/>
            <a:ext cx="2422922" cy="428625"/>
          </a:xfrm>
          <a:prstGeom prst="roundRect">
            <a:avLst>
              <a:gd name="adj" fmla="val 40000"/>
            </a:avLst>
          </a:prstGeom>
          <a:solidFill>
            <a:srgbClr val="FFBF00"/>
          </a:solidFill>
          <a:ln/>
        </p:spPr>
      </p:sp>
      <p:sp>
        <p:nvSpPr>
          <p:cNvPr id="10" name="Text 8"/>
          <p:cNvSpPr/>
          <p:nvPr/>
        </p:nvSpPr>
        <p:spPr>
          <a:xfrm>
            <a:off x="4832350" y="3286125"/>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11" name="Shape 9"/>
          <p:cNvSpPr/>
          <p:nvPr/>
        </p:nvSpPr>
        <p:spPr>
          <a:xfrm>
            <a:off x="4673600" y="3657600"/>
            <a:ext cx="945455" cy="428625"/>
          </a:xfrm>
          <a:prstGeom prst="roundRect">
            <a:avLst>
              <a:gd name="adj" fmla="val 20741"/>
            </a:avLst>
          </a:prstGeom>
          <a:solidFill>
            <a:srgbClr val="FFAB19"/>
          </a:solidFill>
          <a:ln/>
        </p:spPr>
      </p:sp>
      <p:sp>
        <p:nvSpPr>
          <p:cNvPr id="12" name="Text 10"/>
          <p:cNvSpPr/>
          <p:nvPr/>
        </p:nvSpPr>
        <p:spPr>
          <a:xfrm>
            <a:off x="4832350" y="3752850"/>
            <a:ext cx="67875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forever</a:t>
            </a:r>
            <a:endParaRPr lang="en-US" sz="1500" dirty="0"/>
          </a:p>
        </p:txBody>
      </p:sp>
      <p:sp>
        <p:nvSpPr>
          <p:cNvPr id="13" name="Shape 11"/>
          <p:cNvSpPr/>
          <p:nvPr/>
        </p:nvSpPr>
        <p:spPr>
          <a:xfrm>
            <a:off x="4724400" y="4124325"/>
            <a:ext cx="0" cy="1539875"/>
          </a:xfrm>
          <a:prstGeom prst="line">
            <a:avLst/>
          </a:prstGeom>
          <a:noFill/>
          <a:ln w="101600">
            <a:solidFill>
              <a:srgbClr val="FFAB19"/>
            </a:solidFill>
            <a:prstDash val="solid"/>
          </a:ln>
        </p:spPr>
      </p:sp>
      <p:sp>
        <p:nvSpPr>
          <p:cNvPr id="14" name="Shape 12"/>
          <p:cNvSpPr/>
          <p:nvPr/>
        </p:nvSpPr>
        <p:spPr>
          <a:xfrm>
            <a:off x="4984750" y="4124325"/>
            <a:ext cx="1354435" cy="428625"/>
          </a:xfrm>
          <a:prstGeom prst="roundRect">
            <a:avLst>
              <a:gd name="adj" fmla="val 20741"/>
            </a:avLst>
          </a:prstGeom>
          <a:solidFill>
            <a:srgbClr val="CC4C7A"/>
          </a:solidFill>
          <a:ln/>
        </p:spPr>
      </p:sp>
      <p:sp>
        <p:nvSpPr>
          <p:cNvPr id="15" name="Text 13"/>
          <p:cNvSpPr/>
          <p:nvPr/>
        </p:nvSpPr>
        <p:spPr>
          <a:xfrm>
            <a:off x="5143500" y="4219575"/>
            <a:ext cx="108773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reset object</a:t>
            </a:r>
            <a:endParaRPr lang="en-US" sz="1500" dirty="0"/>
          </a:p>
        </p:txBody>
      </p:sp>
      <p:sp>
        <p:nvSpPr>
          <p:cNvPr id="16" name="Shape 14"/>
          <p:cNvSpPr/>
          <p:nvPr/>
        </p:nvSpPr>
        <p:spPr>
          <a:xfrm>
            <a:off x="4984750" y="4591050"/>
            <a:ext cx="1168896" cy="428625"/>
          </a:xfrm>
          <a:prstGeom prst="roundRect">
            <a:avLst>
              <a:gd name="adj" fmla="val 20741"/>
            </a:avLst>
          </a:prstGeom>
          <a:solidFill>
            <a:srgbClr val="FFAB19"/>
          </a:solidFill>
          <a:ln/>
        </p:spPr>
      </p:sp>
      <p:sp>
        <p:nvSpPr>
          <p:cNvPr id="17" name="Text 15"/>
          <p:cNvSpPr/>
          <p:nvPr/>
        </p:nvSpPr>
        <p:spPr>
          <a:xfrm>
            <a:off x="5143500" y="4686300"/>
            <a:ext cx="90219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repeat 20</a:t>
            </a:r>
            <a:endParaRPr lang="en-US" sz="1500" dirty="0"/>
          </a:p>
        </p:txBody>
      </p:sp>
      <p:sp>
        <p:nvSpPr>
          <p:cNvPr id="18" name="Shape 16"/>
          <p:cNvSpPr/>
          <p:nvPr/>
        </p:nvSpPr>
        <p:spPr>
          <a:xfrm>
            <a:off x="5035550" y="5057775"/>
            <a:ext cx="0" cy="428625"/>
          </a:xfrm>
          <a:prstGeom prst="line">
            <a:avLst/>
          </a:prstGeom>
          <a:noFill/>
          <a:ln w="101600">
            <a:solidFill>
              <a:srgbClr val="FFAB19"/>
            </a:solidFill>
            <a:prstDash val="solid"/>
          </a:ln>
        </p:spPr>
      </p:sp>
      <p:sp>
        <p:nvSpPr>
          <p:cNvPr id="19" name="Shape 17"/>
          <p:cNvSpPr/>
          <p:nvPr/>
        </p:nvSpPr>
        <p:spPr>
          <a:xfrm>
            <a:off x="5295900" y="5057775"/>
            <a:ext cx="1731268" cy="428625"/>
          </a:xfrm>
          <a:prstGeom prst="roundRect">
            <a:avLst>
              <a:gd name="adj" fmla="val 20741"/>
            </a:avLst>
          </a:prstGeom>
          <a:solidFill>
            <a:srgbClr val="3373CC"/>
          </a:solidFill>
          <a:ln/>
        </p:spPr>
      </p:sp>
      <p:sp>
        <p:nvSpPr>
          <p:cNvPr id="20" name="Text 18"/>
          <p:cNvSpPr/>
          <p:nvPr/>
        </p:nvSpPr>
        <p:spPr>
          <a:xfrm>
            <a:off x="5454650" y="5153025"/>
            <a:ext cx="146456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change y by -18</a:t>
            </a:r>
            <a:endParaRPr lang="en-US" sz="1500" dirty="0"/>
          </a:p>
        </p:txBody>
      </p:sp>
      <p:sp>
        <p:nvSpPr>
          <p:cNvPr id="21" name="Shape 19"/>
          <p:cNvSpPr/>
          <p:nvPr/>
        </p:nvSpPr>
        <p:spPr>
          <a:xfrm>
            <a:off x="4984750" y="5524500"/>
            <a:ext cx="857250" cy="139700"/>
          </a:xfrm>
          <a:prstGeom prst="roundRect">
            <a:avLst>
              <a:gd name="adj" fmla="val 50000"/>
            </a:avLst>
          </a:prstGeom>
          <a:solidFill>
            <a:srgbClr val="FFAB19"/>
          </a:solidFill>
          <a:ln/>
        </p:spPr>
      </p:sp>
      <p:sp>
        <p:nvSpPr>
          <p:cNvPr id="22" name="Shape 20"/>
          <p:cNvSpPr/>
          <p:nvPr/>
        </p:nvSpPr>
        <p:spPr>
          <a:xfrm>
            <a:off x="4673600" y="5702300"/>
            <a:ext cx="857250" cy="139700"/>
          </a:xfrm>
          <a:prstGeom prst="roundRect">
            <a:avLst>
              <a:gd name="adj" fmla="val 50000"/>
            </a:avLst>
          </a:prstGeom>
          <a:solidFill>
            <a:srgbClr val="FFAB19"/>
          </a:solidFill>
          <a:ln/>
        </p:spPr>
      </p:sp>
      <p:sp>
        <p:nvSpPr>
          <p:cNvPr id="23" name="Text 2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2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C2332"/>
                </a:solidFill>
                <a:latin typeface="Nunito Sans" pitchFamily="34" charset="0"/>
                <a:ea typeface="Nunito Sans" pitchFamily="34" charset="-122"/>
                <a:cs typeface="Nunito Sans" pitchFamily="34" charset="-120"/>
              </a:rPr>
              <a:t>SPOT THE MISTAKE</a:t>
            </a:r>
            <a:endParaRPr lang="en-US" sz="1300" dirty="0"/>
          </a:p>
        </p:txBody>
      </p:sp>
      <p:sp>
        <p:nvSpPr>
          <p:cNvPr id="3" name="Text 1"/>
          <p:cNvSpPr/>
          <p:nvPr/>
        </p:nvSpPr>
        <p:spPr>
          <a:xfrm>
            <a:off x="812800" y="2170509"/>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My block has disappeared</a:t>
            </a:r>
            <a:endParaRPr lang="en-US" sz="4000" dirty="0"/>
          </a:p>
        </p:txBody>
      </p:sp>
      <p:sp>
        <p:nvSpPr>
          <p:cNvPr id="4" name="Text 2"/>
          <p:cNvSpPr/>
          <p:nvPr/>
        </p:nvSpPr>
        <p:spPr>
          <a:xfrm>
            <a:off x="812800" y="3845620"/>
            <a:ext cx="4055110" cy="10160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E1015"/>
                </a:solidFill>
                <a:latin typeface="Nunito Sans" pitchFamily="34" charset="0"/>
                <a:ea typeface="Nunito Sans" pitchFamily="34" charset="-122"/>
                <a:cs typeface="Nunito Sans" pitchFamily="34" charset="-120"/>
              </a:rPr>
              <a:t>I made reset object on the mango. Now I'm on the coconut and it isn't in the palette.</a:t>
            </a:r>
            <a:endParaRPr lang="en-US" sz="2000" dirty="0"/>
          </a:p>
        </p:txBody>
      </p:sp>
      <p:sp>
        <p:nvSpPr>
          <p:cNvPr id="5" name="Text 3"/>
          <p:cNvSpPr/>
          <p:nvPr/>
        </p:nvSpPr>
        <p:spPr>
          <a:xfrm>
            <a:off x="812800" y="4988620"/>
            <a:ext cx="405511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4A46"/>
                </a:solidFill>
                <a:latin typeface="Nunito Sans" pitchFamily="34" charset="0"/>
                <a:ea typeface="Nunito Sans" pitchFamily="34" charset="-122"/>
                <a:cs typeface="Nunito Sans" pitchFamily="34" charset="-120"/>
              </a:rPr>
              <a:t>My Blocks belong to ONE sprite. Drag the sprite onto the other one to copy it across, or rebuild it.</a:t>
            </a:r>
            <a:endParaRPr lang="en-US" sz="1600" dirty="0"/>
          </a:p>
        </p:txBody>
      </p:sp>
      <p:sp>
        <p:nvSpPr>
          <p:cNvPr id="6" name="Shape 4"/>
          <p:cNvSpPr/>
          <p:nvPr/>
        </p:nvSpPr>
        <p:spPr>
          <a:xfrm>
            <a:off x="5054600" y="3845620"/>
            <a:ext cx="1954113" cy="428625"/>
          </a:xfrm>
          <a:prstGeom prst="roundRect">
            <a:avLst>
              <a:gd name="adj" fmla="val 40000"/>
            </a:avLst>
          </a:prstGeom>
          <a:solidFill>
            <a:srgbClr val="CC4C7A"/>
          </a:solidFill>
          <a:ln/>
        </p:spPr>
      </p:sp>
      <p:sp>
        <p:nvSpPr>
          <p:cNvPr id="7" name="Text 5"/>
          <p:cNvSpPr/>
          <p:nvPr/>
        </p:nvSpPr>
        <p:spPr>
          <a:xfrm>
            <a:off x="5213350" y="3940870"/>
            <a:ext cx="168741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define reset object</a:t>
            </a:r>
            <a:endParaRPr lang="en-US" sz="1500" dirty="0"/>
          </a:p>
        </p:txBody>
      </p:sp>
      <p:sp>
        <p:nvSpPr>
          <p:cNvPr id="8" name="Shape 6"/>
          <p:cNvSpPr/>
          <p:nvPr/>
        </p:nvSpPr>
        <p:spPr>
          <a:xfrm>
            <a:off x="5054600" y="4312345"/>
            <a:ext cx="3950990" cy="428625"/>
          </a:xfrm>
          <a:prstGeom prst="roundRect">
            <a:avLst>
              <a:gd name="adj" fmla="val 20741"/>
            </a:avLst>
          </a:prstGeom>
          <a:solidFill>
            <a:srgbClr val="3373CC"/>
          </a:solidFill>
          <a:ln/>
        </p:spPr>
      </p:sp>
      <p:sp>
        <p:nvSpPr>
          <p:cNvPr id="9" name="Text 7"/>
          <p:cNvSpPr/>
          <p:nvPr/>
        </p:nvSpPr>
        <p:spPr>
          <a:xfrm>
            <a:off x="5213350" y="4407595"/>
            <a:ext cx="374249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go to x: (pick random -220 to 220) y: 170</a:t>
            </a:r>
            <a:endParaRPr lang="en-US" sz="1500" dirty="0"/>
          </a:p>
        </p:txBody>
      </p:sp>
      <p:sp>
        <p:nvSpPr>
          <p:cNvPr id="10" name="Text 8"/>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1"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A · FOURTEEN MINUTES</a:t>
            </a:r>
            <a:endParaRPr lang="en-US" sz="1300" dirty="0"/>
          </a:p>
        </p:txBody>
      </p:sp>
      <p:sp>
        <p:nvSpPr>
          <p:cNvPr id="3" name="Text 1"/>
          <p:cNvSpPr/>
          <p:nvPr/>
        </p:nvSpPr>
        <p:spPr>
          <a:xfrm>
            <a:off x="812800" y="1702296"/>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Quiz Sprite</a:t>
            </a:r>
            <a:endParaRPr lang="en-US" sz="3600" dirty="0"/>
          </a:p>
        </p:txBody>
      </p:sp>
      <p:sp>
        <p:nvSpPr>
          <p:cNvPr id="4" name="Text 2"/>
          <p:cNvSpPr/>
          <p:nvPr/>
        </p:nvSpPr>
        <p:spPr>
          <a:xfrm>
            <a:off x="812800" y="2854325"/>
            <a:ext cx="3662680" cy="214094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A sprite that asks a question, checks the answer, and keeps score.</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add </a:t>
            </a:r>
            <a:r>
              <a:rPr lang="en-US" sz="1700" b="1" dirty="0">
                <a:solidFill>
                  <a:srgbClr val="5C4A46"/>
                </a:solidFill>
                <a:latin typeface="Nunito Sans" pitchFamily="34" charset="0"/>
                <a:ea typeface="Nunito Sans" pitchFamily="34" charset="-122"/>
                <a:cs typeface="Nunito Sans" pitchFamily="34" charset="-120"/>
              </a:rPr>
              <a:t>two more questions</a:t>
            </a:r>
            <a:r>
              <a:rPr lang="en-US" sz="1700" dirty="0">
                <a:solidFill>
                  <a:srgbClr val="5C4A46"/>
                </a:solidFill>
                <a:latin typeface="Nunito Sans" pitchFamily="34" charset="0"/>
                <a:ea typeface="Nunito Sans" pitchFamily="34" charset="-122"/>
                <a:cs typeface="Nunito Sans" pitchFamily="34" charset="-120"/>
              </a:rPr>
              <a:t> the same way. Yes, it'll look repetitive. Leave it like that — Activity B fixes it.</a:t>
            </a:r>
            <a:endParaRPr lang="en-US" sz="1700" dirty="0"/>
          </a:p>
        </p:txBody>
      </p:sp>
      <p:sp>
        <p:nvSpPr>
          <p:cNvPr id="5" name="Shape 3"/>
          <p:cNvSpPr/>
          <p:nvPr/>
        </p:nvSpPr>
        <p:spPr>
          <a:xfrm>
            <a:off x="4673600" y="2854325"/>
            <a:ext cx="2104132" cy="371475"/>
          </a:xfrm>
          <a:prstGeom prst="roundRect">
            <a:avLst>
              <a:gd name="adj" fmla="val 39316"/>
            </a:avLst>
          </a:prstGeom>
          <a:solidFill>
            <a:srgbClr val="FFBF00"/>
          </a:solidFill>
          <a:ln/>
        </p:spPr>
      </p:sp>
      <p:sp>
        <p:nvSpPr>
          <p:cNvPr id="6" name="Text 4"/>
          <p:cNvSpPr/>
          <p:nvPr/>
        </p:nvSpPr>
        <p:spPr>
          <a:xfrm>
            <a:off x="4813300" y="2936875"/>
            <a:ext cx="187947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green flag clicked</a:t>
            </a:r>
            <a:endParaRPr lang="en-US" sz="1300" dirty="0"/>
          </a:p>
        </p:txBody>
      </p:sp>
      <p:sp>
        <p:nvSpPr>
          <p:cNvPr id="7" name="Shape 5"/>
          <p:cNvSpPr/>
          <p:nvPr/>
        </p:nvSpPr>
        <p:spPr>
          <a:xfrm>
            <a:off x="4673600" y="3263900"/>
            <a:ext cx="1423095" cy="371475"/>
          </a:xfrm>
          <a:prstGeom prst="roundRect">
            <a:avLst>
              <a:gd name="adj" fmla="val 23932"/>
            </a:avLst>
          </a:prstGeom>
          <a:solidFill>
            <a:srgbClr val="FF8C1A"/>
          </a:solidFill>
          <a:ln/>
        </p:spPr>
      </p:sp>
      <p:sp>
        <p:nvSpPr>
          <p:cNvPr id="8" name="Text 6"/>
          <p:cNvSpPr/>
          <p:nvPr/>
        </p:nvSpPr>
        <p:spPr>
          <a:xfrm>
            <a:off x="4813300" y="3346450"/>
            <a:ext cx="119449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set [score] to 0</a:t>
            </a:r>
            <a:endParaRPr lang="en-US" sz="1300" dirty="0"/>
          </a:p>
        </p:txBody>
      </p:sp>
      <p:sp>
        <p:nvSpPr>
          <p:cNvPr id="9" name="Shape 7"/>
          <p:cNvSpPr/>
          <p:nvPr/>
        </p:nvSpPr>
        <p:spPr>
          <a:xfrm>
            <a:off x="4673600" y="3673475"/>
            <a:ext cx="2515890" cy="371475"/>
          </a:xfrm>
          <a:prstGeom prst="roundRect">
            <a:avLst>
              <a:gd name="adj" fmla="val 23932"/>
            </a:avLst>
          </a:prstGeom>
          <a:solidFill>
            <a:srgbClr val="2A7FA3"/>
          </a:solidFill>
          <a:ln/>
        </p:spPr>
      </p:sp>
      <p:sp>
        <p:nvSpPr>
          <p:cNvPr id="10" name="Text 8"/>
          <p:cNvSpPr/>
          <p:nvPr/>
        </p:nvSpPr>
        <p:spPr>
          <a:xfrm>
            <a:off x="4813300" y="3756025"/>
            <a:ext cx="230358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ask [What is 7 x 6?] and wait</a:t>
            </a:r>
            <a:endParaRPr lang="en-US" sz="1300" dirty="0"/>
          </a:p>
        </p:txBody>
      </p:sp>
      <p:sp>
        <p:nvSpPr>
          <p:cNvPr id="11" name="Shape 9"/>
          <p:cNvSpPr/>
          <p:nvPr/>
        </p:nvSpPr>
        <p:spPr>
          <a:xfrm>
            <a:off x="4673600" y="4083050"/>
            <a:ext cx="2081212" cy="371475"/>
          </a:xfrm>
          <a:prstGeom prst="roundRect">
            <a:avLst>
              <a:gd name="adj" fmla="val 23932"/>
            </a:avLst>
          </a:prstGeom>
          <a:solidFill>
            <a:srgbClr val="FFAB19"/>
          </a:solidFill>
          <a:ln/>
        </p:spPr>
      </p:sp>
      <p:sp>
        <p:nvSpPr>
          <p:cNvPr id="12" name="Text 10"/>
          <p:cNvSpPr/>
          <p:nvPr/>
        </p:nvSpPr>
        <p:spPr>
          <a:xfrm>
            <a:off x="4813300" y="4165600"/>
            <a:ext cx="1855867"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if &lt;(answer) = 42&gt; then</a:t>
            </a:r>
            <a:endParaRPr lang="en-US" sz="1300" dirty="0"/>
          </a:p>
        </p:txBody>
      </p:sp>
      <p:sp>
        <p:nvSpPr>
          <p:cNvPr id="13" name="Shape 11"/>
          <p:cNvSpPr/>
          <p:nvPr/>
        </p:nvSpPr>
        <p:spPr>
          <a:xfrm>
            <a:off x="4724400" y="4492625"/>
            <a:ext cx="0" cy="781050"/>
          </a:xfrm>
          <a:prstGeom prst="line">
            <a:avLst/>
          </a:prstGeom>
          <a:noFill/>
          <a:ln w="101600">
            <a:solidFill>
              <a:srgbClr val="FFAB19"/>
            </a:solidFill>
            <a:prstDash val="solid"/>
          </a:ln>
        </p:spPr>
      </p:sp>
      <p:sp>
        <p:nvSpPr>
          <p:cNvPr id="14" name="Shape 12"/>
          <p:cNvSpPr/>
          <p:nvPr/>
        </p:nvSpPr>
        <p:spPr>
          <a:xfrm>
            <a:off x="4953000" y="4492625"/>
            <a:ext cx="2367459" cy="371475"/>
          </a:xfrm>
          <a:prstGeom prst="roundRect">
            <a:avLst>
              <a:gd name="adj" fmla="val 23932"/>
            </a:avLst>
          </a:prstGeom>
          <a:solidFill>
            <a:srgbClr val="774DCB"/>
          </a:solidFill>
          <a:ln/>
        </p:spPr>
      </p:sp>
      <p:sp>
        <p:nvSpPr>
          <p:cNvPr id="15" name="Text 13"/>
          <p:cNvSpPr/>
          <p:nvPr/>
        </p:nvSpPr>
        <p:spPr>
          <a:xfrm>
            <a:off x="5092700" y="4575175"/>
            <a:ext cx="21507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say [Correct!] for 2 seconds</a:t>
            </a:r>
            <a:endParaRPr lang="en-US" sz="1300" dirty="0"/>
          </a:p>
        </p:txBody>
      </p:sp>
      <p:sp>
        <p:nvSpPr>
          <p:cNvPr id="16" name="Shape 14"/>
          <p:cNvSpPr/>
          <p:nvPr/>
        </p:nvSpPr>
        <p:spPr>
          <a:xfrm>
            <a:off x="4953000" y="4902200"/>
            <a:ext cx="1767185" cy="371475"/>
          </a:xfrm>
          <a:prstGeom prst="roundRect">
            <a:avLst>
              <a:gd name="adj" fmla="val 23932"/>
            </a:avLst>
          </a:prstGeom>
          <a:solidFill>
            <a:srgbClr val="FF8C1A"/>
          </a:solidFill>
          <a:ln/>
        </p:spPr>
      </p:sp>
      <p:sp>
        <p:nvSpPr>
          <p:cNvPr id="17" name="Text 15"/>
          <p:cNvSpPr/>
          <p:nvPr/>
        </p:nvSpPr>
        <p:spPr>
          <a:xfrm>
            <a:off x="5092700" y="4984750"/>
            <a:ext cx="153858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change [score] by 1</a:t>
            </a:r>
            <a:endParaRPr lang="en-US" sz="1300" dirty="0"/>
          </a:p>
        </p:txBody>
      </p:sp>
      <p:sp>
        <p:nvSpPr>
          <p:cNvPr id="18" name="Shape 16"/>
          <p:cNvSpPr/>
          <p:nvPr/>
        </p:nvSpPr>
        <p:spPr>
          <a:xfrm>
            <a:off x="4673600" y="5311775"/>
            <a:ext cx="742950" cy="120650"/>
          </a:xfrm>
          <a:prstGeom prst="roundRect">
            <a:avLst>
              <a:gd name="adj" fmla="val 50000"/>
            </a:avLst>
          </a:prstGeom>
          <a:solidFill>
            <a:srgbClr val="FFAB19"/>
          </a:solidFill>
          <a:ln/>
        </p:spPr>
      </p:sp>
      <p:sp>
        <p:nvSpPr>
          <p:cNvPr id="19" name="Shape 17"/>
          <p:cNvSpPr/>
          <p:nvPr/>
        </p:nvSpPr>
        <p:spPr>
          <a:xfrm>
            <a:off x="4673600" y="5470525"/>
            <a:ext cx="3383955" cy="371475"/>
          </a:xfrm>
          <a:prstGeom prst="roundRect">
            <a:avLst>
              <a:gd name="adj" fmla="val 23932"/>
            </a:avLst>
          </a:prstGeom>
          <a:solidFill>
            <a:srgbClr val="774DCB"/>
          </a:solidFill>
          <a:ln/>
        </p:spPr>
      </p:sp>
      <p:sp>
        <p:nvSpPr>
          <p:cNvPr id="20" name="Text 18"/>
          <p:cNvSpPr/>
          <p:nvPr/>
        </p:nvSpPr>
        <p:spPr>
          <a:xfrm>
            <a:off x="4813300" y="5553075"/>
            <a:ext cx="3197691"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say (join [No, it was ] [42]) for 2 seconds</a:t>
            </a:r>
            <a:endParaRPr lang="en-US" sz="1300" dirty="0"/>
          </a:p>
        </p:txBody>
      </p:sp>
      <p:sp>
        <p:nvSpPr>
          <p:cNvPr id="21" name="Text 19"/>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22"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B · SIXTEEN MINUTES</a:t>
            </a:r>
            <a:endParaRPr lang="en-US" sz="1300" dirty="0"/>
          </a:p>
        </p:txBody>
      </p:sp>
      <p:sp>
        <p:nvSpPr>
          <p:cNvPr id="3" name="Text 1"/>
          <p:cNvSpPr/>
          <p:nvPr/>
        </p:nvSpPr>
        <p:spPr>
          <a:xfrm>
            <a:off x="812800" y="153392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Make Your Own Block</a:t>
            </a:r>
            <a:endParaRPr lang="en-US" sz="3600" dirty="0"/>
          </a:p>
        </p:txBody>
      </p:sp>
      <p:sp>
        <p:nvSpPr>
          <p:cNvPr id="4" name="Text 2"/>
          <p:cNvSpPr/>
          <p:nvPr/>
        </p:nvSpPr>
        <p:spPr>
          <a:xfrm>
            <a:off x="812800" y="2517577"/>
            <a:ext cx="3662680" cy="334982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Go back to your quiz. Make a My Block called </a:t>
            </a:r>
            <a:r>
              <a:rPr lang="en-US" sz="1700" b="1" dirty="0">
                <a:solidFill>
                  <a:srgbClr val="5C4A46"/>
                </a:solidFill>
                <a:latin typeface="Nunito Sans" pitchFamily="34" charset="0"/>
                <a:ea typeface="Nunito Sans" pitchFamily="34" charset="-122"/>
                <a:cs typeface="Nunito Sans" pitchFamily="34" charset="-120"/>
              </a:rPr>
              <a:t>celebrate</a:t>
            </a:r>
            <a:r>
              <a:rPr lang="en-US" sz="1700" dirty="0">
                <a:solidFill>
                  <a:srgbClr val="5C4A46"/>
                </a:solidFill>
                <a:latin typeface="Nunito Sans" pitchFamily="34" charset="0"/>
                <a:ea typeface="Nunito Sans" pitchFamily="34" charset="-122"/>
                <a:cs typeface="Nunito Sans" pitchFamily="34" charset="-120"/>
              </a:rPr>
              <a:t>.</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Now replace all three copies of the celebration with three </a:t>
            </a:r>
            <a:r>
              <a:rPr lang="en-US" sz="1700" b="1" dirty="0">
                <a:solidFill>
                  <a:srgbClr val="5C4A46"/>
                </a:solidFill>
                <a:latin typeface="Nunito Sans" pitchFamily="34" charset="0"/>
                <a:ea typeface="Nunito Sans" pitchFamily="34" charset="-122"/>
                <a:cs typeface="Nunito Sans" pitchFamily="34" charset="-120"/>
              </a:rPr>
              <a:t>celebrate</a:t>
            </a:r>
            <a:r>
              <a:rPr lang="en-US" sz="1700" dirty="0">
                <a:solidFill>
                  <a:srgbClr val="5C4A46"/>
                </a:solidFill>
                <a:latin typeface="Nunito Sans" pitchFamily="34" charset="0"/>
                <a:ea typeface="Nunito Sans" pitchFamily="34" charset="-122"/>
                <a:cs typeface="Nunito Sans" pitchFamily="34" charset="-120"/>
              </a:rPr>
              <a:t> blocks. Change the definition once, and watch all three change.</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invent your own: </a:t>
            </a:r>
            <a:r>
              <a:rPr lang="en-US" sz="1700" b="1" dirty="0">
                <a:solidFill>
                  <a:srgbClr val="5C4A46"/>
                </a:solidFill>
                <a:latin typeface="Nunito Sans" pitchFamily="34" charset="0"/>
                <a:ea typeface="Nunito Sans" pitchFamily="34" charset="-122"/>
                <a:cs typeface="Nunito Sans" pitchFamily="34" charset="-120"/>
              </a:rPr>
              <a:t>wobble</a:t>
            </a:r>
            <a:r>
              <a:rPr lang="en-US" sz="1700" dirty="0">
                <a:solidFill>
                  <a:srgbClr val="5C4A46"/>
                </a:solidFill>
                <a:latin typeface="Nunito Sans" pitchFamily="34" charset="0"/>
                <a:ea typeface="Nunito Sans" pitchFamily="34" charset="-122"/>
                <a:cs typeface="Nunito Sans" pitchFamily="34" charset="-120"/>
              </a:rPr>
              <a:t>, </a:t>
            </a:r>
            <a:r>
              <a:rPr lang="en-US" sz="1700" b="1" dirty="0">
                <a:solidFill>
                  <a:srgbClr val="5C4A46"/>
                </a:solidFill>
                <a:latin typeface="Nunito Sans" pitchFamily="34" charset="0"/>
                <a:ea typeface="Nunito Sans" pitchFamily="34" charset="-122"/>
                <a:cs typeface="Nunito Sans" pitchFamily="34" charset="-120"/>
              </a:rPr>
              <a:t>explode</a:t>
            </a:r>
            <a:r>
              <a:rPr lang="en-US" sz="1700" dirty="0">
                <a:solidFill>
                  <a:srgbClr val="5C4A46"/>
                </a:solidFill>
                <a:latin typeface="Nunito Sans" pitchFamily="34" charset="0"/>
                <a:ea typeface="Nunito Sans" pitchFamily="34" charset="-122"/>
                <a:cs typeface="Nunito Sans" pitchFamily="34" charset="-120"/>
              </a:rPr>
              <a:t>, </a:t>
            </a:r>
            <a:r>
              <a:rPr lang="en-US" sz="1700" b="1" dirty="0">
                <a:solidFill>
                  <a:srgbClr val="5C4A46"/>
                </a:solidFill>
                <a:latin typeface="Nunito Sans" pitchFamily="34" charset="0"/>
                <a:ea typeface="Nunito Sans" pitchFamily="34" charset="-122"/>
                <a:cs typeface="Nunito Sans" pitchFamily="34" charset="-120"/>
              </a:rPr>
              <a:t>spin around</a:t>
            </a:r>
            <a:r>
              <a:rPr lang="en-US" sz="1700" dirty="0">
                <a:solidFill>
                  <a:srgbClr val="5C4A46"/>
                </a:solidFill>
                <a:latin typeface="Nunito Sans" pitchFamily="34" charset="0"/>
                <a:ea typeface="Nunito Sans" pitchFamily="34" charset="-122"/>
                <a:cs typeface="Nunito Sans" pitchFamily="34" charset="-120"/>
              </a:rPr>
              <a:t>. The naming is half the fun.</a:t>
            </a:r>
            <a:endParaRPr lang="en-US" sz="1700" dirty="0"/>
          </a:p>
        </p:txBody>
      </p:sp>
      <p:sp>
        <p:nvSpPr>
          <p:cNvPr id="5" name="Shape 3"/>
          <p:cNvSpPr/>
          <p:nvPr/>
        </p:nvSpPr>
        <p:spPr>
          <a:xfrm>
            <a:off x="4673600" y="2517577"/>
            <a:ext cx="1619052" cy="400050"/>
          </a:xfrm>
          <a:prstGeom prst="roundRect">
            <a:avLst>
              <a:gd name="adj" fmla="val 39683"/>
            </a:avLst>
          </a:prstGeom>
          <a:solidFill>
            <a:srgbClr val="CC4C7A"/>
          </a:solidFill>
          <a:ln/>
        </p:spPr>
      </p:sp>
      <p:sp>
        <p:nvSpPr>
          <p:cNvPr id="6" name="Text 4"/>
          <p:cNvSpPr/>
          <p:nvPr/>
        </p:nvSpPr>
        <p:spPr>
          <a:xfrm>
            <a:off x="4819650" y="2606477"/>
            <a:ext cx="137775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define celebrate</a:t>
            </a:r>
            <a:endParaRPr lang="en-US" sz="1400" dirty="0"/>
          </a:p>
        </p:txBody>
      </p:sp>
      <p:sp>
        <p:nvSpPr>
          <p:cNvPr id="7" name="Shape 5"/>
          <p:cNvSpPr/>
          <p:nvPr/>
        </p:nvSpPr>
        <p:spPr>
          <a:xfrm>
            <a:off x="4673600" y="2955727"/>
            <a:ext cx="2540794" cy="400050"/>
          </a:xfrm>
          <a:prstGeom prst="roundRect">
            <a:avLst>
              <a:gd name="adj" fmla="val 22222"/>
            </a:avLst>
          </a:prstGeom>
          <a:solidFill>
            <a:srgbClr val="774DCB"/>
          </a:solidFill>
          <a:ln/>
        </p:spPr>
      </p:sp>
      <p:sp>
        <p:nvSpPr>
          <p:cNvPr id="8" name="Text 6"/>
          <p:cNvSpPr/>
          <p:nvPr/>
        </p:nvSpPr>
        <p:spPr>
          <a:xfrm>
            <a:off x="4819650" y="3044627"/>
            <a:ext cx="231615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say [Correct!] for 1 seconds</a:t>
            </a:r>
            <a:endParaRPr lang="en-US" sz="1400" dirty="0"/>
          </a:p>
        </p:txBody>
      </p:sp>
      <p:sp>
        <p:nvSpPr>
          <p:cNvPr id="9" name="Shape 7"/>
          <p:cNvSpPr/>
          <p:nvPr/>
        </p:nvSpPr>
        <p:spPr>
          <a:xfrm>
            <a:off x="4673600" y="3393877"/>
            <a:ext cx="1751905" cy="400050"/>
          </a:xfrm>
          <a:prstGeom prst="roundRect">
            <a:avLst>
              <a:gd name="adj" fmla="val 22222"/>
            </a:avLst>
          </a:prstGeom>
          <a:solidFill>
            <a:srgbClr val="774DCB"/>
          </a:solidFill>
          <a:ln/>
        </p:spPr>
      </p:sp>
      <p:sp>
        <p:nvSpPr>
          <p:cNvPr id="10" name="Text 8"/>
          <p:cNvSpPr/>
          <p:nvPr/>
        </p:nvSpPr>
        <p:spPr>
          <a:xfrm>
            <a:off x="4819650" y="3482777"/>
            <a:ext cx="151060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change size by 25</a:t>
            </a:r>
            <a:endParaRPr lang="en-US" sz="1400" dirty="0"/>
          </a:p>
        </p:txBody>
      </p:sp>
      <p:sp>
        <p:nvSpPr>
          <p:cNvPr id="11" name="Shape 9"/>
          <p:cNvSpPr/>
          <p:nvPr/>
        </p:nvSpPr>
        <p:spPr>
          <a:xfrm>
            <a:off x="4673600" y="3832027"/>
            <a:ext cx="1899642" cy="400050"/>
          </a:xfrm>
          <a:prstGeom prst="roundRect">
            <a:avLst>
              <a:gd name="adj" fmla="val 22222"/>
            </a:avLst>
          </a:prstGeom>
          <a:solidFill>
            <a:srgbClr val="A63FA6"/>
          </a:solidFill>
          <a:ln/>
        </p:spPr>
      </p:sp>
      <p:sp>
        <p:nvSpPr>
          <p:cNvPr id="12" name="Text 10"/>
          <p:cNvSpPr/>
          <p:nvPr/>
        </p:nvSpPr>
        <p:spPr>
          <a:xfrm>
            <a:off x="4819650" y="3920927"/>
            <a:ext cx="165834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start sound [Cheer]</a:t>
            </a:r>
            <a:endParaRPr lang="en-US" sz="1400" dirty="0"/>
          </a:p>
        </p:txBody>
      </p:sp>
      <p:sp>
        <p:nvSpPr>
          <p:cNvPr id="13" name="Shape 11"/>
          <p:cNvSpPr/>
          <p:nvPr/>
        </p:nvSpPr>
        <p:spPr>
          <a:xfrm>
            <a:off x="4673600" y="4270177"/>
            <a:ext cx="1671538" cy="400050"/>
          </a:xfrm>
          <a:prstGeom prst="roundRect">
            <a:avLst>
              <a:gd name="adj" fmla="val 22222"/>
            </a:avLst>
          </a:prstGeom>
          <a:solidFill>
            <a:srgbClr val="FFAB19"/>
          </a:solidFill>
          <a:ln/>
        </p:spPr>
      </p:sp>
      <p:sp>
        <p:nvSpPr>
          <p:cNvPr id="14" name="Text 12"/>
          <p:cNvSpPr/>
          <p:nvPr/>
        </p:nvSpPr>
        <p:spPr>
          <a:xfrm>
            <a:off x="4819650" y="4359077"/>
            <a:ext cx="143023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wait 0.5 seconds</a:t>
            </a:r>
            <a:endParaRPr lang="en-US" sz="1400" dirty="0"/>
          </a:p>
        </p:txBody>
      </p:sp>
      <p:sp>
        <p:nvSpPr>
          <p:cNvPr id="15" name="Shape 13"/>
          <p:cNvSpPr/>
          <p:nvPr/>
        </p:nvSpPr>
        <p:spPr>
          <a:xfrm>
            <a:off x="4673600" y="4708327"/>
            <a:ext cx="1829098" cy="400050"/>
          </a:xfrm>
          <a:prstGeom prst="roundRect">
            <a:avLst>
              <a:gd name="adj" fmla="val 22222"/>
            </a:avLst>
          </a:prstGeom>
          <a:solidFill>
            <a:srgbClr val="774DCB"/>
          </a:solidFill>
          <a:ln/>
        </p:spPr>
      </p:sp>
      <p:sp>
        <p:nvSpPr>
          <p:cNvPr id="16" name="Text 14"/>
          <p:cNvSpPr/>
          <p:nvPr/>
        </p:nvSpPr>
        <p:spPr>
          <a:xfrm>
            <a:off x="4819650" y="4797227"/>
            <a:ext cx="158779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change size by -25</a:t>
            </a:r>
            <a:endParaRPr lang="en-US" sz="1400" dirty="0"/>
          </a:p>
        </p:txBody>
      </p:sp>
      <p:sp>
        <p:nvSpPr>
          <p:cNvPr id="17" name="Text 1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2758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E7C8"/>
                </a:solidFill>
                <a:latin typeface="Fredoka" pitchFamily="34" charset="0"/>
                <a:ea typeface="Fredoka" pitchFamily="34" charset="-122"/>
                <a:cs typeface="Fredoka" pitchFamily="34" charset="-120"/>
              </a:rPr>
              <a:t>Break</a:t>
            </a:r>
            <a:endParaRPr lang="en-US" sz="6000" dirty="0"/>
          </a:p>
        </p:txBody>
      </p:sp>
      <p:sp>
        <p:nvSpPr>
          <p:cNvPr id="3" name="Text 1"/>
          <p:cNvSpPr/>
          <p:nvPr/>
        </p:nvSpPr>
        <p:spPr>
          <a:xfrm>
            <a:off x="812800" y="3329980"/>
            <a:ext cx="78486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49A7E"/>
                </a:solidFill>
                <a:latin typeface="Nunito Sans" pitchFamily="34" charset="0"/>
                <a:ea typeface="Nunito Sans" pitchFamily="34" charset="-122"/>
                <a:cs typeface="Nunito Sans" pitchFamily="34" charset="-120"/>
              </a:rPr>
              <a:t>Ten minutes. Get up, stretch, drink some water.</a:t>
            </a:r>
            <a:endParaRPr lang="en-US" sz="2200" dirty="0"/>
          </a:p>
        </p:txBody>
      </p:sp>
      <p:sp>
        <p:nvSpPr>
          <p:cNvPr id="4" name="Shape 2"/>
          <p:cNvSpPr/>
          <p:nvPr/>
        </p:nvSpPr>
        <p:spPr>
          <a:xfrm>
            <a:off x="812800" y="3975100"/>
            <a:ext cx="1143000" cy="50800"/>
          </a:xfrm>
          <a:prstGeom prst="roundRect">
            <a:avLst>
              <a:gd name="adj" fmla="val 50000"/>
            </a:avLst>
          </a:prstGeom>
          <a:solidFill>
            <a:srgbClr val="C9A227"/>
          </a:solidFill>
          <a:ln/>
        </p:spPr>
      </p:sp>
      <p:sp>
        <p:nvSpPr>
          <p:cNvPr id="5" name="Text 3"/>
          <p:cNvSpPr/>
          <p:nvPr/>
        </p:nvSpPr>
        <p:spPr>
          <a:xfrm>
            <a:off x="812800" y="427990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After the break: your game gets harder as you get better.</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55657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TODAY'S GOAL</a:t>
            </a:r>
            <a:endParaRPr lang="en-US" sz="1300" dirty="0"/>
          </a:p>
        </p:txBody>
      </p:sp>
      <p:sp>
        <p:nvSpPr>
          <p:cNvPr id="3" name="Text 1"/>
          <p:cNvSpPr/>
          <p:nvPr/>
        </p:nvSpPr>
        <p:spPr>
          <a:xfrm>
            <a:off x="812800" y="3016250"/>
            <a:ext cx="9810750" cy="1310481"/>
          </a:xfrm>
          <a:prstGeom prst="rect">
            <a:avLst/>
          </a:prstGeom>
          <a:noFill/>
          <a:ln/>
        </p:spPr>
        <p:txBody>
          <a:bodyPr wrap="square" lIns="0" tIns="0" rIns="0" bIns="0" rtlCol="0" anchor="t">
            <a:normAutofit/>
          </a:bodyPr>
          <a:lstStyle/>
          <a:p>
            <a:pPr algn="l" indent="0" marL="0">
              <a:lnSpc>
                <a:spcPts val="5060"/>
              </a:lnSpc>
              <a:buNone/>
            </a:pPr>
            <a:r>
              <a:rPr lang="en-US" sz="4600" b="1" dirty="0">
                <a:solidFill>
                  <a:srgbClr val="FFF4E8"/>
                </a:solidFill>
                <a:latin typeface="Fredoka" pitchFamily="34" charset="0"/>
                <a:ea typeface="Fredoka" pitchFamily="34" charset="-122"/>
                <a:cs typeface="Fredoka" pitchFamily="34" charset="-120"/>
              </a:rPr>
              <a:t>By the end of today your game gets harder the better you get at it.</a:t>
            </a:r>
            <a:endParaRPr lang="en-US" sz="4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BUILD STEP 1 AND 2 · DIFFICULTY</a:t>
            </a:r>
            <a:endParaRPr lang="en-US" sz="1300" dirty="0"/>
          </a:p>
        </p:txBody>
      </p:sp>
      <p:sp>
        <p:nvSpPr>
          <p:cNvPr id="3" name="Text 1"/>
          <p:cNvSpPr/>
          <p:nvPr/>
        </p:nvSpPr>
        <p:spPr>
          <a:xfrm>
            <a:off x="812800" y="1418134"/>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Make it speed up</a:t>
            </a:r>
            <a:endParaRPr lang="en-US" sz="3600" dirty="0"/>
          </a:p>
        </p:txBody>
      </p:sp>
      <p:sp>
        <p:nvSpPr>
          <p:cNvPr id="4" name="Text 2"/>
          <p:cNvSpPr/>
          <p:nvPr/>
        </p:nvSpPr>
        <p:spPr>
          <a:xfrm>
            <a:off x="812800" y="2286000"/>
            <a:ext cx="3662680" cy="244316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Make a variable called </a:t>
            </a:r>
            <a:r>
              <a:rPr lang="en-US" sz="1700" b="1" dirty="0">
                <a:solidFill>
                  <a:srgbClr val="5C4A46"/>
                </a:solidFill>
                <a:latin typeface="Nunito Sans" pitchFamily="34" charset="0"/>
                <a:ea typeface="Nunito Sans" pitchFamily="34" charset="-122"/>
                <a:cs typeface="Nunito Sans" pitchFamily="34" charset="-120"/>
              </a:rPr>
              <a:t>speed</a:t>
            </a:r>
            <a:r>
              <a:rPr lang="en-US" sz="1700" dirty="0">
                <a:solidFill>
                  <a:srgbClr val="5C4A46"/>
                </a:solidFill>
                <a:latin typeface="Nunito Sans" pitchFamily="34" charset="0"/>
                <a:ea typeface="Nunito Sans" pitchFamily="34" charset="-122"/>
                <a:cs typeface="Nunito Sans" pitchFamily="34" charset="-120"/>
              </a:rPr>
              <a:t>, set it to </a:t>
            </a:r>
            <a:r>
              <a:rPr lang="en-US" sz="1700" b="1" dirty="0">
                <a:solidFill>
                  <a:srgbClr val="5C4A46"/>
                </a:solidFill>
                <a:latin typeface="Nunito Sans" pitchFamily="34" charset="0"/>
                <a:ea typeface="Nunito Sans" pitchFamily="34" charset="-122"/>
                <a:cs typeface="Nunito Sans" pitchFamily="34" charset="-120"/>
              </a:rPr>
              <a:t>0.02</a:t>
            </a:r>
            <a:r>
              <a:rPr lang="en-US" sz="1700" dirty="0">
                <a:solidFill>
                  <a:srgbClr val="5C4A46"/>
                </a:solidFill>
                <a:latin typeface="Nunito Sans" pitchFamily="34" charset="0"/>
                <a:ea typeface="Nunito Sans" pitchFamily="34" charset="-122"/>
                <a:cs typeface="Nunito Sans" pitchFamily="34" charset="-120"/>
              </a:rPr>
              <a:t>, and replace the fixed </a:t>
            </a:r>
            <a:r>
              <a:rPr lang="en-US" sz="1700" b="1" dirty="0">
                <a:solidFill>
                  <a:srgbClr val="5C4A46"/>
                </a:solidFill>
                <a:latin typeface="Nunito Sans" pitchFamily="34" charset="0"/>
                <a:ea typeface="Nunito Sans" pitchFamily="34" charset="-122"/>
                <a:cs typeface="Nunito Sans" pitchFamily="34" charset="-120"/>
              </a:rPr>
              <a:t>wait 0.02</a:t>
            </a:r>
            <a:r>
              <a:rPr lang="en-US" sz="1700" dirty="0">
                <a:solidFill>
                  <a:srgbClr val="5C4A46"/>
                </a:solidFill>
                <a:latin typeface="Nunito Sans" pitchFamily="34" charset="0"/>
                <a:ea typeface="Nunito Sans" pitchFamily="34" charset="-122"/>
                <a:cs typeface="Nunito Sans" pitchFamily="34" charset="-120"/>
              </a:rPr>
              <a:t> in your falling loop with </a:t>
            </a:r>
            <a:r>
              <a:rPr lang="en-US" sz="1700" b="1" dirty="0">
                <a:solidFill>
                  <a:srgbClr val="5C4A46"/>
                </a:solidFill>
                <a:latin typeface="Nunito Sans" pitchFamily="34" charset="0"/>
                <a:ea typeface="Nunito Sans" pitchFamily="34" charset="-122"/>
                <a:cs typeface="Nunito Sans" pitchFamily="34" charset="-120"/>
              </a:rPr>
              <a:t>wait (speed)</a:t>
            </a:r>
            <a:r>
              <a:rPr lang="en-US" sz="1700" dirty="0">
                <a:solidFill>
                  <a:srgbClr val="5C4A46"/>
                </a:solidFill>
                <a:latin typeface="Nunito Sans" pitchFamily="34" charset="0"/>
                <a:ea typeface="Nunito Sans" pitchFamily="34" charset="-122"/>
                <a:cs typeface="Nunito Sans" pitchFamily="34" charset="-120"/>
              </a:rPr>
              <a:t>.</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put this on your player. Every ten points, everything gets fifteen percent faster.</a:t>
            </a:r>
            <a:endParaRPr lang="en-US" sz="1700" dirty="0"/>
          </a:p>
        </p:txBody>
      </p:sp>
      <p:sp>
        <p:nvSpPr>
          <p:cNvPr id="5" name="Shape 3"/>
          <p:cNvSpPr/>
          <p:nvPr/>
        </p:nvSpPr>
        <p:spPr>
          <a:xfrm>
            <a:off x="4673600" y="2286000"/>
            <a:ext cx="2323505" cy="371475"/>
          </a:xfrm>
          <a:prstGeom prst="roundRect">
            <a:avLst>
              <a:gd name="adj" fmla="val 39316"/>
            </a:avLst>
          </a:prstGeom>
          <a:solidFill>
            <a:srgbClr val="FFBF00"/>
          </a:solidFill>
          <a:ln/>
        </p:spPr>
      </p:sp>
      <p:sp>
        <p:nvSpPr>
          <p:cNvPr id="6" name="Text 4"/>
          <p:cNvSpPr/>
          <p:nvPr/>
        </p:nvSpPr>
        <p:spPr>
          <a:xfrm>
            <a:off x="4813300" y="2368550"/>
            <a:ext cx="2105428"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I receive [startgame]</a:t>
            </a:r>
            <a:endParaRPr lang="en-US" sz="1300" dirty="0"/>
          </a:p>
        </p:txBody>
      </p:sp>
      <p:sp>
        <p:nvSpPr>
          <p:cNvPr id="7" name="Shape 5"/>
          <p:cNvSpPr/>
          <p:nvPr/>
        </p:nvSpPr>
        <p:spPr>
          <a:xfrm>
            <a:off x="4673600" y="2695575"/>
            <a:ext cx="1398191" cy="371475"/>
          </a:xfrm>
          <a:prstGeom prst="roundRect">
            <a:avLst>
              <a:gd name="adj" fmla="val 23932"/>
            </a:avLst>
          </a:prstGeom>
          <a:solidFill>
            <a:srgbClr val="FF8C1A"/>
          </a:solidFill>
          <a:ln/>
        </p:spPr>
      </p:sp>
      <p:sp>
        <p:nvSpPr>
          <p:cNvPr id="8" name="Text 6"/>
          <p:cNvSpPr/>
          <p:nvPr/>
        </p:nvSpPr>
        <p:spPr>
          <a:xfrm>
            <a:off x="4813300" y="2778125"/>
            <a:ext cx="1169591"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set [level] to 1</a:t>
            </a:r>
            <a:endParaRPr lang="en-US" sz="1300" dirty="0"/>
          </a:p>
        </p:txBody>
      </p:sp>
      <p:sp>
        <p:nvSpPr>
          <p:cNvPr id="9" name="Shape 7"/>
          <p:cNvSpPr/>
          <p:nvPr/>
        </p:nvSpPr>
        <p:spPr>
          <a:xfrm>
            <a:off x="4673600" y="3105150"/>
            <a:ext cx="823615" cy="371475"/>
          </a:xfrm>
          <a:prstGeom prst="roundRect">
            <a:avLst>
              <a:gd name="adj" fmla="val 23932"/>
            </a:avLst>
          </a:prstGeom>
          <a:solidFill>
            <a:srgbClr val="FFAB19"/>
          </a:solidFill>
          <a:ln/>
        </p:spPr>
      </p:sp>
      <p:sp>
        <p:nvSpPr>
          <p:cNvPr id="10" name="Text 8"/>
          <p:cNvSpPr/>
          <p:nvPr/>
        </p:nvSpPr>
        <p:spPr>
          <a:xfrm>
            <a:off x="4813300" y="3187700"/>
            <a:ext cx="59501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forever</a:t>
            </a:r>
            <a:endParaRPr lang="en-US" sz="1300" dirty="0"/>
          </a:p>
        </p:txBody>
      </p:sp>
      <p:sp>
        <p:nvSpPr>
          <p:cNvPr id="11" name="Shape 9"/>
          <p:cNvSpPr/>
          <p:nvPr/>
        </p:nvSpPr>
        <p:spPr>
          <a:xfrm>
            <a:off x="4724400" y="3514725"/>
            <a:ext cx="0" cy="2168525"/>
          </a:xfrm>
          <a:prstGeom prst="line">
            <a:avLst/>
          </a:prstGeom>
          <a:noFill/>
          <a:ln w="101600">
            <a:solidFill>
              <a:srgbClr val="FFAB19"/>
            </a:solidFill>
            <a:prstDash val="solid"/>
          </a:ln>
        </p:spPr>
      </p:sp>
      <p:sp>
        <p:nvSpPr>
          <p:cNvPr id="12" name="Shape 10"/>
          <p:cNvSpPr/>
          <p:nvPr/>
        </p:nvSpPr>
        <p:spPr>
          <a:xfrm>
            <a:off x="4953000" y="3514725"/>
            <a:ext cx="2701131" cy="371475"/>
          </a:xfrm>
          <a:prstGeom prst="roundRect">
            <a:avLst>
              <a:gd name="adj" fmla="val 23932"/>
            </a:avLst>
          </a:prstGeom>
          <a:solidFill>
            <a:srgbClr val="FFAB19"/>
          </a:solidFill>
          <a:ln/>
        </p:spPr>
      </p:sp>
      <p:sp>
        <p:nvSpPr>
          <p:cNvPr id="13" name="Text 11"/>
          <p:cNvSpPr/>
          <p:nvPr/>
        </p:nvSpPr>
        <p:spPr>
          <a:xfrm>
            <a:off x="5092700" y="3597275"/>
            <a:ext cx="2494383"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if &lt;(score) &gt; ((level) * 10)&gt; then</a:t>
            </a:r>
            <a:endParaRPr lang="en-US" sz="1300" dirty="0"/>
          </a:p>
        </p:txBody>
      </p:sp>
      <p:sp>
        <p:nvSpPr>
          <p:cNvPr id="14" name="Shape 12"/>
          <p:cNvSpPr/>
          <p:nvPr/>
        </p:nvSpPr>
        <p:spPr>
          <a:xfrm>
            <a:off x="5003800" y="3924300"/>
            <a:ext cx="0" cy="1190625"/>
          </a:xfrm>
          <a:prstGeom prst="line">
            <a:avLst/>
          </a:prstGeom>
          <a:noFill/>
          <a:ln w="101600">
            <a:solidFill>
              <a:srgbClr val="FFAB19"/>
            </a:solidFill>
            <a:prstDash val="solid"/>
          </a:ln>
        </p:spPr>
      </p:sp>
      <p:sp>
        <p:nvSpPr>
          <p:cNvPr id="15" name="Shape 13"/>
          <p:cNvSpPr/>
          <p:nvPr/>
        </p:nvSpPr>
        <p:spPr>
          <a:xfrm>
            <a:off x="5232400" y="3924300"/>
            <a:ext cx="1742281" cy="371475"/>
          </a:xfrm>
          <a:prstGeom prst="roundRect">
            <a:avLst>
              <a:gd name="adj" fmla="val 23932"/>
            </a:avLst>
          </a:prstGeom>
          <a:solidFill>
            <a:srgbClr val="FF8C1A"/>
          </a:solidFill>
          <a:ln/>
        </p:spPr>
      </p:sp>
      <p:sp>
        <p:nvSpPr>
          <p:cNvPr id="16" name="Text 14"/>
          <p:cNvSpPr/>
          <p:nvPr/>
        </p:nvSpPr>
        <p:spPr>
          <a:xfrm>
            <a:off x="5372100" y="4006850"/>
            <a:ext cx="1513681"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change [level] by 1</a:t>
            </a:r>
            <a:endParaRPr lang="en-US" sz="1300" dirty="0"/>
          </a:p>
        </p:txBody>
      </p:sp>
      <p:sp>
        <p:nvSpPr>
          <p:cNvPr id="17" name="Shape 15"/>
          <p:cNvSpPr/>
          <p:nvPr/>
        </p:nvSpPr>
        <p:spPr>
          <a:xfrm>
            <a:off x="5232400" y="4333875"/>
            <a:ext cx="2574528" cy="371475"/>
          </a:xfrm>
          <a:prstGeom prst="roundRect">
            <a:avLst>
              <a:gd name="adj" fmla="val 23932"/>
            </a:avLst>
          </a:prstGeom>
          <a:solidFill>
            <a:srgbClr val="FF8C1A"/>
          </a:solidFill>
          <a:ln/>
        </p:spPr>
      </p:sp>
      <p:sp>
        <p:nvSpPr>
          <p:cNvPr id="18" name="Text 16"/>
          <p:cNvSpPr/>
          <p:nvPr/>
        </p:nvSpPr>
        <p:spPr>
          <a:xfrm>
            <a:off x="5372100" y="4416425"/>
            <a:ext cx="236398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set [speed] to ((speed) * 0.85)</a:t>
            </a:r>
            <a:endParaRPr lang="en-US" sz="1300" dirty="0"/>
          </a:p>
        </p:txBody>
      </p:sp>
      <p:sp>
        <p:nvSpPr>
          <p:cNvPr id="19" name="Shape 17"/>
          <p:cNvSpPr/>
          <p:nvPr/>
        </p:nvSpPr>
        <p:spPr>
          <a:xfrm>
            <a:off x="5232400" y="4743450"/>
            <a:ext cx="3211810" cy="371475"/>
          </a:xfrm>
          <a:prstGeom prst="roundRect">
            <a:avLst>
              <a:gd name="adj" fmla="val 23932"/>
            </a:avLst>
          </a:prstGeom>
          <a:solidFill>
            <a:srgbClr val="774DCB"/>
          </a:solidFill>
          <a:ln/>
        </p:spPr>
      </p:sp>
      <p:sp>
        <p:nvSpPr>
          <p:cNvPr id="20" name="Text 18"/>
          <p:cNvSpPr/>
          <p:nvPr/>
        </p:nvSpPr>
        <p:spPr>
          <a:xfrm>
            <a:off x="5372100" y="4826000"/>
            <a:ext cx="302038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say (join [Level ] (level)) for 1 seconds</a:t>
            </a:r>
            <a:endParaRPr lang="en-US" sz="1300" dirty="0"/>
          </a:p>
        </p:txBody>
      </p:sp>
      <p:sp>
        <p:nvSpPr>
          <p:cNvPr id="21" name="Shape 19"/>
          <p:cNvSpPr/>
          <p:nvPr/>
        </p:nvSpPr>
        <p:spPr>
          <a:xfrm>
            <a:off x="4953000" y="5153025"/>
            <a:ext cx="742950" cy="120650"/>
          </a:xfrm>
          <a:prstGeom prst="roundRect">
            <a:avLst>
              <a:gd name="adj" fmla="val 50000"/>
            </a:avLst>
          </a:prstGeom>
          <a:solidFill>
            <a:srgbClr val="FFAB19"/>
          </a:solidFill>
          <a:ln/>
        </p:spPr>
      </p:sp>
      <p:sp>
        <p:nvSpPr>
          <p:cNvPr id="22" name="Shape 20"/>
          <p:cNvSpPr/>
          <p:nvPr/>
        </p:nvSpPr>
        <p:spPr>
          <a:xfrm>
            <a:off x="4953000" y="5311775"/>
            <a:ext cx="1560314" cy="371475"/>
          </a:xfrm>
          <a:prstGeom prst="roundRect">
            <a:avLst>
              <a:gd name="adj" fmla="val 23932"/>
            </a:avLst>
          </a:prstGeom>
          <a:solidFill>
            <a:srgbClr val="FFAB19"/>
          </a:solidFill>
          <a:ln/>
        </p:spPr>
      </p:sp>
      <p:sp>
        <p:nvSpPr>
          <p:cNvPr id="23" name="Text 21"/>
          <p:cNvSpPr/>
          <p:nvPr/>
        </p:nvSpPr>
        <p:spPr>
          <a:xfrm>
            <a:off x="5092700" y="5394325"/>
            <a:ext cx="133171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wait 0.1 seconds</a:t>
            </a:r>
            <a:endParaRPr lang="en-US" sz="1300" dirty="0"/>
          </a:p>
        </p:txBody>
      </p:sp>
      <p:sp>
        <p:nvSpPr>
          <p:cNvPr id="24" name="Shape 22"/>
          <p:cNvSpPr/>
          <p:nvPr/>
        </p:nvSpPr>
        <p:spPr>
          <a:xfrm>
            <a:off x="4673600" y="5721350"/>
            <a:ext cx="742950" cy="120650"/>
          </a:xfrm>
          <a:prstGeom prst="roundRect">
            <a:avLst>
              <a:gd name="adj" fmla="val 50000"/>
            </a:avLst>
          </a:prstGeom>
          <a:solidFill>
            <a:srgbClr val="FFAB19"/>
          </a:solidFill>
          <a:ln/>
        </p:spPr>
      </p:sp>
      <p:sp>
        <p:nvSpPr>
          <p:cNvPr id="25" name="Text 2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2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BUILD STEP 3 · A RARE TREASURE</a:t>
            </a:r>
            <a:endParaRPr lang="en-US" sz="1300" dirty="0"/>
          </a:p>
        </p:txBody>
      </p:sp>
      <p:sp>
        <p:nvSpPr>
          <p:cNvPr id="3" name="Text 1"/>
          <p:cNvSpPr/>
          <p:nvPr/>
        </p:nvSpPr>
        <p:spPr>
          <a:xfrm>
            <a:off x="812800" y="183614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Something that only turns up sometimes</a:t>
            </a:r>
            <a:endParaRPr lang="en-US" sz="3600" dirty="0"/>
          </a:p>
        </p:txBody>
      </p:sp>
      <p:sp>
        <p:nvSpPr>
          <p:cNvPr id="4" name="Text 2"/>
          <p:cNvSpPr/>
          <p:nvPr/>
        </p:nvSpPr>
        <p:spPr>
          <a:xfrm>
            <a:off x="812800" y="3122017"/>
            <a:ext cx="3662680" cy="274538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Duplicate a falling object and make it look special — gold, sparkly, whatever you like.</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at the top of its falling loop, roll a dice. One time in five it shows up.</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Make it worth </a:t>
            </a:r>
            <a:r>
              <a:rPr lang="en-US" sz="1700" b="1" dirty="0">
                <a:solidFill>
                  <a:srgbClr val="5C4A46"/>
                </a:solidFill>
                <a:latin typeface="Nunito Sans" pitchFamily="34" charset="0"/>
                <a:ea typeface="Nunito Sans" pitchFamily="34" charset="-122"/>
                <a:cs typeface="Nunito Sans" pitchFamily="34" charset="-120"/>
              </a:rPr>
              <a:t>5 points</a:t>
            </a:r>
            <a:r>
              <a:rPr lang="en-US" sz="1700" dirty="0">
                <a:solidFill>
                  <a:srgbClr val="5C4A46"/>
                </a:solidFill>
                <a:latin typeface="Nunito Sans" pitchFamily="34" charset="0"/>
                <a:ea typeface="Nunito Sans" pitchFamily="34" charset="-122"/>
                <a:cs typeface="Nunito Sans" pitchFamily="34" charset="-120"/>
              </a:rPr>
              <a:t> instead of 1.</a:t>
            </a:r>
            <a:endParaRPr lang="en-US" sz="1700" dirty="0"/>
          </a:p>
        </p:txBody>
      </p:sp>
      <p:sp>
        <p:nvSpPr>
          <p:cNvPr id="5" name="Shape 3"/>
          <p:cNvSpPr/>
          <p:nvPr/>
        </p:nvSpPr>
        <p:spPr>
          <a:xfrm>
            <a:off x="4673600" y="3122017"/>
            <a:ext cx="3285728" cy="428625"/>
          </a:xfrm>
          <a:prstGeom prst="roundRect">
            <a:avLst>
              <a:gd name="adj" fmla="val 20741"/>
            </a:avLst>
          </a:prstGeom>
          <a:solidFill>
            <a:srgbClr val="FFAB19"/>
          </a:solidFill>
          <a:ln/>
        </p:spPr>
      </p:sp>
      <p:sp>
        <p:nvSpPr>
          <p:cNvPr id="6" name="Text 4"/>
          <p:cNvSpPr/>
          <p:nvPr/>
        </p:nvSpPr>
        <p:spPr>
          <a:xfrm>
            <a:off x="4832350" y="3217267"/>
            <a:ext cx="305727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if &lt;(pick random 1 to 5) = 1&gt; then</a:t>
            </a:r>
            <a:endParaRPr lang="en-US" sz="1500" dirty="0"/>
          </a:p>
        </p:txBody>
      </p:sp>
      <p:sp>
        <p:nvSpPr>
          <p:cNvPr id="7" name="Shape 5"/>
          <p:cNvSpPr/>
          <p:nvPr/>
        </p:nvSpPr>
        <p:spPr>
          <a:xfrm>
            <a:off x="4724400" y="3588742"/>
            <a:ext cx="0" cy="428625"/>
          </a:xfrm>
          <a:prstGeom prst="line">
            <a:avLst/>
          </a:prstGeom>
          <a:noFill/>
          <a:ln w="101600">
            <a:solidFill>
              <a:srgbClr val="FFAB19"/>
            </a:solidFill>
            <a:prstDash val="solid"/>
          </a:ln>
        </p:spPr>
      </p:sp>
      <p:sp>
        <p:nvSpPr>
          <p:cNvPr id="8" name="Shape 6"/>
          <p:cNvSpPr/>
          <p:nvPr/>
        </p:nvSpPr>
        <p:spPr>
          <a:xfrm>
            <a:off x="4984750" y="3588742"/>
            <a:ext cx="792262" cy="428625"/>
          </a:xfrm>
          <a:prstGeom prst="roundRect">
            <a:avLst>
              <a:gd name="adj" fmla="val 20741"/>
            </a:avLst>
          </a:prstGeom>
          <a:solidFill>
            <a:srgbClr val="774DCB"/>
          </a:solidFill>
          <a:ln/>
        </p:spPr>
      </p:sp>
      <p:sp>
        <p:nvSpPr>
          <p:cNvPr id="9" name="Text 7"/>
          <p:cNvSpPr/>
          <p:nvPr/>
        </p:nvSpPr>
        <p:spPr>
          <a:xfrm>
            <a:off x="5143500" y="3683992"/>
            <a:ext cx="525562"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show</a:t>
            </a:r>
            <a:endParaRPr lang="en-US" sz="1500" dirty="0"/>
          </a:p>
        </p:txBody>
      </p:sp>
      <p:sp>
        <p:nvSpPr>
          <p:cNvPr id="10" name="Shape 8"/>
          <p:cNvSpPr/>
          <p:nvPr/>
        </p:nvSpPr>
        <p:spPr>
          <a:xfrm>
            <a:off x="4673600" y="4055467"/>
            <a:ext cx="857250" cy="139700"/>
          </a:xfrm>
          <a:prstGeom prst="roundRect">
            <a:avLst>
              <a:gd name="adj" fmla="val 50000"/>
            </a:avLst>
          </a:prstGeom>
          <a:solidFill>
            <a:srgbClr val="FFAB19"/>
          </a:solidFill>
          <a:ln/>
        </p:spPr>
      </p:sp>
      <p:sp>
        <p:nvSpPr>
          <p:cNvPr id="11" name="Shape 9"/>
          <p:cNvSpPr/>
          <p:nvPr/>
        </p:nvSpPr>
        <p:spPr>
          <a:xfrm>
            <a:off x="4673600" y="4233267"/>
            <a:ext cx="695127" cy="428625"/>
          </a:xfrm>
          <a:prstGeom prst="roundRect">
            <a:avLst>
              <a:gd name="adj" fmla="val 20741"/>
            </a:avLst>
          </a:prstGeom>
          <a:solidFill>
            <a:srgbClr val="774DCB"/>
          </a:solidFill>
          <a:ln/>
        </p:spPr>
      </p:sp>
      <p:sp>
        <p:nvSpPr>
          <p:cNvPr id="12" name="Text 10"/>
          <p:cNvSpPr/>
          <p:nvPr/>
        </p:nvSpPr>
        <p:spPr>
          <a:xfrm>
            <a:off x="4832350" y="4328517"/>
            <a:ext cx="428427"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hide</a:t>
            </a:r>
            <a:endParaRPr lang="en-US" sz="15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BUILD STEP 4 · IF THERE'S TIME</a:t>
            </a:r>
            <a:endParaRPr lang="en-US" sz="1300" dirty="0"/>
          </a:p>
        </p:txBody>
      </p:sp>
      <p:sp>
        <p:nvSpPr>
          <p:cNvPr id="3" name="Text 1"/>
          <p:cNvSpPr/>
          <p:nvPr/>
        </p:nvSpPr>
        <p:spPr>
          <a:xfrm>
            <a:off x="812800" y="237777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Tidy it up with a My Block</a:t>
            </a:r>
            <a:endParaRPr lang="en-US" sz="4000" dirty="0"/>
          </a:p>
        </p:txBody>
      </p:sp>
      <p:sp>
        <p:nvSpPr>
          <p:cNvPr id="4" name="Shape 2"/>
          <p:cNvSpPr/>
          <p:nvPr/>
        </p:nvSpPr>
        <p:spPr>
          <a:xfrm>
            <a:off x="819150" y="4266505"/>
            <a:ext cx="3373934" cy="1569145"/>
          </a:xfrm>
          <a:prstGeom prst="roundRect">
            <a:avLst>
              <a:gd name="adj" fmla="val 8498"/>
            </a:avLst>
          </a:prstGeom>
          <a:solidFill>
            <a:srgbClr val="FFFCF4"/>
          </a:solidFill>
          <a:ln w="12700">
            <a:solidFill>
              <a:srgbClr val="E4D7BE"/>
            </a:solidFill>
            <a:prstDash val="solid"/>
          </a:ln>
        </p:spPr>
      </p:sp>
      <p:sp>
        <p:nvSpPr>
          <p:cNvPr id="5" name="Text 3"/>
          <p:cNvSpPr/>
          <p:nvPr/>
        </p:nvSpPr>
        <p:spPr>
          <a:xfrm>
            <a:off x="1054100" y="4501455"/>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Spot the repeat</a:t>
            </a:r>
            <a:endParaRPr lang="en-US" sz="1900" dirty="0"/>
          </a:p>
        </p:txBody>
      </p:sp>
      <p:sp>
        <p:nvSpPr>
          <p:cNvPr id="6" name="Text 4"/>
          <p:cNvSpPr/>
          <p:nvPr/>
        </p:nvSpPr>
        <p:spPr>
          <a:xfrm>
            <a:off x="1054100"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Every falling sprite has the same 'go back to the top at a random x' code.</a:t>
            </a:r>
            <a:endParaRPr lang="en-US" sz="1450" dirty="0"/>
          </a:p>
        </p:txBody>
      </p:sp>
      <p:sp>
        <p:nvSpPr>
          <p:cNvPr id="7" name="Shape 5"/>
          <p:cNvSpPr/>
          <p:nvPr/>
        </p:nvSpPr>
        <p:spPr>
          <a:xfrm>
            <a:off x="4408984" y="4266505"/>
            <a:ext cx="3374033" cy="1569145"/>
          </a:xfrm>
          <a:prstGeom prst="roundRect">
            <a:avLst>
              <a:gd name="adj" fmla="val 8498"/>
            </a:avLst>
          </a:prstGeom>
          <a:solidFill>
            <a:srgbClr val="FFFCF4"/>
          </a:solidFill>
          <a:ln w="12700">
            <a:solidFill>
              <a:srgbClr val="E4D7BE"/>
            </a:solidFill>
            <a:prstDash val="solid"/>
          </a:ln>
        </p:spPr>
      </p:sp>
      <p:sp>
        <p:nvSpPr>
          <p:cNvPr id="8" name="Text 6"/>
          <p:cNvSpPr/>
          <p:nvPr/>
        </p:nvSpPr>
        <p:spPr>
          <a:xfrm>
            <a:off x="4643934" y="4501455"/>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Name it</a:t>
            </a:r>
            <a:endParaRPr lang="en-US" sz="1900" dirty="0"/>
          </a:p>
        </p:txBody>
      </p:sp>
      <p:sp>
        <p:nvSpPr>
          <p:cNvPr id="9" name="Text 7"/>
          <p:cNvSpPr/>
          <p:nvPr/>
        </p:nvSpPr>
        <p:spPr>
          <a:xfrm>
            <a:off x="4643934" y="4855071"/>
            <a:ext cx="2991257"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Make a My Block called reset object on each one and put that code inside.</a:t>
            </a:r>
            <a:endParaRPr lang="en-US" sz="1450" dirty="0"/>
          </a:p>
        </p:txBody>
      </p:sp>
      <p:sp>
        <p:nvSpPr>
          <p:cNvPr id="10" name="Shape 8"/>
          <p:cNvSpPr/>
          <p:nvPr/>
        </p:nvSpPr>
        <p:spPr>
          <a:xfrm>
            <a:off x="7998916" y="4266505"/>
            <a:ext cx="3373934" cy="1569145"/>
          </a:xfrm>
          <a:prstGeom prst="roundRect">
            <a:avLst>
              <a:gd name="adj" fmla="val 8498"/>
            </a:avLst>
          </a:prstGeom>
          <a:solidFill>
            <a:srgbClr val="FFFCF4"/>
          </a:solidFill>
          <a:ln w="12700">
            <a:solidFill>
              <a:srgbClr val="E4D7BE"/>
            </a:solidFill>
            <a:prstDash val="solid"/>
          </a:ln>
        </p:spPr>
      </p:sp>
      <p:sp>
        <p:nvSpPr>
          <p:cNvPr id="11" name="Text 9"/>
          <p:cNvSpPr/>
          <p:nvPr/>
        </p:nvSpPr>
        <p:spPr>
          <a:xfrm>
            <a:off x="8233866" y="4501455"/>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Why bother?</a:t>
            </a:r>
            <a:endParaRPr lang="en-US" sz="1900" dirty="0"/>
          </a:p>
        </p:txBody>
      </p:sp>
      <p:sp>
        <p:nvSpPr>
          <p:cNvPr id="12" name="Text 10"/>
          <p:cNvSpPr/>
          <p:nvPr/>
        </p:nvSpPr>
        <p:spPr>
          <a:xfrm>
            <a:off x="8233866"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Nothing looks different. But now there's one place to change it instead of four.</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DEBUGGING</a:t>
            </a:r>
            <a:endParaRPr lang="en-US" sz="1300" dirty="0"/>
          </a:p>
        </p:txBody>
      </p:sp>
      <p:sp>
        <p:nvSpPr>
          <p:cNvPr id="3" name="Text 1"/>
          <p:cNvSpPr/>
          <p:nvPr/>
        </p:nvSpPr>
        <p:spPr>
          <a:xfrm>
            <a:off x="812800" y="174754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Stuck? Check these first</a:t>
            </a:r>
            <a:endParaRPr lang="en-US" sz="4000" dirty="0"/>
          </a:p>
        </p:txBody>
      </p:sp>
      <p:sp>
        <p:nvSpPr>
          <p:cNvPr id="4" name="Shape 2"/>
          <p:cNvSpPr/>
          <p:nvPr/>
        </p:nvSpPr>
        <p:spPr>
          <a:xfrm>
            <a:off x="819150" y="3006130"/>
            <a:ext cx="5168900" cy="1319510"/>
          </a:xfrm>
          <a:prstGeom prst="roundRect">
            <a:avLst>
              <a:gd name="adj" fmla="val 10106"/>
            </a:avLst>
          </a:prstGeom>
          <a:solidFill>
            <a:srgbClr val="FFFCF4"/>
          </a:solidFill>
          <a:ln w="12700">
            <a:solidFill>
              <a:srgbClr val="E4D7BE"/>
            </a:solidFill>
            <a:prstDash val="solid"/>
          </a:ln>
        </p:spPr>
      </p:sp>
      <p:sp>
        <p:nvSpPr>
          <p:cNvPr id="5" name="Text 3"/>
          <p:cNvSpPr/>
          <p:nvPr/>
        </p:nvSpPr>
        <p:spPr>
          <a:xfrm>
            <a:off x="10541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"The game freezes when I level up"</a:t>
            </a:r>
            <a:endParaRPr lang="en-US" sz="1700" dirty="0"/>
          </a:p>
        </p:txBody>
      </p:sp>
      <p:sp>
        <p:nvSpPr>
          <p:cNvPr id="6" name="Text 4"/>
          <p:cNvSpPr/>
          <p:nvPr/>
        </p:nvSpPr>
        <p:spPr>
          <a:xfrm>
            <a:off x="10541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speed went to zero or negative. Put a floor on it: never below 0.005.</a:t>
            </a:r>
            <a:endParaRPr lang="en-US" sz="1500" dirty="0"/>
          </a:p>
        </p:txBody>
      </p:sp>
      <p:sp>
        <p:nvSpPr>
          <p:cNvPr id="7" name="Shape 5"/>
          <p:cNvSpPr/>
          <p:nvPr/>
        </p:nvSpPr>
        <p:spPr>
          <a:xfrm>
            <a:off x="6203950" y="3006130"/>
            <a:ext cx="5168900" cy="1319510"/>
          </a:xfrm>
          <a:prstGeom prst="roundRect">
            <a:avLst>
              <a:gd name="adj" fmla="val 10106"/>
            </a:avLst>
          </a:prstGeom>
          <a:solidFill>
            <a:srgbClr val="FFFCF4"/>
          </a:solidFill>
          <a:ln w="12700">
            <a:solidFill>
              <a:srgbClr val="E4D7BE"/>
            </a:solidFill>
            <a:prstDash val="solid"/>
          </a:ln>
        </p:spPr>
      </p:sp>
      <p:sp>
        <p:nvSpPr>
          <p:cNvPr id="8" name="Text 6"/>
          <p:cNvSpPr/>
          <p:nvPr/>
        </p:nvSpPr>
        <p:spPr>
          <a:xfrm>
            <a:off x="64389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"My level shoots up to 200 instantly"</a:t>
            </a:r>
            <a:endParaRPr lang="en-US" sz="1700" dirty="0"/>
          </a:p>
        </p:txBody>
      </p:sp>
      <p:sp>
        <p:nvSpPr>
          <p:cNvPr id="9" name="Text 7"/>
          <p:cNvSpPr/>
          <p:nvPr/>
        </p:nvSpPr>
        <p:spPr>
          <a:xfrm>
            <a:off x="64389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if has to compare against level, so it stops being true as soon as level changes.</a:t>
            </a:r>
            <a:endParaRPr lang="en-US" sz="1500" dirty="0"/>
          </a:p>
        </p:txBody>
      </p:sp>
      <p:sp>
        <p:nvSpPr>
          <p:cNvPr id="10" name="Shape 8"/>
          <p:cNvSpPr/>
          <p:nvPr/>
        </p:nvSpPr>
        <p:spPr>
          <a:xfrm>
            <a:off x="819150" y="4516140"/>
            <a:ext cx="5168900" cy="1319510"/>
          </a:xfrm>
          <a:prstGeom prst="roundRect">
            <a:avLst>
              <a:gd name="adj" fmla="val 10106"/>
            </a:avLst>
          </a:prstGeom>
          <a:solidFill>
            <a:srgbClr val="FFFCF4"/>
          </a:solidFill>
          <a:ln w="12700">
            <a:solidFill>
              <a:srgbClr val="E4D7BE"/>
            </a:solidFill>
            <a:prstDash val="solid"/>
          </a:ln>
        </p:spPr>
      </p:sp>
      <p:sp>
        <p:nvSpPr>
          <p:cNvPr id="11" name="Text 9"/>
          <p:cNvSpPr/>
          <p:nvPr/>
        </p:nvSpPr>
        <p:spPr>
          <a:xfrm>
            <a:off x="10541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 can't drop the operator into the if"</a:t>
            </a:r>
            <a:endParaRPr lang="en-US" sz="1700" dirty="0"/>
          </a:p>
        </p:txBody>
      </p:sp>
      <p:sp>
        <p:nvSpPr>
          <p:cNvPr id="12" name="Text 10"/>
          <p:cNvSpPr/>
          <p:nvPr/>
        </p:nvSpPr>
        <p:spPr>
          <a:xfrm>
            <a:off x="10541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Build the whole condition in an empty space first, then drag the finished thing in.</a:t>
            </a:r>
            <a:endParaRPr lang="en-US" sz="1500" dirty="0"/>
          </a:p>
        </p:txBody>
      </p:sp>
      <p:sp>
        <p:nvSpPr>
          <p:cNvPr id="13" name="Shape 11"/>
          <p:cNvSpPr/>
          <p:nvPr/>
        </p:nvSpPr>
        <p:spPr>
          <a:xfrm>
            <a:off x="6203950" y="4516140"/>
            <a:ext cx="5168900" cy="1319510"/>
          </a:xfrm>
          <a:prstGeom prst="roundRect">
            <a:avLst>
              <a:gd name="adj" fmla="val 10106"/>
            </a:avLst>
          </a:prstGeom>
          <a:solidFill>
            <a:srgbClr val="FFFCF4"/>
          </a:solidFill>
          <a:ln w="12700">
            <a:solidFill>
              <a:srgbClr val="E4D7BE"/>
            </a:solidFill>
            <a:prstDash val="solid"/>
          </a:ln>
        </p:spPr>
      </p:sp>
      <p:sp>
        <p:nvSpPr>
          <p:cNvPr id="14" name="Text 12"/>
          <p:cNvSpPr/>
          <p:nvPr/>
        </p:nvSpPr>
        <p:spPr>
          <a:xfrm>
            <a:off x="64389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"My rare item never shows up"</a:t>
            </a:r>
            <a:endParaRPr lang="en-US" sz="1700" dirty="0"/>
          </a:p>
        </p:txBody>
      </p:sp>
      <p:sp>
        <p:nvSpPr>
          <p:cNvPr id="15" name="Text 13"/>
          <p:cNvSpPr/>
          <p:nvPr/>
        </p:nvSpPr>
        <p:spPr>
          <a:xfrm>
            <a:off x="6438900" y="5086350"/>
            <a:ext cx="483997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Check the show and hide aren't the wrong way round.</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YOU GO</a:t>
            </a:r>
            <a:endParaRPr lang="en-US" sz="1300" dirty="0"/>
          </a:p>
        </p:txBody>
      </p:sp>
      <p:sp>
        <p:nvSpPr>
          <p:cNvPr id="3" name="Text 1"/>
          <p:cNvSpPr/>
          <p:nvPr/>
        </p:nvSpPr>
        <p:spPr>
          <a:xfrm>
            <a:off x="812800" y="2198688"/>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Save it. Check the name.</a:t>
            </a:r>
            <a:endParaRPr lang="en-US" sz="4000" dirty="0"/>
          </a:p>
        </p:txBody>
      </p:sp>
      <p:sp>
        <p:nvSpPr>
          <p:cNvPr id="4" name="Shape 2"/>
          <p:cNvSpPr/>
          <p:nvPr/>
        </p:nvSpPr>
        <p:spPr>
          <a:xfrm>
            <a:off x="819150" y="3908425"/>
            <a:ext cx="3373934" cy="1927225"/>
          </a:xfrm>
          <a:prstGeom prst="roundRect">
            <a:avLst>
              <a:gd name="adj" fmla="val 6919"/>
            </a:avLst>
          </a:prstGeom>
          <a:solidFill>
            <a:srgbClr val="FFFCF4"/>
          </a:solidFill>
          <a:ln w="12700">
            <a:solidFill>
              <a:srgbClr val="E4D7BE"/>
            </a:solidFill>
            <a:prstDash val="solid"/>
          </a:ln>
        </p:spPr>
      </p:sp>
      <p:sp>
        <p:nvSpPr>
          <p:cNvPr id="5" name="Text 3"/>
          <p:cNvSpPr/>
          <p:nvPr/>
        </p:nvSpPr>
        <p:spPr>
          <a:xfrm>
            <a:off x="1054100" y="4143375"/>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1 — Save now</a:t>
            </a:r>
            <a:endParaRPr lang="en-US" sz="2000" dirty="0"/>
          </a:p>
        </p:txBody>
      </p:sp>
      <p:sp>
        <p:nvSpPr>
          <p:cNvPr id="6" name="Text 4"/>
          <p:cNvSpPr/>
          <p:nvPr/>
        </p:nvSpPr>
        <p:spPr>
          <a:xfrm>
            <a:off x="1054100" y="4524375"/>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File → Save now. Watch for the message that says it saved.</a:t>
            </a:r>
            <a:endParaRPr lang="en-US" sz="1500" dirty="0"/>
          </a:p>
        </p:txBody>
      </p:sp>
      <p:sp>
        <p:nvSpPr>
          <p:cNvPr id="7" name="Shape 5"/>
          <p:cNvSpPr/>
          <p:nvPr/>
        </p:nvSpPr>
        <p:spPr>
          <a:xfrm>
            <a:off x="4408984" y="3908425"/>
            <a:ext cx="3374033" cy="1927225"/>
          </a:xfrm>
          <a:prstGeom prst="roundRect">
            <a:avLst>
              <a:gd name="adj" fmla="val 6919"/>
            </a:avLst>
          </a:prstGeom>
          <a:solidFill>
            <a:srgbClr val="FFFCF4"/>
          </a:solidFill>
          <a:ln w="12700">
            <a:solidFill>
              <a:srgbClr val="E4D7BE"/>
            </a:solidFill>
            <a:prstDash val="solid"/>
          </a:ln>
        </p:spPr>
      </p:sp>
      <p:sp>
        <p:nvSpPr>
          <p:cNvPr id="8" name="Text 6"/>
          <p:cNvSpPr/>
          <p:nvPr/>
        </p:nvSpPr>
        <p:spPr>
          <a:xfrm>
            <a:off x="4643934" y="4143375"/>
            <a:ext cx="29912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2 — Check the name</a:t>
            </a:r>
            <a:endParaRPr lang="en-US" sz="2000" dirty="0"/>
          </a:p>
        </p:txBody>
      </p:sp>
      <p:sp>
        <p:nvSpPr>
          <p:cNvPr id="9" name="Text 7"/>
          <p:cNvSpPr/>
          <p:nvPr/>
        </p:nvSpPr>
        <p:spPr>
          <a:xfrm>
            <a:off x="4643934" y="4524375"/>
            <a:ext cx="299125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name at the top should still say </a:t>
            </a:r>
            <a:r>
              <a:rPr lang="en-US" sz="1500" b="1" dirty="0">
                <a:solidFill>
                  <a:srgbClr val="5C4A46"/>
                </a:solidFill>
                <a:latin typeface="Nunito Sans" pitchFamily="34" charset="0"/>
                <a:ea typeface="Nunito Sans" pitchFamily="34" charset="-122"/>
                <a:cs typeface="Nunito Sans" pitchFamily="34" charset="-120"/>
              </a:rPr>
              <a:t>Sky Catcher — your name</a:t>
            </a:r>
            <a:r>
              <a:rPr lang="en-US" sz="1500" dirty="0">
                <a:solidFill>
                  <a:srgbClr val="5C4A46"/>
                </a:solidFill>
                <a:latin typeface="Nunito Sans" pitchFamily="34" charset="0"/>
                <a:ea typeface="Nunito Sans" pitchFamily="34" charset="-122"/>
                <a:cs typeface="Nunito Sans" pitchFamily="34" charset="-120"/>
              </a:rPr>
              <a:t>.</a:t>
            </a:r>
            <a:endParaRPr lang="en-US" sz="1500" dirty="0"/>
          </a:p>
        </p:txBody>
      </p:sp>
      <p:sp>
        <p:nvSpPr>
          <p:cNvPr id="10" name="Shape 8"/>
          <p:cNvSpPr/>
          <p:nvPr/>
        </p:nvSpPr>
        <p:spPr>
          <a:xfrm>
            <a:off x="7998916" y="3908425"/>
            <a:ext cx="3373934" cy="1927225"/>
          </a:xfrm>
          <a:prstGeom prst="roundRect">
            <a:avLst>
              <a:gd name="adj" fmla="val 6919"/>
            </a:avLst>
          </a:prstGeom>
          <a:solidFill>
            <a:srgbClr val="FFFCF4"/>
          </a:solidFill>
          <a:ln w="12700">
            <a:solidFill>
              <a:srgbClr val="E4D7BE"/>
            </a:solidFill>
            <a:prstDash val="solid"/>
          </a:ln>
        </p:spPr>
      </p:sp>
      <p:sp>
        <p:nvSpPr>
          <p:cNvPr id="11" name="Text 9"/>
          <p:cNvSpPr/>
          <p:nvPr/>
        </p:nvSpPr>
        <p:spPr>
          <a:xfrm>
            <a:off x="8233866" y="4143375"/>
            <a:ext cx="2991155"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3 — Think about next week</a:t>
            </a:r>
            <a:endParaRPr lang="en-US" sz="2000" dirty="0"/>
          </a:p>
        </p:txBody>
      </p:sp>
      <p:sp>
        <p:nvSpPr>
          <p:cNvPr id="12" name="Text 10"/>
          <p:cNvSpPr/>
          <p:nvPr/>
        </p:nvSpPr>
        <p:spPr>
          <a:xfrm>
            <a:off x="8233866" y="4829175"/>
            <a:ext cx="2991155"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One sentence on what your game is. One on the hardest bug you fixed.</a:t>
            </a:r>
            <a:endParaRPr lang="en-US" sz="15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HOMEWORK · NEVER MARKED, NEVER CHASED</a:t>
            </a:r>
            <a:endParaRPr lang="en-US" sz="1300" dirty="0"/>
          </a:p>
        </p:txBody>
      </p:sp>
      <p:sp>
        <p:nvSpPr>
          <p:cNvPr id="3" name="Text 1"/>
          <p:cNvSpPr/>
          <p:nvPr/>
        </p:nvSpPr>
        <p:spPr>
          <a:xfrm>
            <a:off x="812800" y="229780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things to try at home</a:t>
            </a:r>
            <a:endParaRPr lang="en-US" sz="4000" dirty="0"/>
          </a:p>
        </p:txBody>
      </p:sp>
      <p:sp>
        <p:nvSpPr>
          <p:cNvPr id="4" name="Shape 2"/>
          <p:cNvSpPr/>
          <p:nvPr/>
        </p:nvSpPr>
        <p:spPr>
          <a:xfrm>
            <a:off x="819150" y="4106565"/>
            <a:ext cx="5168900" cy="1729085"/>
          </a:xfrm>
          <a:prstGeom prst="roundRect">
            <a:avLst>
              <a:gd name="adj" fmla="val 7712"/>
            </a:avLst>
          </a:prstGeom>
          <a:solidFill>
            <a:srgbClr val="FFFCF4"/>
          </a:solidFill>
          <a:ln w="12700">
            <a:solidFill>
              <a:srgbClr val="E4D7BE"/>
            </a:solidFill>
            <a:prstDash val="solid"/>
          </a:ln>
        </p:spPr>
      </p:sp>
      <p:sp>
        <p:nvSpPr>
          <p:cNvPr id="5" name="Text 3"/>
          <p:cNvSpPr/>
          <p:nvPr/>
        </p:nvSpPr>
        <p:spPr>
          <a:xfrm>
            <a:off x="1054100" y="43415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1</a:t>
            </a:r>
            <a:endParaRPr lang="en-US" sz="1500" dirty="0"/>
          </a:p>
        </p:txBody>
      </p:sp>
      <p:sp>
        <p:nvSpPr>
          <p:cNvPr id="6" name="Text 4"/>
          <p:cNvSpPr/>
          <p:nvPr/>
        </p:nvSpPr>
        <p:spPr>
          <a:xfrm>
            <a:off x="1054100" y="46844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A rare treasure</a:t>
            </a:r>
            <a:endParaRPr lang="en-US" sz="2100" dirty="0"/>
          </a:p>
        </p:txBody>
      </p:sp>
      <p:sp>
        <p:nvSpPr>
          <p:cNvPr id="7" name="Text 5"/>
          <p:cNvSpPr/>
          <p:nvPr/>
        </p:nvSpPr>
        <p:spPr>
          <a:xfrm>
            <a:off x="1054100" y="5067300"/>
            <a:ext cx="483997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If you didn't finish the bonus item in class, do it now. Something that appears rarely and is worth a lot.</a:t>
            </a:r>
            <a:endParaRPr lang="en-US" sz="1500" dirty="0"/>
          </a:p>
        </p:txBody>
      </p:sp>
      <p:sp>
        <p:nvSpPr>
          <p:cNvPr id="8" name="Shape 6"/>
          <p:cNvSpPr/>
          <p:nvPr/>
        </p:nvSpPr>
        <p:spPr>
          <a:xfrm>
            <a:off x="6203950" y="4106565"/>
            <a:ext cx="5168900" cy="1729085"/>
          </a:xfrm>
          <a:prstGeom prst="roundRect">
            <a:avLst>
              <a:gd name="adj" fmla="val 7712"/>
            </a:avLst>
          </a:prstGeom>
          <a:solidFill>
            <a:srgbClr val="FFFCF4"/>
          </a:solidFill>
          <a:ln w="12700">
            <a:solidFill>
              <a:srgbClr val="E4D7BE"/>
            </a:solidFill>
            <a:prstDash val="solid"/>
          </a:ln>
        </p:spPr>
      </p:sp>
      <p:sp>
        <p:nvSpPr>
          <p:cNvPr id="9" name="Text 7"/>
          <p:cNvSpPr/>
          <p:nvPr/>
        </p:nvSpPr>
        <p:spPr>
          <a:xfrm>
            <a:off x="6438900" y="43415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2</a:t>
            </a:r>
            <a:endParaRPr lang="en-US" sz="1500" dirty="0"/>
          </a:p>
        </p:txBody>
      </p:sp>
      <p:sp>
        <p:nvSpPr>
          <p:cNvPr id="10" name="Text 8"/>
          <p:cNvSpPr/>
          <p:nvPr/>
        </p:nvSpPr>
        <p:spPr>
          <a:xfrm>
            <a:off x="6438900" y="46844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Tidy up</a:t>
            </a:r>
            <a:endParaRPr lang="en-US" sz="2100" dirty="0"/>
          </a:p>
        </p:txBody>
      </p:sp>
      <p:sp>
        <p:nvSpPr>
          <p:cNvPr id="11" name="Text 9"/>
          <p:cNvSpPr/>
          <p:nvPr/>
        </p:nvSpPr>
        <p:spPr>
          <a:xfrm>
            <a:off x="6438900" y="5067300"/>
            <a:ext cx="483997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Find some code you've written more than once and turn it into a My Block of your own.</a:t>
            </a:r>
            <a:endParaRPr lang="en-US" sz="1500" dirty="0"/>
          </a:p>
        </p:txBody>
      </p:sp>
      <p:sp>
        <p:nvSpPr>
          <p:cNvPr id="12" name="Text 10"/>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13"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BONUS CHALLENGES · NOBODY HAS TO FINISH THESE</a:t>
            </a:r>
            <a:endParaRPr lang="en-US" sz="1300" dirty="0"/>
          </a:p>
        </p:txBody>
      </p:sp>
      <p:sp>
        <p:nvSpPr>
          <p:cNvPr id="3" name="Text 1"/>
          <p:cNvSpPr/>
          <p:nvPr/>
        </p:nvSpPr>
        <p:spPr>
          <a:xfrm>
            <a:off x="812800" y="259973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If you race ahead</a:t>
            </a:r>
            <a:endParaRPr lang="en-US" sz="4000" dirty="0"/>
          </a:p>
        </p:txBody>
      </p:sp>
      <p:sp>
        <p:nvSpPr>
          <p:cNvPr id="4" name="Text 2"/>
          <p:cNvSpPr/>
          <p:nvPr/>
        </p:nvSpPr>
        <p:spPr>
          <a:xfrm>
            <a:off x="1117600" y="4704159"/>
            <a:ext cx="10569448" cy="116324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 power-up that makes your player wider for five seconds, then back to normal.</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Use join to show "Level 3 — Score 42" as a single readout.</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Use and or or for a combo condition — a bonus that only counts on a high level.</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Advanced: replace your duplicated falling sprites with clones. Genuinely hard. Nobody is expected to get it.</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7</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14124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NEXT WEEK</a:t>
            </a:r>
            <a:endParaRPr lang="en-US" sz="1300" dirty="0"/>
          </a:p>
        </p:txBody>
      </p:sp>
      <p:sp>
        <p:nvSpPr>
          <p:cNvPr id="3" name="Text 1"/>
          <p:cNvSpPr/>
          <p:nvPr/>
        </p:nvSpPr>
        <p:spPr>
          <a:xfrm>
            <a:off x="812800" y="2626320"/>
            <a:ext cx="9483725"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Next week: your families come and watch you demo it.</a:t>
            </a:r>
            <a:endParaRPr lang="en-US" sz="4400" dirty="0"/>
          </a:p>
        </p:txBody>
      </p:sp>
      <p:sp>
        <p:nvSpPr>
          <p:cNvPr id="4" name="Shape 2"/>
          <p:cNvSpPr/>
          <p:nvPr/>
        </p:nvSpPr>
        <p:spPr>
          <a:xfrm>
            <a:off x="812800" y="4109641"/>
            <a:ext cx="1143000" cy="50800"/>
          </a:xfrm>
          <a:prstGeom prst="roundRect">
            <a:avLst>
              <a:gd name="adj" fmla="val 50000"/>
            </a:avLst>
          </a:prstGeom>
          <a:solidFill>
            <a:srgbClr val="C9A227"/>
          </a:solidFill>
          <a:ln/>
        </p:spPr>
      </p:sp>
      <p:sp>
        <p:nvSpPr>
          <p:cNvPr id="5" name="Text 3"/>
          <p:cNvSpPr/>
          <p:nvPr/>
        </p:nvSpPr>
        <p:spPr>
          <a:xfrm>
            <a:off x="812800" y="4414441"/>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Save your game. Check the name at the top of the screen.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7 — Operators, My Blocks and Levels</dc:title>
  <dc:subject>PptxGenJS Presentation</dc:subject>
  <dc:creator>PptxGenJS</dc:creator>
  <cp:lastModifiedBy>PptxGenJS</cp:lastModifiedBy>
  <cp:revision>1</cp:revision>
  <dcterms:created xsi:type="dcterms:W3CDTF">2026-09-19T12:32:00Z</dcterms:created>
  <dcterms:modified xsi:type="dcterms:W3CDTF">2026-09-19T12:32:00Z</dcterms:modified>
</cp:coreProperties>
</file>