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is structurally different from the other seven: the first half is a working session, the second half is the showcase with families in the room. Read the run sheet in admin/showcase-run-sheet.md alongside the lesson plan. Before class: a deliberately broken project on the projector, the club studio created, certificates printed WITH NAMES FILLED IN, chairs and snacks ready, and a USB stick for the sb3 backups. Remember this session needs a two-hour slot or its own event — the showcase does not fit in ninety minutes at any class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Point at all eight and let it sit for a moment. They said hello in week one and today they are showing their family a finished game. Most adults never finish anything they start;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four or five up rather than two, and prioritise anyone who has not presented all term. Some children will have been quietly waiting for permission since week one. Make it count — this is the last Show and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shape of the day clearly. Knowing families arrive at the halfway mark focuses them considerably.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blocks today — this whole class is consolidation. Say that too; some of them will be waiting for the new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broken project on the projector and do NOT tell them how many bugs there are. Run it, ask what did you expect and what did it do, and take suggestions from the floor — including the wrong ones. Try the wrong ones. Getting it wrong publicly and recovering is the demonstration. Write the three strategies on the board as you go. Ten minutes, three bugs, done. This is the most transferable thing in the entire course: it applies to homework, to arguments, and to the rest of their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Enforce the no-asking rule strictly; the whole value is in playing it cold, the way a parent will in an hour. Cards are on the back of the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rule is what makes the exercise work, so state it clearly and hold the line on it. Watching a child discover that their instructions made perfect sense to them and no sense at all to anyone else is the entire lesson about user experience, and it needs no explanation from you. Do not soften it by letting them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on the board and work down it. Fix what the playtest turned up first, then the list in order. Be ruthless about scope: if a child wants to add a boss fight in the last twenty minutes, the answer is no — write it on their keep-going sheet for next week instead. There is no recovering from a game that breaks in front of forty 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at the start of the polish sprint and again ten minutes in, when somebody starts a boss fight. Also: download every student's project as an .sb3 to the USB stick DURING this sprint, and have Scratch Desktop ready on the presenting laptop. Community venue wi-fi fails at exactly the wrong moment, and with the backups done nobody will ever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them through it on the projector, slowly, and check every child has actually done it — a project that is not shared cannot be shown to grandparents, which is most of the point. The studio link goes to every parent within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full two minutes and treat it as seriously as the code. This is the first time most of them have published anything to the open internet and the habits they form now will outlast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Volunteers: chairs, projector, snacks. Check the USB backups are done and Scratch Desktop is open on the presenting laptop before the first parent walks in. Second volunteer, your job for the rest of the session is entirely logistical — certificates, the backup, chairs, and making sure every single child gets their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each plus about seventeen minutes of fixed overhead — fifteen students needs roughly forty-seven minutes, which is why this session needs its own slot. Keep the welcome to two minutes; the parents are here for their children, not for you. Watch for the quiet one who says they do not want to present: offer to stand next to them and ask the questions, which almost always works. Nobody should leave without having shown their family something they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every single child this. It is the question that makes the showcase interesting rather than a parade, and it lets the child who built a simpler game shine just as brightly as the one who built the flashiest. Parents remember these answers far longer than the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filled in the night before, not on the day. Read each name out properly. Then ten minutes of open play where parents try the games and the children explain them — this is the best part of the whole term and it happens entirely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 that actually matters is week nine: how many of them are still opening Scratch a month from now. This slide and the keep-going sheet are the only levers you have on it, so point at them properly rather than rushing through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on the keep-going sheet too. Mention that the club studio is there so they can see what everyone else built and remix it — remixing a friend's game over the holidays is the single most likely thing to keep them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Afterwards: message every parent within two days with the studio link so they can show grandparents, and ask them two questions — what did your child like most, and would they come back? You will want those answers when you plan term two. Then write down what went wrong while you still remember it. You will run this again, and week-one you will thank week-eight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8</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Polish, Test and Showcase</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Finishing is a skill. Making something work for someone else is different from making it work for you.</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8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FFCF4"/>
          </a:solidFill>
          <a:ln w="12700">
            <a:solidFill>
              <a:srgbClr val="E4D7BE"/>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4 · DONE</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FFCF4"/>
          </a:solidFill>
          <a:ln w="12700">
            <a:solidFill>
              <a:srgbClr val="E4D7BE"/>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5 · DONE</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FFCF4"/>
          </a:solidFill>
          <a:ln w="12700">
            <a:solidFill>
              <a:srgbClr val="E4D7BE"/>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6 · DONE</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FFCF4"/>
          </a:solidFill>
          <a:ln w="12700">
            <a:solidFill>
              <a:srgbClr val="E4D7BE"/>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7 · DONE</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C9A227"/>
          </a:solidFill>
          <a:ln w="12700">
            <a:solidFill>
              <a:srgbClr val="A8861C"/>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8 · TODAY</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Last one. Who hasn't shown us anything yet?</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16604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3843139"/>
            <a:ext cx="2476500" cy="1992511"/>
          </a:xfrm>
          <a:prstGeom prst="roundRect">
            <a:avLst>
              <a:gd name="adj" fmla="val 6693"/>
            </a:avLst>
          </a:prstGeom>
          <a:solidFill>
            <a:srgbClr val="FFFCF4"/>
          </a:solidFill>
          <a:ln w="12700">
            <a:solidFill>
              <a:srgbClr val="E4D7BE"/>
            </a:solidFill>
            <a:prstDash val="solid"/>
          </a:ln>
        </p:spPr>
      </p:sp>
      <p:sp>
        <p:nvSpPr>
          <p:cNvPr id="5" name="Text 3"/>
          <p:cNvSpPr/>
          <p:nvPr/>
        </p:nvSpPr>
        <p:spPr>
          <a:xfrm>
            <a:off x="1054100" y="4078089"/>
            <a:ext cx="206679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403130"/>
            <a:ext cx="206679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Find the Bug</a:t>
            </a:r>
            <a:endParaRPr lang="en-US" sz="2200" dirty="0"/>
          </a:p>
        </p:txBody>
      </p:sp>
      <p:sp>
        <p:nvSpPr>
          <p:cNvPr id="7" name="Text 5"/>
          <p:cNvSpPr/>
          <p:nvPr/>
        </p:nvSpPr>
        <p:spPr>
          <a:xfrm>
            <a:off x="1054100" y="480060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Three bugs on the projector. Nobody's told you how many.</a:t>
            </a:r>
            <a:endParaRPr lang="en-US" sz="1500" dirty="0"/>
          </a:p>
        </p:txBody>
      </p:sp>
      <p:sp>
        <p:nvSpPr>
          <p:cNvPr id="8" name="Shape 6"/>
          <p:cNvSpPr/>
          <p:nvPr/>
        </p:nvSpPr>
        <p:spPr>
          <a:xfrm>
            <a:off x="3511550" y="3843139"/>
            <a:ext cx="2476500" cy="1992511"/>
          </a:xfrm>
          <a:prstGeom prst="roundRect">
            <a:avLst>
              <a:gd name="adj" fmla="val 6693"/>
            </a:avLst>
          </a:prstGeom>
          <a:solidFill>
            <a:srgbClr val="FFFCF4"/>
          </a:solidFill>
          <a:ln w="12700">
            <a:solidFill>
              <a:srgbClr val="E4D7BE"/>
            </a:solidFill>
            <a:prstDash val="solid"/>
          </a:ln>
        </p:spPr>
      </p:sp>
      <p:sp>
        <p:nvSpPr>
          <p:cNvPr id="9" name="Text 7"/>
          <p:cNvSpPr/>
          <p:nvPr/>
        </p:nvSpPr>
        <p:spPr>
          <a:xfrm>
            <a:off x="3746500" y="4078089"/>
            <a:ext cx="206679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3746500" y="4403130"/>
            <a:ext cx="206679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Playtest Swap</a:t>
            </a:r>
            <a:endParaRPr lang="en-US" sz="2200" dirty="0"/>
          </a:p>
        </p:txBody>
      </p:sp>
      <p:sp>
        <p:nvSpPr>
          <p:cNvPr id="11" name="Text 9"/>
          <p:cNvSpPr/>
          <p:nvPr/>
        </p:nvSpPr>
        <p:spPr>
          <a:xfrm>
            <a:off x="3746500" y="480060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Move two seats. Play the game in front of you.</a:t>
            </a:r>
            <a:endParaRPr lang="en-US" sz="1500" dirty="0"/>
          </a:p>
        </p:txBody>
      </p:sp>
      <p:sp>
        <p:nvSpPr>
          <p:cNvPr id="12" name="Shape 10"/>
          <p:cNvSpPr/>
          <p:nvPr/>
        </p:nvSpPr>
        <p:spPr>
          <a:xfrm>
            <a:off x="6203950" y="3843139"/>
            <a:ext cx="2476500" cy="1992511"/>
          </a:xfrm>
          <a:prstGeom prst="roundRect">
            <a:avLst>
              <a:gd name="adj" fmla="val 6693"/>
            </a:avLst>
          </a:prstGeom>
          <a:solidFill>
            <a:srgbClr val="FFFCF4"/>
          </a:solidFill>
          <a:ln w="12700">
            <a:solidFill>
              <a:srgbClr val="E4D7BE"/>
            </a:solidFill>
            <a:prstDash val="solid"/>
          </a:ln>
        </p:spPr>
      </p:sp>
      <p:sp>
        <p:nvSpPr>
          <p:cNvPr id="13" name="Text 11"/>
          <p:cNvSpPr/>
          <p:nvPr/>
        </p:nvSpPr>
        <p:spPr>
          <a:xfrm>
            <a:off x="6438900" y="4078089"/>
            <a:ext cx="206679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6438900" y="4403130"/>
            <a:ext cx="206679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Polish sprint</a:t>
            </a:r>
            <a:endParaRPr lang="en-US" sz="2200" dirty="0"/>
          </a:p>
        </p:txBody>
      </p:sp>
      <p:sp>
        <p:nvSpPr>
          <p:cNvPr id="15" name="Text 13"/>
          <p:cNvSpPr/>
          <p:nvPr/>
        </p:nvSpPr>
        <p:spPr>
          <a:xfrm>
            <a:off x="6438900" y="4800600"/>
            <a:ext cx="20667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Fix what the playtest found, then finish properly.</a:t>
            </a:r>
            <a:endParaRPr lang="en-US" sz="1500" dirty="0"/>
          </a:p>
        </p:txBody>
      </p:sp>
      <p:sp>
        <p:nvSpPr>
          <p:cNvPr id="16" name="Shape 14"/>
          <p:cNvSpPr/>
          <p:nvPr/>
        </p:nvSpPr>
        <p:spPr>
          <a:xfrm>
            <a:off x="8896350" y="3843139"/>
            <a:ext cx="2476500" cy="1992511"/>
          </a:xfrm>
          <a:prstGeom prst="roundRect">
            <a:avLst>
              <a:gd name="adj" fmla="val 6693"/>
            </a:avLst>
          </a:prstGeom>
          <a:solidFill>
            <a:srgbClr val="FFFCF4"/>
          </a:solidFill>
          <a:ln w="12700">
            <a:solidFill>
              <a:srgbClr val="E4D7BE"/>
            </a:solidFill>
            <a:prstDash val="solid"/>
          </a:ln>
        </p:spPr>
      </p:sp>
      <p:sp>
        <p:nvSpPr>
          <p:cNvPr id="17" name="Text 15"/>
          <p:cNvSpPr/>
          <p:nvPr/>
        </p:nvSpPr>
        <p:spPr>
          <a:xfrm>
            <a:off x="9131300" y="4078089"/>
            <a:ext cx="2066798"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4</a:t>
            </a:r>
            <a:endParaRPr lang="en-US" sz="1400" dirty="0"/>
          </a:p>
        </p:txBody>
      </p:sp>
      <p:sp>
        <p:nvSpPr>
          <p:cNvPr id="18" name="Text 16"/>
          <p:cNvSpPr/>
          <p:nvPr/>
        </p:nvSpPr>
        <p:spPr>
          <a:xfrm>
            <a:off x="9131300" y="4403130"/>
            <a:ext cx="206679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The Showcase</a:t>
            </a:r>
            <a:endParaRPr lang="en-US" sz="2200" dirty="0"/>
          </a:p>
        </p:txBody>
      </p:sp>
      <p:sp>
        <p:nvSpPr>
          <p:cNvPr id="19" name="Text 17"/>
          <p:cNvSpPr/>
          <p:nvPr/>
        </p:nvSpPr>
        <p:spPr>
          <a:xfrm>
            <a:off x="9131300" y="4800600"/>
            <a:ext cx="20667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Your families arrive. You demo your game.</a:t>
            </a:r>
            <a:endParaRPr lang="en-US" sz="1500" dirty="0"/>
          </a:p>
        </p:txBody>
      </p:sp>
      <p:sp>
        <p:nvSpPr>
          <p:cNvPr id="20" name="Text 1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2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45199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911673"/>
            <a:ext cx="9810750" cy="651173"/>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Finishing is a skill.</a:t>
            </a:r>
            <a:endParaRPr lang="en-US" sz="4400" dirty="0"/>
          </a:p>
        </p:txBody>
      </p:sp>
      <p:sp>
        <p:nvSpPr>
          <p:cNvPr id="4" name="Text 2"/>
          <p:cNvSpPr/>
          <p:nvPr/>
        </p:nvSpPr>
        <p:spPr>
          <a:xfrm>
            <a:off x="812800" y="3766046"/>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Making something work for someone else is different from making it work for you.</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FIND THE BUG · TEN MINUTES</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Three ways to find any bug</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Say what you expected, and what happened</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Out loud, in one sentence. Half of all bugs are found while you're saying it.</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Change one thing at a time</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If you change three things and it works, you still don't know why.</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Explain it out loud to someone</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Even to a rubber duck. You'll usually spot it halfway through your own sentence.</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PLAYTEST SWAP · FIFTEEN MINUTES</a:t>
            </a:r>
            <a:endParaRPr lang="en-US" sz="1300" dirty="0"/>
          </a:p>
        </p:txBody>
      </p:sp>
      <p:sp>
        <p:nvSpPr>
          <p:cNvPr id="3" name="Text 1"/>
          <p:cNvSpPr/>
          <p:nvPr/>
        </p:nvSpPr>
        <p:spPr>
          <a:xfrm>
            <a:off x="812800" y="2089051"/>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Everybody stand up. Move two seats to the right.</a:t>
            </a:r>
            <a:endParaRPr lang="en-US" sz="4000" dirty="0"/>
          </a:p>
        </p:txBody>
      </p:sp>
      <p:sp>
        <p:nvSpPr>
          <p:cNvPr id="4" name="Shape 2"/>
          <p:cNvSpPr/>
          <p:nvPr/>
        </p:nvSpPr>
        <p:spPr>
          <a:xfrm>
            <a:off x="819150" y="4237633"/>
            <a:ext cx="3373934" cy="1598017"/>
          </a:xfrm>
          <a:prstGeom prst="roundRect">
            <a:avLst>
              <a:gd name="adj" fmla="val 8345"/>
            </a:avLst>
          </a:prstGeom>
          <a:solidFill>
            <a:srgbClr val="FFFCF4"/>
          </a:solidFill>
          <a:ln w="12700">
            <a:solidFill>
              <a:srgbClr val="E4D7BE"/>
            </a:solidFill>
            <a:prstDash val="solid"/>
          </a:ln>
        </p:spPr>
      </p:sp>
      <p:sp>
        <p:nvSpPr>
          <p:cNvPr id="5" name="Text 3"/>
          <p:cNvSpPr/>
          <p:nvPr/>
        </p:nvSpPr>
        <p:spPr>
          <a:xfrm>
            <a:off x="1054100" y="4472583"/>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Play the game in front of you</a:t>
            </a:r>
            <a:endParaRPr lang="en-US" sz="1900" dirty="0"/>
          </a:p>
        </p:txBody>
      </p:sp>
      <p:sp>
        <p:nvSpPr>
          <p:cNvPr id="6" name="Text 4"/>
          <p:cNvSpPr/>
          <p:nvPr/>
        </p:nvSpPr>
        <p:spPr>
          <a:xfrm>
            <a:off x="1054100"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Five minutes. You may not ask its author anything at all.</a:t>
            </a:r>
            <a:endParaRPr lang="en-US" sz="1450" dirty="0"/>
          </a:p>
        </p:txBody>
      </p:sp>
      <p:sp>
        <p:nvSpPr>
          <p:cNvPr id="7" name="Shape 5"/>
          <p:cNvSpPr/>
          <p:nvPr/>
        </p:nvSpPr>
        <p:spPr>
          <a:xfrm>
            <a:off x="4408984" y="4237633"/>
            <a:ext cx="3374033" cy="1598017"/>
          </a:xfrm>
          <a:prstGeom prst="roundRect">
            <a:avLst>
              <a:gd name="adj" fmla="val 8345"/>
            </a:avLst>
          </a:prstGeom>
          <a:solidFill>
            <a:srgbClr val="FFFCF4"/>
          </a:solidFill>
          <a:ln w="12700">
            <a:solidFill>
              <a:srgbClr val="E4D7BE"/>
            </a:solidFill>
            <a:prstDash val="solid"/>
          </a:ln>
        </p:spPr>
      </p:sp>
      <p:sp>
        <p:nvSpPr>
          <p:cNvPr id="8" name="Text 6"/>
          <p:cNvSpPr/>
          <p:nvPr/>
        </p:nvSpPr>
        <p:spPr>
          <a:xfrm>
            <a:off x="4643934" y="447258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Fill in the card</a:t>
            </a:r>
            <a:endParaRPr lang="en-US" sz="1900" dirty="0"/>
          </a:p>
        </p:txBody>
      </p:sp>
      <p:sp>
        <p:nvSpPr>
          <p:cNvPr id="9" name="Text 7"/>
          <p:cNvSpPr/>
          <p:nvPr/>
        </p:nvSpPr>
        <p:spPr>
          <a:xfrm>
            <a:off x="4643934" y="4826198"/>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Two things you liked. One thing that confused you. One thing you'd add.</a:t>
            </a:r>
            <a:endParaRPr lang="en-US" sz="1450" dirty="0"/>
          </a:p>
        </p:txBody>
      </p:sp>
      <p:sp>
        <p:nvSpPr>
          <p:cNvPr id="10" name="Shape 8"/>
          <p:cNvSpPr/>
          <p:nvPr/>
        </p:nvSpPr>
        <p:spPr>
          <a:xfrm>
            <a:off x="7998916" y="4237633"/>
            <a:ext cx="3373934" cy="1598017"/>
          </a:xfrm>
          <a:prstGeom prst="roundRect">
            <a:avLst>
              <a:gd name="adj" fmla="val 8345"/>
            </a:avLst>
          </a:prstGeom>
          <a:solidFill>
            <a:srgbClr val="FFFCF4"/>
          </a:solidFill>
          <a:ln w="12700">
            <a:solidFill>
              <a:srgbClr val="E4D7BE"/>
            </a:solidFill>
            <a:prstDash val="solid"/>
          </a:ln>
        </p:spPr>
      </p:sp>
      <p:sp>
        <p:nvSpPr>
          <p:cNvPr id="11" name="Text 9"/>
          <p:cNvSpPr/>
          <p:nvPr/>
        </p:nvSpPr>
        <p:spPr>
          <a:xfrm>
            <a:off x="8233866" y="4472583"/>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Go back and read your card</a:t>
            </a:r>
            <a:endParaRPr lang="en-US" sz="1900" dirty="0"/>
          </a:p>
        </p:txBody>
      </p:sp>
      <p:sp>
        <p:nvSpPr>
          <p:cNvPr id="12" name="Text 10"/>
          <p:cNvSpPr/>
          <p:nvPr/>
        </p:nvSpPr>
        <p:spPr>
          <a:xfrm>
            <a:off x="8233866" y="5103614"/>
            <a:ext cx="2991155" cy="27394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That's it. That's the whole exercise.</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0851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ONE RULE</a:t>
            </a:r>
            <a:endParaRPr lang="en-US" sz="1300" dirty="0"/>
          </a:p>
        </p:txBody>
      </p:sp>
      <p:sp>
        <p:nvSpPr>
          <p:cNvPr id="3" name="Text 1"/>
          <p:cNvSpPr/>
          <p:nvPr/>
        </p:nvSpPr>
        <p:spPr>
          <a:xfrm>
            <a:off x="812800" y="2668191"/>
            <a:ext cx="9941560" cy="1422400"/>
          </a:xfrm>
          <a:prstGeom prst="rect">
            <a:avLst/>
          </a:prstGeom>
          <a:noFill/>
          <a:ln/>
        </p:spPr>
        <p:txBody>
          <a:bodyPr wrap="square" lIns="0" tIns="0" rIns="0" bIns="0" rtlCol="0" anchor="t">
            <a:normAutofit/>
          </a:bodyPr>
          <a:lstStyle/>
          <a:p>
            <a:pPr algn="l" indent="0" marL="0">
              <a:lnSpc>
                <a:spcPts val="5500"/>
              </a:lnSpc>
              <a:buNone/>
            </a:pPr>
            <a:r>
              <a:rPr lang="en-US" sz="5000" b="1" dirty="0">
                <a:solidFill>
                  <a:srgbClr val="FFF4E8"/>
                </a:solidFill>
                <a:latin typeface="Fredoka" pitchFamily="34" charset="0"/>
                <a:ea typeface="Fredoka" pitchFamily="34" charset="-122"/>
                <a:cs typeface="Fredoka" pitchFamily="34" charset="-120"/>
              </a:rPr>
              <a:t>The author may not defend their game.</a:t>
            </a:r>
            <a:endParaRPr lang="en-US" sz="5000" dirty="0"/>
          </a:p>
        </p:txBody>
      </p:sp>
      <p:sp>
        <p:nvSpPr>
          <p:cNvPr id="4" name="Text 2"/>
          <p:cNvSpPr/>
          <p:nvPr/>
        </p:nvSpPr>
        <p:spPr>
          <a:xfrm>
            <a:off x="812800" y="4293791"/>
            <a:ext cx="85026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3C9CF"/>
                </a:solidFill>
                <a:latin typeface="Nunito Sans" pitchFamily="34" charset="0"/>
                <a:ea typeface="Nunito Sans" pitchFamily="34" charset="-122"/>
                <a:cs typeface="Nunito Sans" pitchFamily="34" charset="-120"/>
              </a:rPr>
              <a:t>You read the card. You say thank you. That's all.</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POLISH SPRINT · TWENTY-FIVE MINUTES</a:t>
            </a:r>
            <a:endParaRPr lang="en-US" sz="1300" dirty="0"/>
          </a:p>
        </p:txBody>
      </p:sp>
      <p:sp>
        <p:nvSpPr>
          <p:cNvPr id="3" name="Text 1"/>
          <p:cNvSpPr/>
          <p:nvPr/>
        </p:nvSpPr>
        <p:spPr>
          <a:xfrm>
            <a:off x="812800" y="23152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The finishing checklist</a:t>
            </a:r>
            <a:endParaRPr lang="en-US" sz="4000" dirty="0"/>
          </a:p>
        </p:txBody>
      </p:sp>
      <p:sp>
        <p:nvSpPr>
          <p:cNvPr id="4" name="Text 2"/>
          <p:cNvSpPr/>
          <p:nvPr/>
        </p:nvSpPr>
        <p:spPr>
          <a:xfrm>
            <a:off x="1117600" y="4135239"/>
            <a:ext cx="10569448" cy="173216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Title screen</a:t>
            </a:r>
            <a:r>
              <a:rPr lang="en-US" sz="1600" dirty="0">
                <a:solidFill>
                  <a:srgbClr val="2E1015"/>
                </a:solidFill>
                <a:latin typeface="Nunito Sans" pitchFamily="34" charset="0"/>
                <a:ea typeface="Nunito Sans" pitchFamily="34" charset="-122"/>
                <a:cs typeface="Nunito Sans" pitchFamily="34" charset="-120"/>
              </a:rPr>
              <a:t> — the game's name, and your name.</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Instructions</a:t>
            </a:r>
            <a:r>
              <a:rPr lang="en-US" sz="1600" dirty="0">
                <a:solidFill>
                  <a:srgbClr val="2E1015"/>
                </a:solidFill>
                <a:latin typeface="Nunito Sans" pitchFamily="34" charset="0"/>
                <a:ea typeface="Nunito Sans" pitchFamily="34" charset="-122"/>
                <a:cs typeface="Nunito Sans" pitchFamily="34" charset="-120"/>
              </a:rPr>
              <a:t> — one line. "Use the arrow keys to catch the mangoes."</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Score and lives visible</a:t>
            </a:r>
            <a:r>
              <a:rPr lang="en-US" sz="1600" dirty="0">
                <a:solidFill>
                  <a:srgbClr val="2E1015"/>
                </a:solidFill>
                <a:latin typeface="Nunito Sans" pitchFamily="34" charset="0"/>
                <a:ea typeface="Nunito Sans" pitchFamily="34" charset="-122"/>
                <a:cs typeface="Nunito Sans" pitchFamily="34" charset="-120"/>
              </a:rPr>
              <a:t>, and big enough to read from the back of the room.</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Game over screen</a:t>
            </a:r>
            <a:r>
              <a:rPr lang="en-US" sz="1600" dirty="0">
                <a:solidFill>
                  <a:srgbClr val="2E1015"/>
                </a:solidFill>
                <a:latin typeface="Nunito Sans" pitchFamily="34" charset="0"/>
                <a:ea typeface="Nunito Sans" pitchFamily="34" charset="-122"/>
                <a:cs typeface="Nunito Sans" pitchFamily="34" charset="-120"/>
              </a:rPr>
              <a:t> showing the final score.</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At least one sound.</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Credits</a:t>
            </a:r>
            <a:r>
              <a:rPr lang="en-US" sz="1600" dirty="0">
                <a:solidFill>
                  <a:srgbClr val="2E1015"/>
                </a:solidFill>
                <a:latin typeface="Nunito Sans" pitchFamily="34" charset="0"/>
                <a:ea typeface="Nunito Sans" pitchFamily="34" charset="-122"/>
                <a:cs typeface="Nunito Sans" pitchFamily="34" charset="-120"/>
              </a:rPr>
              <a:t> — your name, and KCC Code Club.</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29909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758777"/>
            <a:ext cx="9810750" cy="1276945"/>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A polished simple game beats an ambitious broken one. Every time.</a:t>
            </a:r>
            <a:endParaRPr lang="en-US" sz="4400" dirty="0"/>
          </a:p>
        </p:txBody>
      </p:sp>
      <p:sp>
        <p:nvSpPr>
          <p:cNvPr id="4" name="Text 2"/>
          <p:cNvSpPr/>
          <p:nvPr/>
        </p:nvSpPr>
        <p:spPr>
          <a:xfrm>
            <a:off x="812800" y="4238923"/>
            <a:ext cx="850265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Today is for cutting things, not adding them.</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PUTTING IT ONLINE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Share it, and add it to the club studio</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Click </a:t>
            </a:r>
            <a:r>
              <a:rPr lang="en-US" sz="1600" b="1" dirty="0">
                <a:solidFill>
                  <a:srgbClr val="2E1015"/>
                </a:solidFill>
                <a:latin typeface="Nunito Sans" pitchFamily="34" charset="0"/>
                <a:ea typeface="Nunito Sans" pitchFamily="34" charset="-122"/>
                <a:cs typeface="Nunito Sans" pitchFamily="34" charset="-120"/>
              </a:rPr>
              <a:t>See Project Page</a:t>
            </a:r>
            <a:r>
              <a:rPr lang="en-US" sz="1600" dirty="0">
                <a:solidFill>
                  <a:srgbClr val="2E1015"/>
                </a:solidFill>
                <a:latin typeface="Nunito Sans" pitchFamily="34" charset="0"/>
                <a:ea typeface="Nunito Sans" pitchFamily="34" charset="-122"/>
                <a:cs typeface="Nunito Sans" pitchFamily="34" charset="-120"/>
              </a:rPr>
              <a:t>, top right.</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Click the </a:t>
            </a:r>
            <a:r>
              <a:rPr lang="en-US" sz="1600" b="1" dirty="0">
                <a:solidFill>
                  <a:srgbClr val="2E1015"/>
                </a:solidFill>
                <a:latin typeface="Nunito Sans" pitchFamily="34" charset="0"/>
                <a:ea typeface="Nunito Sans" pitchFamily="34" charset="-122"/>
                <a:cs typeface="Nunito Sans" pitchFamily="34" charset="-120"/>
              </a:rPr>
              <a:t>Share</a:t>
            </a:r>
            <a:r>
              <a:rPr lang="en-US" sz="1600" dirty="0">
                <a:solidFill>
                  <a:srgbClr val="2E1015"/>
                </a:solidFill>
                <a:latin typeface="Nunito Sans" pitchFamily="34" charset="0"/>
                <a:ea typeface="Nunito Sans" pitchFamily="34" charset="-122"/>
                <a:cs typeface="Nunito Sans" pitchFamily="34" charset="-120"/>
              </a:rPr>
              <a:t> button.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your project to the </a:t>
            </a:r>
            <a:r>
              <a:rPr lang="en-US" sz="1600" b="1" dirty="0">
                <a:solidFill>
                  <a:srgbClr val="2E1015"/>
                </a:solidFill>
                <a:latin typeface="Nunito Sans" pitchFamily="34" charset="0"/>
                <a:ea typeface="Nunito Sans" pitchFamily="34" charset="-122"/>
                <a:cs typeface="Nunito Sans" pitchFamily="34" charset="-120"/>
              </a:rPr>
              <a:t>KCC Game Makers</a:t>
            </a:r>
            <a:r>
              <a:rPr lang="en-US" sz="1600" dirty="0">
                <a:solidFill>
                  <a:srgbClr val="2E1015"/>
                </a:solidFill>
                <a:latin typeface="Nunito Sans" pitchFamily="34" charset="0"/>
                <a:ea typeface="Nunito Sans" pitchFamily="34" charset="-122"/>
                <a:cs typeface="Nunito Sans" pitchFamily="34" charset="-120"/>
              </a:rPr>
              <a:t> studio.</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Now your family can play it at home, and so can everyone else in this room.</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TWO MINUTES, PROPERLY</a:t>
            </a:r>
            <a:endParaRPr lang="en-US" sz="1300" dirty="0"/>
          </a:p>
        </p:txBody>
      </p:sp>
      <p:sp>
        <p:nvSpPr>
          <p:cNvPr id="3" name="Text 1"/>
          <p:cNvSpPr/>
          <p:nvPr/>
        </p:nvSpPr>
        <p:spPr>
          <a:xfrm>
            <a:off x="812800" y="225345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Anyone in the world can see a shared project</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Don't put yourself in it</a:t>
            </a:r>
            <a:endParaRPr lang="en-US" sz="1900" dirty="0"/>
          </a:p>
        </p:txBody>
      </p:sp>
      <p:sp>
        <p:nvSpPr>
          <p:cNvPr id="6" name="Text 4"/>
          <p:cNvSpPr/>
          <p:nvPr/>
        </p:nvSpPr>
        <p:spPr>
          <a:xfrm>
            <a:off x="1054100" y="4606528"/>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No full name, no school, no address, no photo of you.</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Comments are public</a:t>
            </a:r>
            <a:endParaRPr lang="en-US" sz="1900" dirty="0"/>
          </a:p>
        </p:txBody>
      </p:sp>
      <p:sp>
        <p:nvSpPr>
          <p:cNvPr id="9" name="Text 7"/>
          <p:cNvSpPr/>
          <p:nvPr/>
        </p:nvSpPr>
        <p:spPr>
          <a:xfrm>
            <a:off x="4643934" y="4606528"/>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Be kind. If someone is unkind to you, don't argue — report it and tell an adult.</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Credit what you borrowed</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Used someone's sprite, sound or idea? Say so in your credits. Remixing is encouraged. Pretending it's all yours isn't.</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033885"/>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FIVE MINUTES</a:t>
            </a:r>
            <a:endParaRPr lang="en-US" sz="1300" dirty="0"/>
          </a:p>
        </p:txBody>
      </p:sp>
      <p:sp>
        <p:nvSpPr>
          <p:cNvPr id="3" name="Text 1"/>
          <p:cNvSpPr/>
          <p:nvPr/>
        </p:nvSpPr>
        <p:spPr>
          <a:xfrm>
            <a:off x="812800" y="2518966"/>
            <a:ext cx="9156700" cy="1451769"/>
          </a:xfrm>
          <a:prstGeom prst="rect">
            <a:avLst/>
          </a:prstGeom>
          <a:noFill/>
          <a:ln/>
        </p:spPr>
        <p:txBody>
          <a:bodyPr wrap="square" lIns="0" tIns="0" rIns="0" bIns="0" rtlCol="0" anchor="t">
            <a:normAutofit/>
          </a:bodyPr>
          <a:lstStyle/>
          <a:p>
            <a:pPr algn="l" indent="0" marL="0">
              <a:lnSpc>
                <a:spcPts val="5616"/>
              </a:lnSpc>
              <a:buNone/>
            </a:pPr>
            <a:r>
              <a:rPr lang="en-US" sz="5200" b="1" dirty="0">
                <a:solidFill>
                  <a:srgbClr val="F6E7C8"/>
                </a:solidFill>
                <a:latin typeface="Fredoka" pitchFamily="34" charset="0"/>
                <a:ea typeface="Fredoka" pitchFamily="34" charset="-122"/>
                <a:cs typeface="Fredoka" pitchFamily="34" charset="-120"/>
              </a:rPr>
              <a:t>Laptops down. Your families are arriving.</a:t>
            </a:r>
            <a:endParaRPr lang="en-US" sz="5200" dirty="0"/>
          </a:p>
        </p:txBody>
      </p:sp>
      <p:sp>
        <p:nvSpPr>
          <p:cNvPr id="4" name="Shape 2"/>
          <p:cNvSpPr/>
          <p:nvPr/>
        </p:nvSpPr>
        <p:spPr>
          <a:xfrm>
            <a:off x="812800" y="4199334"/>
            <a:ext cx="1143000" cy="50800"/>
          </a:xfrm>
          <a:prstGeom prst="roundRect">
            <a:avLst>
              <a:gd name="adj" fmla="val 50000"/>
            </a:avLst>
          </a:prstGeom>
          <a:solidFill>
            <a:srgbClr val="C9A227"/>
          </a:solidFill>
          <a:ln/>
        </p:spPr>
      </p:sp>
      <p:sp>
        <p:nvSpPr>
          <p:cNvPr id="5" name="Text 3"/>
          <p:cNvSpPr/>
          <p:nvPr/>
        </p:nvSpPr>
        <p:spPr>
          <a:xfrm>
            <a:off x="812800" y="4504134"/>
            <a:ext cx="78486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49A7E"/>
                </a:solidFill>
                <a:latin typeface="Nunito Sans" pitchFamily="34" charset="0"/>
                <a:ea typeface="Nunito Sans" pitchFamily="34" charset="-122"/>
                <a:cs typeface="Nunito Sans" pitchFamily="34" charset="-120"/>
              </a:rPr>
              <a:t>Chairs out. Projector up. Snacks on the table.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SHOWCASE</a:t>
            </a:r>
            <a:endParaRPr lang="en-US" sz="1300" dirty="0"/>
          </a:p>
        </p:txBody>
      </p:sp>
      <p:sp>
        <p:nvSpPr>
          <p:cNvPr id="3" name="Text 1"/>
          <p:cNvSpPr/>
          <p:nvPr/>
        </p:nvSpPr>
        <p:spPr>
          <a:xfrm>
            <a:off x="812800" y="250199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minutes each. Here's the shape.</a:t>
            </a:r>
            <a:endParaRPr lang="en-US" sz="4000" dirty="0"/>
          </a:p>
        </p:txBody>
      </p:sp>
      <p:sp>
        <p:nvSpPr>
          <p:cNvPr id="4" name="Shape 2"/>
          <p:cNvSpPr/>
          <p:nvPr/>
        </p:nvSpPr>
        <p:spPr>
          <a:xfrm>
            <a:off x="819150" y="4515048"/>
            <a:ext cx="3373934" cy="1320602"/>
          </a:xfrm>
          <a:prstGeom prst="roundRect">
            <a:avLst>
              <a:gd name="adj" fmla="val 10098"/>
            </a:avLst>
          </a:prstGeom>
          <a:solidFill>
            <a:srgbClr val="FFFCF4"/>
          </a:solidFill>
          <a:ln w="12700">
            <a:solidFill>
              <a:srgbClr val="E4D7BE"/>
            </a:solidFill>
            <a:prstDash val="solid"/>
          </a:ln>
        </p:spPr>
      </p:sp>
      <p:sp>
        <p:nvSpPr>
          <p:cNvPr id="5" name="Text 3"/>
          <p:cNvSpPr/>
          <p:nvPr/>
        </p:nvSpPr>
        <p:spPr>
          <a:xfrm>
            <a:off x="1054100" y="4749998"/>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What your game is</a:t>
            </a:r>
            <a:endParaRPr lang="en-US" sz="1900" dirty="0"/>
          </a:p>
        </p:txBody>
      </p:sp>
      <p:sp>
        <p:nvSpPr>
          <p:cNvPr id="6" name="Text 4"/>
          <p:cNvSpPr/>
          <p:nvPr/>
        </p:nvSpPr>
        <p:spPr>
          <a:xfrm>
            <a:off x="1054100"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One sentence. "You're a fielder and you catch cricket balls."</a:t>
            </a:r>
            <a:endParaRPr lang="en-US" sz="1450" dirty="0"/>
          </a:p>
        </p:txBody>
      </p:sp>
      <p:sp>
        <p:nvSpPr>
          <p:cNvPr id="7" name="Shape 5"/>
          <p:cNvSpPr/>
          <p:nvPr/>
        </p:nvSpPr>
        <p:spPr>
          <a:xfrm>
            <a:off x="4408984" y="4515048"/>
            <a:ext cx="3374033" cy="1320602"/>
          </a:xfrm>
          <a:prstGeom prst="roundRect">
            <a:avLst>
              <a:gd name="adj" fmla="val 10098"/>
            </a:avLst>
          </a:prstGeom>
          <a:solidFill>
            <a:srgbClr val="FFFCF4"/>
          </a:solidFill>
          <a:ln w="12700">
            <a:solidFill>
              <a:srgbClr val="E4D7BE"/>
            </a:solidFill>
            <a:prstDash val="solid"/>
          </a:ln>
        </p:spPr>
      </p:sp>
      <p:sp>
        <p:nvSpPr>
          <p:cNvPr id="8" name="Text 6"/>
          <p:cNvSpPr/>
          <p:nvPr/>
        </p:nvSpPr>
        <p:spPr>
          <a:xfrm>
            <a:off x="4643934" y="4749998"/>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Play it</a:t>
            </a:r>
            <a:endParaRPr lang="en-US" sz="1900" dirty="0"/>
          </a:p>
        </p:txBody>
      </p:sp>
      <p:sp>
        <p:nvSpPr>
          <p:cNvPr id="9" name="Text 7"/>
          <p:cNvSpPr/>
          <p:nvPr/>
        </p:nvSpPr>
        <p:spPr>
          <a:xfrm>
            <a:off x="4643934" y="5103614"/>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Thirty seconds. Let them see it work.</a:t>
            </a:r>
            <a:endParaRPr lang="en-US" sz="1450" dirty="0"/>
          </a:p>
        </p:txBody>
      </p:sp>
      <p:sp>
        <p:nvSpPr>
          <p:cNvPr id="10" name="Shape 8"/>
          <p:cNvSpPr/>
          <p:nvPr/>
        </p:nvSpPr>
        <p:spPr>
          <a:xfrm>
            <a:off x="7998916" y="4515048"/>
            <a:ext cx="3373934" cy="1320602"/>
          </a:xfrm>
          <a:prstGeom prst="roundRect">
            <a:avLst>
              <a:gd name="adj" fmla="val 10098"/>
            </a:avLst>
          </a:prstGeom>
          <a:solidFill>
            <a:srgbClr val="FFFCF4"/>
          </a:solidFill>
          <a:ln w="12700">
            <a:solidFill>
              <a:srgbClr val="E4D7BE"/>
            </a:solidFill>
            <a:prstDash val="solid"/>
          </a:ln>
        </p:spPr>
      </p:sp>
      <p:sp>
        <p:nvSpPr>
          <p:cNvPr id="11" name="Text 9"/>
          <p:cNvSpPr/>
          <p:nvPr/>
        </p:nvSpPr>
        <p:spPr>
          <a:xfrm>
            <a:off x="8233866" y="4749998"/>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hardest bug you fixed</a:t>
            </a:r>
            <a:endParaRPr lang="en-US" sz="1900" dirty="0"/>
          </a:p>
        </p:txBody>
      </p:sp>
      <p:sp>
        <p:nvSpPr>
          <p:cNvPr id="12" name="Text 10"/>
          <p:cNvSpPr/>
          <p:nvPr/>
        </p:nvSpPr>
        <p:spPr>
          <a:xfrm>
            <a:off x="8233866"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This is the good one. Tell us what went wrong and how you found it.</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2200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QUESTION THAT MATTERS</a:t>
            </a:r>
            <a:endParaRPr lang="en-US" sz="1300" dirty="0"/>
          </a:p>
        </p:txBody>
      </p:sp>
      <p:sp>
        <p:nvSpPr>
          <p:cNvPr id="3" name="Text 1"/>
          <p:cNvSpPr/>
          <p:nvPr/>
        </p:nvSpPr>
        <p:spPr>
          <a:xfrm>
            <a:off x="812800" y="2705100"/>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E1015"/>
                </a:solidFill>
                <a:latin typeface="Fredoka" pitchFamily="34" charset="0"/>
                <a:ea typeface="Fredoka" pitchFamily="34" charset="-122"/>
                <a:cs typeface="Fredoka" pitchFamily="34" charset="-120"/>
              </a:rPr>
              <a:t>Tell us about the hardest bug you fixed.</a:t>
            </a:r>
            <a:endParaRPr lang="en-US" sz="4800" dirty="0"/>
          </a:p>
        </p:txBody>
      </p:sp>
      <p:sp>
        <p:nvSpPr>
          <p:cNvPr id="4" name="Text 2"/>
          <p:cNvSpPr/>
          <p:nvPr/>
        </p:nvSpPr>
        <p:spPr>
          <a:xfrm>
            <a:off x="812800" y="4300141"/>
            <a:ext cx="8502650" cy="36314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5A4A08"/>
                </a:solidFill>
                <a:latin typeface="Nunito Sans" pitchFamily="34" charset="0"/>
                <a:ea typeface="Nunito Sans" pitchFamily="34" charset="-122"/>
                <a:cs typeface="Nunito Sans" pitchFamily="34" charset="-120"/>
              </a:rPr>
              <a:t>That's what turns a demo into a story.</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CERTIFICATES</a:t>
            </a:r>
            <a:endParaRPr lang="en-US" sz="1300" dirty="0"/>
          </a:p>
        </p:txBody>
      </p:sp>
      <p:sp>
        <p:nvSpPr>
          <p:cNvPr id="3" name="Text 1"/>
          <p:cNvSpPr/>
          <p:nvPr/>
        </p:nvSpPr>
        <p:spPr>
          <a:xfrm>
            <a:off x="812800" y="225345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Eight weeks. You built a game.</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You learned</a:t>
            </a:r>
            <a:endParaRPr lang="en-US" sz="1900" dirty="0"/>
          </a:p>
        </p:txBody>
      </p:sp>
      <p:sp>
        <p:nvSpPr>
          <p:cNvPr id="6" name="Text 4"/>
          <p:cNvSpPr/>
          <p:nvPr/>
        </p:nvSpPr>
        <p:spPr>
          <a:xfrm>
            <a:off x="1054100"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Sequence, events, coordinates, loops, randomness, conditionals, variables, messages, operators and your own blocks.</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You also debugged</a:t>
            </a:r>
            <a:endParaRPr lang="en-US" sz="1900" dirty="0"/>
          </a:p>
        </p:txBody>
      </p:sp>
      <p:sp>
        <p:nvSpPr>
          <p:cNvPr id="9" name="Text 7"/>
          <p:cNvSpPr/>
          <p:nvPr/>
        </p:nvSpPr>
        <p:spPr>
          <a:xfrm>
            <a:off x="4643934" y="4606528"/>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Roughly two hundred times. That part matters more than the list above.</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You finished</a:t>
            </a:r>
            <a:endParaRPr lang="en-US" sz="1900" dirty="0"/>
          </a:p>
        </p:txBody>
      </p:sp>
      <p:sp>
        <p:nvSpPr>
          <p:cNvPr id="12" name="Text 10"/>
          <p:cNvSpPr/>
          <p:nvPr/>
        </p:nvSpPr>
        <p:spPr>
          <a:xfrm>
            <a:off x="8233866" y="4606528"/>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Which is the hardest bit, and most people never do.</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NO HOMEWORK. A KEEP-GOING SHEET INSTEAD.</a:t>
            </a:r>
            <a:endParaRPr lang="en-US" sz="1300" dirty="0"/>
          </a:p>
        </p:txBody>
      </p:sp>
      <p:sp>
        <p:nvSpPr>
          <p:cNvPr id="3" name="Text 1"/>
          <p:cNvSpPr/>
          <p:nvPr/>
        </p:nvSpPr>
        <p:spPr>
          <a:xfrm>
            <a:off x="812800" y="2004913"/>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Where to go next</a:t>
            </a:r>
            <a:endParaRPr lang="en-US" sz="4000" dirty="0"/>
          </a:p>
        </p:txBody>
      </p:sp>
      <p:sp>
        <p:nvSpPr>
          <p:cNvPr id="4" name="Shape 2"/>
          <p:cNvSpPr/>
          <p:nvPr/>
        </p:nvSpPr>
        <p:spPr>
          <a:xfrm>
            <a:off x="819150" y="3520877"/>
            <a:ext cx="3373934" cy="2314773"/>
          </a:xfrm>
          <a:prstGeom prst="roundRect">
            <a:avLst>
              <a:gd name="adj" fmla="val 5761"/>
            </a:avLst>
          </a:prstGeom>
          <a:solidFill>
            <a:srgbClr val="FFFCF4"/>
          </a:solidFill>
          <a:ln w="12700">
            <a:solidFill>
              <a:srgbClr val="E4D7BE"/>
            </a:solidFill>
            <a:prstDash val="solid"/>
          </a:ln>
        </p:spPr>
      </p:sp>
      <p:sp>
        <p:nvSpPr>
          <p:cNvPr id="5" name="Text 3"/>
          <p:cNvSpPr/>
          <p:nvPr/>
        </p:nvSpPr>
        <p:spPr>
          <a:xfrm>
            <a:off x="1054100" y="3755827"/>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More Scratch</a:t>
            </a:r>
            <a:endParaRPr lang="en-US" sz="1900" dirty="0"/>
          </a:p>
        </p:txBody>
      </p:sp>
      <p:sp>
        <p:nvSpPr>
          <p:cNvPr id="6" name="Text 4"/>
          <p:cNvSpPr/>
          <p:nvPr/>
        </p:nvSpPr>
        <p:spPr>
          <a:xfrm>
            <a:off x="1054100" y="4109442"/>
            <a:ext cx="2991155" cy="1268115"/>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natural next step. &lt;a href="https://projects.raspberrypi.org/en/pathways/more-scratch"&gt;projects.raspberrypi.org&lt;/a&gt;</a:t>
            </a:r>
            <a:endParaRPr lang="en-US" sz="1450" dirty="0"/>
          </a:p>
        </p:txBody>
      </p:sp>
      <p:sp>
        <p:nvSpPr>
          <p:cNvPr id="7" name="Shape 5"/>
          <p:cNvSpPr/>
          <p:nvPr/>
        </p:nvSpPr>
        <p:spPr>
          <a:xfrm>
            <a:off x="4408984" y="3520877"/>
            <a:ext cx="3374033" cy="2314773"/>
          </a:xfrm>
          <a:prstGeom prst="roundRect">
            <a:avLst>
              <a:gd name="adj" fmla="val 5761"/>
            </a:avLst>
          </a:prstGeom>
          <a:solidFill>
            <a:srgbClr val="FFFCF4"/>
          </a:solidFill>
          <a:ln w="12700">
            <a:solidFill>
              <a:srgbClr val="E4D7BE"/>
            </a:solidFill>
            <a:prstDash val="solid"/>
          </a:ln>
        </p:spPr>
      </p:sp>
      <p:sp>
        <p:nvSpPr>
          <p:cNvPr id="8" name="Text 6"/>
          <p:cNvSpPr/>
          <p:nvPr/>
        </p:nvSpPr>
        <p:spPr>
          <a:xfrm>
            <a:off x="4643934" y="3755827"/>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Further Scratch</a:t>
            </a:r>
            <a:endParaRPr lang="en-US" sz="1900" dirty="0"/>
          </a:p>
        </p:txBody>
      </p:sp>
      <p:sp>
        <p:nvSpPr>
          <p:cNvPr id="9" name="Text 7"/>
          <p:cNvSpPr/>
          <p:nvPr/>
        </p:nvSpPr>
        <p:spPr>
          <a:xfrm>
            <a:off x="4643934" y="4109442"/>
            <a:ext cx="2991257" cy="1516658"/>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Clones, My Blocks and boolean logic. &lt;a href="https://projects.raspberrypi.org/en/pathways/further-scratch"&gt;projects.raspberrypi.org&lt;/a&gt;</a:t>
            </a:r>
            <a:endParaRPr lang="en-US" sz="1450" dirty="0"/>
          </a:p>
        </p:txBody>
      </p:sp>
      <p:sp>
        <p:nvSpPr>
          <p:cNvPr id="10" name="Shape 8"/>
          <p:cNvSpPr/>
          <p:nvPr/>
        </p:nvSpPr>
        <p:spPr>
          <a:xfrm>
            <a:off x="7998916" y="3520877"/>
            <a:ext cx="3373934" cy="2314773"/>
          </a:xfrm>
          <a:prstGeom prst="roundRect">
            <a:avLst>
              <a:gd name="adj" fmla="val 5761"/>
            </a:avLst>
          </a:prstGeom>
          <a:solidFill>
            <a:srgbClr val="FFFCF4"/>
          </a:solidFill>
          <a:ln w="12700">
            <a:solidFill>
              <a:srgbClr val="E4D7BE"/>
            </a:solidFill>
            <a:prstDash val="solid"/>
          </a:ln>
        </p:spPr>
      </p:sp>
      <p:sp>
        <p:nvSpPr>
          <p:cNvPr id="11" name="Text 9"/>
          <p:cNvSpPr/>
          <p:nvPr/>
        </p:nvSpPr>
        <p:spPr>
          <a:xfrm>
            <a:off x="8233866" y="3755827"/>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Code Club Aotearoa</a:t>
            </a:r>
            <a:endParaRPr lang="en-US" sz="1900" dirty="0"/>
          </a:p>
        </p:txBody>
      </p:sp>
      <p:sp>
        <p:nvSpPr>
          <p:cNvPr id="12" name="Text 10"/>
          <p:cNvSpPr/>
          <p:nvPr/>
        </p:nvSpPr>
        <p:spPr>
          <a:xfrm>
            <a:off x="8233866" y="4109442"/>
            <a:ext cx="2991155" cy="1268115"/>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Hundreds of free projects, made here. &lt;a href="https://codeclub.nz/page/all-code-club-projects"&gt;codeclub.nz&lt;/a&gt;</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45754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419699"/>
            <a:ext cx="10569448" cy="144770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two-player Sky Catcher — one on the arrow keys, one on WASD.</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quiz about something you love, with a score.</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An animated version of a story you already know.</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drawing app using the Pen extension.</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 guess the number game, where the computer picks and you guess.</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8</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183395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THAT'S A WRAP</a:t>
            </a:r>
            <a:endParaRPr lang="en-US" sz="1300" dirty="0"/>
          </a:p>
        </p:txBody>
      </p:sp>
      <p:sp>
        <p:nvSpPr>
          <p:cNvPr id="3" name="Text 1"/>
          <p:cNvSpPr/>
          <p:nvPr/>
        </p:nvSpPr>
        <p:spPr>
          <a:xfrm>
            <a:off x="812800" y="2319040"/>
            <a:ext cx="9483725" cy="18693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You built a game. You debugged it about two hundred times. You finished it.</a:t>
            </a:r>
            <a:endParaRPr lang="en-US" sz="4400" dirty="0"/>
          </a:p>
        </p:txBody>
      </p:sp>
      <p:sp>
        <p:nvSpPr>
          <p:cNvPr id="4" name="Shape 2"/>
          <p:cNvSpPr/>
          <p:nvPr/>
        </p:nvSpPr>
        <p:spPr>
          <a:xfrm>
            <a:off x="812800" y="4417020"/>
            <a:ext cx="1143000" cy="50800"/>
          </a:xfrm>
          <a:prstGeom prst="roundRect">
            <a:avLst>
              <a:gd name="adj" fmla="val 50000"/>
            </a:avLst>
          </a:prstGeom>
          <a:solidFill>
            <a:srgbClr val="C9A227"/>
          </a:solidFill>
          <a:ln/>
        </p:spPr>
      </p:sp>
      <p:sp>
        <p:nvSpPr>
          <p:cNvPr id="5" name="Text 3"/>
          <p:cNvSpPr/>
          <p:nvPr/>
        </p:nvSpPr>
        <p:spPr>
          <a:xfrm>
            <a:off x="812800" y="472182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8 — Polish, Test and Showcase</dc:title>
  <dc:subject>PptxGenJS Presentation</dc:subject>
  <dc:creator>PptxGenJS</dc:creator>
  <cp:lastModifiedBy>PptxGenJS</cp:lastModifiedBy>
  <cp:revision>1</cp:revision>
  <dcterms:created xsi:type="dcterms:W3CDTF">2026-09-19T12:32:21Z</dcterms:created>
  <dcterms:modified xsi:type="dcterms:W3CDTF">2026-09-19T12:32:21Z</dcterms:modified>
</cp:coreProperties>
</file>